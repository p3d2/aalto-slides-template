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4.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5.xml" ContentType="application/vnd.openxmlformats-officedocument.theme+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6.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7.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8.xml" ContentType="application/vnd.openxmlformats-officedocument.theme+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9.xml" ContentType="application/vnd.openxmlformats-officedocument.theme+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39" r:id="rId4"/>
    <p:sldMasterId id="2147484082" r:id="rId5"/>
    <p:sldMasterId id="2147484106" r:id="rId6"/>
    <p:sldMasterId id="2147484128" r:id="rId7"/>
    <p:sldMasterId id="2147483891" r:id="rId8"/>
    <p:sldMasterId id="2147483753" r:id="rId9"/>
    <p:sldMasterId id="2147483908" r:id="rId10"/>
    <p:sldMasterId id="2147483940" r:id="rId11"/>
    <p:sldMasterId id="2147484002" r:id="rId12"/>
    <p:sldMasterId id="2147483822" r:id="rId13"/>
  </p:sldMasterIdLst>
  <p:notesMasterIdLst>
    <p:notesMasterId r:id="rId163"/>
  </p:notesMasterIdLst>
  <p:handoutMasterIdLst>
    <p:handoutMasterId r:id="rId164"/>
  </p:handoutMasterIdLst>
  <p:sldIdLst>
    <p:sldId id="453" r:id="rId14"/>
    <p:sldId id="419" r:id="rId15"/>
    <p:sldId id="460" r:id="rId16"/>
    <p:sldId id="420" r:id="rId17"/>
    <p:sldId id="421" r:id="rId18"/>
    <p:sldId id="832" r:id="rId19"/>
    <p:sldId id="519" r:id="rId20"/>
    <p:sldId id="520" r:id="rId21"/>
    <p:sldId id="424" r:id="rId22"/>
    <p:sldId id="425" r:id="rId23"/>
    <p:sldId id="426" r:id="rId24"/>
    <p:sldId id="427" r:id="rId25"/>
    <p:sldId id="428" r:id="rId26"/>
    <p:sldId id="429" r:id="rId27"/>
    <p:sldId id="430" r:id="rId28"/>
    <p:sldId id="516" r:id="rId29"/>
    <p:sldId id="507" r:id="rId30"/>
    <p:sldId id="433" r:id="rId31"/>
    <p:sldId id="833" r:id="rId32"/>
    <p:sldId id="337" r:id="rId33"/>
    <p:sldId id="339" r:id="rId34"/>
    <p:sldId id="504" r:id="rId35"/>
    <p:sldId id="434" r:id="rId36"/>
    <p:sldId id="834" r:id="rId37"/>
    <p:sldId id="341" r:id="rId38"/>
    <p:sldId id="344" r:id="rId39"/>
    <p:sldId id="343" r:id="rId40"/>
    <p:sldId id="345" r:id="rId41"/>
    <p:sldId id="462" r:id="rId42"/>
    <p:sldId id="351" r:id="rId43"/>
    <p:sldId id="346" r:id="rId44"/>
    <p:sldId id="347" r:id="rId45"/>
    <p:sldId id="350" r:id="rId46"/>
    <p:sldId id="348" r:id="rId47"/>
    <p:sldId id="461" r:id="rId48"/>
    <p:sldId id="502" r:id="rId49"/>
    <p:sldId id="553" r:id="rId50"/>
    <p:sldId id="506" r:id="rId51"/>
    <p:sldId id="560" r:id="rId52"/>
    <p:sldId id="552" r:id="rId53"/>
    <p:sldId id="550" r:id="rId54"/>
    <p:sldId id="441" r:id="rId55"/>
    <p:sldId id="835" r:id="rId56"/>
    <p:sldId id="442" r:id="rId57"/>
    <p:sldId id="549" r:id="rId58"/>
    <p:sldId id="555" r:id="rId59"/>
    <p:sldId id="554" r:id="rId60"/>
    <p:sldId id="448" r:id="rId61"/>
    <p:sldId id="531" r:id="rId62"/>
    <p:sldId id="532" r:id="rId63"/>
    <p:sldId id="530" r:id="rId64"/>
    <p:sldId id="534" r:id="rId65"/>
    <p:sldId id="533" r:id="rId66"/>
    <p:sldId id="535" r:id="rId67"/>
    <p:sldId id="536" r:id="rId68"/>
    <p:sldId id="537" r:id="rId69"/>
    <p:sldId id="538" r:id="rId70"/>
    <p:sldId id="539" r:id="rId71"/>
    <p:sldId id="540" r:id="rId72"/>
    <p:sldId id="542" r:id="rId73"/>
    <p:sldId id="543" r:id="rId74"/>
    <p:sldId id="544" r:id="rId75"/>
    <p:sldId id="547" r:id="rId76"/>
    <p:sldId id="528" r:id="rId77"/>
    <p:sldId id="556" r:id="rId78"/>
    <p:sldId id="446" r:id="rId79"/>
    <p:sldId id="447" r:id="rId80"/>
    <p:sldId id="464" r:id="rId81"/>
    <p:sldId id="518" r:id="rId82"/>
    <p:sldId id="524" r:id="rId83"/>
    <p:sldId id="525" r:id="rId84"/>
    <p:sldId id="529" r:id="rId85"/>
    <p:sldId id="467" r:id="rId86"/>
    <p:sldId id="468" r:id="rId87"/>
    <p:sldId id="443" r:id="rId88"/>
    <p:sldId id="444" r:id="rId89"/>
    <p:sldId id="466" r:id="rId90"/>
    <p:sldId id="445" r:id="rId91"/>
    <p:sldId id="513" r:id="rId92"/>
    <p:sldId id="514" r:id="rId93"/>
    <p:sldId id="557" r:id="rId94"/>
    <p:sldId id="500" r:id="rId95"/>
    <p:sldId id="454" r:id="rId96"/>
    <p:sldId id="456" r:id="rId97"/>
    <p:sldId id="463" r:id="rId98"/>
    <p:sldId id="508" r:id="rId99"/>
    <p:sldId id="509" r:id="rId100"/>
    <p:sldId id="510" r:id="rId101"/>
    <p:sldId id="551" r:id="rId102"/>
    <p:sldId id="830" r:id="rId103"/>
    <p:sldId id="561" r:id="rId104"/>
    <p:sldId id="558" r:id="rId105"/>
    <p:sldId id="459" r:id="rId106"/>
    <p:sldId id="831" r:id="rId107"/>
    <p:sldId id="449" r:id="rId108"/>
    <p:sldId id="450" r:id="rId109"/>
    <p:sldId id="451" r:id="rId110"/>
    <p:sldId id="452" r:id="rId111"/>
    <p:sldId id="828" r:id="rId112"/>
    <p:sldId id="562" r:id="rId113"/>
    <p:sldId id="340" r:id="rId114"/>
    <p:sldId id="563" r:id="rId115"/>
    <p:sldId id="564" r:id="rId116"/>
    <p:sldId id="565" r:id="rId117"/>
    <p:sldId id="566" r:id="rId118"/>
    <p:sldId id="567" r:id="rId119"/>
    <p:sldId id="548" r:id="rId120"/>
    <p:sldId id="568" r:id="rId121"/>
    <p:sldId id="819" r:id="rId122"/>
    <p:sldId id="796" r:id="rId123"/>
    <p:sldId id="820" r:id="rId124"/>
    <p:sldId id="795" r:id="rId125"/>
    <p:sldId id="797" r:id="rId126"/>
    <p:sldId id="821" r:id="rId127"/>
    <p:sldId id="501" r:id="rId128"/>
    <p:sldId id="822" r:id="rId129"/>
    <p:sldId id="823" r:id="rId130"/>
    <p:sldId id="800" r:id="rId131"/>
    <p:sldId id="794" r:id="rId132"/>
    <p:sldId id="798" r:id="rId133"/>
    <p:sldId id="799" r:id="rId134"/>
    <p:sldId id="775" r:id="rId135"/>
    <p:sldId id="803" r:id="rId136"/>
    <p:sldId id="804" r:id="rId137"/>
    <p:sldId id="812" r:id="rId138"/>
    <p:sldId id="806" r:id="rId139"/>
    <p:sldId id="811" r:id="rId140"/>
    <p:sldId id="480" r:id="rId141"/>
    <p:sldId id="813" r:id="rId142"/>
    <p:sldId id="815" r:id="rId143"/>
    <p:sldId id="814" r:id="rId144"/>
    <p:sldId id="816" r:id="rId145"/>
    <p:sldId id="494" r:id="rId146"/>
    <p:sldId id="495" r:id="rId147"/>
    <p:sldId id="818" r:id="rId148"/>
    <p:sldId id="817" r:id="rId149"/>
    <p:sldId id="807" r:id="rId150"/>
    <p:sldId id="836" r:id="rId151"/>
    <p:sldId id="809" r:id="rId152"/>
    <p:sldId id="837" r:id="rId153"/>
    <p:sldId id="838" r:id="rId154"/>
    <p:sldId id="829" r:id="rId155"/>
    <p:sldId id="808" r:id="rId156"/>
    <p:sldId id="802" r:id="rId157"/>
    <p:sldId id="352" r:id="rId158"/>
    <p:sldId id="353" r:id="rId159"/>
    <p:sldId id="275" r:id="rId160"/>
    <p:sldId id="824" r:id="rId161"/>
    <p:sldId id="793" r:id="rId162"/>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p15:clr>
            <a:srgbClr val="A4A3A4"/>
          </p15:clr>
        </p15:guide>
        <p15:guide id="4"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FEA1A0"/>
    <a:srgbClr val="46A5FF"/>
    <a:srgbClr val="E2CFF1"/>
    <a:srgbClr val="97E4FF"/>
    <a:srgbClr val="61D6FF"/>
    <a:srgbClr val="C7E6A4"/>
    <a:srgbClr val="FAEB94"/>
    <a:srgbClr val="FFC8AF"/>
    <a:srgbClr val="FD82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AF9C9D-C5B4-45B4-9EC2-CE9CBB073191}" v="2" dt="2026-05-08T06:46:35.582"/>
    <p1510:client id="{A9E6CAD4-8C1B-4DAE-A6D5-558B2FB6F1DD}" v="1" dt="2026-10-19T13:55:54.0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84" autoAdjust="0"/>
    <p:restoredTop sz="94660"/>
  </p:normalViewPr>
  <p:slideViewPr>
    <p:cSldViewPr snapToGrid="0">
      <p:cViewPr varScale="1">
        <p:scale>
          <a:sx n="111" d="100"/>
          <a:sy n="111" d="100"/>
        </p:scale>
        <p:origin x="739" y="86"/>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4.xml"/><Relationship Id="rId21" Type="http://schemas.openxmlformats.org/officeDocument/2006/relationships/slide" Target="slides/slide8.xml"/><Relationship Id="rId42" Type="http://schemas.openxmlformats.org/officeDocument/2006/relationships/slide" Target="slides/slide29.xml"/><Relationship Id="rId63" Type="http://schemas.openxmlformats.org/officeDocument/2006/relationships/slide" Target="slides/slide50.xml"/><Relationship Id="rId84" Type="http://schemas.openxmlformats.org/officeDocument/2006/relationships/slide" Target="slides/slide71.xml"/><Relationship Id="rId138" Type="http://schemas.openxmlformats.org/officeDocument/2006/relationships/slide" Target="slides/slide125.xml"/><Relationship Id="rId159" Type="http://schemas.openxmlformats.org/officeDocument/2006/relationships/slide" Target="slides/slide146.xml"/><Relationship Id="rId107" Type="http://schemas.openxmlformats.org/officeDocument/2006/relationships/slide" Target="slides/slide94.xml"/><Relationship Id="rId11" Type="http://schemas.openxmlformats.org/officeDocument/2006/relationships/slideMaster" Target="slideMasters/slideMaster8.xml"/><Relationship Id="rId32" Type="http://schemas.openxmlformats.org/officeDocument/2006/relationships/slide" Target="slides/slide19.xml"/><Relationship Id="rId53" Type="http://schemas.openxmlformats.org/officeDocument/2006/relationships/slide" Target="slides/slide40.xml"/><Relationship Id="rId74" Type="http://schemas.openxmlformats.org/officeDocument/2006/relationships/slide" Target="slides/slide61.xml"/><Relationship Id="rId128" Type="http://schemas.openxmlformats.org/officeDocument/2006/relationships/slide" Target="slides/slide115.xml"/><Relationship Id="rId149" Type="http://schemas.openxmlformats.org/officeDocument/2006/relationships/slide" Target="slides/slide136.xml"/><Relationship Id="rId5" Type="http://schemas.openxmlformats.org/officeDocument/2006/relationships/slideMaster" Target="slideMasters/slideMaster2.xml"/><Relationship Id="rId95" Type="http://schemas.openxmlformats.org/officeDocument/2006/relationships/slide" Target="slides/slide82.xml"/><Relationship Id="rId160" Type="http://schemas.openxmlformats.org/officeDocument/2006/relationships/slide" Target="slides/slide147.xml"/><Relationship Id="rId22" Type="http://schemas.openxmlformats.org/officeDocument/2006/relationships/slide" Target="slides/slide9.xml"/><Relationship Id="rId43" Type="http://schemas.openxmlformats.org/officeDocument/2006/relationships/slide" Target="slides/slide30.xml"/><Relationship Id="rId64" Type="http://schemas.openxmlformats.org/officeDocument/2006/relationships/slide" Target="slides/slide51.xml"/><Relationship Id="rId118" Type="http://schemas.openxmlformats.org/officeDocument/2006/relationships/slide" Target="slides/slide105.xml"/><Relationship Id="rId139" Type="http://schemas.openxmlformats.org/officeDocument/2006/relationships/slide" Target="slides/slide126.xml"/><Relationship Id="rId85" Type="http://schemas.openxmlformats.org/officeDocument/2006/relationships/slide" Target="slides/slide72.xml"/><Relationship Id="rId150" Type="http://schemas.openxmlformats.org/officeDocument/2006/relationships/slide" Target="slides/slide137.xml"/><Relationship Id="rId12" Type="http://schemas.openxmlformats.org/officeDocument/2006/relationships/slideMaster" Target="slideMasters/slideMaster9.xml"/><Relationship Id="rId33" Type="http://schemas.openxmlformats.org/officeDocument/2006/relationships/slide" Target="slides/slide20.xml"/><Relationship Id="rId108" Type="http://schemas.openxmlformats.org/officeDocument/2006/relationships/slide" Target="slides/slide95.xml"/><Relationship Id="rId129" Type="http://schemas.openxmlformats.org/officeDocument/2006/relationships/slide" Target="slides/slide116.xml"/><Relationship Id="rId54" Type="http://schemas.openxmlformats.org/officeDocument/2006/relationships/slide" Target="slides/slide41.xml"/><Relationship Id="rId70" Type="http://schemas.openxmlformats.org/officeDocument/2006/relationships/slide" Target="slides/slide57.xml"/><Relationship Id="rId75" Type="http://schemas.openxmlformats.org/officeDocument/2006/relationships/slide" Target="slides/slide62.xml"/><Relationship Id="rId91" Type="http://schemas.openxmlformats.org/officeDocument/2006/relationships/slide" Target="slides/slide78.xml"/><Relationship Id="rId96" Type="http://schemas.openxmlformats.org/officeDocument/2006/relationships/slide" Target="slides/slide83.xml"/><Relationship Id="rId140" Type="http://schemas.openxmlformats.org/officeDocument/2006/relationships/slide" Target="slides/slide127.xml"/><Relationship Id="rId145" Type="http://schemas.openxmlformats.org/officeDocument/2006/relationships/slide" Target="slides/slide132.xml"/><Relationship Id="rId161" Type="http://schemas.openxmlformats.org/officeDocument/2006/relationships/slide" Target="slides/slide148.xml"/><Relationship Id="rId16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0.xml"/><Relationship Id="rId28" Type="http://schemas.openxmlformats.org/officeDocument/2006/relationships/slide" Target="slides/slide15.xml"/><Relationship Id="rId49" Type="http://schemas.openxmlformats.org/officeDocument/2006/relationships/slide" Target="slides/slide36.xml"/><Relationship Id="rId114" Type="http://schemas.openxmlformats.org/officeDocument/2006/relationships/slide" Target="slides/slide101.xml"/><Relationship Id="rId119" Type="http://schemas.openxmlformats.org/officeDocument/2006/relationships/slide" Target="slides/slide106.xml"/><Relationship Id="rId44" Type="http://schemas.openxmlformats.org/officeDocument/2006/relationships/slide" Target="slides/slide31.xml"/><Relationship Id="rId60" Type="http://schemas.openxmlformats.org/officeDocument/2006/relationships/slide" Target="slides/slide47.xml"/><Relationship Id="rId65" Type="http://schemas.openxmlformats.org/officeDocument/2006/relationships/slide" Target="slides/slide52.xml"/><Relationship Id="rId81" Type="http://schemas.openxmlformats.org/officeDocument/2006/relationships/slide" Target="slides/slide68.xml"/><Relationship Id="rId86" Type="http://schemas.openxmlformats.org/officeDocument/2006/relationships/slide" Target="slides/slide73.xml"/><Relationship Id="rId130" Type="http://schemas.openxmlformats.org/officeDocument/2006/relationships/slide" Target="slides/slide117.xml"/><Relationship Id="rId135" Type="http://schemas.openxmlformats.org/officeDocument/2006/relationships/slide" Target="slides/slide122.xml"/><Relationship Id="rId151" Type="http://schemas.openxmlformats.org/officeDocument/2006/relationships/slide" Target="slides/slide138.xml"/><Relationship Id="rId156" Type="http://schemas.openxmlformats.org/officeDocument/2006/relationships/slide" Target="slides/slide143.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 Id="rId109" Type="http://schemas.openxmlformats.org/officeDocument/2006/relationships/slide" Target="slides/slide96.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 Id="rId76" Type="http://schemas.openxmlformats.org/officeDocument/2006/relationships/slide" Target="slides/slide63.xml"/><Relationship Id="rId97" Type="http://schemas.openxmlformats.org/officeDocument/2006/relationships/slide" Target="slides/slide84.xml"/><Relationship Id="rId104" Type="http://schemas.openxmlformats.org/officeDocument/2006/relationships/slide" Target="slides/slide91.xml"/><Relationship Id="rId120" Type="http://schemas.openxmlformats.org/officeDocument/2006/relationships/slide" Target="slides/slide107.xml"/><Relationship Id="rId125" Type="http://schemas.openxmlformats.org/officeDocument/2006/relationships/slide" Target="slides/slide112.xml"/><Relationship Id="rId141" Type="http://schemas.openxmlformats.org/officeDocument/2006/relationships/slide" Target="slides/slide128.xml"/><Relationship Id="rId146" Type="http://schemas.openxmlformats.org/officeDocument/2006/relationships/slide" Target="slides/slide133.xml"/><Relationship Id="rId167" Type="http://schemas.openxmlformats.org/officeDocument/2006/relationships/theme" Target="theme/theme1.xml"/><Relationship Id="rId7" Type="http://schemas.openxmlformats.org/officeDocument/2006/relationships/slideMaster" Target="slideMasters/slideMaster4.xml"/><Relationship Id="rId71" Type="http://schemas.openxmlformats.org/officeDocument/2006/relationships/slide" Target="slides/slide58.xml"/><Relationship Id="rId92" Type="http://schemas.openxmlformats.org/officeDocument/2006/relationships/slide" Target="slides/slide79.xml"/><Relationship Id="rId162" Type="http://schemas.openxmlformats.org/officeDocument/2006/relationships/slide" Target="slides/slide149.xml"/><Relationship Id="rId2" Type="http://schemas.openxmlformats.org/officeDocument/2006/relationships/customXml" Target="../customXml/item2.xml"/><Relationship Id="rId29" Type="http://schemas.openxmlformats.org/officeDocument/2006/relationships/slide" Target="slides/slide16.xml"/><Relationship Id="rId24" Type="http://schemas.openxmlformats.org/officeDocument/2006/relationships/slide" Target="slides/slide11.xml"/><Relationship Id="rId40" Type="http://schemas.openxmlformats.org/officeDocument/2006/relationships/slide" Target="slides/slide27.xml"/><Relationship Id="rId45" Type="http://schemas.openxmlformats.org/officeDocument/2006/relationships/slide" Target="slides/slide32.xml"/><Relationship Id="rId66" Type="http://schemas.openxmlformats.org/officeDocument/2006/relationships/slide" Target="slides/slide53.xml"/><Relationship Id="rId87" Type="http://schemas.openxmlformats.org/officeDocument/2006/relationships/slide" Target="slides/slide74.xml"/><Relationship Id="rId110" Type="http://schemas.openxmlformats.org/officeDocument/2006/relationships/slide" Target="slides/slide97.xml"/><Relationship Id="rId115" Type="http://schemas.openxmlformats.org/officeDocument/2006/relationships/slide" Target="slides/slide102.xml"/><Relationship Id="rId131" Type="http://schemas.openxmlformats.org/officeDocument/2006/relationships/slide" Target="slides/slide118.xml"/><Relationship Id="rId136" Type="http://schemas.openxmlformats.org/officeDocument/2006/relationships/slide" Target="slides/slide123.xml"/><Relationship Id="rId157" Type="http://schemas.openxmlformats.org/officeDocument/2006/relationships/slide" Target="slides/slide144.xml"/><Relationship Id="rId61" Type="http://schemas.openxmlformats.org/officeDocument/2006/relationships/slide" Target="slides/slide48.xml"/><Relationship Id="rId82" Type="http://schemas.openxmlformats.org/officeDocument/2006/relationships/slide" Target="slides/slide69.xml"/><Relationship Id="rId152" Type="http://schemas.openxmlformats.org/officeDocument/2006/relationships/slide" Target="slides/slide139.xml"/><Relationship Id="rId19" Type="http://schemas.openxmlformats.org/officeDocument/2006/relationships/slide" Target="slides/slide6.xml"/><Relationship Id="rId14" Type="http://schemas.openxmlformats.org/officeDocument/2006/relationships/slide" Target="slides/slide1.xml"/><Relationship Id="rId30" Type="http://schemas.openxmlformats.org/officeDocument/2006/relationships/slide" Target="slides/slide17.xml"/><Relationship Id="rId35" Type="http://schemas.openxmlformats.org/officeDocument/2006/relationships/slide" Target="slides/slide22.xml"/><Relationship Id="rId56" Type="http://schemas.openxmlformats.org/officeDocument/2006/relationships/slide" Target="slides/slide43.xml"/><Relationship Id="rId77" Type="http://schemas.openxmlformats.org/officeDocument/2006/relationships/slide" Target="slides/slide64.xml"/><Relationship Id="rId100" Type="http://schemas.openxmlformats.org/officeDocument/2006/relationships/slide" Target="slides/slide87.xml"/><Relationship Id="rId105" Type="http://schemas.openxmlformats.org/officeDocument/2006/relationships/slide" Target="slides/slide92.xml"/><Relationship Id="rId126" Type="http://schemas.openxmlformats.org/officeDocument/2006/relationships/slide" Target="slides/slide113.xml"/><Relationship Id="rId147" Type="http://schemas.openxmlformats.org/officeDocument/2006/relationships/slide" Target="slides/slide134.xml"/><Relationship Id="rId168"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38.xml"/><Relationship Id="rId72" Type="http://schemas.openxmlformats.org/officeDocument/2006/relationships/slide" Target="slides/slide59.xml"/><Relationship Id="rId93" Type="http://schemas.openxmlformats.org/officeDocument/2006/relationships/slide" Target="slides/slide80.xml"/><Relationship Id="rId98" Type="http://schemas.openxmlformats.org/officeDocument/2006/relationships/slide" Target="slides/slide85.xml"/><Relationship Id="rId121" Type="http://schemas.openxmlformats.org/officeDocument/2006/relationships/slide" Target="slides/slide108.xml"/><Relationship Id="rId142" Type="http://schemas.openxmlformats.org/officeDocument/2006/relationships/slide" Target="slides/slide129.xml"/><Relationship Id="rId163" Type="http://schemas.openxmlformats.org/officeDocument/2006/relationships/notesMaster" Target="notesMasters/notesMaster1.xml"/><Relationship Id="rId3" Type="http://schemas.openxmlformats.org/officeDocument/2006/relationships/customXml" Target="../customXml/item3.xml"/><Relationship Id="rId25" Type="http://schemas.openxmlformats.org/officeDocument/2006/relationships/slide" Target="slides/slide12.xml"/><Relationship Id="rId46" Type="http://schemas.openxmlformats.org/officeDocument/2006/relationships/slide" Target="slides/slide33.xml"/><Relationship Id="rId67" Type="http://schemas.openxmlformats.org/officeDocument/2006/relationships/slide" Target="slides/slide54.xml"/><Relationship Id="rId116" Type="http://schemas.openxmlformats.org/officeDocument/2006/relationships/slide" Target="slides/slide103.xml"/><Relationship Id="rId137" Type="http://schemas.openxmlformats.org/officeDocument/2006/relationships/slide" Target="slides/slide124.xml"/><Relationship Id="rId158" Type="http://schemas.openxmlformats.org/officeDocument/2006/relationships/slide" Target="slides/slide145.xml"/><Relationship Id="rId20" Type="http://schemas.openxmlformats.org/officeDocument/2006/relationships/slide" Target="slides/slide7.xml"/><Relationship Id="rId41" Type="http://schemas.openxmlformats.org/officeDocument/2006/relationships/slide" Target="slides/slide28.xml"/><Relationship Id="rId62" Type="http://schemas.openxmlformats.org/officeDocument/2006/relationships/slide" Target="slides/slide49.xml"/><Relationship Id="rId83" Type="http://schemas.openxmlformats.org/officeDocument/2006/relationships/slide" Target="slides/slide70.xml"/><Relationship Id="rId88" Type="http://schemas.openxmlformats.org/officeDocument/2006/relationships/slide" Target="slides/slide75.xml"/><Relationship Id="rId111" Type="http://schemas.openxmlformats.org/officeDocument/2006/relationships/slide" Target="slides/slide98.xml"/><Relationship Id="rId132" Type="http://schemas.openxmlformats.org/officeDocument/2006/relationships/slide" Target="slides/slide119.xml"/><Relationship Id="rId153" Type="http://schemas.openxmlformats.org/officeDocument/2006/relationships/slide" Target="slides/slide140.xml"/><Relationship Id="rId15" Type="http://schemas.openxmlformats.org/officeDocument/2006/relationships/slide" Target="slides/slide2.xml"/><Relationship Id="rId36" Type="http://schemas.openxmlformats.org/officeDocument/2006/relationships/slide" Target="slides/slide23.xml"/><Relationship Id="rId57" Type="http://schemas.openxmlformats.org/officeDocument/2006/relationships/slide" Target="slides/slide44.xml"/><Relationship Id="rId106" Type="http://schemas.openxmlformats.org/officeDocument/2006/relationships/slide" Target="slides/slide93.xml"/><Relationship Id="rId127" Type="http://schemas.openxmlformats.org/officeDocument/2006/relationships/slide" Target="slides/slide114.xml"/><Relationship Id="rId10" Type="http://schemas.openxmlformats.org/officeDocument/2006/relationships/slideMaster" Target="slideMasters/slideMaster7.xml"/><Relationship Id="rId31" Type="http://schemas.openxmlformats.org/officeDocument/2006/relationships/slide" Target="slides/slide18.xml"/><Relationship Id="rId52" Type="http://schemas.openxmlformats.org/officeDocument/2006/relationships/slide" Target="slides/slide39.xml"/><Relationship Id="rId73" Type="http://schemas.openxmlformats.org/officeDocument/2006/relationships/slide" Target="slides/slide60.xml"/><Relationship Id="rId78" Type="http://schemas.openxmlformats.org/officeDocument/2006/relationships/slide" Target="slides/slide65.xml"/><Relationship Id="rId94" Type="http://schemas.openxmlformats.org/officeDocument/2006/relationships/slide" Target="slides/slide81.xml"/><Relationship Id="rId99" Type="http://schemas.openxmlformats.org/officeDocument/2006/relationships/slide" Target="slides/slide86.xml"/><Relationship Id="rId101" Type="http://schemas.openxmlformats.org/officeDocument/2006/relationships/slide" Target="slides/slide88.xml"/><Relationship Id="rId122" Type="http://schemas.openxmlformats.org/officeDocument/2006/relationships/slide" Target="slides/slide109.xml"/><Relationship Id="rId143" Type="http://schemas.openxmlformats.org/officeDocument/2006/relationships/slide" Target="slides/slide130.xml"/><Relationship Id="rId148" Type="http://schemas.openxmlformats.org/officeDocument/2006/relationships/slide" Target="slides/slide135.xml"/><Relationship Id="rId164" Type="http://schemas.openxmlformats.org/officeDocument/2006/relationships/handoutMaster" Target="handoutMasters/handoutMaster1.xml"/><Relationship Id="rId16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3.xml"/><Relationship Id="rId47" Type="http://schemas.openxmlformats.org/officeDocument/2006/relationships/slide" Target="slides/slide34.xml"/><Relationship Id="rId68" Type="http://schemas.openxmlformats.org/officeDocument/2006/relationships/slide" Target="slides/slide55.xml"/><Relationship Id="rId89" Type="http://schemas.openxmlformats.org/officeDocument/2006/relationships/slide" Target="slides/slide76.xml"/><Relationship Id="rId112" Type="http://schemas.openxmlformats.org/officeDocument/2006/relationships/slide" Target="slides/slide99.xml"/><Relationship Id="rId133" Type="http://schemas.openxmlformats.org/officeDocument/2006/relationships/slide" Target="slides/slide120.xml"/><Relationship Id="rId154" Type="http://schemas.openxmlformats.org/officeDocument/2006/relationships/slide" Target="slides/slide141.xml"/><Relationship Id="rId16" Type="http://schemas.openxmlformats.org/officeDocument/2006/relationships/slide" Target="slides/slide3.xml"/><Relationship Id="rId37" Type="http://schemas.openxmlformats.org/officeDocument/2006/relationships/slide" Target="slides/slide24.xml"/><Relationship Id="rId58" Type="http://schemas.openxmlformats.org/officeDocument/2006/relationships/slide" Target="slides/slide45.xml"/><Relationship Id="rId79" Type="http://schemas.openxmlformats.org/officeDocument/2006/relationships/slide" Target="slides/slide66.xml"/><Relationship Id="rId102" Type="http://schemas.openxmlformats.org/officeDocument/2006/relationships/slide" Target="slides/slide89.xml"/><Relationship Id="rId123" Type="http://schemas.openxmlformats.org/officeDocument/2006/relationships/slide" Target="slides/slide110.xml"/><Relationship Id="rId144" Type="http://schemas.openxmlformats.org/officeDocument/2006/relationships/slide" Target="slides/slide131.xml"/><Relationship Id="rId90" Type="http://schemas.openxmlformats.org/officeDocument/2006/relationships/slide" Target="slides/slide77.xml"/><Relationship Id="rId165" Type="http://schemas.openxmlformats.org/officeDocument/2006/relationships/presProps" Target="presProps.xml"/><Relationship Id="rId27" Type="http://schemas.openxmlformats.org/officeDocument/2006/relationships/slide" Target="slides/slide14.xml"/><Relationship Id="rId48" Type="http://schemas.openxmlformats.org/officeDocument/2006/relationships/slide" Target="slides/slide35.xml"/><Relationship Id="rId69" Type="http://schemas.openxmlformats.org/officeDocument/2006/relationships/slide" Target="slides/slide56.xml"/><Relationship Id="rId113" Type="http://schemas.openxmlformats.org/officeDocument/2006/relationships/slide" Target="slides/slide100.xml"/><Relationship Id="rId134" Type="http://schemas.openxmlformats.org/officeDocument/2006/relationships/slide" Target="slides/slide121.xml"/><Relationship Id="rId80" Type="http://schemas.openxmlformats.org/officeDocument/2006/relationships/slide" Target="slides/slide67.xml"/><Relationship Id="rId155" Type="http://schemas.openxmlformats.org/officeDocument/2006/relationships/slide" Target="slides/slide142.xml"/><Relationship Id="rId17" Type="http://schemas.openxmlformats.org/officeDocument/2006/relationships/slide" Target="slides/slide4.xml"/><Relationship Id="rId38" Type="http://schemas.openxmlformats.org/officeDocument/2006/relationships/slide" Target="slides/slide25.xml"/><Relationship Id="rId59" Type="http://schemas.openxmlformats.org/officeDocument/2006/relationships/slide" Target="slides/slide46.xml"/><Relationship Id="rId103" Type="http://schemas.openxmlformats.org/officeDocument/2006/relationships/slide" Target="slides/slide90.xml"/><Relationship Id="rId124" Type="http://schemas.openxmlformats.org/officeDocument/2006/relationships/slide" Target="slides/slide1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4B5677-6D61-9DDB-18C5-EBCAA28203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sz="800"/>
          </a:p>
        </p:txBody>
      </p:sp>
      <p:sp>
        <p:nvSpPr>
          <p:cNvPr id="3" name="Date Placeholder 2">
            <a:extLst>
              <a:ext uri="{FF2B5EF4-FFF2-40B4-BE49-F238E27FC236}">
                <a16:creationId xmlns:a16="http://schemas.microsoft.com/office/drawing/2014/main" id="{B35BCFF4-2878-1D71-6624-7763B7DE1D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0F51D7-3634-45F6-A9CF-2D63CD0A5EAF}" type="datetimeFigureOut">
              <a:rPr lang="en-GB" sz="800" smtClean="0"/>
              <a:t>19/10/2026</a:t>
            </a:fld>
            <a:endParaRPr lang="en-GB" sz="800"/>
          </a:p>
        </p:txBody>
      </p:sp>
      <p:sp>
        <p:nvSpPr>
          <p:cNvPr id="4" name="Footer Placeholder 3">
            <a:extLst>
              <a:ext uri="{FF2B5EF4-FFF2-40B4-BE49-F238E27FC236}">
                <a16:creationId xmlns:a16="http://schemas.microsoft.com/office/drawing/2014/main" id="{02AD6701-6398-3522-3C53-55DC5E66D26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sz="800"/>
          </a:p>
        </p:txBody>
      </p:sp>
      <p:sp>
        <p:nvSpPr>
          <p:cNvPr id="5" name="Slide Number Placeholder 4">
            <a:extLst>
              <a:ext uri="{FF2B5EF4-FFF2-40B4-BE49-F238E27FC236}">
                <a16:creationId xmlns:a16="http://schemas.microsoft.com/office/drawing/2014/main" id="{4F80A865-D61F-8A30-C2FD-FF2303FBAF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72C6DF-08BF-4B87-8BCC-4ED8CC3899B8}" type="slidenum">
              <a:rPr lang="en-GB" sz="800" smtClean="0"/>
              <a:t>‹#›</a:t>
            </a:fld>
            <a:endParaRPr lang="en-GB" sz="800"/>
          </a:p>
        </p:txBody>
      </p:sp>
    </p:spTree>
    <p:extLst>
      <p:ext uri="{BB962C8B-B14F-4D97-AF65-F5344CB8AC3E}">
        <p14:creationId xmlns:p14="http://schemas.microsoft.com/office/powerpoint/2010/main" val="3372126821"/>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800"/>
            </a:lvl1pPr>
          </a:lstStyle>
          <a:p>
            <a:endParaRPr lang="fi-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800"/>
            </a:lvl1pPr>
          </a:lstStyle>
          <a:p>
            <a:fld id="{64A5F74A-CD8A-4953-B106-B5BDE091D867}" type="datetimeFigureOut">
              <a:rPr lang="fi-FI" smtClean="0"/>
              <a:pPr/>
              <a:t>19.10.2026</a:t>
            </a:fld>
            <a:endParaRPr lang="fi-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800"/>
            </a:lvl1pPr>
          </a:lstStyle>
          <a:p>
            <a:endParaRPr lang="fi-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800"/>
            </a:lvl1pPr>
          </a:lstStyle>
          <a:p>
            <a:fld id="{CB868C32-EF99-4F91-9ACD-FA27EAEF0DAD}" type="slidenum">
              <a:rPr lang="fi-FI" smtClean="0"/>
              <a:pPr/>
              <a:t>‹#›</a:t>
            </a:fld>
            <a:endParaRPr lang="fi-FI"/>
          </a:p>
        </p:txBody>
      </p:sp>
    </p:spTree>
    <p:extLst>
      <p:ext uri="{BB962C8B-B14F-4D97-AF65-F5344CB8AC3E}">
        <p14:creationId xmlns:p14="http://schemas.microsoft.com/office/powerpoint/2010/main" val="9074434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
        <p:nvSpPr>
          <p:cNvPr id="4" name="Slide Number Placeholder 3"/>
          <p:cNvSpPr>
            <a:spLocks noGrp="1"/>
          </p:cNvSpPr>
          <p:nvPr>
            <p:ph type="sldNum" sz="quarter" idx="5"/>
          </p:nvPr>
        </p:nvSpPr>
        <p:spPr/>
        <p:txBody>
          <a:bodyPr/>
          <a:lstStyle/>
          <a:p>
            <a:fld id="{CB868C32-EF99-4F91-9ACD-FA27EAEF0DAD}" type="slidenum">
              <a:rPr lang="fi-FI" smtClean="0"/>
              <a:pPr/>
              <a:t>2</a:t>
            </a:fld>
            <a:endParaRPr lang="fi-FI"/>
          </a:p>
        </p:txBody>
      </p:sp>
    </p:spTree>
    <p:extLst>
      <p:ext uri="{BB962C8B-B14F-4D97-AF65-F5344CB8AC3E}">
        <p14:creationId xmlns:p14="http://schemas.microsoft.com/office/powerpoint/2010/main" val="2865962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
        <p:nvSpPr>
          <p:cNvPr id="4" name="Slide Number Placeholder 3"/>
          <p:cNvSpPr>
            <a:spLocks noGrp="1"/>
          </p:cNvSpPr>
          <p:nvPr>
            <p:ph type="sldNum" sz="quarter" idx="5"/>
          </p:nvPr>
        </p:nvSpPr>
        <p:spPr/>
        <p:txBody>
          <a:bodyPr/>
          <a:lstStyle/>
          <a:p>
            <a:fld id="{CB868C32-EF99-4F91-9ACD-FA27EAEF0DAD}" type="slidenum">
              <a:rPr lang="fi-FI" smtClean="0"/>
              <a:pPr/>
              <a:t>7</a:t>
            </a:fld>
            <a:endParaRPr lang="fi-FI"/>
          </a:p>
        </p:txBody>
      </p:sp>
    </p:spTree>
    <p:extLst>
      <p:ext uri="{BB962C8B-B14F-4D97-AF65-F5344CB8AC3E}">
        <p14:creationId xmlns:p14="http://schemas.microsoft.com/office/powerpoint/2010/main" val="2907532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68C32-EF99-4F91-9ACD-FA27EAEF0DAD}" type="slidenum">
              <a:rPr lang="fi-FI" smtClean="0"/>
              <a:pPr/>
              <a:t>28</a:t>
            </a:fld>
            <a:endParaRPr lang="fi-FI"/>
          </a:p>
        </p:txBody>
      </p:sp>
    </p:spTree>
    <p:extLst>
      <p:ext uri="{BB962C8B-B14F-4D97-AF65-F5344CB8AC3E}">
        <p14:creationId xmlns:p14="http://schemas.microsoft.com/office/powerpoint/2010/main" val="3200599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68C32-EF99-4F91-9ACD-FA27EAEF0DAD}" type="slidenum">
              <a:rPr lang="fi-FI" smtClean="0"/>
              <a:pPr/>
              <a:t>29</a:t>
            </a:fld>
            <a:endParaRPr lang="fi-FI"/>
          </a:p>
        </p:txBody>
      </p:sp>
    </p:spTree>
    <p:extLst>
      <p:ext uri="{BB962C8B-B14F-4D97-AF65-F5344CB8AC3E}">
        <p14:creationId xmlns:p14="http://schemas.microsoft.com/office/powerpoint/2010/main" val="1473852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68C32-EF99-4F91-9ACD-FA27EAEF0DAD}" type="slidenum">
              <a:rPr lang="fi-FI" smtClean="0"/>
              <a:pPr/>
              <a:t>31</a:t>
            </a:fld>
            <a:endParaRPr lang="fi-FI"/>
          </a:p>
        </p:txBody>
      </p:sp>
    </p:spTree>
    <p:extLst>
      <p:ext uri="{BB962C8B-B14F-4D97-AF65-F5344CB8AC3E}">
        <p14:creationId xmlns:p14="http://schemas.microsoft.com/office/powerpoint/2010/main" val="3683833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68C32-EF99-4F91-9ACD-FA27EAEF0DAD}" type="slidenum">
              <a:rPr lang="fi-FI" smtClean="0"/>
              <a:pPr/>
              <a:t>32</a:t>
            </a:fld>
            <a:endParaRPr lang="fi-FI"/>
          </a:p>
        </p:txBody>
      </p:sp>
    </p:spTree>
    <p:extLst>
      <p:ext uri="{BB962C8B-B14F-4D97-AF65-F5344CB8AC3E}">
        <p14:creationId xmlns:p14="http://schemas.microsoft.com/office/powerpoint/2010/main" val="3875432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68C32-EF99-4F91-9ACD-FA27EAEF0DAD}" type="slidenum">
              <a:rPr lang="fi-FI" smtClean="0"/>
              <a:pPr/>
              <a:t>33</a:t>
            </a:fld>
            <a:endParaRPr lang="fi-FI"/>
          </a:p>
        </p:txBody>
      </p:sp>
    </p:spTree>
    <p:extLst>
      <p:ext uri="{BB962C8B-B14F-4D97-AF65-F5344CB8AC3E}">
        <p14:creationId xmlns:p14="http://schemas.microsoft.com/office/powerpoint/2010/main" val="959786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68C32-EF99-4F91-9ACD-FA27EAEF0DAD}" type="slidenum">
              <a:rPr lang="fi-FI" smtClean="0"/>
              <a:pPr/>
              <a:t>34</a:t>
            </a:fld>
            <a:endParaRPr lang="fi-FI"/>
          </a:p>
        </p:txBody>
      </p:sp>
    </p:spTree>
    <p:extLst>
      <p:ext uri="{BB962C8B-B14F-4D97-AF65-F5344CB8AC3E}">
        <p14:creationId xmlns:p14="http://schemas.microsoft.com/office/powerpoint/2010/main" val="3731377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68C32-EF99-4F91-9ACD-FA27EAEF0DAD}" type="slidenum">
              <a:rPr lang="fi-FI" smtClean="0"/>
              <a:pPr/>
              <a:t>35</a:t>
            </a:fld>
            <a:endParaRPr lang="fi-FI"/>
          </a:p>
        </p:txBody>
      </p:sp>
    </p:spTree>
    <p:extLst>
      <p:ext uri="{BB962C8B-B14F-4D97-AF65-F5344CB8AC3E}">
        <p14:creationId xmlns:p14="http://schemas.microsoft.com/office/powerpoint/2010/main" val="1261379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868C32-EF99-4F91-9ACD-FA27EAEF0DAD}" type="slidenum">
              <a:rPr lang="fi-FI" smtClean="0"/>
              <a:pPr/>
              <a:t>70</a:t>
            </a:fld>
            <a:endParaRPr lang="fi-FI"/>
          </a:p>
        </p:txBody>
      </p:sp>
    </p:spTree>
    <p:extLst>
      <p:ext uri="{BB962C8B-B14F-4D97-AF65-F5344CB8AC3E}">
        <p14:creationId xmlns:p14="http://schemas.microsoft.com/office/powerpoint/2010/main" val="2609440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868C32-EF99-4F91-9ACD-FA27EAEF0DAD}" type="slidenum">
              <a:rPr kumimoji="0" lang="fi-FI" sz="8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066916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D3316-DB26-1125-0366-D342BE0C6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4F7046-97F3-67C4-7785-6CBAE2A55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C9564E-E7FB-D8D3-9EDA-1916CB4DA462}"/>
              </a:ext>
            </a:extLst>
          </p:cNvPr>
          <p:cNvSpPr>
            <a:spLocks noGrp="1"/>
          </p:cNvSpPr>
          <p:nvPr>
            <p:ph type="body" idx="1"/>
          </p:nvPr>
        </p:nvSpPr>
        <p:spPr/>
        <p:txBody>
          <a:bodyPr/>
          <a:lstStyle/>
          <a:p>
            <a:endParaRPr lang="en-FI"/>
          </a:p>
        </p:txBody>
      </p:sp>
      <p:sp>
        <p:nvSpPr>
          <p:cNvPr id="4" name="Slide Number Placeholder 3">
            <a:extLst>
              <a:ext uri="{FF2B5EF4-FFF2-40B4-BE49-F238E27FC236}">
                <a16:creationId xmlns:a16="http://schemas.microsoft.com/office/drawing/2014/main" id="{C40F2FD1-D1BE-A9A0-4925-4CCB13AC18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868C32-EF99-4F91-9ACD-FA27EAEF0DAD}" type="slidenum">
              <a:rPr kumimoji="0" lang="fi-FI" sz="8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782688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F95E7-22BE-05A3-E398-1AEC98B312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E5701-5BCF-E900-4199-0B35019E5FC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8D4E4F6-0A1B-1304-D9E5-402864C5E10E}"/>
              </a:ext>
            </a:extLst>
          </p:cNvPr>
          <p:cNvSpPr>
            <a:spLocks noGrp="1"/>
          </p:cNvSpPr>
          <p:nvPr>
            <p:ph type="body" idx="1"/>
          </p:nvPr>
        </p:nvSpPr>
        <p:spPr/>
        <p:txBody>
          <a:bodyPr/>
          <a:lstStyle/>
          <a:p>
            <a:endParaRPr lang="fi-FI" b="0"/>
          </a:p>
        </p:txBody>
      </p:sp>
      <p:sp>
        <p:nvSpPr>
          <p:cNvPr id="4" name="Slide Number Placeholder 3">
            <a:extLst>
              <a:ext uri="{FF2B5EF4-FFF2-40B4-BE49-F238E27FC236}">
                <a16:creationId xmlns:a16="http://schemas.microsoft.com/office/drawing/2014/main" id="{19B6D8FE-FB58-1179-D11B-FBEB6F6BD0AF}"/>
              </a:ext>
            </a:extLst>
          </p:cNvPr>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DF164E42-DED0-9246-9B1B-B67105F62D49}"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123</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7058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868C32-EF99-4F91-9ACD-FA27EAEF0DAD}" type="slidenum">
              <a:rPr kumimoji="0" lang="fi-FI" sz="8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75454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2DFAF-9670-CA00-A362-22EF7D240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60707-86C2-D50A-CC8D-AF9973E4FDA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B5D272A-A064-9189-9ABB-1FBE3CA5643C}"/>
              </a:ext>
            </a:extLst>
          </p:cNvPr>
          <p:cNvSpPr>
            <a:spLocks noGrp="1"/>
          </p:cNvSpPr>
          <p:nvPr>
            <p:ph type="body" idx="1"/>
          </p:nvPr>
        </p:nvSpPr>
        <p:spPr/>
        <p:txBody>
          <a:bodyPr/>
          <a:lstStyle/>
          <a:p>
            <a:endParaRPr lang="fi-FI" b="0"/>
          </a:p>
        </p:txBody>
      </p:sp>
      <p:sp>
        <p:nvSpPr>
          <p:cNvPr id="4" name="Slide Number Placeholder 3">
            <a:extLst>
              <a:ext uri="{FF2B5EF4-FFF2-40B4-BE49-F238E27FC236}">
                <a16:creationId xmlns:a16="http://schemas.microsoft.com/office/drawing/2014/main" id="{504D1D92-1548-5F19-9E1D-3A201920C652}"/>
              </a:ext>
            </a:extLst>
          </p:cNvPr>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DF164E42-DED0-9246-9B1B-B67105F62D49}"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139</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5822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6101B-BB16-7E09-C367-0A1D4843B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82D39-1BF4-5A68-C8D5-AD6604CC48A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2D8BCAA-D6C7-CE5E-93E6-49A9A96A96E5}"/>
              </a:ext>
            </a:extLst>
          </p:cNvPr>
          <p:cNvSpPr>
            <a:spLocks noGrp="1"/>
          </p:cNvSpPr>
          <p:nvPr>
            <p:ph type="body" idx="1"/>
          </p:nvPr>
        </p:nvSpPr>
        <p:spPr/>
        <p:txBody>
          <a:bodyPr/>
          <a:lstStyle/>
          <a:p>
            <a:endParaRPr lang="fi-FI" b="0"/>
          </a:p>
        </p:txBody>
      </p:sp>
      <p:sp>
        <p:nvSpPr>
          <p:cNvPr id="4" name="Slide Number Placeholder 3">
            <a:extLst>
              <a:ext uri="{FF2B5EF4-FFF2-40B4-BE49-F238E27FC236}">
                <a16:creationId xmlns:a16="http://schemas.microsoft.com/office/drawing/2014/main" id="{2B4F19EC-6221-028C-9980-7DCE434D87F0}"/>
              </a:ext>
            </a:extLst>
          </p:cNvPr>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DF164E42-DED0-9246-9B1B-B67105F62D49}"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142</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7085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D3A8F-3728-B267-F2D8-4CC69C698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65C7F-2E46-F183-64DA-CAF311B3B8D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1730D19-1706-9A34-E954-855B46C42348}"/>
              </a:ext>
            </a:extLst>
          </p:cNvPr>
          <p:cNvSpPr>
            <a:spLocks noGrp="1"/>
          </p:cNvSpPr>
          <p:nvPr>
            <p:ph type="body" idx="1"/>
          </p:nvPr>
        </p:nvSpPr>
        <p:spPr/>
        <p:txBody>
          <a:bodyPr/>
          <a:lstStyle/>
          <a:p>
            <a:endParaRPr lang="fi-FI" b="0"/>
          </a:p>
        </p:txBody>
      </p:sp>
      <p:sp>
        <p:nvSpPr>
          <p:cNvPr id="4" name="Slide Number Placeholder 3">
            <a:extLst>
              <a:ext uri="{FF2B5EF4-FFF2-40B4-BE49-F238E27FC236}">
                <a16:creationId xmlns:a16="http://schemas.microsoft.com/office/drawing/2014/main" id="{FD9BB91D-325B-FE16-DD3E-B7B56E0E8A20}"/>
              </a:ext>
            </a:extLst>
          </p:cNvPr>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DF164E42-DED0-9246-9B1B-B67105F62D49}"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143</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79338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04D75-0E8A-4766-6D12-CB21C347D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A66D2-8B16-B293-9BD0-63EFEC7666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899820-B724-656E-4F37-AEA811464619}"/>
              </a:ext>
            </a:extLst>
          </p:cNvPr>
          <p:cNvSpPr>
            <a:spLocks noGrp="1"/>
          </p:cNvSpPr>
          <p:nvPr>
            <p:ph type="body" idx="1"/>
          </p:nvPr>
        </p:nvSpPr>
        <p:spPr/>
        <p:txBody>
          <a:bodyPr/>
          <a:lstStyle/>
          <a:p>
            <a:endParaRPr lang="en-FI"/>
          </a:p>
        </p:txBody>
      </p:sp>
      <p:sp>
        <p:nvSpPr>
          <p:cNvPr id="4" name="Slide Number Placeholder 3">
            <a:extLst>
              <a:ext uri="{FF2B5EF4-FFF2-40B4-BE49-F238E27FC236}">
                <a16:creationId xmlns:a16="http://schemas.microsoft.com/office/drawing/2014/main" id="{DFE95A32-0170-CC5A-653F-EA47F7D412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868C32-EF99-4F91-9ACD-FA27EAEF0DAD}" type="slidenum">
              <a:rPr kumimoji="0" lang="fi-FI" sz="8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144</a:t>
            </a:fld>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913976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800" b="0" i="0" u="none" strike="noStrike" kern="1200" cap="none" spc="0" normalizeH="0" baseline="0" noProof="0" smtClean="0">
                <a:ln>
                  <a:noFill/>
                </a:ln>
                <a:solidFill>
                  <a:prstClr val="black"/>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147</a:t>
            </a:fld>
            <a:endParaRPr kumimoji="0" lang="en-GB" sz="800" b="0" i="0" u="none" strike="noStrike" kern="1200" cap="none" spc="0" normalizeH="0" baseline="0" noProof="0">
              <a:ln>
                <a:noFill/>
              </a:ln>
              <a:solidFill>
                <a:prstClr val="black"/>
              </a:solidFill>
              <a:effectLst/>
              <a:uLnTx/>
              <a:uFillTx/>
              <a:latin typeface="Arial"/>
              <a:ea typeface="Arial"/>
              <a:cs typeface="Arial"/>
              <a:sym typeface="Arial"/>
            </a:endParaRPr>
          </a:p>
        </p:txBody>
      </p:sp>
    </p:spTree>
    <p:extLst>
      <p:ext uri="{BB962C8B-B14F-4D97-AF65-F5344CB8AC3E}">
        <p14:creationId xmlns:p14="http://schemas.microsoft.com/office/powerpoint/2010/main" val="22646313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2AB48-B0D6-2D5D-00A5-77419A991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587635-4DF5-CBEC-9789-E2049354E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3382D-DECD-E0E4-524B-8B08B28A52A4}"/>
              </a:ext>
            </a:extLst>
          </p:cNvPr>
          <p:cNvSpPr>
            <a:spLocks noGrp="1"/>
          </p:cNvSpPr>
          <p:nvPr>
            <p:ph type="body" idx="1"/>
          </p:nvPr>
        </p:nvSpPr>
        <p:spPr/>
        <p:txBody>
          <a:bodyPr/>
          <a:lstStyle/>
          <a:p>
            <a:endParaRPr lang="en-FI"/>
          </a:p>
        </p:txBody>
      </p:sp>
      <p:sp>
        <p:nvSpPr>
          <p:cNvPr id="4" name="Slide Number Placeholder 3">
            <a:extLst>
              <a:ext uri="{FF2B5EF4-FFF2-40B4-BE49-F238E27FC236}">
                <a16:creationId xmlns:a16="http://schemas.microsoft.com/office/drawing/2014/main" id="{025A56FE-7A0B-06EE-668B-0935B3F49B25}"/>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800" b="0" i="0" u="none" strike="noStrike" kern="1200" cap="none" spc="0" normalizeH="0" baseline="0" noProof="0" smtClean="0">
                <a:ln>
                  <a:noFill/>
                </a:ln>
                <a:solidFill>
                  <a:prstClr val="black"/>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148</a:t>
            </a:fld>
            <a:endParaRPr kumimoji="0" lang="en-GB" sz="800" b="0" i="0" u="none" strike="noStrike" kern="1200" cap="none" spc="0" normalizeH="0" baseline="0" noProof="0">
              <a:ln>
                <a:noFill/>
              </a:ln>
              <a:solidFill>
                <a:prstClr val="black"/>
              </a:solidFill>
              <a:effectLst/>
              <a:uLnTx/>
              <a:uFillTx/>
              <a:latin typeface="Arial"/>
              <a:ea typeface="Arial"/>
              <a:cs typeface="Arial"/>
              <a:sym typeface="Arial"/>
            </a:endParaRPr>
          </a:p>
        </p:txBody>
      </p:sp>
    </p:spTree>
    <p:extLst>
      <p:ext uri="{BB962C8B-B14F-4D97-AF65-F5344CB8AC3E}">
        <p14:creationId xmlns:p14="http://schemas.microsoft.com/office/powerpoint/2010/main" val="3754478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reativecommons.org/licenses/by/4.0/" TargetMode="External"/><Relationship Id="rId1" Type="http://schemas.openxmlformats.org/officeDocument/2006/relationships/slideMaster" Target="../slideMasters/slideMaster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2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hyperlink" Target="https://creativecommons.org/licenses/by-nc-nd/4.0/" TargetMode="External"/><Relationship Id="rId1" Type="http://schemas.openxmlformats.org/officeDocument/2006/relationships/slideMaster" Target="../slideMasters/slideMaster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30.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hyperlink" Target="https://creativecommons.org/licenses/by-sa/4.0/" TargetMode="External"/><Relationship Id="rId1" Type="http://schemas.openxmlformats.org/officeDocument/2006/relationships/slideMaster" Target="../slideMasters/slideMaster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reativecommons.org/licenses/by/4.0/" TargetMode="External"/><Relationship Id="rId1" Type="http://schemas.openxmlformats.org/officeDocument/2006/relationships/slideMaster" Target="../slideMasters/slideMaster5.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8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hyperlink" Target="https://creativecommons.org/licenses/by-nc-nd/4.0/" TargetMode="External"/><Relationship Id="rId1" Type="http://schemas.openxmlformats.org/officeDocument/2006/relationships/slideMaster" Target="../slideMasters/slideMaster5.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83.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hyperlink" Target="https://creativecommons.org/licenses/by-sa/4.0/" TargetMode="External"/><Relationship Id="rId1" Type="http://schemas.openxmlformats.org/officeDocument/2006/relationships/slideMaster" Target="../slideMasters/slideMaster5.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7.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10.xml"/></Relationships>
</file>

<file path=ppt/slideLayouts/_rels/slideLayout148.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10.xml"/></Relationships>
</file>

<file path=ppt/slideLayouts/_rels/slideLayout149.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2" Type="http://schemas.openxmlformats.org/officeDocument/2006/relationships/hyperlink" Target="http://www.aalto.fi/" TargetMode="External"/><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ext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2817B02A-E412-3D57-D720-53C16DE5CD79}"/>
              </a:ext>
            </a:extLst>
          </p:cNvPr>
          <p:cNvSpPr>
            <a:spLocks noGrp="1"/>
          </p:cNvSpPr>
          <p:nvPr>
            <p:ph type="dt" sz="half" idx="14"/>
          </p:nvPr>
        </p:nvSpPr>
        <p:spPr/>
        <p:txBody>
          <a:bodyPr/>
          <a:lstStyle/>
          <a:p>
            <a:r>
              <a:rPr lang="fi-FI"/>
              <a:t>28.04.2026</a:t>
            </a:r>
          </a:p>
        </p:txBody>
      </p:sp>
      <p:sp>
        <p:nvSpPr>
          <p:cNvPr id="11" name="Footer Placeholder 10">
            <a:extLst>
              <a:ext uri="{FF2B5EF4-FFF2-40B4-BE49-F238E27FC236}">
                <a16:creationId xmlns:a16="http://schemas.microsoft.com/office/drawing/2014/main" id="{F69D12B5-7125-30E3-24A9-B13A45A47DD2}"/>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12" name="Slide Number Placeholder 11">
            <a:extLst>
              <a:ext uri="{FF2B5EF4-FFF2-40B4-BE49-F238E27FC236}">
                <a16:creationId xmlns:a16="http://schemas.microsoft.com/office/drawing/2014/main" id="{FBF2F3BF-BDB4-934B-223F-10D124A9FF7F}"/>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7861245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ext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solidFill>
                  <a:schemeClr val="bg1"/>
                </a:solidFill>
              </a:defRPr>
            </a:lvl1pPr>
            <a:lvl2pP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1290A9EE-B882-1AC8-FB03-9E891579AE36}"/>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10" name="Date Placeholder 9">
            <a:extLst>
              <a:ext uri="{FF2B5EF4-FFF2-40B4-BE49-F238E27FC236}">
                <a16:creationId xmlns:a16="http://schemas.microsoft.com/office/drawing/2014/main" id="{B05A6015-939E-F9FC-0FB4-D470EC8A0BBD}"/>
              </a:ext>
            </a:extLst>
          </p:cNvPr>
          <p:cNvSpPr>
            <a:spLocks noGrp="1"/>
          </p:cNvSpPr>
          <p:nvPr>
            <p:ph type="dt" sz="half" idx="14"/>
          </p:nvPr>
        </p:nvSpPr>
        <p:spPr/>
        <p:txBody>
          <a:bodyPr/>
          <a:lstStyle/>
          <a:p>
            <a:r>
              <a:rPr lang="fi-FI"/>
              <a:t>28.04.2026</a:t>
            </a:r>
          </a:p>
        </p:txBody>
      </p:sp>
      <p:sp>
        <p:nvSpPr>
          <p:cNvPr id="11" name="Footer Placeholder 10">
            <a:extLst>
              <a:ext uri="{FF2B5EF4-FFF2-40B4-BE49-F238E27FC236}">
                <a16:creationId xmlns:a16="http://schemas.microsoft.com/office/drawing/2014/main" id="{14DB1AA2-CCCB-5B08-265D-BE56112733BF}"/>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12" name="Slide Number Placeholder 11">
            <a:extLst>
              <a:ext uri="{FF2B5EF4-FFF2-40B4-BE49-F238E27FC236}">
                <a16:creationId xmlns:a16="http://schemas.microsoft.com/office/drawing/2014/main" id="{CCA03FB0-714E-A993-B1E2-A06FD8310D2E}"/>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5847361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ext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57968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xt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77502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xt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87034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ullets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4" name="Date Placeholder 3">
            <a:extLst>
              <a:ext uri="{FF2B5EF4-FFF2-40B4-BE49-F238E27FC236}">
                <a16:creationId xmlns:a16="http://schemas.microsoft.com/office/drawing/2014/main" id="{5BB6FDD6-AC67-386D-7AA4-C02EC9BB07D2}"/>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A597A9CB-A538-660F-9EC0-84FF7D333DFB}"/>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4088830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Bullets and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solidFill>
                  <a:schemeClr val="bg1"/>
                </a:solidFill>
              </a:defRPr>
            </a:lvl1pPr>
            <a:lvl2pPr marL="539750" indent="-266700">
              <a:defRPr>
                <a:solidFill>
                  <a:schemeClr val="bg1"/>
                </a:solidFill>
              </a:defRPr>
            </a:lvl2pPr>
            <a:lvl3pPr marL="808038" indent="-276225">
              <a:defRPr>
                <a:solidFill>
                  <a:schemeClr val="bg1"/>
                </a:solidFill>
              </a:defRPr>
            </a:lvl3pPr>
            <a:lvl4pPr marL="1077913" indent="-266700">
              <a:defRPr>
                <a:solidFill>
                  <a:schemeClr val="bg1"/>
                </a:solidFill>
              </a:defRPr>
            </a:lvl4pPr>
            <a:lvl5pPr marL="1347788" indent="-266700">
              <a:defRPr>
                <a:solidFill>
                  <a:schemeClr val="bg1"/>
                </a:solidFill>
              </a:defRPr>
            </a:lvl5pPr>
            <a:lvl6pPr marL="1617663" indent="-266700">
              <a:defRPr>
                <a:solidFill>
                  <a:schemeClr val="bg1"/>
                </a:solidFill>
              </a:defRPr>
            </a:lvl6pPr>
            <a:lvl7pPr marL="1885950" indent="-276225">
              <a:defRPr>
                <a:solidFill>
                  <a:schemeClr val="bg1"/>
                </a:solidFill>
              </a:defRPr>
            </a:lvl7pPr>
            <a:lvl8pPr marL="2155825" indent="-266700">
              <a:defRPr>
                <a:solidFill>
                  <a:schemeClr val="bg1"/>
                </a:solidFill>
              </a:defRPr>
            </a:lvl8pPr>
            <a:lvl9pPr marL="2425700" indent="-266700">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7" name="Freeform 5">
            <a:extLst>
              <a:ext uri="{FF2B5EF4-FFF2-40B4-BE49-F238E27FC236}">
                <a16:creationId xmlns:a16="http://schemas.microsoft.com/office/drawing/2014/main" id="{E925B5BF-537D-28C4-E616-ABEDC53298DE}"/>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11507981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Bullets and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3818787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Bullets and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10259222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ullets and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22200211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6" name="Slide Number Placeholder 15">
            <a:extLst>
              <a:ext uri="{FF2B5EF4-FFF2-40B4-BE49-F238E27FC236}">
                <a16:creationId xmlns:a16="http://schemas.microsoft.com/office/drawing/2014/main" id="{302C1AAA-FFC0-A072-DE72-90A83A340821}"/>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5" name="Date Placeholder 4">
            <a:extLst>
              <a:ext uri="{FF2B5EF4-FFF2-40B4-BE49-F238E27FC236}">
                <a16:creationId xmlns:a16="http://schemas.microsoft.com/office/drawing/2014/main" id="{2E2A57BB-F53F-2B7B-D0F6-79F25B989302}"/>
              </a:ext>
            </a:extLst>
          </p:cNvPr>
          <p:cNvSpPr>
            <a:spLocks noGrp="1"/>
          </p:cNvSpPr>
          <p:nvPr>
            <p:ph type="dt" sz="half" idx="13"/>
          </p:nvPr>
        </p:nvSpPr>
        <p:spPr/>
        <p:txBody>
          <a:bodyPr/>
          <a:lstStyle/>
          <a:p>
            <a:r>
              <a:rPr lang="fi-FI"/>
              <a:t>28.04.2026</a:t>
            </a:r>
          </a:p>
        </p:txBody>
      </p:sp>
      <p:sp>
        <p:nvSpPr>
          <p:cNvPr id="6" name="Footer Placeholder 5">
            <a:extLst>
              <a:ext uri="{FF2B5EF4-FFF2-40B4-BE49-F238E27FC236}">
                <a16:creationId xmlns:a16="http://schemas.microsoft.com/office/drawing/2014/main" id="{F421E61B-D35D-AB1D-B003-595DF1E201E2}"/>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39273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wo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3" name="Freeform 5">
            <a:extLst>
              <a:ext uri="{FF2B5EF4-FFF2-40B4-BE49-F238E27FC236}">
                <a16:creationId xmlns:a16="http://schemas.microsoft.com/office/drawing/2014/main" id="{18D0D236-0E9F-85F5-9BC1-6B8DF3DB512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961504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3916111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8432736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6204816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181708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hree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8" name="Freeform 5">
            <a:extLst>
              <a:ext uri="{FF2B5EF4-FFF2-40B4-BE49-F238E27FC236}">
                <a16:creationId xmlns:a16="http://schemas.microsoft.com/office/drawing/2014/main" id="{D7912BB5-9834-D960-62E3-9D95A380EB5B}"/>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4013202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ree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3263147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hree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4064620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hree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0488851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ontent and Picture ">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Date Placeholder 8">
            <a:extLst>
              <a:ext uri="{FF2B5EF4-FFF2-40B4-BE49-F238E27FC236}">
                <a16:creationId xmlns:a16="http://schemas.microsoft.com/office/drawing/2014/main" id="{3EFDDFAA-FB60-5E07-D47D-70D865F8CC7B}"/>
              </a:ext>
            </a:extLst>
          </p:cNvPr>
          <p:cNvSpPr>
            <a:spLocks noGrp="1"/>
          </p:cNvSpPr>
          <p:nvPr>
            <p:ph type="dt" sz="half" idx="14"/>
          </p:nvPr>
        </p:nvSpPr>
        <p:spPr/>
        <p:txBody>
          <a:bodyPr/>
          <a:lstStyle/>
          <a:p>
            <a:r>
              <a:rPr lang="fi-FI"/>
              <a:t>28.04.2026</a:t>
            </a:r>
          </a:p>
        </p:txBody>
      </p:sp>
      <p:sp>
        <p:nvSpPr>
          <p:cNvPr id="11" name="Footer Placeholder 10">
            <a:extLst>
              <a:ext uri="{FF2B5EF4-FFF2-40B4-BE49-F238E27FC236}">
                <a16:creationId xmlns:a16="http://schemas.microsoft.com/office/drawing/2014/main" id="{4540F5DF-39E5-E2E8-B03C-D6FDD231FEA0}"/>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12" name="Slide Number Placeholder 11">
            <a:extLst>
              <a:ext uri="{FF2B5EF4-FFF2-40B4-BE49-F238E27FC236}">
                <a16:creationId xmlns:a16="http://schemas.microsoft.com/office/drawing/2014/main" id="{6EF1DAEE-7222-DF91-56AD-F2105391ACDC}"/>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028406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cSld name="Section Header Black">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solidFill>
                  <a:schemeClr val="bg1"/>
                </a:solidFill>
                <a:latin typeface="+mj-lt"/>
              </a:defRPr>
            </a:lvl1pPr>
          </a:lstStyle>
          <a:p>
            <a:r>
              <a:rPr lang="en-US"/>
              <a:t>Click to edit Master title style</a:t>
            </a:r>
            <a:endParaRPr lang="fi-FI"/>
          </a:p>
        </p:txBody>
      </p:sp>
      <p:sp>
        <p:nvSpPr>
          <p:cNvPr id="2" name="Freeform 5">
            <a:extLst>
              <a:ext uri="{FF2B5EF4-FFF2-40B4-BE49-F238E27FC236}">
                <a16:creationId xmlns:a16="http://schemas.microsoft.com/office/drawing/2014/main" id="{5A269375-E1A8-C31B-7E8E-7F024302667C}"/>
              </a:ext>
            </a:extLst>
          </p:cNvPr>
          <p:cNvSpPr>
            <a:spLocks noChangeAspect="1" noEditPoints="1"/>
          </p:cNvSpPr>
          <p:nvPr userDrawn="1"/>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AFAB8C54-8FF4-ECB4-5321-511CAEE5FB2D}"/>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D00DBC1F-EE08-1759-7EA7-58669FCAF887}"/>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0691892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5" name="Text Placeholder 4">
            <a:extLst>
              <a:ext uri="{FF2B5EF4-FFF2-40B4-BE49-F238E27FC236}">
                <a16:creationId xmlns:a16="http://schemas.microsoft.com/office/drawing/2014/main" id="{685D2EC0-DA54-1467-286B-7FC38FB8B70A}"/>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707678938"/>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solidFill>
                  <a:schemeClr val="bg1"/>
                </a:solidFill>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4" name="Text Placeholder 4">
            <a:extLst>
              <a:ext uri="{FF2B5EF4-FFF2-40B4-BE49-F238E27FC236}">
                <a16:creationId xmlns:a16="http://schemas.microsoft.com/office/drawing/2014/main" id="{17CE8771-BE66-1CA7-49E6-9AB044AB7480}"/>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8581178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4" name="Text Placeholder 4">
            <a:extLst>
              <a:ext uri="{FF2B5EF4-FFF2-40B4-BE49-F238E27FC236}">
                <a16:creationId xmlns:a16="http://schemas.microsoft.com/office/drawing/2014/main" id="{BE8238B0-7820-8869-963C-297CE0971F17}"/>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4541037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4" name="Text Placeholder 4">
            <a:extLst>
              <a:ext uri="{FF2B5EF4-FFF2-40B4-BE49-F238E27FC236}">
                <a16:creationId xmlns:a16="http://schemas.microsoft.com/office/drawing/2014/main" id="{FF747EC8-23F9-90B5-2574-99507BD3437C}"/>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8490832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4" name="Text Placeholder 4">
            <a:extLst>
              <a:ext uri="{FF2B5EF4-FFF2-40B4-BE49-F238E27FC236}">
                <a16:creationId xmlns:a16="http://schemas.microsoft.com/office/drawing/2014/main" id="{42AFFA61-D07E-1D11-5EDF-C23F0A945B52}"/>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3343559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Slide CC-BY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28.04.2026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071664" y="6309320"/>
            <a:ext cx="7128792" cy="143869"/>
          </a:xfrm>
        </p:spPr>
        <p:txBody>
          <a:bodyPr/>
          <a:lstStyle/>
          <a:p>
            <a:r>
              <a:rPr lang="pt-BR"/>
              <a:t>Enrico Glerean &amp; Pedro Silva (2026) Please cite DOI: 10.5281/zenodo.14032261 (CC-BY)</a:t>
            </a:r>
            <a:endParaRPr lang="fi-FI"/>
          </a:p>
        </p:txBody>
      </p:sp>
      <p:pic>
        <p:nvPicPr>
          <p:cNvPr id="8" name="Picture 7">
            <a:hlinkClick r:id="rId2"/>
            <a:extLst>
              <a:ext uri="{FF2B5EF4-FFF2-40B4-BE49-F238E27FC236}">
                <a16:creationId xmlns:a16="http://schemas.microsoft.com/office/drawing/2014/main" id="{F108979D-2C35-8DF7-C967-157BD0DD7FD6}"/>
              </a:ext>
              <a:ext uri="{C183D7F6-B498-43B3-948B-1728B52AA6E4}">
                <adec:decorative xmlns:adec="http://schemas.microsoft.com/office/drawing/2017/decorative" val="1"/>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a:hlinkClick r:id="rId2"/>
            <a:extLst>
              <a:ext uri="{FF2B5EF4-FFF2-40B4-BE49-F238E27FC236}">
                <a16:creationId xmlns:a16="http://schemas.microsoft.com/office/drawing/2014/main" id="{C1BC6918-6C5B-C3AF-A51B-FB591F80BF0B}"/>
              </a:ext>
              <a:ext uri="{C183D7F6-B498-43B3-948B-1728B52AA6E4}">
                <adec:decorative xmlns:adec="http://schemas.microsoft.com/office/drawing/2017/decorative" val="1"/>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 uri="{C183D7F6-B498-43B3-948B-1728B52AA6E4}">
                <adec:decorative xmlns:adec="http://schemas.microsoft.com/office/drawing/2017/decorative" val="1"/>
              </a:ext>
            </a:extLst>
          </p:cNvPr>
          <p:cNvSpPr txBox="1"/>
          <p:nvPr/>
        </p:nvSpPr>
        <p:spPr>
          <a:xfrm>
            <a:off x="1271696" y="6093296"/>
            <a:ext cx="1799968" cy="360040"/>
          </a:xfrm>
          <a:prstGeom prst="rect">
            <a:avLst/>
          </a:prstGeom>
          <a:noFill/>
        </p:spPr>
        <p:txBody>
          <a:bodyPr wrap="square" lIns="0" tIns="0" rIns="0" bIns="0" rtlCol="0" anchor="ctr" anchorCtr="0">
            <a:noAutofit/>
          </a:bodyPr>
          <a:lstStyle/>
          <a:p>
            <a:pPr algn="l"/>
            <a:r>
              <a:rPr lang="en-GB" sz="800">
                <a:solidFill>
                  <a:schemeClr val="tx1"/>
                </a:solidFill>
                <a:effectLst/>
              </a:rPr>
              <a:t>Content is available under</a:t>
            </a:r>
          </a:p>
          <a:p>
            <a:pPr algn="l"/>
            <a:r>
              <a:rPr lang="en-GB" sz="800">
                <a:solidFill>
                  <a:schemeClr val="tx1"/>
                </a:solidFill>
                <a:effectLst/>
              </a:rPr>
              <a:t>CC BY 4.0 unless otherwise stated</a:t>
            </a:r>
          </a:p>
        </p:txBody>
      </p:sp>
      <p:sp>
        <p:nvSpPr>
          <p:cNvPr id="4" name="Text Placeholder 4">
            <a:extLst>
              <a:ext uri="{FF2B5EF4-FFF2-40B4-BE49-F238E27FC236}">
                <a16:creationId xmlns:a16="http://schemas.microsoft.com/office/drawing/2014/main" id="{83EA7968-9906-90DD-0C99-D5655D7F7ABF}"/>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3381183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CC-BY-NC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28.04.2026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647728" y="6309320"/>
            <a:ext cx="6552728" cy="143869"/>
          </a:xfrm>
        </p:spPr>
        <p:txBody>
          <a:bodyPr/>
          <a:lstStyle/>
          <a:p>
            <a:r>
              <a:rPr lang="pt-BR"/>
              <a:t>Enrico Glerean &amp; Pedro Silva (2026) Please cite DOI: 10.5281/zenodo.14032261 (CC-BY)</a:t>
            </a:r>
            <a:endParaRPr lang="fi-FI"/>
          </a:p>
        </p:txBody>
      </p:sp>
      <p:pic>
        <p:nvPicPr>
          <p:cNvPr id="8" name="Picture 7">
            <a:hlinkClick r:id="rId2"/>
            <a:extLst>
              <a:ext uri="{FF2B5EF4-FFF2-40B4-BE49-F238E27FC236}">
                <a16:creationId xmlns:a16="http://schemas.microsoft.com/office/drawing/2014/main" id="{F108979D-2C35-8DF7-C967-157BD0DD7FD6}"/>
              </a:ext>
              <a:ext uri="{C183D7F6-B498-43B3-948B-1728B52AA6E4}">
                <adec:decorative xmlns:adec="http://schemas.microsoft.com/office/drawing/2017/decorative" val="1"/>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a:hlinkClick r:id="rId2"/>
            <a:extLst>
              <a:ext uri="{FF2B5EF4-FFF2-40B4-BE49-F238E27FC236}">
                <a16:creationId xmlns:a16="http://schemas.microsoft.com/office/drawing/2014/main" id="{C1BC6918-6C5B-C3AF-A51B-FB591F80BF0B}"/>
              </a:ext>
              <a:ext uri="{C183D7F6-B498-43B3-948B-1728B52AA6E4}">
                <adec:decorative xmlns:adec="http://schemas.microsoft.com/office/drawing/2017/decorative" val="1"/>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 uri="{C183D7F6-B498-43B3-948B-1728B52AA6E4}">
                <adec:decorative xmlns:adec="http://schemas.microsoft.com/office/drawing/2017/decorative" val="1"/>
              </a:ext>
            </a:extLst>
          </p:cNvPr>
          <p:cNvSpPr txBox="1"/>
          <p:nvPr/>
        </p:nvSpPr>
        <p:spPr>
          <a:xfrm>
            <a:off x="1703744" y="6093296"/>
            <a:ext cx="1871976" cy="360040"/>
          </a:xfrm>
          <a:prstGeom prst="rect">
            <a:avLst/>
          </a:prstGeom>
          <a:noFill/>
        </p:spPr>
        <p:txBody>
          <a:bodyPr wrap="square" lIns="0" tIns="0" rIns="0" bIns="0" rtlCol="0" anchor="ctr" anchorCtr="0">
            <a:noAutofit/>
          </a:bodyPr>
          <a:lstStyle/>
          <a:p>
            <a:pPr algn="l"/>
            <a:r>
              <a:rPr lang="en-US" sz="800">
                <a:solidFill>
                  <a:schemeClr val="tx1"/>
                </a:solidFill>
                <a:effectLst/>
              </a:rPr>
              <a:t>Content is available under</a:t>
            </a:r>
          </a:p>
          <a:p>
            <a:pPr algn="l"/>
            <a:r>
              <a:rPr lang="en-US" sz="800">
                <a:solidFill>
                  <a:schemeClr val="tx1"/>
                </a:solidFill>
                <a:effectLst/>
              </a:rPr>
              <a:t>CC BY-NC 4.0 unless otherwise stated</a:t>
            </a:r>
            <a:endParaRPr lang="en-GB" sz="800">
              <a:solidFill>
                <a:schemeClr val="tx1"/>
              </a:solidFill>
              <a:effectLst/>
            </a:endParaRPr>
          </a:p>
        </p:txBody>
      </p:sp>
      <p:pic>
        <p:nvPicPr>
          <p:cNvPr id="4" name="Picture 3">
            <a:hlinkClick r:id="rId2"/>
            <a:extLst>
              <a:ext uri="{FF2B5EF4-FFF2-40B4-BE49-F238E27FC236}">
                <a16:creationId xmlns:a16="http://schemas.microsoft.com/office/drawing/2014/main" id="{746A0EE7-1655-B8BB-A7A6-5A671F5AC352}"/>
              </a:ext>
              <a:ext uri="{C183D7F6-B498-43B3-948B-1728B52AA6E4}">
                <adec:decorative xmlns:adec="http://schemas.microsoft.com/office/drawing/2017/decorative" val="1"/>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271504" y="6093296"/>
            <a:ext cx="360000" cy="360000"/>
          </a:xfrm>
          <a:prstGeom prst="rect">
            <a:avLst/>
          </a:prstGeom>
        </p:spPr>
      </p:pic>
      <p:sp>
        <p:nvSpPr>
          <p:cNvPr id="5" name="Text Placeholder 4">
            <a:extLst>
              <a:ext uri="{FF2B5EF4-FFF2-40B4-BE49-F238E27FC236}">
                <a16:creationId xmlns:a16="http://schemas.microsoft.com/office/drawing/2014/main" id="{B576FF73-4D19-0D8D-6148-301F8C2E2B2C}"/>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38514514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CC-BY-SA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GB"/>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p>
            <a:r>
              <a:rPr lang="fi-FI"/>
              <a:t>28.04.2026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647728" y="6309320"/>
            <a:ext cx="6552728" cy="143869"/>
          </a:xfrm>
        </p:spPr>
        <p:txBody>
          <a:bodyPr/>
          <a:lstStyle/>
          <a:p>
            <a:r>
              <a:rPr lang="pt-BR"/>
              <a:t>Enrico Glerean &amp; Pedro Silva (2026) Please cite DOI: 10.5281/zenodo.14032261 (CC-BY)</a:t>
            </a:r>
            <a:endParaRPr lang="fi-FI"/>
          </a:p>
        </p:txBody>
      </p:sp>
      <p:pic>
        <p:nvPicPr>
          <p:cNvPr id="8" name="Picture 7">
            <a:hlinkClick r:id="rId2"/>
            <a:extLst>
              <a:ext uri="{FF2B5EF4-FFF2-40B4-BE49-F238E27FC236}">
                <a16:creationId xmlns:a16="http://schemas.microsoft.com/office/drawing/2014/main" id="{F108979D-2C35-8DF7-C967-157BD0DD7FD6}"/>
              </a:ext>
              <a:ext uri="{C183D7F6-B498-43B3-948B-1728B52AA6E4}">
                <adec:decorative xmlns:adec="http://schemas.microsoft.com/office/drawing/2017/decorative" val="1"/>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a:hlinkClick r:id="rId2"/>
            <a:extLst>
              <a:ext uri="{FF2B5EF4-FFF2-40B4-BE49-F238E27FC236}">
                <a16:creationId xmlns:a16="http://schemas.microsoft.com/office/drawing/2014/main" id="{C1BC6918-6C5B-C3AF-A51B-FB591F80BF0B}"/>
              </a:ext>
              <a:ext uri="{C183D7F6-B498-43B3-948B-1728B52AA6E4}">
                <adec:decorative xmlns:adec="http://schemas.microsoft.com/office/drawing/2017/decorative" val="1"/>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 uri="{C183D7F6-B498-43B3-948B-1728B52AA6E4}">
                <adec:decorative xmlns:adec="http://schemas.microsoft.com/office/drawing/2017/decorative" val="1"/>
              </a:ext>
            </a:extLst>
          </p:cNvPr>
          <p:cNvSpPr txBox="1"/>
          <p:nvPr/>
        </p:nvSpPr>
        <p:spPr>
          <a:xfrm>
            <a:off x="1703744" y="6093296"/>
            <a:ext cx="1871976" cy="360040"/>
          </a:xfrm>
          <a:prstGeom prst="rect">
            <a:avLst/>
          </a:prstGeom>
          <a:noFill/>
        </p:spPr>
        <p:txBody>
          <a:bodyPr wrap="square" lIns="0" tIns="0" rIns="0" bIns="0" rtlCol="0" anchor="ctr" anchorCtr="0">
            <a:noAutofit/>
          </a:bodyPr>
          <a:lstStyle/>
          <a:p>
            <a:pPr algn="l"/>
            <a:r>
              <a:rPr lang="en-US" sz="800">
                <a:solidFill>
                  <a:schemeClr val="tx1"/>
                </a:solidFill>
                <a:effectLst/>
              </a:rPr>
              <a:t>Content is available under</a:t>
            </a:r>
          </a:p>
          <a:p>
            <a:pPr algn="l"/>
            <a:r>
              <a:rPr lang="en-US" sz="800">
                <a:solidFill>
                  <a:schemeClr val="tx1"/>
                </a:solidFill>
                <a:effectLst/>
              </a:rPr>
              <a:t>CC BY-SA 4.0 unless otherwise stated</a:t>
            </a:r>
            <a:endParaRPr lang="en-GB" sz="800">
              <a:solidFill>
                <a:schemeClr val="tx1"/>
              </a:solidFill>
              <a:effectLst/>
            </a:endParaRPr>
          </a:p>
        </p:txBody>
      </p:sp>
      <p:pic>
        <p:nvPicPr>
          <p:cNvPr id="6" name="Picture 5">
            <a:hlinkClick r:id="rId2"/>
            <a:extLst>
              <a:ext uri="{FF2B5EF4-FFF2-40B4-BE49-F238E27FC236}">
                <a16:creationId xmlns:a16="http://schemas.microsoft.com/office/drawing/2014/main" id="{FC0491D6-8735-CD8F-1C61-5F39FCFAC6E9}"/>
              </a:ext>
              <a:ext uri="{C183D7F6-B498-43B3-948B-1728B52AA6E4}">
                <adec:decorative xmlns:adec="http://schemas.microsoft.com/office/drawing/2017/decorative" val="1"/>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271464" y="6093296"/>
            <a:ext cx="360000" cy="360000"/>
          </a:xfrm>
          <a:prstGeom prst="rect">
            <a:avLst/>
          </a:prstGeom>
        </p:spPr>
      </p:pic>
      <p:sp>
        <p:nvSpPr>
          <p:cNvPr id="4" name="Text Placeholder 4">
            <a:extLst>
              <a:ext uri="{FF2B5EF4-FFF2-40B4-BE49-F238E27FC236}">
                <a16:creationId xmlns:a16="http://schemas.microsoft.com/office/drawing/2014/main" id="{55BB1539-68FC-64F1-1A32-3717514C54D6}"/>
              </a:ext>
            </a:extLst>
          </p:cNvPr>
          <p:cNvSpPr>
            <a:spLocks noGrp="1"/>
          </p:cNvSpPr>
          <p:nvPr>
            <p:ph type="body" sz="quarter" idx="13" hasCustomPrompt="1"/>
          </p:nvPr>
        </p:nvSpPr>
        <p:spPr>
          <a:xfrm>
            <a:off x="407989" y="4869160"/>
            <a:ext cx="9792468" cy="276999"/>
          </a:xfrm>
        </p:spPr>
        <p:txBody>
          <a:bodyPr>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608284218"/>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Red">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spcBef>
                <a:spcPts val="0"/>
              </a:spcBef>
              <a:defRPr lang="en-US" sz="1200" dirty="0"/>
            </a:lvl1pPr>
          </a:lstStyle>
          <a:p>
            <a:pPr marR="0" lvl="0" fontAlgn="auto">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43A70D3C-0CC8-FE4E-F52B-53CE8B81A6CF}"/>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6435823F-DD19-8F3B-CB31-DC7AB7F7DD25}"/>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97CA50C0-8868-D9E3-6151-7FEB6CA03A3F}"/>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85D974B8-11FD-E356-FB5B-3122C8279C54}"/>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36869659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ue">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692D525C-3081-B968-0AF5-7BEF0546FF81}"/>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392A5AC0-B982-BC97-275E-413CCD6728D9}"/>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A42E97D-600F-96A3-1815-D8FD599585FB}"/>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4E29A865-2001-B925-B058-7F4CEC8FF5BF}"/>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006230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Yellow">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769F6B43-DE36-0148-A7EA-157879F29459}"/>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5FD05162-E4FC-F030-07AC-FC3AEEFFF4E1}"/>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102E61C5-655F-9E60-460E-8B16B76A7F3A}"/>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8E73BB4C-6EC5-371E-1EAE-C8A6FEDC360F}"/>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0239392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Whit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45E78DCC-4AC7-C533-30A2-5C63D26BDB4B}"/>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F13AEA57-51F9-8677-BE77-6A173FB52ACF}"/>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545089EB-5ECF-87F1-77A7-C15D7B25B777}"/>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7D5F13A0-8C72-600B-9974-1DCA3E4159DC}"/>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4654097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ack">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solidFill>
                  <a:schemeClr val="bg1"/>
                </a:solidFill>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68E7816-46AF-EDE4-B973-3A70EF994BCC}"/>
              </a:ext>
            </a:extLst>
          </p:cNvPr>
          <p:cNvSpPr>
            <a:spLocks noGrp="1"/>
          </p:cNvSpPr>
          <p:nvPr>
            <p:ph type="dt" sz="half" idx="14"/>
          </p:nvPr>
        </p:nvSpPr>
        <p:spPr/>
        <p:txBody>
          <a:bodyPr/>
          <a:lstStyle>
            <a:lvl1pPr>
              <a:defRPr>
                <a:solidFill>
                  <a:schemeClr val="bg1"/>
                </a:solidFill>
              </a:defRPr>
            </a:lvl1pPr>
          </a:lstStyle>
          <a:p>
            <a:r>
              <a:rPr lang="fi-FI"/>
              <a:t>28.04.2026</a:t>
            </a:r>
          </a:p>
        </p:txBody>
      </p:sp>
      <p:sp>
        <p:nvSpPr>
          <p:cNvPr id="5" name="Footer Placeholder 4">
            <a:extLst>
              <a:ext uri="{FF2B5EF4-FFF2-40B4-BE49-F238E27FC236}">
                <a16:creationId xmlns:a16="http://schemas.microsoft.com/office/drawing/2014/main" id="{E3E6E867-4E34-AE05-3565-F0277F684973}"/>
              </a:ext>
            </a:extLst>
          </p:cNvPr>
          <p:cNvSpPr>
            <a:spLocks noGrp="1"/>
          </p:cNvSpPr>
          <p:nvPr>
            <p:ph type="ftr" sz="quarter" idx="15"/>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1C11884A-89D7-C67B-7CC3-A45310410CE1}"/>
              </a:ext>
            </a:extLst>
          </p:cNvPr>
          <p:cNvSpPr>
            <a:spLocks noGrp="1"/>
          </p:cNvSpPr>
          <p:nvPr>
            <p:ph type="sldNum" sz="quarter" idx="16"/>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FB5327C8-35AE-43B7-A01A-DC1FE2F0BEF1}"/>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3110707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Red 2">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2FAC22D7-D1D6-D8DB-06A4-46EE3349040B}"/>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1A1A431B-3F31-0E0E-6255-138EC93AAE64}"/>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D5BEC0DB-FC2B-561F-42FF-3B0802FA5285}"/>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DA234B95-8F0F-4EC3-9F33-8DD846B5BE8C}"/>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5603191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ue 2">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F01F7BF-6136-1293-03E9-87CB159D78B4}"/>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48FE259E-7E55-6AB4-BF0A-B44DAFEF9901}"/>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8F96378F-80BB-E789-AD86-D9EA44DA29E9}"/>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F82C49FA-163A-6789-9F54-6B5716B363AC}"/>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21769924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Yellow 2">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EB261AA-A967-344D-10CF-A52EC9EFC271}"/>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DC5CAA6F-5588-75A0-B42A-E7B4358C7B7E}"/>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9C4CB569-8C10-87E5-2F35-74ED3EF15E59}"/>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8771EAB8-E976-3394-3EDD-274481E21104}"/>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9264016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White 2">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8ECE10FE-B9CB-31C9-C131-FA8A9355BEFC}"/>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E5AB6C74-8053-BBC4-940C-7BD1DA87F424}"/>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8233658A-D30E-64F2-DD4D-DE5EA0255E92}"/>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9" name="Text Placeholder 4">
            <a:extLst>
              <a:ext uri="{FF2B5EF4-FFF2-40B4-BE49-F238E27FC236}">
                <a16:creationId xmlns:a16="http://schemas.microsoft.com/office/drawing/2014/main" id="{531D53A2-130E-125B-FE0A-6CBEABB25673}"/>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5842225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ack 2">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 uri="{C183D7F6-B498-43B3-948B-1728B52AA6E4}">
                <adec:decorative xmlns:adec="http://schemas.microsoft.com/office/drawing/2017/decorative" val="1"/>
              </a:ext>
            </a:extLst>
          </p:cNvPr>
          <p:cNvSpPr/>
          <p:nvPr/>
        </p:nvSpPr>
        <p:spPr>
          <a:xfrm>
            <a:off x="0" y="0"/>
            <a:ext cx="6096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solidFill>
                  <a:schemeClr val="bg1"/>
                </a:solidFill>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 uri="{C183D7F6-B498-43B3-948B-1728B52AA6E4}">
                <adec:decorative xmlns:adec="http://schemas.microsoft.com/office/drawing/2017/decorative" val="1"/>
              </a:ext>
            </a:extLst>
          </p:cNvPr>
          <p:cNvCxnSpPr>
            <a:cxnSpLocks/>
          </p:cNvCxnSpPr>
          <p:nvPr/>
        </p:nvCxnSpPr>
        <p:spPr>
          <a:xfrm>
            <a:off x="6600056" y="1233937"/>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4" name="Text Placeholder 4">
            <a:extLst>
              <a:ext uri="{FF2B5EF4-FFF2-40B4-BE49-F238E27FC236}">
                <a16:creationId xmlns:a16="http://schemas.microsoft.com/office/drawing/2014/main" id="{062062DE-D201-A7D5-B7B2-4A339438FA13}"/>
              </a:ext>
            </a:extLst>
          </p:cNvPr>
          <p:cNvSpPr>
            <a:spLocks noGrp="1"/>
          </p:cNvSpPr>
          <p:nvPr>
            <p:ph type="body" sz="quarter" idx="17" hasCustomPrompt="1"/>
          </p:nvPr>
        </p:nvSpPr>
        <p:spPr>
          <a:xfrm>
            <a:off x="6600055" y="4869160"/>
            <a:ext cx="5183957" cy="276999"/>
          </a:xfrm>
        </p:spPr>
        <p:txBody>
          <a:bodyPr wrap="square">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9575239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Yellow 3">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a:t>Headline</a:t>
            </a:r>
            <a:endParaRPr lang="fi-FI"/>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12491708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Red 3">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a:t>Headline</a:t>
            </a:r>
            <a:endParaRPr lang="fi-FI"/>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27454887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ue 3">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a:t>Headline</a:t>
            </a:r>
            <a:endParaRPr lang="fi-FI"/>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42334839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lack 3">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bg1"/>
                </a:solidFill>
                <a:latin typeface="+mj-lt"/>
              </a:defRPr>
            </a:lvl1pPr>
          </a:lstStyle>
          <a:p>
            <a:r>
              <a:rPr lang="en-US"/>
              <a:t>Headline</a:t>
            </a:r>
            <a:endParaRPr lang="fi-FI"/>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bg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30821009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White 3">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 uri="{C183D7F6-B498-43B3-948B-1728B52AA6E4}">
                <adec:decorative xmlns:adec="http://schemas.microsoft.com/office/drawing/2017/decorative" val="1"/>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11" name="Freeform 5">
            <a:extLst>
              <a:ext uri="{FF2B5EF4-FFF2-40B4-BE49-F238E27FC236}">
                <a16:creationId xmlns:a16="http://schemas.microsoft.com/office/drawing/2014/main" id="{B048024D-E928-1A47-E81D-E73CEDEC703F}"/>
              </a:ext>
              <a:ext uri="{C183D7F6-B498-43B3-948B-1728B52AA6E4}">
                <adec:decorative xmlns:adec="http://schemas.microsoft.com/office/drawing/2017/decorative" val="1"/>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itle 1">
            <a:extLst>
              <a:ext uri="{FF2B5EF4-FFF2-40B4-BE49-F238E27FC236}">
                <a16:creationId xmlns:a16="http://schemas.microsoft.com/office/drawing/2014/main" id="{1AB5AED4-B00A-C1A4-E287-ED21BF24F070}"/>
              </a:ext>
            </a:extLst>
          </p:cNvPr>
          <p:cNvSpPr>
            <a:spLocks noGrp="1"/>
          </p:cNvSpPr>
          <p:nvPr>
            <p:ph type="ctrTitle" hasCustomPrompt="1"/>
          </p:nvPr>
        </p:nvSpPr>
        <p:spPr>
          <a:xfrm>
            <a:off x="407988" y="2936558"/>
            <a:ext cx="5183956" cy="492443"/>
          </a:xfrm>
        </p:spPr>
        <p:txBody>
          <a:bodyPr wrap="square" anchor="b" anchorCtr="0">
            <a:spAutoFit/>
          </a:bodyPr>
          <a:lstStyle>
            <a:lvl1pPr algn="l">
              <a:lnSpc>
                <a:spcPct val="100000"/>
              </a:lnSpc>
              <a:defRPr sz="3200">
                <a:solidFill>
                  <a:schemeClr val="tx1"/>
                </a:solidFill>
                <a:latin typeface="+mj-lt"/>
              </a:defRPr>
            </a:lvl1pPr>
          </a:lstStyle>
          <a:p>
            <a:r>
              <a:rPr lang="en-US"/>
              <a:t>Headline</a:t>
            </a:r>
            <a:endParaRPr lang="fi-FI"/>
          </a:p>
        </p:txBody>
      </p:sp>
      <p:sp>
        <p:nvSpPr>
          <p:cNvPr id="6" name="Subtitle 2">
            <a:extLst>
              <a:ext uri="{FF2B5EF4-FFF2-40B4-BE49-F238E27FC236}">
                <a16:creationId xmlns:a16="http://schemas.microsoft.com/office/drawing/2014/main" id="{E77A74CF-552F-AD8B-EBE0-4EC31A285BF1}"/>
              </a:ext>
            </a:extLst>
          </p:cNvPr>
          <p:cNvSpPr>
            <a:spLocks noGrp="1"/>
          </p:cNvSpPr>
          <p:nvPr>
            <p:ph type="subTitle" idx="1"/>
          </p:nvPr>
        </p:nvSpPr>
        <p:spPr>
          <a:xfrm>
            <a:off x="407988" y="3429000"/>
            <a:ext cx="5183956" cy="984885"/>
          </a:xfrm>
        </p:spPr>
        <p:txBody>
          <a:bodyPr wrap="square">
            <a:spAutoFit/>
          </a:bodyPr>
          <a:lstStyle>
            <a:lvl1pPr marL="0" indent="0" algn="l">
              <a:lnSpc>
                <a:spcPct val="100000"/>
              </a:lnSpc>
              <a:spcBef>
                <a:spcPts val="0"/>
              </a:spcBef>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i-FI"/>
          </a:p>
        </p:txBody>
      </p:sp>
      <p:cxnSp>
        <p:nvCxnSpPr>
          <p:cNvPr id="9" name="Straight Connector 8">
            <a:extLst>
              <a:ext uri="{FF2B5EF4-FFF2-40B4-BE49-F238E27FC236}">
                <a16:creationId xmlns:a16="http://schemas.microsoft.com/office/drawing/2014/main" id="{9E27271C-B890-2326-7DF3-F203CAEE893D}"/>
              </a:ext>
              <a:ext uri="{C183D7F6-B498-43B3-948B-1728B52AA6E4}">
                <adec:decorative xmlns:adec="http://schemas.microsoft.com/office/drawing/2017/decorative" val="1"/>
              </a:ext>
            </a:extLst>
          </p:cNvPr>
          <p:cNvCxnSpPr>
            <a:cxnSpLocks/>
          </p:cNvCxnSpPr>
          <p:nvPr userDrawn="1"/>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D85101F3-610F-B09D-488F-7AA3CF707C51}"/>
              </a:ext>
            </a:extLst>
          </p:cNvPr>
          <p:cNvSpPr>
            <a:spLocks noGrp="1"/>
          </p:cNvSpPr>
          <p:nvPr>
            <p:ph type="body" sz="quarter" idx="14" hasCustomPrompt="1"/>
          </p:nvPr>
        </p:nvSpPr>
        <p:spPr>
          <a:xfrm>
            <a:off x="407989" y="4869160"/>
            <a:ext cx="5183955" cy="276999"/>
          </a:xfrm>
        </p:spPr>
        <p:txBody>
          <a:bodyPr wrap="square">
            <a:spAutoFit/>
          </a:bodyPr>
          <a:lstStyle>
            <a:lvl1pPr marL="0" indent="0">
              <a:spcBef>
                <a:spcPts val="0"/>
              </a:spcBef>
              <a:buFontTx/>
              <a:buNone/>
              <a:defRPr sz="1800">
                <a:solidFill>
                  <a:schemeClr val="tx1"/>
                </a:solidFill>
              </a:defRPr>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Presenter Name / Date / Place</a:t>
            </a:r>
          </a:p>
        </p:txBody>
      </p:sp>
    </p:spTree>
    <p:extLst>
      <p:ext uri="{BB962C8B-B14F-4D97-AF65-F5344CB8AC3E}">
        <p14:creationId xmlns:p14="http://schemas.microsoft.com/office/powerpoint/2010/main" val="33373303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ext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79605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Text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solidFill>
                  <a:schemeClr val="bg1"/>
                </a:solidFill>
              </a:defRPr>
            </a:lvl1pPr>
            <a:lvl2pP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1290A9EE-B882-1AC8-FB03-9E891579AE36}"/>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3482291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xt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61333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16318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ext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57646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Bullets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17207547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 preserve="1">
  <p:cSld name="Bullets and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solidFill>
                  <a:schemeClr val="bg1"/>
                </a:solidFill>
              </a:defRPr>
            </a:lvl1pPr>
            <a:lvl2pPr marL="539750" indent="-266700">
              <a:defRPr>
                <a:solidFill>
                  <a:schemeClr val="bg1"/>
                </a:solidFill>
              </a:defRPr>
            </a:lvl2pPr>
            <a:lvl3pPr marL="808038" indent="-276225">
              <a:defRPr>
                <a:solidFill>
                  <a:schemeClr val="bg1"/>
                </a:solidFill>
              </a:defRPr>
            </a:lvl3pPr>
            <a:lvl4pPr marL="1077913" indent="-266700">
              <a:defRPr>
                <a:solidFill>
                  <a:schemeClr val="bg1"/>
                </a:solidFill>
              </a:defRPr>
            </a:lvl4pPr>
            <a:lvl5pPr marL="1347788" indent="-266700">
              <a:defRPr>
                <a:solidFill>
                  <a:schemeClr val="bg1"/>
                </a:solidFill>
              </a:defRPr>
            </a:lvl5pPr>
            <a:lvl6pPr marL="1617663" indent="-266700">
              <a:defRPr>
                <a:solidFill>
                  <a:schemeClr val="bg1"/>
                </a:solidFill>
              </a:defRPr>
            </a:lvl6pPr>
            <a:lvl7pPr marL="1885950" indent="-276225">
              <a:defRPr>
                <a:solidFill>
                  <a:schemeClr val="bg1"/>
                </a:solidFill>
              </a:defRPr>
            </a:lvl7pPr>
            <a:lvl8pPr marL="2155825" indent="-266700">
              <a:defRPr>
                <a:solidFill>
                  <a:schemeClr val="bg1"/>
                </a:solidFill>
              </a:defRPr>
            </a:lvl8pPr>
            <a:lvl9pPr marL="2425700" indent="-266700">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7" name="Freeform 5">
            <a:extLst>
              <a:ext uri="{FF2B5EF4-FFF2-40B4-BE49-F238E27FC236}">
                <a16:creationId xmlns:a16="http://schemas.microsoft.com/office/drawing/2014/main" id="{E925B5BF-537D-28C4-E616-ABEDC53298DE}"/>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23583720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Bullets and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21227023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Bullets and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10967976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Bullets and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9908479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24126351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Two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3" name="Freeform 5">
            <a:extLst>
              <a:ext uri="{FF2B5EF4-FFF2-40B4-BE49-F238E27FC236}">
                <a16:creationId xmlns:a16="http://schemas.microsoft.com/office/drawing/2014/main" id="{18D0D236-0E9F-85F5-9BC1-6B8DF3DB512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4886524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wo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4433640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52777387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7367317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re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39116233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hree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8" name="Freeform 5">
            <a:extLst>
              <a:ext uri="{FF2B5EF4-FFF2-40B4-BE49-F238E27FC236}">
                <a16:creationId xmlns:a16="http://schemas.microsoft.com/office/drawing/2014/main" id="{D7912BB5-9834-D960-62E3-9D95A380EB5B}"/>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110207619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hree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373759651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hree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42181729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hree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6983024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cSld name="Section Header Black">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28.04.2026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solidFill>
                  <a:schemeClr val="bg1"/>
                </a:solidFill>
                <a:latin typeface="+mj-lt"/>
              </a:defRPr>
            </a:lvl1pPr>
          </a:lstStyle>
          <a:p>
            <a:r>
              <a:rPr lang="en-US"/>
              <a:t>Click to edit Master title style</a:t>
            </a:r>
            <a:endParaRPr lang="fi-FI"/>
          </a:p>
        </p:txBody>
      </p:sp>
      <p:sp>
        <p:nvSpPr>
          <p:cNvPr id="2" name="Freeform 5">
            <a:extLst>
              <a:ext uri="{FF2B5EF4-FFF2-40B4-BE49-F238E27FC236}">
                <a16:creationId xmlns:a16="http://schemas.microsoft.com/office/drawing/2014/main" id="{5A269375-E1A8-C31B-7E8E-7F024302667C}"/>
              </a:ext>
              <a:ext uri="{C183D7F6-B498-43B3-948B-1728B52AA6E4}">
                <adec:decorative xmlns:adec="http://schemas.microsoft.com/office/drawing/2017/decorative" val="1"/>
              </a:ext>
            </a:extLst>
          </p:cNvPr>
          <p:cNvSpPr>
            <a:spLocks noChangeAspect="1" noEditPoints="1"/>
          </p:cNvSpPr>
          <p:nvPr userDrawn="1"/>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0452646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Header ">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293957470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Section Header Black">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solidFill>
                  <a:schemeClr val="bg1"/>
                </a:solidFill>
                <a:latin typeface="+mj-lt"/>
              </a:defRPr>
            </a:lvl1pPr>
          </a:lstStyle>
          <a:p>
            <a:r>
              <a:rPr lang="en-US"/>
              <a:t>Click to edit Master title style</a:t>
            </a:r>
            <a:endParaRPr lang="fi-FI"/>
          </a:p>
        </p:txBody>
      </p:sp>
      <p:sp>
        <p:nvSpPr>
          <p:cNvPr id="2" name="Freeform 5">
            <a:extLst>
              <a:ext uri="{FF2B5EF4-FFF2-40B4-BE49-F238E27FC236}">
                <a16:creationId xmlns:a16="http://schemas.microsoft.com/office/drawing/2014/main" id="{5A269375-E1A8-C31B-7E8E-7F024302667C}"/>
              </a:ext>
              <a:ext uri="{C183D7F6-B498-43B3-948B-1728B52AA6E4}">
                <adec:decorative xmlns:adec="http://schemas.microsoft.com/office/drawing/2017/decorative" val="1"/>
              </a:ext>
            </a:extLst>
          </p:cNvPr>
          <p:cNvSpPr>
            <a:spLocks noChangeAspect="1" noEditPoints="1"/>
          </p:cNvSpPr>
          <p:nvPr userDrawn="1"/>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18071142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Header Blue">
    <p:bg>
      <p:bgPr>
        <a:solidFill>
          <a:schemeClr val="accent3"/>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26828892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Header Red">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417534150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Header Yellow">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316218644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6" name="Slide Number Placeholder 15">
            <a:extLst>
              <a:ext uri="{FF2B5EF4-FFF2-40B4-BE49-F238E27FC236}">
                <a16:creationId xmlns:a16="http://schemas.microsoft.com/office/drawing/2014/main" id="{302C1AAA-FFC0-A072-DE72-90A83A3408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Date Placeholder 4">
            <a:extLst>
              <a:ext uri="{FF2B5EF4-FFF2-40B4-BE49-F238E27FC236}">
                <a16:creationId xmlns:a16="http://schemas.microsoft.com/office/drawing/2014/main" id="{2E2A57BB-F53F-2B7B-D0F6-79F25B989302}"/>
              </a:ext>
            </a:extLst>
          </p:cNvPr>
          <p:cNvSpPr>
            <a:spLocks noGrp="1"/>
          </p:cNvSpPr>
          <p:nvPr>
            <p:ph type="dt" sz="half"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6" name="Footer Placeholder 5">
            <a:extLst>
              <a:ext uri="{FF2B5EF4-FFF2-40B4-BE49-F238E27FC236}">
                <a16:creationId xmlns:a16="http://schemas.microsoft.com/office/drawing/2014/main" id="{F421E61B-D35D-AB1D-B003-595DF1E201E2}"/>
              </a:ext>
            </a:extLst>
          </p:cNvPr>
          <p:cNvSpPr>
            <a:spLocks noGrp="1"/>
          </p:cNvSpPr>
          <p:nvPr>
            <p:ph type="ftr"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3263695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Thre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9343936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Text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1506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ext Content ">
  <p:cSld name="1_Text Content ">
    <p:spTree>
      <p:nvGrpSpPr>
        <p:cNvPr id="1" name="Shape 335"/>
        <p:cNvGrpSpPr/>
        <p:nvPr/>
      </p:nvGrpSpPr>
      <p:grpSpPr>
        <a:xfrm>
          <a:off x="0" y="0"/>
          <a:ext cx="0" cy="0"/>
          <a:chOff x="0" y="0"/>
          <a:chExt cx="0" cy="0"/>
        </a:xfrm>
      </p:grpSpPr>
      <p:sp>
        <p:nvSpPr>
          <p:cNvPr id="336" name="Google Shape;336;p17"/>
          <p:cNvSpPr txBox="1">
            <a:spLocks noGrp="1"/>
          </p:cNvSpPr>
          <p:nvPr>
            <p:ph type="title"/>
          </p:nvPr>
        </p:nvSpPr>
        <p:spPr>
          <a:xfrm>
            <a:off x="407987" y="404813"/>
            <a:ext cx="11376026" cy="107997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7" name="Google Shape;337;p17"/>
          <p:cNvSpPr txBox="1">
            <a:spLocks noGrp="1"/>
          </p:cNvSpPr>
          <p:nvPr>
            <p:ph type="dt" idx="10"/>
          </p:nvPr>
        </p:nvSpPr>
        <p:spPr>
          <a:xfrm>
            <a:off x="10200456" y="6309320"/>
            <a:ext cx="1152128" cy="143868"/>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r" defTabSz="914400" rtl="0" eaLnBrk="1" fontAlgn="auto" latinLnBrk="0" hangingPunct="1">
              <a:lnSpc>
                <a:spcPct val="100000"/>
              </a:lnSpc>
              <a:spcBef>
                <a:spcPts val="0"/>
              </a:spcBef>
              <a:spcAft>
                <a:spcPts val="0"/>
              </a:spcAft>
              <a:buClrTx/>
              <a:buSzPts val="1400"/>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endParaRPr kumimoji="0"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8" name="Google Shape;338;p17"/>
          <p:cNvSpPr txBox="1">
            <a:spLocks noGrp="1"/>
          </p:cNvSpPr>
          <p:nvPr>
            <p:ph type="ftr" idx="11"/>
          </p:nvPr>
        </p:nvSpPr>
        <p:spPr>
          <a:xfrm>
            <a:off x="1271464" y="6309320"/>
            <a:ext cx="8928992" cy="143869"/>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r" defTabSz="914400" rtl="0" eaLnBrk="1" fontAlgn="auto" latinLnBrk="0" hangingPunct="1">
              <a:lnSpc>
                <a:spcPct val="100000"/>
              </a:lnSpc>
              <a:spcBef>
                <a:spcPts val="0"/>
              </a:spcBef>
              <a:spcAft>
                <a:spcPts val="0"/>
              </a:spcAft>
              <a:buClrTx/>
              <a:buSzPts val="1400"/>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9" name="Google Shape;339;p17"/>
          <p:cNvSpPr txBox="1">
            <a:spLocks noGrp="1"/>
          </p:cNvSpPr>
          <p:nvPr>
            <p:ph type="sldNum" idx="12"/>
          </p:nvPr>
        </p:nvSpPr>
        <p:spPr>
          <a:xfrm>
            <a:off x="11352584" y="6309320"/>
            <a:ext cx="431428" cy="14386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800" b="1" i="0" u="none" strike="noStrike" kern="1200" cap="none" spc="0" normalizeH="0" baseline="0" noProof="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0" name="Google Shape;340;p17"/>
          <p:cNvSpPr txBox="1">
            <a:spLocks noGrp="1"/>
          </p:cNvSpPr>
          <p:nvPr>
            <p:ph type="body" idx="1"/>
          </p:nvPr>
        </p:nvSpPr>
        <p:spPr>
          <a:xfrm>
            <a:off x="1055688" y="2205039"/>
            <a:ext cx="10080625" cy="367188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800"/>
              </a:spcBef>
              <a:spcAft>
                <a:spcPts val="0"/>
              </a:spcAft>
              <a:buClr>
                <a:schemeClr val="dk1"/>
              </a:buClr>
              <a:buSzPts val="2800"/>
              <a:buFont typeface="Arial"/>
              <a:buNone/>
              <a:defRPr sz="2800"/>
            </a:lvl1pPr>
            <a:lvl2pPr marL="914400" lvl="1" indent="-355600" algn="l">
              <a:lnSpc>
                <a:spcPct val="100000"/>
              </a:lnSpc>
              <a:spcBef>
                <a:spcPts val="800"/>
              </a:spcBef>
              <a:spcAft>
                <a:spcPts val="0"/>
              </a:spcAft>
              <a:buClr>
                <a:schemeClr val="dk1"/>
              </a:buClr>
              <a:buSzPts val="2000"/>
              <a:buChar char="•"/>
              <a:defRPr sz="2000"/>
            </a:lvl2pPr>
            <a:lvl3pPr marL="1371600" lvl="2" indent="-342900" algn="l">
              <a:lnSpc>
                <a:spcPct val="100000"/>
              </a:lnSpc>
              <a:spcBef>
                <a:spcPts val="800"/>
              </a:spcBef>
              <a:spcAft>
                <a:spcPts val="0"/>
              </a:spcAft>
              <a:buClr>
                <a:schemeClr val="dk1"/>
              </a:buClr>
              <a:buSzPts val="1800"/>
              <a:buChar char="•"/>
              <a:defRPr sz="1800"/>
            </a:lvl3pPr>
            <a:lvl4pPr marL="1828800" lvl="3" indent="-342900" algn="l">
              <a:lnSpc>
                <a:spcPct val="100000"/>
              </a:lnSpc>
              <a:spcBef>
                <a:spcPts val="800"/>
              </a:spcBef>
              <a:spcAft>
                <a:spcPts val="0"/>
              </a:spcAft>
              <a:buClr>
                <a:schemeClr val="dk1"/>
              </a:buClr>
              <a:buSzPts val="1800"/>
              <a:buChar char="•"/>
              <a:defRPr sz="1800"/>
            </a:lvl4pPr>
            <a:lvl5pPr marL="2286000" lvl="4" indent="-342900" algn="l">
              <a:lnSpc>
                <a:spcPct val="100000"/>
              </a:lnSpc>
              <a:spcBef>
                <a:spcPts val="800"/>
              </a:spcBef>
              <a:spcAft>
                <a:spcPts val="0"/>
              </a:spcAft>
              <a:buClr>
                <a:schemeClr val="dk1"/>
              </a:buClr>
              <a:buSzPts val="1800"/>
              <a:buChar char="•"/>
              <a:defRPr sz="1800"/>
            </a:lvl5pPr>
            <a:lvl6pPr marL="2743200" lvl="5" indent="-342900" algn="l">
              <a:lnSpc>
                <a:spcPct val="100000"/>
              </a:lnSpc>
              <a:spcBef>
                <a:spcPts val="800"/>
              </a:spcBef>
              <a:spcAft>
                <a:spcPts val="0"/>
              </a:spcAft>
              <a:buClr>
                <a:schemeClr val="dk1"/>
              </a:buClr>
              <a:buSzPts val="1800"/>
              <a:buChar char="•"/>
              <a:defRPr/>
            </a:lvl6pPr>
            <a:lvl7pPr marL="3200400" lvl="6" indent="-342900" algn="l">
              <a:lnSpc>
                <a:spcPct val="100000"/>
              </a:lnSpc>
              <a:spcBef>
                <a:spcPts val="800"/>
              </a:spcBef>
              <a:spcAft>
                <a:spcPts val="0"/>
              </a:spcAft>
              <a:buClr>
                <a:schemeClr val="dk1"/>
              </a:buClr>
              <a:buSzPts val="1800"/>
              <a:buChar char="•"/>
              <a:defRPr/>
            </a:lvl7pPr>
            <a:lvl8pPr marL="3657600" lvl="7" indent="-342900" algn="l">
              <a:lnSpc>
                <a:spcPct val="100000"/>
              </a:lnSpc>
              <a:spcBef>
                <a:spcPts val="800"/>
              </a:spcBef>
              <a:spcAft>
                <a:spcPts val="0"/>
              </a:spcAft>
              <a:buClr>
                <a:schemeClr val="dk1"/>
              </a:buClr>
              <a:buSzPts val="1800"/>
              <a:buChar char="•"/>
              <a:defRPr/>
            </a:lvl8pPr>
            <a:lvl9pPr marL="4114800" lvl="8" indent="-342900" algn="l">
              <a:lnSpc>
                <a:spcPct val="100000"/>
              </a:lnSpc>
              <a:spcBef>
                <a:spcPts val="8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784393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itle" preserve="1">
  <p:cSld name="Title Sl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a:xfrm>
            <a:off x="1271464" y="6309320"/>
            <a:ext cx="8928992" cy="143869"/>
          </a:xfrm>
          <a:prstGeom prst="rect">
            <a:avLst/>
          </a:prstGeom>
        </p:spPr>
        <p:txBody>
          <a:body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93848636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solidFill>
                  <a:schemeClr val="bg1"/>
                </a:solidFill>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lvl1pPr>
              <a:defRPr>
                <a:solidFill>
                  <a:schemeClr val="bg1"/>
                </a:solidFill>
              </a:defRPr>
            </a:lvl1p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a:xfrm>
            <a:off x="1271464" y="6309320"/>
            <a:ext cx="8928992" cy="143869"/>
          </a:xfrm>
          <a:prstGeom prst="rect">
            <a:avLst/>
          </a:prstGeom>
        </p:spPr>
        <p:txBody>
          <a:bodyPr/>
          <a:lstStyle>
            <a:lvl1pPr>
              <a:defRPr>
                <a:solidFill>
                  <a:schemeClr val="bg1"/>
                </a:solidFill>
              </a:defRPr>
            </a:lvl1p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183463509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3"/>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itle 14">
            <a:extLst>
              <a:ext uri="{FF2B5EF4-FFF2-40B4-BE49-F238E27FC236}">
                <a16:creationId xmlns:a16="http://schemas.microsoft.com/office/drawing/2014/main" id="{C2A5B4F9-4C50-00BF-0957-86AE5BB3A14D}"/>
              </a:ext>
            </a:extLst>
          </p:cNvPr>
          <p:cNvSpPr>
            <a:spLocks noGrp="1"/>
          </p:cNvSpPr>
          <p:nvPr>
            <p:ph type="title"/>
          </p:nvPr>
        </p:nvSpPr>
        <p:spPr/>
        <p:txBody>
          <a:bodyPr/>
          <a:lstStyle/>
          <a:p>
            <a:r>
              <a:rPr lang="en-US"/>
              <a:t>Click to edit Master title style</a:t>
            </a:r>
          </a:p>
        </p:txBody>
      </p:sp>
      <p:sp>
        <p:nvSpPr>
          <p:cNvPr id="16" name="Date Placeholder 15">
            <a:extLst>
              <a:ext uri="{FF2B5EF4-FFF2-40B4-BE49-F238E27FC236}">
                <a16:creationId xmlns:a16="http://schemas.microsoft.com/office/drawing/2014/main" id="{EA97C200-EA66-1CA0-8386-3F1DBB816474}"/>
              </a:ext>
            </a:extLst>
          </p:cNvPr>
          <p:cNvSpPr>
            <a:spLocks noGrp="1"/>
          </p:cNvSpPr>
          <p:nvPr>
            <p:ph type="dt" sz="half" idx="10"/>
          </p:nvPr>
        </p:nvSpPr>
        <p:spPr/>
        <p:txBody>
          <a:bodyPr/>
          <a:lstStyle/>
          <a:p>
            <a:r>
              <a:rPr lang="fi-FI"/>
              <a:t>28.04.2026</a:t>
            </a:r>
          </a:p>
        </p:txBody>
      </p:sp>
      <p:sp>
        <p:nvSpPr>
          <p:cNvPr id="17" name="Footer Placeholder 16">
            <a:extLst>
              <a:ext uri="{FF2B5EF4-FFF2-40B4-BE49-F238E27FC236}">
                <a16:creationId xmlns:a16="http://schemas.microsoft.com/office/drawing/2014/main" id="{C232ACC7-47FD-A120-5CB2-A894C925C6C8}"/>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18" name="Slide Number Placeholder 17">
            <a:extLst>
              <a:ext uri="{FF2B5EF4-FFF2-40B4-BE49-F238E27FC236}">
                <a16:creationId xmlns:a16="http://schemas.microsoft.com/office/drawing/2014/main" id="{403A2772-315A-617D-06B2-3D441D432624}"/>
              </a:ext>
            </a:extLst>
          </p:cNvPr>
          <p:cNvSpPr>
            <a:spLocks noGrp="1"/>
          </p:cNvSpPr>
          <p:nvPr>
            <p:ph type="sldNum" sz="quarter" idx="12"/>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04392301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title" preserve="1">
  <p:cSld name="Title Slide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a:xfrm>
            <a:off x="1271464" y="6309320"/>
            <a:ext cx="8928992" cy="143869"/>
          </a:xfrm>
          <a:prstGeom prst="rect">
            <a:avLst/>
          </a:prstGeom>
        </p:spPr>
        <p:txBody>
          <a:body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412890094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title" preserve="1">
  <p:cSld name="Title Slide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a:xfrm>
            <a:off x="1271464" y="6309320"/>
            <a:ext cx="8928992" cy="143869"/>
          </a:xfrm>
          <a:prstGeom prst="rect">
            <a:avLst/>
          </a:prstGeom>
        </p:spPr>
        <p:txBody>
          <a:body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65962725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title" preserve="1">
  <p:cSld name="Title Slide CC-BY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28.04.2026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071664" y="6309320"/>
            <a:ext cx="7128792" cy="143869"/>
          </a:xfrm>
          <a:prstGeom prst="rect">
            <a:avLst/>
          </a:prstGeom>
        </p:spPr>
        <p:txBody>
          <a:bodyPr/>
          <a:lstStyle/>
          <a:p>
            <a:r>
              <a:rPr lang="pt-BR"/>
              <a:t>Enrico Glerean &amp; Pedro Silva (2026) Please cite DOI: 10.5281/zenodo.14032261 (CC-BY)</a:t>
            </a:r>
            <a:endParaRPr lang="fi-FI"/>
          </a:p>
        </p:txBody>
      </p:sp>
      <p:pic>
        <p:nvPicPr>
          <p:cNvPr id="8" name="Picture 7" descr="Icon&#10;&#10;Description automatically generated">
            <a:hlinkClick r:id="rId2"/>
            <a:extLst>
              <a:ext uri="{FF2B5EF4-FFF2-40B4-BE49-F238E27FC236}">
                <a16:creationId xmlns:a16="http://schemas.microsoft.com/office/drawing/2014/main" id="{F108979D-2C35-8DF7-C967-157BD0DD7FD6}"/>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descr="Icon&#10;&#10;Description automatically generated">
            <a:hlinkClick r:id="rId2"/>
            <a:extLst>
              <a:ext uri="{FF2B5EF4-FFF2-40B4-BE49-F238E27FC236}">
                <a16:creationId xmlns:a16="http://schemas.microsoft.com/office/drawing/2014/main" id="{C1BC6918-6C5B-C3AF-A51B-FB591F80BF0B}"/>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Lst>
          </p:cNvPr>
          <p:cNvSpPr txBox="1"/>
          <p:nvPr/>
        </p:nvSpPr>
        <p:spPr>
          <a:xfrm>
            <a:off x="1271696" y="6093296"/>
            <a:ext cx="1799968" cy="360040"/>
          </a:xfrm>
          <a:prstGeom prst="rect">
            <a:avLst/>
          </a:prstGeom>
          <a:noFill/>
        </p:spPr>
        <p:txBody>
          <a:bodyPr wrap="square" lIns="0" tIns="0" rIns="0" bIns="0" rtlCol="0" anchor="ctr" anchorCtr="0">
            <a:noAutofit/>
          </a:bodyPr>
          <a:lstStyle/>
          <a:p>
            <a:pPr algn="l"/>
            <a:r>
              <a:rPr lang="en-GB" sz="800">
                <a:solidFill>
                  <a:schemeClr val="tx1"/>
                </a:solidFill>
                <a:effectLst/>
              </a:rPr>
              <a:t>Content is available under</a:t>
            </a:r>
          </a:p>
          <a:p>
            <a:pPr algn="l"/>
            <a:r>
              <a:rPr lang="en-GB" sz="800">
                <a:solidFill>
                  <a:schemeClr val="tx1"/>
                </a:solidFill>
                <a:effectLst/>
              </a:rPr>
              <a:t>CC BY 4.0 unless otherwise stated</a:t>
            </a:r>
          </a:p>
        </p:txBody>
      </p:sp>
    </p:spTree>
    <p:extLst>
      <p:ext uri="{BB962C8B-B14F-4D97-AF65-F5344CB8AC3E}">
        <p14:creationId xmlns:p14="http://schemas.microsoft.com/office/powerpoint/2010/main" val="59652645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title" preserve="1">
  <p:cSld name="Title Slide CC-BY-NC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28.04.2026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647728" y="6309320"/>
            <a:ext cx="6552728" cy="143869"/>
          </a:xfrm>
          <a:prstGeom prst="rect">
            <a:avLst/>
          </a:prstGeom>
        </p:spPr>
        <p:txBody>
          <a:bodyPr/>
          <a:lstStyle/>
          <a:p>
            <a:r>
              <a:rPr lang="pt-BR"/>
              <a:t>Enrico Glerean &amp; Pedro Silva (2026) Please cite DOI: 10.5281/zenodo.14032261 (CC-BY)</a:t>
            </a:r>
            <a:endParaRPr lang="fi-FI"/>
          </a:p>
        </p:txBody>
      </p:sp>
      <p:pic>
        <p:nvPicPr>
          <p:cNvPr id="8" name="Picture 7" descr="Icon&#10;&#10;Description automatically generated">
            <a:hlinkClick r:id="rId2"/>
            <a:extLst>
              <a:ext uri="{FF2B5EF4-FFF2-40B4-BE49-F238E27FC236}">
                <a16:creationId xmlns:a16="http://schemas.microsoft.com/office/drawing/2014/main" id="{F108979D-2C35-8DF7-C967-157BD0DD7FD6}"/>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descr="Icon&#10;&#10;Description automatically generated">
            <a:hlinkClick r:id="rId2"/>
            <a:extLst>
              <a:ext uri="{FF2B5EF4-FFF2-40B4-BE49-F238E27FC236}">
                <a16:creationId xmlns:a16="http://schemas.microsoft.com/office/drawing/2014/main" id="{C1BC6918-6C5B-C3AF-A51B-FB591F80BF0B}"/>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Lst>
          </p:cNvPr>
          <p:cNvSpPr txBox="1"/>
          <p:nvPr/>
        </p:nvSpPr>
        <p:spPr>
          <a:xfrm>
            <a:off x="1703744" y="6093296"/>
            <a:ext cx="1871976" cy="360040"/>
          </a:xfrm>
          <a:prstGeom prst="rect">
            <a:avLst/>
          </a:prstGeom>
          <a:noFill/>
        </p:spPr>
        <p:txBody>
          <a:bodyPr wrap="square" lIns="0" tIns="0" rIns="0" bIns="0" rtlCol="0" anchor="ctr" anchorCtr="0">
            <a:noAutofit/>
          </a:bodyPr>
          <a:lstStyle/>
          <a:p>
            <a:pPr algn="l"/>
            <a:r>
              <a:rPr lang="en-US" sz="800">
                <a:solidFill>
                  <a:schemeClr val="tx1"/>
                </a:solidFill>
                <a:effectLst/>
              </a:rPr>
              <a:t>Content is available under</a:t>
            </a:r>
          </a:p>
          <a:p>
            <a:pPr algn="l"/>
            <a:r>
              <a:rPr lang="en-US" sz="800">
                <a:solidFill>
                  <a:schemeClr val="tx1"/>
                </a:solidFill>
                <a:effectLst/>
              </a:rPr>
              <a:t>CC BY-NC 4.0 unless otherwise stated</a:t>
            </a:r>
            <a:endParaRPr lang="en-GB" sz="800">
              <a:solidFill>
                <a:schemeClr val="tx1"/>
              </a:solidFill>
              <a:effectLst/>
            </a:endParaRPr>
          </a:p>
        </p:txBody>
      </p:sp>
      <p:pic>
        <p:nvPicPr>
          <p:cNvPr id="4" name="Picture 3" descr="Icon&#10;&#10;Description automatically generated">
            <a:hlinkClick r:id="rId2"/>
            <a:extLst>
              <a:ext uri="{FF2B5EF4-FFF2-40B4-BE49-F238E27FC236}">
                <a16:creationId xmlns:a16="http://schemas.microsoft.com/office/drawing/2014/main" id="{746A0EE7-1655-B8BB-A7A6-5A671F5AC352}"/>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271504" y="6093296"/>
            <a:ext cx="360000" cy="360000"/>
          </a:xfrm>
          <a:prstGeom prst="rect">
            <a:avLst/>
          </a:prstGeom>
        </p:spPr>
      </p:pic>
    </p:spTree>
    <p:extLst>
      <p:ext uri="{BB962C8B-B14F-4D97-AF65-F5344CB8AC3E}">
        <p14:creationId xmlns:p14="http://schemas.microsoft.com/office/powerpoint/2010/main" val="132329590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itle" preserve="1">
  <p:cSld name="Title Slide CC-BY-SA 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75C4-164C-69B1-48F1-6ABBCFDD4649}"/>
              </a:ext>
            </a:extLst>
          </p:cNvPr>
          <p:cNvSpPr>
            <a:spLocks noGrp="1"/>
          </p:cNvSpPr>
          <p:nvPr>
            <p:ph type="ctrTitle"/>
          </p:nvPr>
        </p:nvSpPr>
        <p:spPr>
          <a:xfrm>
            <a:off x="407988" y="2936557"/>
            <a:ext cx="9792468" cy="492443"/>
          </a:xfrm>
        </p:spPr>
        <p:txBody>
          <a:bodyPr anchor="b" anchorCtr="0">
            <a:spAutoFit/>
          </a:bodyPr>
          <a:lstStyle>
            <a:lvl1pPr algn="l">
              <a:lnSpc>
                <a:spcPct val="100000"/>
              </a:lnSpc>
              <a:defRPr sz="3200">
                <a:latin typeface="+mj-lt"/>
              </a:defRPr>
            </a:lvl1pPr>
          </a:lstStyle>
          <a:p>
            <a:r>
              <a:rPr lang="en-US"/>
              <a:t>Click to edit Master title style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407988" y="3429000"/>
            <a:ext cx="9792468" cy="492443"/>
          </a:xfrm>
        </p:spPr>
        <p:txBody>
          <a:bodyPr>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407368" y="267462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p>
            <a:r>
              <a:rPr lang="fi-FI"/>
              <a:t>28.04.2026</a:t>
            </a:r>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7" name="Footer Placeholder 23">
            <a:extLst>
              <a:ext uri="{FF2B5EF4-FFF2-40B4-BE49-F238E27FC236}">
                <a16:creationId xmlns:a16="http://schemas.microsoft.com/office/drawing/2014/main" id="{FCC3E25D-5FFA-8583-6320-58A891113814}"/>
              </a:ext>
            </a:extLst>
          </p:cNvPr>
          <p:cNvSpPr>
            <a:spLocks noGrp="1"/>
          </p:cNvSpPr>
          <p:nvPr>
            <p:ph type="ftr" sz="quarter" idx="11"/>
          </p:nvPr>
        </p:nvSpPr>
        <p:spPr>
          <a:xfrm>
            <a:off x="3647728" y="6309320"/>
            <a:ext cx="6552728" cy="143869"/>
          </a:xfrm>
          <a:prstGeom prst="rect">
            <a:avLst/>
          </a:prstGeom>
        </p:spPr>
        <p:txBody>
          <a:bodyPr/>
          <a:lstStyle/>
          <a:p>
            <a:r>
              <a:rPr lang="pt-BR"/>
              <a:t>Enrico Glerean &amp; Pedro Silva (2026) Please cite DOI: 10.5281/zenodo.14032261 (CC-BY)</a:t>
            </a:r>
            <a:endParaRPr lang="fi-FI"/>
          </a:p>
        </p:txBody>
      </p:sp>
      <p:pic>
        <p:nvPicPr>
          <p:cNvPr id="8" name="Picture 7" descr="Icon&#10;&#10;Description automatically generated">
            <a:hlinkClick r:id="rId2"/>
            <a:extLst>
              <a:ext uri="{FF2B5EF4-FFF2-40B4-BE49-F238E27FC236}">
                <a16:creationId xmlns:a16="http://schemas.microsoft.com/office/drawing/2014/main" id="{F108979D-2C35-8DF7-C967-157BD0DD7FD6}"/>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tretch>
            <a:fillRect/>
          </a:stretch>
        </p:blipFill>
        <p:spPr>
          <a:xfrm>
            <a:off x="839456" y="6093296"/>
            <a:ext cx="360000" cy="360000"/>
          </a:xfrm>
          <a:prstGeom prst="rect">
            <a:avLst/>
          </a:prstGeom>
        </p:spPr>
      </p:pic>
      <p:pic>
        <p:nvPicPr>
          <p:cNvPr id="9" name="Picture 8" descr="Icon&#10;&#10;Description automatically generated">
            <a:hlinkClick r:id="rId2"/>
            <a:extLst>
              <a:ext uri="{FF2B5EF4-FFF2-40B4-BE49-F238E27FC236}">
                <a16:creationId xmlns:a16="http://schemas.microsoft.com/office/drawing/2014/main" id="{C1BC6918-6C5B-C3AF-A51B-FB591F80BF0B}"/>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Lst>
          </a:blip>
          <a:stretch>
            <a:fillRect/>
          </a:stretch>
        </p:blipFill>
        <p:spPr>
          <a:xfrm>
            <a:off x="407988" y="6093296"/>
            <a:ext cx="360000" cy="360000"/>
          </a:xfrm>
          <a:prstGeom prst="rect">
            <a:avLst/>
          </a:prstGeom>
        </p:spPr>
      </p:pic>
      <p:sp>
        <p:nvSpPr>
          <p:cNvPr id="10" name="TextBox 9">
            <a:extLst>
              <a:ext uri="{FF2B5EF4-FFF2-40B4-BE49-F238E27FC236}">
                <a16:creationId xmlns:a16="http://schemas.microsoft.com/office/drawing/2014/main" id="{0C85E044-ACE3-4A12-B709-E06CC826CC30}"/>
              </a:ext>
            </a:extLst>
          </p:cNvPr>
          <p:cNvSpPr txBox="1"/>
          <p:nvPr/>
        </p:nvSpPr>
        <p:spPr>
          <a:xfrm>
            <a:off x="1703744" y="6093296"/>
            <a:ext cx="1871976" cy="360040"/>
          </a:xfrm>
          <a:prstGeom prst="rect">
            <a:avLst/>
          </a:prstGeom>
          <a:noFill/>
        </p:spPr>
        <p:txBody>
          <a:bodyPr wrap="square" lIns="0" tIns="0" rIns="0" bIns="0" rtlCol="0" anchor="ctr" anchorCtr="0">
            <a:noAutofit/>
          </a:bodyPr>
          <a:lstStyle/>
          <a:p>
            <a:pPr algn="l"/>
            <a:r>
              <a:rPr lang="en-US" sz="800">
                <a:solidFill>
                  <a:schemeClr val="tx1"/>
                </a:solidFill>
                <a:effectLst/>
              </a:rPr>
              <a:t>Content is available under</a:t>
            </a:r>
          </a:p>
          <a:p>
            <a:pPr algn="l"/>
            <a:r>
              <a:rPr lang="en-US" sz="800">
                <a:solidFill>
                  <a:schemeClr val="tx1"/>
                </a:solidFill>
                <a:effectLst/>
              </a:rPr>
              <a:t>CC BY-SA 4.0 unless otherwise stated</a:t>
            </a:r>
            <a:endParaRPr lang="en-GB" sz="800">
              <a:solidFill>
                <a:schemeClr val="tx1"/>
              </a:solidFill>
              <a:effectLst/>
            </a:endParaRPr>
          </a:p>
        </p:txBody>
      </p:sp>
      <p:pic>
        <p:nvPicPr>
          <p:cNvPr id="6" name="Picture 5" descr="Icon&#10;&#10;Description automatically generated">
            <a:hlinkClick r:id="rId2"/>
            <a:extLst>
              <a:ext uri="{FF2B5EF4-FFF2-40B4-BE49-F238E27FC236}">
                <a16:creationId xmlns:a16="http://schemas.microsoft.com/office/drawing/2014/main" id="{FC0491D6-8735-CD8F-1C61-5F39FCFAC6E9}"/>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Lst>
          </a:blip>
          <a:stretch>
            <a:fillRect/>
          </a:stretch>
        </p:blipFill>
        <p:spPr>
          <a:xfrm>
            <a:off x="1271464" y="6093296"/>
            <a:ext cx="360000" cy="360000"/>
          </a:xfrm>
          <a:prstGeom prst="rect">
            <a:avLst/>
          </a:prstGeom>
        </p:spPr>
      </p:pic>
    </p:spTree>
    <p:extLst>
      <p:ext uri="{BB962C8B-B14F-4D97-AF65-F5344CB8AC3E}">
        <p14:creationId xmlns:p14="http://schemas.microsoft.com/office/powerpoint/2010/main" val="2863089145"/>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Title Slide Picture Red">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spcBef>
                <a:spcPts val="0"/>
              </a:spcBef>
              <a:defRPr lang="en-US" sz="1200" dirty="0"/>
            </a:lvl1pPr>
          </a:lstStyle>
          <a:p>
            <a:pPr marR="0" lvl="0" fontAlgn="auto">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43A70D3C-0CC8-FE4E-F52B-53CE8B81A6CF}"/>
              </a:ext>
            </a:extLst>
          </p:cNvPr>
          <p:cNvSpPr>
            <a:spLocks noGrp="1"/>
          </p:cNvSpPr>
          <p:nvPr>
            <p:ph type="dt" sz="half" idx="14"/>
          </p:nvPr>
        </p:nvSpPr>
        <p:spPr>
          <a:xfrm>
            <a:off x="10200456" y="6309320"/>
            <a:ext cx="1152128" cy="143868"/>
          </a:xfrm>
          <a:prstGeom prst="rect">
            <a:avLst/>
          </a:prstGeom>
        </p:spPr>
        <p:txBody>
          <a:bodyPr/>
          <a:lstStyle/>
          <a:p>
            <a:r>
              <a:rPr lang="fi-FI"/>
              <a:t>28.04.2026</a:t>
            </a:r>
          </a:p>
        </p:txBody>
      </p:sp>
      <p:sp>
        <p:nvSpPr>
          <p:cNvPr id="5" name="Footer Placeholder 4">
            <a:extLst>
              <a:ext uri="{FF2B5EF4-FFF2-40B4-BE49-F238E27FC236}">
                <a16:creationId xmlns:a16="http://schemas.microsoft.com/office/drawing/2014/main" id="{6435823F-DD19-8F3B-CB31-DC7AB7F7DD25}"/>
              </a:ext>
            </a:extLst>
          </p:cNvPr>
          <p:cNvSpPr>
            <a:spLocks noGrp="1"/>
          </p:cNvSpPr>
          <p:nvPr>
            <p:ph type="ftr" sz="quarter" idx="15"/>
          </p:nvPr>
        </p:nvSpPr>
        <p:spPr>
          <a:xfrm>
            <a:off x="1271464" y="6309320"/>
            <a:ext cx="8928992" cy="143869"/>
          </a:xfrm>
          <a:prstGeom prst="rect">
            <a:avLst/>
          </a:prstGeom>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97CA50C0-8868-D9E3-6151-7FEB6CA03A3F}"/>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95761810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Slide Picture Blue">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692D525C-3081-B968-0AF5-7BEF0546FF81}"/>
              </a:ext>
            </a:extLst>
          </p:cNvPr>
          <p:cNvSpPr>
            <a:spLocks noGrp="1"/>
          </p:cNvSpPr>
          <p:nvPr>
            <p:ph type="dt" sz="half" idx="14"/>
          </p:nvPr>
        </p:nvSpPr>
        <p:spPr>
          <a:xfrm>
            <a:off x="10200456" y="6309320"/>
            <a:ext cx="1152128" cy="143868"/>
          </a:xfrm>
          <a:prstGeom prst="rect">
            <a:avLst/>
          </a:prstGeom>
        </p:spPr>
        <p:txBody>
          <a:bodyPr/>
          <a:lstStyle/>
          <a:p>
            <a:r>
              <a:rPr lang="fi-FI"/>
              <a:t>28.04.2026</a:t>
            </a:r>
          </a:p>
        </p:txBody>
      </p:sp>
      <p:sp>
        <p:nvSpPr>
          <p:cNvPr id="5" name="Footer Placeholder 4">
            <a:extLst>
              <a:ext uri="{FF2B5EF4-FFF2-40B4-BE49-F238E27FC236}">
                <a16:creationId xmlns:a16="http://schemas.microsoft.com/office/drawing/2014/main" id="{392A5AC0-B982-BC97-275E-413CCD6728D9}"/>
              </a:ext>
            </a:extLst>
          </p:cNvPr>
          <p:cNvSpPr>
            <a:spLocks noGrp="1"/>
          </p:cNvSpPr>
          <p:nvPr>
            <p:ph type="ftr" sz="quarter" idx="15"/>
          </p:nvPr>
        </p:nvSpPr>
        <p:spPr>
          <a:xfrm>
            <a:off x="1271464" y="6309320"/>
            <a:ext cx="8928992" cy="143869"/>
          </a:xfrm>
          <a:prstGeom prst="rect">
            <a:avLst/>
          </a:prstGeom>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A42E97D-600F-96A3-1815-D8FD599585FB}"/>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5484076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Slide Picture Yellow">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769F6B43-DE36-0148-A7EA-157879F29459}"/>
              </a:ext>
            </a:extLst>
          </p:cNvPr>
          <p:cNvSpPr>
            <a:spLocks noGrp="1"/>
          </p:cNvSpPr>
          <p:nvPr>
            <p:ph type="dt" sz="half" idx="14"/>
          </p:nvPr>
        </p:nvSpPr>
        <p:spPr>
          <a:xfrm>
            <a:off x="10200456" y="6309320"/>
            <a:ext cx="1152128" cy="143868"/>
          </a:xfrm>
          <a:prstGeom prst="rect">
            <a:avLst/>
          </a:prstGeom>
        </p:spPr>
        <p:txBody>
          <a:bodyPr/>
          <a:lstStyle/>
          <a:p>
            <a:r>
              <a:rPr lang="fi-FI"/>
              <a:t>28.04.2026</a:t>
            </a:r>
          </a:p>
        </p:txBody>
      </p:sp>
      <p:sp>
        <p:nvSpPr>
          <p:cNvPr id="5" name="Footer Placeholder 4">
            <a:extLst>
              <a:ext uri="{FF2B5EF4-FFF2-40B4-BE49-F238E27FC236}">
                <a16:creationId xmlns:a16="http://schemas.microsoft.com/office/drawing/2014/main" id="{5FD05162-E4FC-F030-07AC-FC3AEEFFF4E1}"/>
              </a:ext>
            </a:extLst>
          </p:cNvPr>
          <p:cNvSpPr>
            <a:spLocks noGrp="1"/>
          </p:cNvSpPr>
          <p:nvPr>
            <p:ph type="ftr" sz="quarter" idx="15"/>
          </p:nvPr>
        </p:nvSpPr>
        <p:spPr>
          <a:xfrm>
            <a:off x="1271464" y="6309320"/>
            <a:ext cx="8928992" cy="143869"/>
          </a:xfrm>
          <a:prstGeom prst="rect">
            <a:avLst/>
          </a:prstGeom>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102E61C5-655F-9E60-460E-8B16B76A7F3A}"/>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90820013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Title Slide Picture Whit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45E78DCC-4AC7-C533-30A2-5C63D26BDB4B}"/>
              </a:ext>
            </a:extLst>
          </p:cNvPr>
          <p:cNvSpPr>
            <a:spLocks noGrp="1"/>
          </p:cNvSpPr>
          <p:nvPr>
            <p:ph type="dt" sz="half" idx="14"/>
          </p:nvPr>
        </p:nvSpPr>
        <p:spPr>
          <a:xfrm>
            <a:off x="10200456" y="6309320"/>
            <a:ext cx="1152128" cy="143868"/>
          </a:xfrm>
          <a:prstGeom prst="rect">
            <a:avLst/>
          </a:prstGeom>
        </p:spPr>
        <p:txBody>
          <a:bodyPr/>
          <a:lstStyle/>
          <a:p>
            <a:r>
              <a:rPr lang="fi-FI"/>
              <a:t>28.04.2026</a:t>
            </a:r>
          </a:p>
        </p:txBody>
      </p:sp>
      <p:sp>
        <p:nvSpPr>
          <p:cNvPr id="5" name="Footer Placeholder 4">
            <a:extLst>
              <a:ext uri="{FF2B5EF4-FFF2-40B4-BE49-F238E27FC236}">
                <a16:creationId xmlns:a16="http://schemas.microsoft.com/office/drawing/2014/main" id="{F13AEA57-51F9-8677-BE77-6A173FB52ACF}"/>
              </a:ext>
            </a:extLst>
          </p:cNvPr>
          <p:cNvSpPr>
            <a:spLocks noGrp="1"/>
          </p:cNvSpPr>
          <p:nvPr>
            <p:ph type="ftr" sz="quarter" idx="15"/>
          </p:nvPr>
        </p:nvSpPr>
        <p:spPr>
          <a:xfrm>
            <a:off x="1271464" y="6309320"/>
            <a:ext cx="8928992" cy="143869"/>
          </a:xfrm>
          <a:prstGeom prst="rect">
            <a:avLst/>
          </a:prstGeom>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545089EB-5ECF-87F1-77A7-C15D7B25B777}"/>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52650258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Title Slide Picture Black">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solidFill>
                  <a:schemeClr val="bg1"/>
                </a:solidFill>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68E7816-46AF-EDE4-B973-3A70EF994BCC}"/>
              </a:ext>
            </a:extLst>
          </p:cNvPr>
          <p:cNvSpPr>
            <a:spLocks noGrp="1"/>
          </p:cNvSpPr>
          <p:nvPr>
            <p:ph type="dt" sz="half" idx="14"/>
          </p:nvPr>
        </p:nvSpPr>
        <p:spPr>
          <a:xfrm>
            <a:off x="10200456" y="6309320"/>
            <a:ext cx="1152128" cy="143868"/>
          </a:xfrm>
          <a:prstGeom prst="rect">
            <a:avLst/>
          </a:prstGeom>
        </p:spPr>
        <p:txBody>
          <a:bodyPr/>
          <a:lstStyle>
            <a:lvl1pPr>
              <a:defRPr>
                <a:solidFill>
                  <a:schemeClr val="bg1"/>
                </a:solidFill>
              </a:defRPr>
            </a:lvl1pPr>
          </a:lstStyle>
          <a:p>
            <a:r>
              <a:rPr lang="fi-FI"/>
              <a:t>28.04.2026</a:t>
            </a:r>
          </a:p>
        </p:txBody>
      </p:sp>
      <p:sp>
        <p:nvSpPr>
          <p:cNvPr id="5" name="Footer Placeholder 4">
            <a:extLst>
              <a:ext uri="{FF2B5EF4-FFF2-40B4-BE49-F238E27FC236}">
                <a16:creationId xmlns:a16="http://schemas.microsoft.com/office/drawing/2014/main" id="{E3E6E867-4E34-AE05-3565-F0277F684973}"/>
              </a:ext>
            </a:extLst>
          </p:cNvPr>
          <p:cNvSpPr>
            <a:spLocks noGrp="1"/>
          </p:cNvSpPr>
          <p:nvPr>
            <p:ph type="ftr" sz="quarter" idx="15"/>
          </p:nvPr>
        </p:nvSpPr>
        <p:spPr>
          <a:xfrm>
            <a:off x="1271464" y="6309320"/>
            <a:ext cx="8928992" cy="143869"/>
          </a:xfrm>
          <a:prstGeom prst="rect">
            <a:avLst/>
          </a:prstGeom>
        </p:spPr>
        <p:txBody>
          <a:bodyPr/>
          <a:lstStyle>
            <a:lvl1pPr>
              <a:defRPr>
                <a:solidFill>
                  <a:schemeClr val="bg1"/>
                </a:solidFill>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1C11884A-89D7-C67B-7CC3-A45310410CE1}"/>
              </a:ext>
            </a:extLst>
          </p:cNvPr>
          <p:cNvSpPr>
            <a:spLocks noGrp="1"/>
          </p:cNvSpPr>
          <p:nvPr>
            <p:ph type="sldNum" sz="quarter" idx="16"/>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36632032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Title Slide Picture Red 2">
    <p:bg>
      <p:bgPr>
        <a:solidFill>
          <a:schemeClr val="accent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2FAC22D7-D1D6-D8DB-06A4-46EE3349040B}"/>
              </a:ext>
            </a:extLst>
          </p:cNvPr>
          <p:cNvSpPr>
            <a:spLocks noGrp="1"/>
          </p:cNvSpPr>
          <p:nvPr>
            <p:ph type="dt" sz="half" idx="14"/>
          </p:nvPr>
        </p:nvSpPr>
        <p:spPr>
          <a:xfrm>
            <a:off x="10200456" y="6309320"/>
            <a:ext cx="1152128" cy="143868"/>
          </a:xfrm>
          <a:prstGeom prst="rect">
            <a:avLst/>
          </a:prstGeom>
        </p:spPr>
        <p:txBody>
          <a:bodyPr/>
          <a:lstStyle/>
          <a:p>
            <a:r>
              <a:rPr lang="fi-FI"/>
              <a:t>28.04.2026</a:t>
            </a:r>
          </a:p>
        </p:txBody>
      </p:sp>
      <p:sp>
        <p:nvSpPr>
          <p:cNvPr id="5" name="Footer Placeholder 4">
            <a:extLst>
              <a:ext uri="{FF2B5EF4-FFF2-40B4-BE49-F238E27FC236}">
                <a16:creationId xmlns:a16="http://schemas.microsoft.com/office/drawing/2014/main" id="{1A1A431B-3F31-0E0E-6255-138EC93AAE64}"/>
              </a:ext>
            </a:extLst>
          </p:cNvPr>
          <p:cNvSpPr>
            <a:spLocks noGrp="1"/>
          </p:cNvSpPr>
          <p:nvPr>
            <p:ph type="ftr" sz="quarter" idx="15"/>
          </p:nvPr>
        </p:nvSpPr>
        <p:spPr>
          <a:xfrm>
            <a:off x="1271464" y="6309320"/>
            <a:ext cx="8928992" cy="143869"/>
          </a:xfrm>
          <a:prstGeom prst="rect">
            <a:avLst/>
          </a:prstGeom>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D5BEC0DB-FC2B-561F-42FF-3B0802FA5285}"/>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67922794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Title Slide Picture Blue 2">
    <p:bg>
      <p:bgPr>
        <a:solidFill>
          <a:schemeClr val="accent3"/>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F01F7BF-6136-1293-03E9-87CB159D78B4}"/>
              </a:ext>
            </a:extLst>
          </p:cNvPr>
          <p:cNvSpPr>
            <a:spLocks noGrp="1"/>
          </p:cNvSpPr>
          <p:nvPr>
            <p:ph type="dt" sz="half" idx="14"/>
          </p:nvPr>
        </p:nvSpPr>
        <p:spPr>
          <a:xfrm>
            <a:off x="10200456" y="6309320"/>
            <a:ext cx="1152128" cy="143868"/>
          </a:xfrm>
          <a:prstGeom prst="rect">
            <a:avLst/>
          </a:prstGeom>
        </p:spPr>
        <p:txBody>
          <a:bodyPr/>
          <a:lstStyle/>
          <a:p>
            <a:r>
              <a:rPr lang="fi-FI"/>
              <a:t>28.04.2026</a:t>
            </a:r>
          </a:p>
        </p:txBody>
      </p:sp>
      <p:sp>
        <p:nvSpPr>
          <p:cNvPr id="5" name="Footer Placeholder 4">
            <a:extLst>
              <a:ext uri="{FF2B5EF4-FFF2-40B4-BE49-F238E27FC236}">
                <a16:creationId xmlns:a16="http://schemas.microsoft.com/office/drawing/2014/main" id="{48FE259E-7E55-6AB4-BF0A-B44DAFEF9901}"/>
              </a:ext>
            </a:extLst>
          </p:cNvPr>
          <p:cNvSpPr>
            <a:spLocks noGrp="1"/>
          </p:cNvSpPr>
          <p:nvPr>
            <p:ph type="ftr" sz="quarter" idx="15"/>
          </p:nvPr>
        </p:nvSpPr>
        <p:spPr>
          <a:xfrm>
            <a:off x="1271464" y="6309320"/>
            <a:ext cx="8928992" cy="143869"/>
          </a:xfrm>
          <a:prstGeom prst="rect">
            <a:avLst/>
          </a:prstGeom>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8F96378F-80BB-E789-AD86-D9EA44DA29E9}"/>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92522426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Title Slide Picture Yellow 2">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EB261AA-A967-344D-10CF-A52EC9EFC271}"/>
              </a:ext>
            </a:extLst>
          </p:cNvPr>
          <p:cNvSpPr>
            <a:spLocks noGrp="1"/>
          </p:cNvSpPr>
          <p:nvPr>
            <p:ph type="dt" sz="half" idx="14"/>
          </p:nvPr>
        </p:nvSpPr>
        <p:spPr>
          <a:xfrm>
            <a:off x="10200456" y="6309320"/>
            <a:ext cx="1152128" cy="143868"/>
          </a:xfrm>
          <a:prstGeom prst="rect">
            <a:avLst/>
          </a:prstGeom>
        </p:spPr>
        <p:txBody>
          <a:bodyPr/>
          <a:lstStyle/>
          <a:p>
            <a:r>
              <a:rPr lang="fi-FI"/>
              <a:t>28.04.2026</a:t>
            </a:r>
          </a:p>
        </p:txBody>
      </p:sp>
      <p:sp>
        <p:nvSpPr>
          <p:cNvPr id="5" name="Footer Placeholder 4">
            <a:extLst>
              <a:ext uri="{FF2B5EF4-FFF2-40B4-BE49-F238E27FC236}">
                <a16:creationId xmlns:a16="http://schemas.microsoft.com/office/drawing/2014/main" id="{DC5CAA6F-5588-75A0-B42A-E7B4358C7B7E}"/>
              </a:ext>
            </a:extLst>
          </p:cNvPr>
          <p:cNvSpPr>
            <a:spLocks noGrp="1"/>
          </p:cNvSpPr>
          <p:nvPr>
            <p:ph type="ftr" sz="quarter" idx="15"/>
          </p:nvPr>
        </p:nvSpPr>
        <p:spPr>
          <a:xfrm>
            <a:off x="1271464" y="6309320"/>
            <a:ext cx="8928992" cy="143869"/>
          </a:xfrm>
          <a:prstGeom prst="rect">
            <a:avLst/>
          </a:prstGeom>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9C4CB569-8C10-87E5-2F35-74ED3EF15E59}"/>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6731957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Title Slide Picture White 2">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8ECE10FE-B9CB-31C9-C131-FA8A9355BEFC}"/>
              </a:ext>
            </a:extLst>
          </p:cNvPr>
          <p:cNvSpPr>
            <a:spLocks noGrp="1"/>
          </p:cNvSpPr>
          <p:nvPr>
            <p:ph type="dt" sz="half" idx="14"/>
          </p:nvPr>
        </p:nvSpPr>
        <p:spPr>
          <a:xfrm>
            <a:off x="10200456" y="6309320"/>
            <a:ext cx="1152128" cy="143868"/>
          </a:xfrm>
          <a:prstGeom prst="rect">
            <a:avLst/>
          </a:prstGeom>
        </p:spPr>
        <p:txBody>
          <a:bodyPr/>
          <a:lstStyle/>
          <a:p>
            <a:r>
              <a:rPr lang="fi-FI"/>
              <a:t>28.04.2026</a:t>
            </a:r>
          </a:p>
        </p:txBody>
      </p:sp>
      <p:sp>
        <p:nvSpPr>
          <p:cNvPr id="5" name="Footer Placeholder 4">
            <a:extLst>
              <a:ext uri="{FF2B5EF4-FFF2-40B4-BE49-F238E27FC236}">
                <a16:creationId xmlns:a16="http://schemas.microsoft.com/office/drawing/2014/main" id="{E5AB6C74-8053-BBC4-940C-7BD1DA87F424}"/>
              </a:ext>
            </a:extLst>
          </p:cNvPr>
          <p:cNvSpPr>
            <a:spLocks noGrp="1"/>
          </p:cNvSpPr>
          <p:nvPr>
            <p:ph type="ftr" sz="quarter" idx="15"/>
          </p:nvPr>
        </p:nvSpPr>
        <p:spPr>
          <a:xfrm>
            <a:off x="1271464" y="6309320"/>
            <a:ext cx="8928992" cy="143869"/>
          </a:xfrm>
          <a:prstGeom prst="rect">
            <a:avLst/>
          </a:prstGeom>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8233658A-D30E-64F2-DD4D-DE5EA0255E92}"/>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76340433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Title Slide Picture Black 2">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6CACCF6-B7F1-B81D-EB1E-E2F15D53141E}"/>
              </a:ext>
            </a:extLst>
          </p:cNvPr>
          <p:cNvSpPr>
            <a:spLocks noGrp="1"/>
          </p:cNvSpPr>
          <p:nvPr>
            <p:ph type="pic" sz="quarter" idx="13" hasCustomPrompt="1"/>
          </p:nvPr>
        </p:nvSpPr>
        <p:spPr>
          <a:xfrm>
            <a:off x="1" y="3429000"/>
            <a:ext cx="6096000" cy="3429000"/>
          </a:xfrm>
          <a:solidFill>
            <a:schemeClr val="bg2"/>
          </a:solidFill>
        </p:spPr>
        <p:txBody>
          <a:bodyPr vert="horz" lIns="0" tIns="0" rIns="0" bIns="0" rtlCol="0" anchor="t" anchorCtr="0">
            <a:noAutofit/>
          </a:bodyPr>
          <a:lstStyle>
            <a:lvl1pPr>
              <a:defRPr lang="en-US" sz="1200" dirty="0"/>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a:p>
            <a:pPr marR="0" lvl="0" fontAlgn="auto">
              <a:spcBef>
                <a:spcPts val="0"/>
              </a:spcBef>
              <a:spcAft>
                <a:spcPts val="0"/>
              </a:spcAft>
              <a:buClrTx/>
              <a:buSzTx/>
              <a:tabLst/>
            </a:pPr>
            <a:endParaRPr lang="en-US"/>
          </a:p>
        </p:txBody>
      </p:sp>
      <p:sp>
        <p:nvSpPr>
          <p:cNvPr id="8" name="Rectangle 7">
            <a:extLst>
              <a:ext uri="{FF2B5EF4-FFF2-40B4-BE49-F238E27FC236}">
                <a16:creationId xmlns:a16="http://schemas.microsoft.com/office/drawing/2014/main" id="{D777C7DB-D21C-CF04-BEAE-6225DF214D55}"/>
              </a:ext>
            </a:extLst>
          </p:cNvPr>
          <p:cNvSpPr/>
          <p:nvPr/>
        </p:nvSpPr>
        <p:spPr>
          <a:xfrm>
            <a:off x="0" y="0"/>
            <a:ext cx="6096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 name="Title 1">
            <a:extLst>
              <a:ext uri="{FF2B5EF4-FFF2-40B4-BE49-F238E27FC236}">
                <a16:creationId xmlns:a16="http://schemas.microsoft.com/office/drawing/2014/main" id="{387275C4-164C-69B1-48F1-6ABBCFDD4649}"/>
              </a:ext>
            </a:extLst>
          </p:cNvPr>
          <p:cNvSpPr>
            <a:spLocks noGrp="1"/>
          </p:cNvSpPr>
          <p:nvPr>
            <p:ph type="ctrTitle" hasCustomPrompt="1"/>
          </p:nvPr>
        </p:nvSpPr>
        <p:spPr>
          <a:xfrm>
            <a:off x="6600676" y="1495871"/>
            <a:ext cx="5183337" cy="492443"/>
          </a:xfrm>
        </p:spPr>
        <p:txBody>
          <a:bodyPr wrap="square" anchor="b" anchorCtr="0">
            <a:spAutoFit/>
          </a:bodyPr>
          <a:lstStyle>
            <a:lvl1pPr algn="l">
              <a:lnSpc>
                <a:spcPct val="100000"/>
              </a:lnSpc>
              <a:defRPr sz="3200">
                <a:solidFill>
                  <a:schemeClr val="bg1"/>
                </a:solidFill>
                <a:latin typeface="+mj-lt"/>
              </a:defRPr>
            </a:lvl1pPr>
          </a:lstStyle>
          <a:p>
            <a:r>
              <a:rPr lang="en-US"/>
              <a:t>Headline</a:t>
            </a:r>
            <a:endParaRPr lang="fi-FI"/>
          </a:p>
        </p:txBody>
      </p:sp>
      <p:sp>
        <p:nvSpPr>
          <p:cNvPr id="3" name="Subtitle 2">
            <a:extLst>
              <a:ext uri="{FF2B5EF4-FFF2-40B4-BE49-F238E27FC236}">
                <a16:creationId xmlns:a16="http://schemas.microsoft.com/office/drawing/2014/main" id="{1245A747-631B-1133-C63C-B48ADA15D1D3}"/>
              </a:ext>
            </a:extLst>
          </p:cNvPr>
          <p:cNvSpPr>
            <a:spLocks noGrp="1"/>
          </p:cNvSpPr>
          <p:nvPr>
            <p:ph type="subTitle" idx="1"/>
          </p:nvPr>
        </p:nvSpPr>
        <p:spPr>
          <a:xfrm>
            <a:off x="6600676" y="1988313"/>
            <a:ext cx="5183337" cy="984885"/>
          </a:xfrm>
        </p:spPr>
        <p:txBody>
          <a:bodyPr wrap="square">
            <a:spAutoFit/>
          </a:bodyPr>
          <a:lstStyle>
            <a:lvl1pPr marL="0" indent="0" algn="l">
              <a:lnSpc>
                <a:spcPct val="100000"/>
              </a:lnSpc>
              <a:spcBef>
                <a:spcPts val="0"/>
              </a:spcBef>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a:p>
        </p:txBody>
      </p:sp>
      <p:sp>
        <p:nvSpPr>
          <p:cNvPr id="11" name="Freeform 5">
            <a:extLst>
              <a:ext uri="{FF2B5EF4-FFF2-40B4-BE49-F238E27FC236}">
                <a16:creationId xmlns:a16="http://schemas.microsoft.com/office/drawing/2014/main" id="{B048024D-E928-1A47-E81D-E73CEDEC703F}"/>
              </a:ext>
            </a:extLst>
          </p:cNvPr>
          <p:cNvSpPr>
            <a:spLocks noChangeAspect="1" noEditPoints="1"/>
          </p:cNvSpPr>
          <p:nvPr/>
        </p:nvSpPr>
        <p:spPr bwMode="auto">
          <a:xfrm>
            <a:off x="407988" y="432000"/>
            <a:ext cx="2650987" cy="576000"/>
          </a:xfrm>
          <a:custGeom>
            <a:avLst/>
            <a:gdLst>
              <a:gd name="T0" fmla="*/ 1856 w 4584"/>
              <a:gd name="T1" fmla="*/ 150 h 996"/>
              <a:gd name="T2" fmla="*/ 1926 w 4584"/>
              <a:gd name="T3" fmla="*/ 74 h 996"/>
              <a:gd name="T4" fmla="*/ 1862 w 4584"/>
              <a:gd name="T5" fmla="*/ 198 h 996"/>
              <a:gd name="T6" fmla="*/ 2091 w 4584"/>
              <a:gd name="T7" fmla="*/ 109 h 996"/>
              <a:gd name="T8" fmla="*/ 2346 w 4584"/>
              <a:gd name="T9" fmla="*/ 79 h 996"/>
              <a:gd name="T10" fmla="*/ 2341 w 4584"/>
              <a:gd name="T11" fmla="*/ 150 h 996"/>
              <a:gd name="T12" fmla="*/ 2584 w 4584"/>
              <a:gd name="T13" fmla="*/ 274 h 996"/>
              <a:gd name="T14" fmla="*/ 2883 w 4584"/>
              <a:gd name="T15" fmla="*/ 0 h 996"/>
              <a:gd name="T16" fmla="*/ 2966 w 4584"/>
              <a:gd name="T17" fmla="*/ 88 h 996"/>
              <a:gd name="T18" fmla="*/ 3031 w 4584"/>
              <a:gd name="T19" fmla="*/ 214 h 996"/>
              <a:gd name="T20" fmla="*/ 3010 w 4584"/>
              <a:gd name="T21" fmla="*/ 212 h 996"/>
              <a:gd name="T22" fmla="*/ 3283 w 4584"/>
              <a:gd name="T23" fmla="*/ 239 h 996"/>
              <a:gd name="T24" fmla="*/ 3261 w 4584"/>
              <a:gd name="T25" fmla="*/ 135 h 996"/>
              <a:gd name="T26" fmla="*/ 3397 w 4584"/>
              <a:gd name="T27" fmla="*/ 34 h 996"/>
              <a:gd name="T28" fmla="*/ 3589 w 4584"/>
              <a:gd name="T29" fmla="*/ 199 h 996"/>
              <a:gd name="T30" fmla="*/ 3538 w 4584"/>
              <a:gd name="T31" fmla="*/ 193 h 996"/>
              <a:gd name="T32" fmla="*/ 3580 w 4584"/>
              <a:gd name="T33" fmla="*/ 106 h 996"/>
              <a:gd name="T34" fmla="*/ 3779 w 4584"/>
              <a:gd name="T35" fmla="*/ 244 h 996"/>
              <a:gd name="T36" fmla="*/ 3908 w 4584"/>
              <a:gd name="T37" fmla="*/ 148 h 996"/>
              <a:gd name="T38" fmla="*/ 3821 w 4584"/>
              <a:gd name="T39" fmla="*/ 107 h 996"/>
              <a:gd name="T40" fmla="*/ 1828 w 4584"/>
              <a:gd name="T41" fmla="*/ 916 h 996"/>
              <a:gd name="T42" fmla="*/ 1868 w 4584"/>
              <a:gd name="T43" fmla="*/ 803 h 996"/>
              <a:gd name="T44" fmla="*/ 1905 w 4584"/>
              <a:gd name="T45" fmla="*/ 896 h 996"/>
              <a:gd name="T46" fmla="*/ 2193 w 4584"/>
              <a:gd name="T47" fmla="*/ 891 h 996"/>
              <a:gd name="T48" fmla="*/ 2220 w 4584"/>
              <a:gd name="T49" fmla="*/ 816 h 996"/>
              <a:gd name="T50" fmla="*/ 2340 w 4584"/>
              <a:gd name="T51" fmla="*/ 927 h 996"/>
              <a:gd name="T52" fmla="*/ 2271 w 4584"/>
              <a:gd name="T53" fmla="*/ 868 h 996"/>
              <a:gd name="T54" fmla="*/ 2506 w 4584"/>
              <a:gd name="T55" fmla="*/ 882 h 996"/>
              <a:gd name="T56" fmla="*/ 2823 w 4584"/>
              <a:gd name="T57" fmla="*/ 753 h 996"/>
              <a:gd name="T58" fmla="*/ 2952 w 4584"/>
              <a:gd name="T59" fmla="*/ 726 h 996"/>
              <a:gd name="T60" fmla="*/ 3233 w 4584"/>
              <a:gd name="T61" fmla="*/ 913 h 996"/>
              <a:gd name="T62" fmla="*/ 3254 w 4584"/>
              <a:gd name="T63" fmla="*/ 854 h 996"/>
              <a:gd name="T64" fmla="*/ 3313 w 4584"/>
              <a:gd name="T65" fmla="*/ 793 h 996"/>
              <a:gd name="T66" fmla="*/ 3644 w 4584"/>
              <a:gd name="T67" fmla="*/ 802 h 996"/>
              <a:gd name="T68" fmla="*/ 3627 w 4584"/>
              <a:gd name="T69" fmla="*/ 933 h 996"/>
              <a:gd name="T70" fmla="*/ 3553 w 4584"/>
              <a:gd name="T71" fmla="*/ 839 h 996"/>
              <a:gd name="T72" fmla="*/ 3726 w 4584"/>
              <a:gd name="T73" fmla="*/ 696 h 996"/>
              <a:gd name="T74" fmla="*/ 3850 w 4584"/>
              <a:gd name="T75" fmla="*/ 926 h 996"/>
              <a:gd name="T76" fmla="*/ 3980 w 4584"/>
              <a:gd name="T77" fmla="*/ 996 h 996"/>
              <a:gd name="T78" fmla="*/ 1914 w 4584"/>
              <a:gd name="T79" fmla="*/ 481 h 996"/>
              <a:gd name="T80" fmla="*/ 1963 w 4584"/>
              <a:gd name="T81" fmla="*/ 436 h 996"/>
              <a:gd name="T82" fmla="*/ 1873 w 4584"/>
              <a:gd name="T83" fmla="*/ 556 h 996"/>
              <a:gd name="T84" fmla="*/ 2197 w 4584"/>
              <a:gd name="T85" fmla="*/ 413 h 996"/>
              <a:gd name="T86" fmla="*/ 2378 w 4584"/>
              <a:gd name="T87" fmla="*/ 449 h 996"/>
              <a:gd name="T88" fmla="*/ 2327 w 4584"/>
              <a:gd name="T89" fmla="*/ 457 h 996"/>
              <a:gd name="T90" fmla="*/ 2668 w 4584"/>
              <a:gd name="T91" fmla="*/ 587 h 996"/>
              <a:gd name="T92" fmla="*/ 2785 w 4584"/>
              <a:gd name="T93" fmla="*/ 413 h 996"/>
              <a:gd name="T94" fmla="*/ 2840 w 4584"/>
              <a:gd name="T95" fmla="*/ 466 h 996"/>
              <a:gd name="T96" fmla="*/ 3340 w 4584"/>
              <a:gd name="T97" fmla="*/ 593 h 996"/>
              <a:gd name="T98" fmla="*/ 3412 w 4584"/>
              <a:gd name="T99" fmla="*/ 456 h 996"/>
              <a:gd name="T100" fmla="*/ 3375 w 4584"/>
              <a:gd name="T101" fmla="*/ 483 h 996"/>
              <a:gd name="T102" fmla="*/ 3508 w 4584"/>
              <a:gd name="T103" fmla="*/ 475 h 996"/>
              <a:gd name="T104" fmla="*/ 3735 w 4584"/>
              <a:gd name="T105" fmla="*/ 559 h 996"/>
              <a:gd name="T106" fmla="*/ 3673 w 4584"/>
              <a:gd name="T107" fmla="*/ 523 h 996"/>
              <a:gd name="T108" fmla="*/ 3797 w 4584"/>
              <a:gd name="T109" fmla="*/ 390 h 996"/>
              <a:gd name="T110" fmla="*/ 3950 w 4584"/>
              <a:gd name="T111" fmla="*/ 551 h 996"/>
              <a:gd name="T112" fmla="*/ 3976 w 4584"/>
              <a:gd name="T113" fmla="*/ 483 h 996"/>
              <a:gd name="T114" fmla="*/ 4063 w 4584"/>
              <a:gd name="T115" fmla="*/ 557 h 996"/>
              <a:gd name="T116" fmla="*/ 4023 w 4584"/>
              <a:gd name="T117" fmla="*/ 483 h 996"/>
              <a:gd name="T118" fmla="*/ 4319 w 4584"/>
              <a:gd name="T119" fmla="*/ 576 h 996"/>
              <a:gd name="T120" fmla="*/ 4457 w 4584"/>
              <a:gd name="T121" fmla="*/ 514 h 996"/>
              <a:gd name="T122" fmla="*/ 4395 w 4584"/>
              <a:gd name="T123" fmla="*/ 453 h 996"/>
              <a:gd name="T124" fmla="*/ 4474 w 4584"/>
              <a:gd name="T125" fmla="*/ 41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84" h="996">
                <a:moveTo>
                  <a:pt x="1232" y="330"/>
                </a:moveTo>
                <a:lnTo>
                  <a:pt x="1178" y="648"/>
                </a:lnTo>
                <a:lnTo>
                  <a:pt x="1055" y="648"/>
                </a:lnTo>
                <a:lnTo>
                  <a:pt x="1010" y="330"/>
                </a:lnTo>
                <a:lnTo>
                  <a:pt x="1010" y="12"/>
                </a:lnTo>
                <a:lnTo>
                  <a:pt x="1232" y="12"/>
                </a:lnTo>
                <a:lnTo>
                  <a:pt x="1232" y="330"/>
                </a:lnTo>
                <a:close/>
                <a:moveTo>
                  <a:pt x="1623" y="249"/>
                </a:moveTo>
                <a:lnTo>
                  <a:pt x="1569" y="249"/>
                </a:lnTo>
                <a:lnTo>
                  <a:pt x="1651" y="13"/>
                </a:lnTo>
                <a:lnTo>
                  <a:pt x="1715" y="13"/>
                </a:lnTo>
                <a:lnTo>
                  <a:pt x="1797" y="249"/>
                </a:lnTo>
                <a:lnTo>
                  <a:pt x="1743" y="249"/>
                </a:lnTo>
                <a:lnTo>
                  <a:pt x="1726" y="195"/>
                </a:lnTo>
                <a:lnTo>
                  <a:pt x="1641" y="195"/>
                </a:lnTo>
                <a:lnTo>
                  <a:pt x="1623" y="249"/>
                </a:lnTo>
                <a:close/>
                <a:moveTo>
                  <a:pt x="1653" y="156"/>
                </a:moveTo>
                <a:lnTo>
                  <a:pt x="1713" y="156"/>
                </a:lnTo>
                <a:lnTo>
                  <a:pt x="1684" y="67"/>
                </a:lnTo>
                <a:lnTo>
                  <a:pt x="1653" y="156"/>
                </a:lnTo>
                <a:close/>
                <a:moveTo>
                  <a:pt x="1874" y="252"/>
                </a:moveTo>
                <a:lnTo>
                  <a:pt x="1867" y="252"/>
                </a:lnTo>
                <a:lnTo>
                  <a:pt x="1861" y="252"/>
                </a:lnTo>
                <a:lnTo>
                  <a:pt x="1856" y="251"/>
                </a:lnTo>
                <a:lnTo>
                  <a:pt x="1850" y="249"/>
                </a:lnTo>
                <a:lnTo>
                  <a:pt x="1845" y="247"/>
                </a:lnTo>
                <a:lnTo>
                  <a:pt x="1840" y="245"/>
                </a:lnTo>
                <a:lnTo>
                  <a:pt x="1836" y="242"/>
                </a:lnTo>
                <a:lnTo>
                  <a:pt x="1832" y="239"/>
                </a:lnTo>
                <a:lnTo>
                  <a:pt x="1828" y="236"/>
                </a:lnTo>
                <a:lnTo>
                  <a:pt x="1824" y="232"/>
                </a:lnTo>
                <a:lnTo>
                  <a:pt x="1821" y="227"/>
                </a:lnTo>
                <a:lnTo>
                  <a:pt x="1820" y="225"/>
                </a:lnTo>
                <a:lnTo>
                  <a:pt x="1819" y="223"/>
                </a:lnTo>
                <a:lnTo>
                  <a:pt x="1817" y="218"/>
                </a:lnTo>
                <a:lnTo>
                  <a:pt x="1816" y="212"/>
                </a:lnTo>
                <a:lnTo>
                  <a:pt x="1815" y="206"/>
                </a:lnTo>
                <a:lnTo>
                  <a:pt x="1815" y="200"/>
                </a:lnTo>
                <a:lnTo>
                  <a:pt x="1815" y="190"/>
                </a:lnTo>
                <a:lnTo>
                  <a:pt x="1817" y="182"/>
                </a:lnTo>
                <a:lnTo>
                  <a:pt x="1818" y="178"/>
                </a:lnTo>
                <a:lnTo>
                  <a:pt x="1820" y="175"/>
                </a:lnTo>
                <a:lnTo>
                  <a:pt x="1824" y="169"/>
                </a:lnTo>
                <a:lnTo>
                  <a:pt x="1827" y="166"/>
                </a:lnTo>
                <a:lnTo>
                  <a:pt x="1829" y="163"/>
                </a:lnTo>
                <a:lnTo>
                  <a:pt x="1832" y="161"/>
                </a:lnTo>
                <a:lnTo>
                  <a:pt x="1835" y="159"/>
                </a:lnTo>
                <a:lnTo>
                  <a:pt x="1838" y="157"/>
                </a:lnTo>
                <a:lnTo>
                  <a:pt x="1841" y="155"/>
                </a:lnTo>
                <a:lnTo>
                  <a:pt x="1845" y="154"/>
                </a:lnTo>
                <a:lnTo>
                  <a:pt x="1849" y="152"/>
                </a:lnTo>
                <a:lnTo>
                  <a:pt x="1856" y="150"/>
                </a:lnTo>
                <a:lnTo>
                  <a:pt x="1864" y="148"/>
                </a:lnTo>
                <a:lnTo>
                  <a:pt x="1873" y="146"/>
                </a:lnTo>
                <a:lnTo>
                  <a:pt x="1881" y="145"/>
                </a:lnTo>
                <a:lnTo>
                  <a:pt x="1901" y="143"/>
                </a:lnTo>
                <a:lnTo>
                  <a:pt x="1908" y="142"/>
                </a:lnTo>
                <a:lnTo>
                  <a:pt x="1914" y="140"/>
                </a:lnTo>
                <a:lnTo>
                  <a:pt x="1918" y="139"/>
                </a:lnTo>
                <a:lnTo>
                  <a:pt x="1920" y="138"/>
                </a:lnTo>
                <a:lnTo>
                  <a:pt x="1922" y="136"/>
                </a:lnTo>
                <a:lnTo>
                  <a:pt x="1923" y="135"/>
                </a:lnTo>
                <a:lnTo>
                  <a:pt x="1923" y="133"/>
                </a:lnTo>
                <a:lnTo>
                  <a:pt x="1924" y="131"/>
                </a:lnTo>
                <a:lnTo>
                  <a:pt x="1924" y="129"/>
                </a:lnTo>
                <a:lnTo>
                  <a:pt x="1924" y="124"/>
                </a:lnTo>
                <a:lnTo>
                  <a:pt x="1922" y="119"/>
                </a:lnTo>
                <a:lnTo>
                  <a:pt x="1921" y="117"/>
                </a:lnTo>
                <a:lnTo>
                  <a:pt x="1920" y="115"/>
                </a:lnTo>
                <a:lnTo>
                  <a:pt x="1919" y="113"/>
                </a:lnTo>
                <a:lnTo>
                  <a:pt x="1917" y="112"/>
                </a:lnTo>
                <a:lnTo>
                  <a:pt x="1913" y="109"/>
                </a:lnTo>
                <a:lnTo>
                  <a:pt x="1909" y="107"/>
                </a:lnTo>
                <a:lnTo>
                  <a:pt x="1904" y="106"/>
                </a:lnTo>
                <a:lnTo>
                  <a:pt x="1898" y="106"/>
                </a:lnTo>
                <a:lnTo>
                  <a:pt x="1892" y="106"/>
                </a:lnTo>
                <a:lnTo>
                  <a:pt x="1886" y="107"/>
                </a:lnTo>
                <a:lnTo>
                  <a:pt x="1881" y="109"/>
                </a:lnTo>
                <a:lnTo>
                  <a:pt x="1877" y="112"/>
                </a:lnTo>
                <a:lnTo>
                  <a:pt x="1873" y="115"/>
                </a:lnTo>
                <a:lnTo>
                  <a:pt x="1870" y="118"/>
                </a:lnTo>
                <a:lnTo>
                  <a:pt x="1868" y="122"/>
                </a:lnTo>
                <a:lnTo>
                  <a:pt x="1867" y="124"/>
                </a:lnTo>
                <a:lnTo>
                  <a:pt x="1866" y="126"/>
                </a:lnTo>
                <a:lnTo>
                  <a:pt x="1821" y="123"/>
                </a:lnTo>
                <a:lnTo>
                  <a:pt x="1823" y="117"/>
                </a:lnTo>
                <a:lnTo>
                  <a:pt x="1825" y="111"/>
                </a:lnTo>
                <a:lnTo>
                  <a:pt x="1827" y="106"/>
                </a:lnTo>
                <a:lnTo>
                  <a:pt x="1830" y="101"/>
                </a:lnTo>
                <a:lnTo>
                  <a:pt x="1833" y="96"/>
                </a:lnTo>
                <a:lnTo>
                  <a:pt x="1837" y="92"/>
                </a:lnTo>
                <a:lnTo>
                  <a:pt x="1841" y="88"/>
                </a:lnTo>
                <a:lnTo>
                  <a:pt x="1846" y="84"/>
                </a:lnTo>
                <a:lnTo>
                  <a:pt x="1851" y="81"/>
                </a:lnTo>
                <a:lnTo>
                  <a:pt x="1857" y="78"/>
                </a:lnTo>
                <a:lnTo>
                  <a:pt x="1863" y="76"/>
                </a:lnTo>
                <a:lnTo>
                  <a:pt x="1869" y="74"/>
                </a:lnTo>
                <a:lnTo>
                  <a:pt x="1876" y="72"/>
                </a:lnTo>
                <a:lnTo>
                  <a:pt x="1883" y="71"/>
                </a:lnTo>
                <a:lnTo>
                  <a:pt x="1890" y="70"/>
                </a:lnTo>
                <a:lnTo>
                  <a:pt x="1898" y="70"/>
                </a:lnTo>
                <a:lnTo>
                  <a:pt x="1908" y="70"/>
                </a:lnTo>
                <a:lnTo>
                  <a:pt x="1917" y="72"/>
                </a:lnTo>
                <a:lnTo>
                  <a:pt x="1926" y="74"/>
                </a:lnTo>
                <a:lnTo>
                  <a:pt x="1935" y="76"/>
                </a:lnTo>
                <a:lnTo>
                  <a:pt x="1943" y="80"/>
                </a:lnTo>
                <a:lnTo>
                  <a:pt x="1947" y="82"/>
                </a:lnTo>
                <a:lnTo>
                  <a:pt x="1950" y="84"/>
                </a:lnTo>
                <a:lnTo>
                  <a:pt x="1957" y="90"/>
                </a:lnTo>
                <a:lnTo>
                  <a:pt x="1963" y="96"/>
                </a:lnTo>
                <a:lnTo>
                  <a:pt x="1965" y="99"/>
                </a:lnTo>
                <a:lnTo>
                  <a:pt x="1967" y="103"/>
                </a:lnTo>
                <a:lnTo>
                  <a:pt x="1969" y="107"/>
                </a:lnTo>
                <a:lnTo>
                  <a:pt x="1970" y="111"/>
                </a:lnTo>
                <a:lnTo>
                  <a:pt x="1972" y="115"/>
                </a:lnTo>
                <a:lnTo>
                  <a:pt x="1972" y="120"/>
                </a:lnTo>
                <a:lnTo>
                  <a:pt x="1973" y="125"/>
                </a:lnTo>
                <a:lnTo>
                  <a:pt x="1973" y="130"/>
                </a:lnTo>
                <a:lnTo>
                  <a:pt x="1973" y="249"/>
                </a:lnTo>
                <a:lnTo>
                  <a:pt x="1927" y="249"/>
                </a:lnTo>
                <a:lnTo>
                  <a:pt x="1927" y="225"/>
                </a:lnTo>
                <a:lnTo>
                  <a:pt x="1922" y="230"/>
                </a:lnTo>
                <a:lnTo>
                  <a:pt x="1917" y="236"/>
                </a:lnTo>
                <a:lnTo>
                  <a:pt x="1912" y="241"/>
                </a:lnTo>
                <a:lnTo>
                  <a:pt x="1906" y="245"/>
                </a:lnTo>
                <a:lnTo>
                  <a:pt x="1899" y="248"/>
                </a:lnTo>
                <a:lnTo>
                  <a:pt x="1891" y="250"/>
                </a:lnTo>
                <a:lnTo>
                  <a:pt x="1887" y="251"/>
                </a:lnTo>
                <a:lnTo>
                  <a:pt x="1883" y="252"/>
                </a:lnTo>
                <a:lnTo>
                  <a:pt x="1874" y="252"/>
                </a:lnTo>
                <a:close/>
                <a:moveTo>
                  <a:pt x="1888" y="219"/>
                </a:moveTo>
                <a:lnTo>
                  <a:pt x="1895" y="218"/>
                </a:lnTo>
                <a:lnTo>
                  <a:pt x="1902" y="216"/>
                </a:lnTo>
                <a:lnTo>
                  <a:pt x="1905" y="215"/>
                </a:lnTo>
                <a:lnTo>
                  <a:pt x="1908" y="213"/>
                </a:lnTo>
                <a:lnTo>
                  <a:pt x="1914" y="209"/>
                </a:lnTo>
                <a:lnTo>
                  <a:pt x="1916" y="207"/>
                </a:lnTo>
                <a:lnTo>
                  <a:pt x="1919" y="204"/>
                </a:lnTo>
                <a:lnTo>
                  <a:pt x="1922" y="199"/>
                </a:lnTo>
                <a:lnTo>
                  <a:pt x="1924" y="193"/>
                </a:lnTo>
                <a:lnTo>
                  <a:pt x="1924" y="189"/>
                </a:lnTo>
                <a:lnTo>
                  <a:pt x="1924" y="186"/>
                </a:lnTo>
                <a:lnTo>
                  <a:pt x="1924" y="167"/>
                </a:lnTo>
                <a:lnTo>
                  <a:pt x="1921" y="169"/>
                </a:lnTo>
                <a:lnTo>
                  <a:pt x="1915" y="171"/>
                </a:lnTo>
                <a:lnTo>
                  <a:pt x="1903" y="173"/>
                </a:lnTo>
                <a:lnTo>
                  <a:pt x="1890" y="175"/>
                </a:lnTo>
                <a:lnTo>
                  <a:pt x="1884" y="176"/>
                </a:lnTo>
                <a:lnTo>
                  <a:pt x="1879" y="178"/>
                </a:lnTo>
                <a:lnTo>
                  <a:pt x="1874" y="180"/>
                </a:lnTo>
                <a:lnTo>
                  <a:pt x="1870" y="182"/>
                </a:lnTo>
                <a:lnTo>
                  <a:pt x="1866" y="185"/>
                </a:lnTo>
                <a:lnTo>
                  <a:pt x="1864" y="189"/>
                </a:lnTo>
                <a:lnTo>
                  <a:pt x="1863" y="191"/>
                </a:lnTo>
                <a:lnTo>
                  <a:pt x="1862" y="193"/>
                </a:lnTo>
                <a:lnTo>
                  <a:pt x="1862" y="198"/>
                </a:lnTo>
                <a:lnTo>
                  <a:pt x="1862" y="203"/>
                </a:lnTo>
                <a:lnTo>
                  <a:pt x="1863" y="207"/>
                </a:lnTo>
                <a:lnTo>
                  <a:pt x="1865" y="209"/>
                </a:lnTo>
                <a:lnTo>
                  <a:pt x="1866" y="211"/>
                </a:lnTo>
                <a:lnTo>
                  <a:pt x="1869" y="213"/>
                </a:lnTo>
                <a:lnTo>
                  <a:pt x="1873" y="216"/>
                </a:lnTo>
                <a:lnTo>
                  <a:pt x="1875" y="217"/>
                </a:lnTo>
                <a:lnTo>
                  <a:pt x="1877" y="217"/>
                </a:lnTo>
                <a:lnTo>
                  <a:pt x="1882" y="218"/>
                </a:lnTo>
                <a:lnTo>
                  <a:pt x="1888" y="219"/>
                </a:lnTo>
                <a:close/>
                <a:moveTo>
                  <a:pt x="2063" y="249"/>
                </a:moveTo>
                <a:lnTo>
                  <a:pt x="2013" y="249"/>
                </a:lnTo>
                <a:lnTo>
                  <a:pt x="2013" y="13"/>
                </a:lnTo>
                <a:lnTo>
                  <a:pt x="2063" y="13"/>
                </a:lnTo>
                <a:lnTo>
                  <a:pt x="2063" y="249"/>
                </a:lnTo>
                <a:close/>
                <a:moveTo>
                  <a:pt x="2197" y="72"/>
                </a:moveTo>
                <a:lnTo>
                  <a:pt x="2197" y="109"/>
                </a:lnTo>
                <a:lnTo>
                  <a:pt x="2164" y="109"/>
                </a:lnTo>
                <a:lnTo>
                  <a:pt x="2164" y="195"/>
                </a:lnTo>
                <a:lnTo>
                  <a:pt x="2164" y="199"/>
                </a:lnTo>
                <a:lnTo>
                  <a:pt x="2165" y="203"/>
                </a:lnTo>
                <a:lnTo>
                  <a:pt x="2166" y="205"/>
                </a:lnTo>
                <a:lnTo>
                  <a:pt x="2167" y="206"/>
                </a:lnTo>
                <a:lnTo>
                  <a:pt x="2169" y="208"/>
                </a:lnTo>
                <a:lnTo>
                  <a:pt x="2171" y="210"/>
                </a:lnTo>
                <a:lnTo>
                  <a:pt x="2174" y="211"/>
                </a:lnTo>
                <a:lnTo>
                  <a:pt x="2177" y="212"/>
                </a:lnTo>
                <a:lnTo>
                  <a:pt x="2181" y="212"/>
                </a:lnTo>
                <a:lnTo>
                  <a:pt x="2188" y="211"/>
                </a:lnTo>
                <a:lnTo>
                  <a:pt x="2193" y="210"/>
                </a:lnTo>
                <a:lnTo>
                  <a:pt x="2201" y="247"/>
                </a:lnTo>
                <a:lnTo>
                  <a:pt x="2190" y="250"/>
                </a:lnTo>
                <a:lnTo>
                  <a:pt x="2183" y="251"/>
                </a:lnTo>
                <a:lnTo>
                  <a:pt x="2174" y="252"/>
                </a:lnTo>
                <a:lnTo>
                  <a:pt x="2168" y="252"/>
                </a:lnTo>
                <a:lnTo>
                  <a:pt x="2161" y="251"/>
                </a:lnTo>
                <a:lnTo>
                  <a:pt x="2156" y="250"/>
                </a:lnTo>
                <a:lnTo>
                  <a:pt x="2150" y="249"/>
                </a:lnTo>
                <a:lnTo>
                  <a:pt x="2145" y="248"/>
                </a:lnTo>
                <a:lnTo>
                  <a:pt x="2140" y="245"/>
                </a:lnTo>
                <a:lnTo>
                  <a:pt x="2135" y="243"/>
                </a:lnTo>
                <a:lnTo>
                  <a:pt x="2131" y="240"/>
                </a:lnTo>
                <a:lnTo>
                  <a:pt x="2127" y="237"/>
                </a:lnTo>
                <a:lnTo>
                  <a:pt x="2124" y="233"/>
                </a:lnTo>
                <a:lnTo>
                  <a:pt x="2121" y="229"/>
                </a:lnTo>
                <a:lnTo>
                  <a:pt x="2119" y="224"/>
                </a:lnTo>
                <a:lnTo>
                  <a:pt x="2117" y="219"/>
                </a:lnTo>
                <a:lnTo>
                  <a:pt x="2116" y="213"/>
                </a:lnTo>
                <a:lnTo>
                  <a:pt x="2115" y="208"/>
                </a:lnTo>
                <a:lnTo>
                  <a:pt x="2115" y="201"/>
                </a:lnTo>
                <a:lnTo>
                  <a:pt x="2115" y="109"/>
                </a:lnTo>
                <a:lnTo>
                  <a:pt x="2091" y="109"/>
                </a:lnTo>
                <a:lnTo>
                  <a:pt x="2091" y="72"/>
                </a:lnTo>
                <a:lnTo>
                  <a:pt x="2115" y="72"/>
                </a:lnTo>
                <a:lnTo>
                  <a:pt x="2115" y="30"/>
                </a:lnTo>
                <a:lnTo>
                  <a:pt x="2164" y="30"/>
                </a:lnTo>
                <a:lnTo>
                  <a:pt x="2164" y="72"/>
                </a:lnTo>
                <a:lnTo>
                  <a:pt x="2197" y="72"/>
                </a:lnTo>
                <a:close/>
                <a:moveTo>
                  <a:pt x="2304" y="253"/>
                </a:moveTo>
                <a:lnTo>
                  <a:pt x="2291" y="252"/>
                </a:lnTo>
                <a:lnTo>
                  <a:pt x="2285" y="251"/>
                </a:lnTo>
                <a:lnTo>
                  <a:pt x="2279" y="250"/>
                </a:lnTo>
                <a:lnTo>
                  <a:pt x="2268" y="246"/>
                </a:lnTo>
                <a:lnTo>
                  <a:pt x="2263" y="244"/>
                </a:lnTo>
                <a:lnTo>
                  <a:pt x="2258" y="241"/>
                </a:lnTo>
                <a:lnTo>
                  <a:pt x="2249" y="235"/>
                </a:lnTo>
                <a:lnTo>
                  <a:pt x="2245" y="231"/>
                </a:lnTo>
                <a:lnTo>
                  <a:pt x="2241" y="227"/>
                </a:lnTo>
                <a:lnTo>
                  <a:pt x="2234" y="219"/>
                </a:lnTo>
                <a:lnTo>
                  <a:pt x="2231" y="214"/>
                </a:lnTo>
                <a:lnTo>
                  <a:pt x="2228" y="209"/>
                </a:lnTo>
                <a:lnTo>
                  <a:pt x="2223" y="198"/>
                </a:lnTo>
                <a:lnTo>
                  <a:pt x="2221" y="193"/>
                </a:lnTo>
                <a:lnTo>
                  <a:pt x="2220" y="187"/>
                </a:lnTo>
                <a:lnTo>
                  <a:pt x="2219" y="181"/>
                </a:lnTo>
                <a:lnTo>
                  <a:pt x="2218" y="175"/>
                </a:lnTo>
                <a:lnTo>
                  <a:pt x="2218" y="168"/>
                </a:lnTo>
                <a:lnTo>
                  <a:pt x="2217" y="161"/>
                </a:lnTo>
                <a:lnTo>
                  <a:pt x="2218" y="155"/>
                </a:lnTo>
                <a:lnTo>
                  <a:pt x="2218" y="148"/>
                </a:lnTo>
                <a:lnTo>
                  <a:pt x="2219" y="142"/>
                </a:lnTo>
                <a:lnTo>
                  <a:pt x="2220" y="136"/>
                </a:lnTo>
                <a:lnTo>
                  <a:pt x="2223" y="124"/>
                </a:lnTo>
                <a:lnTo>
                  <a:pt x="2225" y="119"/>
                </a:lnTo>
                <a:lnTo>
                  <a:pt x="2228" y="114"/>
                </a:lnTo>
                <a:lnTo>
                  <a:pt x="2234" y="104"/>
                </a:lnTo>
                <a:lnTo>
                  <a:pt x="2237" y="99"/>
                </a:lnTo>
                <a:lnTo>
                  <a:pt x="2241" y="95"/>
                </a:lnTo>
                <a:lnTo>
                  <a:pt x="2245" y="91"/>
                </a:lnTo>
                <a:lnTo>
                  <a:pt x="2249" y="88"/>
                </a:lnTo>
                <a:lnTo>
                  <a:pt x="2253" y="85"/>
                </a:lnTo>
                <a:lnTo>
                  <a:pt x="2258" y="82"/>
                </a:lnTo>
                <a:lnTo>
                  <a:pt x="2263" y="79"/>
                </a:lnTo>
                <a:lnTo>
                  <a:pt x="2268" y="77"/>
                </a:lnTo>
                <a:lnTo>
                  <a:pt x="2274" y="75"/>
                </a:lnTo>
                <a:lnTo>
                  <a:pt x="2279" y="73"/>
                </a:lnTo>
                <a:lnTo>
                  <a:pt x="2285" y="72"/>
                </a:lnTo>
                <a:lnTo>
                  <a:pt x="2291" y="71"/>
                </a:lnTo>
                <a:lnTo>
                  <a:pt x="2304" y="70"/>
                </a:lnTo>
                <a:lnTo>
                  <a:pt x="2317" y="71"/>
                </a:lnTo>
                <a:lnTo>
                  <a:pt x="2323" y="72"/>
                </a:lnTo>
                <a:lnTo>
                  <a:pt x="2329" y="73"/>
                </a:lnTo>
                <a:lnTo>
                  <a:pt x="2340" y="77"/>
                </a:lnTo>
                <a:lnTo>
                  <a:pt x="2346" y="79"/>
                </a:lnTo>
                <a:lnTo>
                  <a:pt x="2351" y="82"/>
                </a:lnTo>
                <a:lnTo>
                  <a:pt x="2360" y="88"/>
                </a:lnTo>
                <a:lnTo>
                  <a:pt x="2364" y="91"/>
                </a:lnTo>
                <a:lnTo>
                  <a:pt x="2368" y="95"/>
                </a:lnTo>
                <a:lnTo>
                  <a:pt x="2375" y="104"/>
                </a:lnTo>
                <a:lnTo>
                  <a:pt x="2378" y="109"/>
                </a:lnTo>
                <a:lnTo>
                  <a:pt x="2381" y="114"/>
                </a:lnTo>
                <a:lnTo>
                  <a:pt x="2385" y="124"/>
                </a:lnTo>
                <a:lnTo>
                  <a:pt x="2387" y="130"/>
                </a:lnTo>
                <a:lnTo>
                  <a:pt x="2389" y="136"/>
                </a:lnTo>
                <a:lnTo>
                  <a:pt x="2390" y="142"/>
                </a:lnTo>
                <a:lnTo>
                  <a:pt x="2391" y="148"/>
                </a:lnTo>
                <a:lnTo>
                  <a:pt x="2391" y="155"/>
                </a:lnTo>
                <a:lnTo>
                  <a:pt x="2391" y="161"/>
                </a:lnTo>
                <a:lnTo>
                  <a:pt x="2391" y="168"/>
                </a:lnTo>
                <a:lnTo>
                  <a:pt x="2391" y="175"/>
                </a:lnTo>
                <a:lnTo>
                  <a:pt x="2390" y="181"/>
                </a:lnTo>
                <a:lnTo>
                  <a:pt x="2389" y="187"/>
                </a:lnTo>
                <a:lnTo>
                  <a:pt x="2385" y="198"/>
                </a:lnTo>
                <a:lnTo>
                  <a:pt x="2383" y="204"/>
                </a:lnTo>
                <a:lnTo>
                  <a:pt x="2381" y="209"/>
                </a:lnTo>
                <a:lnTo>
                  <a:pt x="2375" y="219"/>
                </a:lnTo>
                <a:lnTo>
                  <a:pt x="2372" y="223"/>
                </a:lnTo>
                <a:lnTo>
                  <a:pt x="2368" y="227"/>
                </a:lnTo>
                <a:lnTo>
                  <a:pt x="2364" y="231"/>
                </a:lnTo>
                <a:lnTo>
                  <a:pt x="2360" y="235"/>
                </a:lnTo>
                <a:lnTo>
                  <a:pt x="2355" y="238"/>
                </a:lnTo>
                <a:lnTo>
                  <a:pt x="2351" y="241"/>
                </a:lnTo>
                <a:lnTo>
                  <a:pt x="2346" y="244"/>
                </a:lnTo>
                <a:lnTo>
                  <a:pt x="2340" y="246"/>
                </a:lnTo>
                <a:lnTo>
                  <a:pt x="2335" y="248"/>
                </a:lnTo>
                <a:lnTo>
                  <a:pt x="2329" y="250"/>
                </a:lnTo>
                <a:lnTo>
                  <a:pt x="2323" y="251"/>
                </a:lnTo>
                <a:lnTo>
                  <a:pt x="2317" y="252"/>
                </a:lnTo>
                <a:lnTo>
                  <a:pt x="2304" y="253"/>
                </a:lnTo>
                <a:close/>
                <a:moveTo>
                  <a:pt x="2305" y="215"/>
                </a:moveTo>
                <a:lnTo>
                  <a:pt x="2309" y="214"/>
                </a:lnTo>
                <a:lnTo>
                  <a:pt x="2313" y="214"/>
                </a:lnTo>
                <a:lnTo>
                  <a:pt x="2317" y="212"/>
                </a:lnTo>
                <a:lnTo>
                  <a:pt x="2321" y="211"/>
                </a:lnTo>
                <a:lnTo>
                  <a:pt x="2324" y="209"/>
                </a:lnTo>
                <a:lnTo>
                  <a:pt x="2327" y="206"/>
                </a:lnTo>
                <a:lnTo>
                  <a:pt x="2330" y="203"/>
                </a:lnTo>
                <a:lnTo>
                  <a:pt x="2332" y="199"/>
                </a:lnTo>
                <a:lnTo>
                  <a:pt x="2334" y="195"/>
                </a:lnTo>
                <a:lnTo>
                  <a:pt x="2336" y="191"/>
                </a:lnTo>
                <a:lnTo>
                  <a:pt x="2338" y="187"/>
                </a:lnTo>
                <a:lnTo>
                  <a:pt x="2339" y="182"/>
                </a:lnTo>
                <a:lnTo>
                  <a:pt x="2341" y="172"/>
                </a:lnTo>
                <a:lnTo>
                  <a:pt x="2341" y="167"/>
                </a:lnTo>
                <a:lnTo>
                  <a:pt x="2342" y="161"/>
                </a:lnTo>
                <a:lnTo>
                  <a:pt x="2341" y="150"/>
                </a:lnTo>
                <a:lnTo>
                  <a:pt x="2339" y="140"/>
                </a:lnTo>
                <a:lnTo>
                  <a:pt x="2338" y="135"/>
                </a:lnTo>
                <a:lnTo>
                  <a:pt x="2336" y="131"/>
                </a:lnTo>
                <a:lnTo>
                  <a:pt x="2332" y="123"/>
                </a:lnTo>
                <a:lnTo>
                  <a:pt x="2330" y="119"/>
                </a:lnTo>
                <a:lnTo>
                  <a:pt x="2327" y="116"/>
                </a:lnTo>
                <a:lnTo>
                  <a:pt x="2324" y="113"/>
                </a:lnTo>
                <a:lnTo>
                  <a:pt x="2321" y="111"/>
                </a:lnTo>
                <a:lnTo>
                  <a:pt x="2317" y="110"/>
                </a:lnTo>
                <a:lnTo>
                  <a:pt x="2313" y="108"/>
                </a:lnTo>
                <a:lnTo>
                  <a:pt x="2309" y="108"/>
                </a:lnTo>
                <a:lnTo>
                  <a:pt x="2305" y="107"/>
                </a:lnTo>
                <a:lnTo>
                  <a:pt x="2300" y="108"/>
                </a:lnTo>
                <a:lnTo>
                  <a:pt x="2296" y="108"/>
                </a:lnTo>
                <a:lnTo>
                  <a:pt x="2292" y="110"/>
                </a:lnTo>
                <a:lnTo>
                  <a:pt x="2288" y="111"/>
                </a:lnTo>
                <a:lnTo>
                  <a:pt x="2285" y="113"/>
                </a:lnTo>
                <a:lnTo>
                  <a:pt x="2282" y="116"/>
                </a:lnTo>
                <a:lnTo>
                  <a:pt x="2279" y="119"/>
                </a:lnTo>
                <a:lnTo>
                  <a:pt x="2277" y="123"/>
                </a:lnTo>
                <a:lnTo>
                  <a:pt x="2272" y="131"/>
                </a:lnTo>
                <a:lnTo>
                  <a:pt x="2271" y="135"/>
                </a:lnTo>
                <a:lnTo>
                  <a:pt x="2270" y="140"/>
                </a:lnTo>
                <a:lnTo>
                  <a:pt x="2269" y="145"/>
                </a:lnTo>
                <a:lnTo>
                  <a:pt x="2268" y="150"/>
                </a:lnTo>
                <a:lnTo>
                  <a:pt x="2267" y="155"/>
                </a:lnTo>
                <a:lnTo>
                  <a:pt x="2267" y="161"/>
                </a:lnTo>
                <a:lnTo>
                  <a:pt x="2268" y="172"/>
                </a:lnTo>
                <a:lnTo>
                  <a:pt x="2270" y="182"/>
                </a:lnTo>
                <a:lnTo>
                  <a:pt x="2271" y="187"/>
                </a:lnTo>
                <a:lnTo>
                  <a:pt x="2272" y="191"/>
                </a:lnTo>
                <a:lnTo>
                  <a:pt x="2274" y="195"/>
                </a:lnTo>
                <a:lnTo>
                  <a:pt x="2277" y="199"/>
                </a:lnTo>
                <a:lnTo>
                  <a:pt x="2279" y="203"/>
                </a:lnTo>
                <a:lnTo>
                  <a:pt x="2282" y="206"/>
                </a:lnTo>
                <a:lnTo>
                  <a:pt x="2285" y="209"/>
                </a:lnTo>
                <a:lnTo>
                  <a:pt x="2288" y="211"/>
                </a:lnTo>
                <a:lnTo>
                  <a:pt x="2292" y="212"/>
                </a:lnTo>
                <a:lnTo>
                  <a:pt x="2296" y="214"/>
                </a:lnTo>
                <a:lnTo>
                  <a:pt x="2300" y="214"/>
                </a:lnTo>
                <a:lnTo>
                  <a:pt x="2305" y="215"/>
                </a:lnTo>
                <a:close/>
                <a:moveTo>
                  <a:pt x="2539" y="172"/>
                </a:moveTo>
                <a:lnTo>
                  <a:pt x="2430" y="172"/>
                </a:lnTo>
                <a:lnTo>
                  <a:pt x="2430" y="133"/>
                </a:lnTo>
                <a:lnTo>
                  <a:pt x="2539" y="133"/>
                </a:lnTo>
                <a:lnTo>
                  <a:pt x="2539" y="172"/>
                </a:lnTo>
                <a:close/>
                <a:moveTo>
                  <a:pt x="2603" y="315"/>
                </a:moveTo>
                <a:lnTo>
                  <a:pt x="2594" y="315"/>
                </a:lnTo>
                <a:lnTo>
                  <a:pt x="2586" y="314"/>
                </a:lnTo>
                <a:lnTo>
                  <a:pt x="2579" y="312"/>
                </a:lnTo>
                <a:lnTo>
                  <a:pt x="2573" y="310"/>
                </a:lnTo>
                <a:lnTo>
                  <a:pt x="2584" y="274"/>
                </a:lnTo>
                <a:lnTo>
                  <a:pt x="2590" y="275"/>
                </a:lnTo>
                <a:lnTo>
                  <a:pt x="2596" y="276"/>
                </a:lnTo>
                <a:lnTo>
                  <a:pt x="2601" y="276"/>
                </a:lnTo>
                <a:lnTo>
                  <a:pt x="2606" y="276"/>
                </a:lnTo>
                <a:lnTo>
                  <a:pt x="2608" y="275"/>
                </a:lnTo>
                <a:lnTo>
                  <a:pt x="2610" y="274"/>
                </a:lnTo>
                <a:lnTo>
                  <a:pt x="2614" y="271"/>
                </a:lnTo>
                <a:lnTo>
                  <a:pt x="2617" y="267"/>
                </a:lnTo>
                <a:lnTo>
                  <a:pt x="2620" y="262"/>
                </a:lnTo>
                <a:lnTo>
                  <a:pt x="2623" y="254"/>
                </a:lnTo>
                <a:lnTo>
                  <a:pt x="2559" y="72"/>
                </a:lnTo>
                <a:lnTo>
                  <a:pt x="2611" y="72"/>
                </a:lnTo>
                <a:lnTo>
                  <a:pt x="2647" y="202"/>
                </a:lnTo>
                <a:lnTo>
                  <a:pt x="2686" y="72"/>
                </a:lnTo>
                <a:lnTo>
                  <a:pt x="2738" y="72"/>
                </a:lnTo>
                <a:lnTo>
                  <a:pt x="2669" y="268"/>
                </a:lnTo>
                <a:lnTo>
                  <a:pt x="2665" y="278"/>
                </a:lnTo>
                <a:lnTo>
                  <a:pt x="2663" y="283"/>
                </a:lnTo>
                <a:lnTo>
                  <a:pt x="2660" y="287"/>
                </a:lnTo>
                <a:lnTo>
                  <a:pt x="2654" y="296"/>
                </a:lnTo>
                <a:lnTo>
                  <a:pt x="2646" y="302"/>
                </a:lnTo>
                <a:lnTo>
                  <a:pt x="2642" y="306"/>
                </a:lnTo>
                <a:lnTo>
                  <a:pt x="2638" y="308"/>
                </a:lnTo>
                <a:lnTo>
                  <a:pt x="2633" y="310"/>
                </a:lnTo>
                <a:lnTo>
                  <a:pt x="2628" y="312"/>
                </a:lnTo>
                <a:lnTo>
                  <a:pt x="2622" y="314"/>
                </a:lnTo>
                <a:lnTo>
                  <a:pt x="2616" y="315"/>
                </a:lnTo>
                <a:lnTo>
                  <a:pt x="2610" y="315"/>
                </a:lnTo>
                <a:lnTo>
                  <a:pt x="2603" y="315"/>
                </a:lnTo>
                <a:close/>
                <a:moveTo>
                  <a:pt x="2812" y="249"/>
                </a:moveTo>
                <a:lnTo>
                  <a:pt x="2763" y="249"/>
                </a:lnTo>
                <a:lnTo>
                  <a:pt x="2763" y="13"/>
                </a:lnTo>
                <a:lnTo>
                  <a:pt x="2812" y="13"/>
                </a:lnTo>
                <a:lnTo>
                  <a:pt x="2812" y="249"/>
                </a:lnTo>
                <a:close/>
                <a:moveTo>
                  <a:pt x="2877" y="50"/>
                </a:moveTo>
                <a:lnTo>
                  <a:pt x="2872" y="49"/>
                </a:lnTo>
                <a:lnTo>
                  <a:pt x="2867" y="48"/>
                </a:lnTo>
                <a:lnTo>
                  <a:pt x="2863" y="45"/>
                </a:lnTo>
                <a:lnTo>
                  <a:pt x="2859" y="42"/>
                </a:lnTo>
                <a:lnTo>
                  <a:pt x="2855" y="38"/>
                </a:lnTo>
                <a:lnTo>
                  <a:pt x="2853" y="34"/>
                </a:lnTo>
                <a:lnTo>
                  <a:pt x="2851" y="30"/>
                </a:lnTo>
                <a:lnTo>
                  <a:pt x="2851" y="25"/>
                </a:lnTo>
                <a:lnTo>
                  <a:pt x="2851" y="20"/>
                </a:lnTo>
                <a:lnTo>
                  <a:pt x="2853" y="15"/>
                </a:lnTo>
                <a:lnTo>
                  <a:pt x="2855" y="11"/>
                </a:lnTo>
                <a:lnTo>
                  <a:pt x="2859" y="7"/>
                </a:lnTo>
                <a:lnTo>
                  <a:pt x="2863" y="4"/>
                </a:lnTo>
                <a:lnTo>
                  <a:pt x="2867" y="2"/>
                </a:lnTo>
                <a:lnTo>
                  <a:pt x="2872" y="0"/>
                </a:lnTo>
                <a:lnTo>
                  <a:pt x="2877" y="0"/>
                </a:lnTo>
                <a:lnTo>
                  <a:pt x="2883" y="0"/>
                </a:lnTo>
                <a:lnTo>
                  <a:pt x="2887" y="2"/>
                </a:lnTo>
                <a:lnTo>
                  <a:pt x="2892" y="4"/>
                </a:lnTo>
                <a:lnTo>
                  <a:pt x="2896" y="7"/>
                </a:lnTo>
                <a:lnTo>
                  <a:pt x="2900" y="11"/>
                </a:lnTo>
                <a:lnTo>
                  <a:pt x="2902" y="15"/>
                </a:lnTo>
                <a:lnTo>
                  <a:pt x="2903" y="20"/>
                </a:lnTo>
                <a:lnTo>
                  <a:pt x="2904" y="25"/>
                </a:lnTo>
                <a:lnTo>
                  <a:pt x="2903" y="30"/>
                </a:lnTo>
                <a:lnTo>
                  <a:pt x="2902" y="34"/>
                </a:lnTo>
                <a:lnTo>
                  <a:pt x="2900" y="38"/>
                </a:lnTo>
                <a:lnTo>
                  <a:pt x="2896" y="42"/>
                </a:lnTo>
                <a:lnTo>
                  <a:pt x="2892" y="45"/>
                </a:lnTo>
                <a:lnTo>
                  <a:pt x="2887" y="48"/>
                </a:lnTo>
                <a:lnTo>
                  <a:pt x="2883" y="49"/>
                </a:lnTo>
                <a:lnTo>
                  <a:pt x="2877" y="50"/>
                </a:lnTo>
                <a:close/>
                <a:moveTo>
                  <a:pt x="2853" y="72"/>
                </a:moveTo>
                <a:lnTo>
                  <a:pt x="2902" y="72"/>
                </a:lnTo>
                <a:lnTo>
                  <a:pt x="2902" y="249"/>
                </a:lnTo>
                <a:lnTo>
                  <a:pt x="2853" y="249"/>
                </a:lnTo>
                <a:lnTo>
                  <a:pt x="2853" y="72"/>
                </a:lnTo>
                <a:close/>
                <a:moveTo>
                  <a:pt x="3023" y="253"/>
                </a:moveTo>
                <a:lnTo>
                  <a:pt x="3010" y="252"/>
                </a:lnTo>
                <a:lnTo>
                  <a:pt x="3003" y="251"/>
                </a:lnTo>
                <a:lnTo>
                  <a:pt x="2998" y="250"/>
                </a:lnTo>
                <a:lnTo>
                  <a:pt x="2986" y="246"/>
                </a:lnTo>
                <a:lnTo>
                  <a:pt x="2980" y="244"/>
                </a:lnTo>
                <a:lnTo>
                  <a:pt x="2975" y="241"/>
                </a:lnTo>
                <a:lnTo>
                  <a:pt x="2966" y="235"/>
                </a:lnTo>
                <a:lnTo>
                  <a:pt x="2962" y="231"/>
                </a:lnTo>
                <a:lnTo>
                  <a:pt x="2958" y="227"/>
                </a:lnTo>
                <a:lnTo>
                  <a:pt x="2951" y="219"/>
                </a:lnTo>
                <a:lnTo>
                  <a:pt x="2948" y="214"/>
                </a:lnTo>
                <a:lnTo>
                  <a:pt x="2945" y="209"/>
                </a:lnTo>
                <a:lnTo>
                  <a:pt x="2940" y="198"/>
                </a:lnTo>
                <a:lnTo>
                  <a:pt x="2939" y="193"/>
                </a:lnTo>
                <a:lnTo>
                  <a:pt x="2937" y="187"/>
                </a:lnTo>
                <a:lnTo>
                  <a:pt x="2936" y="181"/>
                </a:lnTo>
                <a:lnTo>
                  <a:pt x="2935" y="175"/>
                </a:lnTo>
                <a:lnTo>
                  <a:pt x="2935" y="168"/>
                </a:lnTo>
                <a:lnTo>
                  <a:pt x="2935" y="161"/>
                </a:lnTo>
                <a:lnTo>
                  <a:pt x="2935" y="155"/>
                </a:lnTo>
                <a:lnTo>
                  <a:pt x="2935" y="148"/>
                </a:lnTo>
                <a:lnTo>
                  <a:pt x="2936" y="142"/>
                </a:lnTo>
                <a:lnTo>
                  <a:pt x="2937" y="136"/>
                </a:lnTo>
                <a:lnTo>
                  <a:pt x="2940" y="124"/>
                </a:lnTo>
                <a:lnTo>
                  <a:pt x="2943" y="119"/>
                </a:lnTo>
                <a:lnTo>
                  <a:pt x="2945" y="114"/>
                </a:lnTo>
                <a:lnTo>
                  <a:pt x="2951" y="104"/>
                </a:lnTo>
                <a:lnTo>
                  <a:pt x="2954" y="99"/>
                </a:lnTo>
                <a:lnTo>
                  <a:pt x="2958" y="95"/>
                </a:lnTo>
                <a:lnTo>
                  <a:pt x="2962" y="91"/>
                </a:lnTo>
                <a:lnTo>
                  <a:pt x="2966" y="88"/>
                </a:lnTo>
                <a:lnTo>
                  <a:pt x="2970" y="85"/>
                </a:lnTo>
                <a:lnTo>
                  <a:pt x="2975" y="82"/>
                </a:lnTo>
                <a:lnTo>
                  <a:pt x="2980" y="79"/>
                </a:lnTo>
                <a:lnTo>
                  <a:pt x="2986" y="77"/>
                </a:lnTo>
                <a:lnTo>
                  <a:pt x="2992" y="75"/>
                </a:lnTo>
                <a:lnTo>
                  <a:pt x="2998" y="73"/>
                </a:lnTo>
                <a:lnTo>
                  <a:pt x="3003" y="72"/>
                </a:lnTo>
                <a:lnTo>
                  <a:pt x="3010" y="71"/>
                </a:lnTo>
                <a:lnTo>
                  <a:pt x="3023" y="70"/>
                </a:lnTo>
                <a:lnTo>
                  <a:pt x="3035" y="71"/>
                </a:lnTo>
                <a:lnTo>
                  <a:pt x="3042" y="72"/>
                </a:lnTo>
                <a:lnTo>
                  <a:pt x="3047" y="73"/>
                </a:lnTo>
                <a:lnTo>
                  <a:pt x="3059" y="77"/>
                </a:lnTo>
                <a:lnTo>
                  <a:pt x="3064" y="79"/>
                </a:lnTo>
                <a:lnTo>
                  <a:pt x="3069" y="82"/>
                </a:lnTo>
                <a:lnTo>
                  <a:pt x="3078" y="88"/>
                </a:lnTo>
                <a:lnTo>
                  <a:pt x="3082" y="91"/>
                </a:lnTo>
                <a:lnTo>
                  <a:pt x="3086" y="95"/>
                </a:lnTo>
                <a:lnTo>
                  <a:pt x="3093" y="104"/>
                </a:lnTo>
                <a:lnTo>
                  <a:pt x="3096" y="109"/>
                </a:lnTo>
                <a:lnTo>
                  <a:pt x="3099" y="114"/>
                </a:lnTo>
                <a:lnTo>
                  <a:pt x="3104" y="124"/>
                </a:lnTo>
                <a:lnTo>
                  <a:pt x="3105" y="130"/>
                </a:lnTo>
                <a:lnTo>
                  <a:pt x="3107" y="136"/>
                </a:lnTo>
                <a:lnTo>
                  <a:pt x="3108" y="142"/>
                </a:lnTo>
                <a:lnTo>
                  <a:pt x="3109" y="148"/>
                </a:lnTo>
                <a:lnTo>
                  <a:pt x="3109" y="155"/>
                </a:lnTo>
                <a:lnTo>
                  <a:pt x="3109" y="161"/>
                </a:lnTo>
                <a:lnTo>
                  <a:pt x="3109" y="168"/>
                </a:lnTo>
                <a:lnTo>
                  <a:pt x="3109" y="175"/>
                </a:lnTo>
                <a:lnTo>
                  <a:pt x="3108" y="181"/>
                </a:lnTo>
                <a:lnTo>
                  <a:pt x="3107" y="187"/>
                </a:lnTo>
                <a:lnTo>
                  <a:pt x="3104" y="198"/>
                </a:lnTo>
                <a:lnTo>
                  <a:pt x="3101" y="204"/>
                </a:lnTo>
                <a:lnTo>
                  <a:pt x="3099" y="209"/>
                </a:lnTo>
                <a:lnTo>
                  <a:pt x="3093" y="219"/>
                </a:lnTo>
                <a:lnTo>
                  <a:pt x="3090" y="223"/>
                </a:lnTo>
                <a:lnTo>
                  <a:pt x="3086" y="227"/>
                </a:lnTo>
                <a:lnTo>
                  <a:pt x="3082" y="231"/>
                </a:lnTo>
                <a:lnTo>
                  <a:pt x="3078" y="235"/>
                </a:lnTo>
                <a:lnTo>
                  <a:pt x="3074" y="238"/>
                </a:lnTo>
                <a:lnTo>
                  <a:pt x="3069" y="241"/>
                </a:lnTo>
                <a:lnTo>
                  <a:pt x="3064" y="244"/>
                </a:lnTo>
                <a:lnTo>
                  <a:pt x="3059" y="246"/>
                </a:lnTo>
                <a:lnTo>
                  <a:pt x="3053" y="248"/>
                </a:lnTo>
                <a:lnTo>
                  <a:pt x="3047" y="250"/>
                </a:lnTo>
                <a:lnTo>
                  <a:pt x="3042" y="251"/>
                </a:lnTo>
                <a:lnTo>
                  <a:pt x="3035" y="252"/>
                </a:lnTo>
                <a:lnTo>
                  <a:pt x="3023" y="253"/>
                </a:lnTo>
                <a:close/>
                <a:moveTo>
                  <a:pt x="3023" y="215"/>
                </a:moveTo>
                <a:lnTo>
                  <a:pt x="3027" y="214"/>
                </a:lnTo>
                <a:lnTo>
                  <a:pt x="3031" y="214"/>
                </a:lnTo>
                <a:lnTo>
                  <a:pt x="3035" y="212"/>
                </a:lnTo>
                <a:lnTo>
                  <a:pt x="3039" y="211"/>
                </a:lnTo>
                <a:lnTo>
                  <a:pt x="3042" y="209"/>
                </a:lnTo>
                <a:lnTo>
                  <a:pt x="3045" y="206"/>
                </a:lnTo>
                <a:lnTo>
                  <a:pt x="3048" y="203"/>
                </a:lnTo>
                <a:lnTo>
                  <a:pt x="3050" y="199"/>
                </a:lnTo>
                <a:lnTo>
                  <a:pt x="3052" y="195"/>
                </a:lnTo>
                <a:lnTo>
                  <a:pt x="3054" y="191"/>
                </a:lnTo>
                <a:lnTo>
                  <a:pt x="3056" y="187"/>
                </a:lnTo>
                <a:lnTo>
                  <a:pt x="3057" y="182"/>
                </a:lnTo>
                <a:lnTo>
                  <a:pt x="3059" y="172"/>
                </a:lnTo>
                <a:lnTo>
                  <a:pt x="3060" y="167"/>
                </a:lnTo>
                <a:lnTo>
                  <a:pt x="3060" y="161"/>
                </a:lnTo>
                <a:lnTo>
                  <a:pt x="3059" y="150"/>
                </a:lnTo>
                <a:lnTo>
                  <a:pt x="3057" y="140"/>
                </a:lnTo>
                <a:lnTo>
                  <a:pt x="3056" y="135"/>
                </a:lnTo>
                <a:lnTo>
                  <a:pt x="3054" y="131"/>
                </a:lnTo>
                <a:lnTo>
                  <a:pt x="3050" y="123"/>
                </a:lnTo>
                <a:lnTo>
                  <a:pt x="3048" y="119"/>
                </a:lnTo>
                <a:lnTo>
                  <a:pt x="3045" y="116"/>
                </a:lnTo>
                <a:lnTo>
                  <a:pt x="3042" y="113"/>
                </a:lnTo>
                <a:lnTo>
                  <a:pt x="3039" y="111"/>
                </a:lnTo>
                <a:lnTo>
                  <a:pt x="3035" y="110"/>
                </a:lnTo>
                <a:lnTo>
                  <a:pt x="3031" y="108"/>
                </a:lnTo>
                <a:lnTo>
                  <a:pt x="3027" y="108"/>
                </a:lnTo>
                <a:lnTo>
                  <a:pt x="3023" y="107"/>
                </a:lnTo>
                <a:lnTo>
                  <a:pt x="3018" y="108"/>
                </a:lnTo>
                <a:lnTo>
                  <a:pt x="3014" y="108"/>
                </a:lnTo>
                <a:lnTo>
                  <a:pt x="3010" y="110"/>
                </a:lnTo>
                <a:lnTo>
                  <a:pt x="3006" y="111"/>
                </a:lnTo>
                <a:lnTo>
                  <a:pt x="3003" y="113"/>
                </a:lnTo>
                <a:lnTo>
                  <a:pt x="3000" y="116"/>
                </a:lnTo>
                <a:lnTo>
                  <a:pt x="2997" y="119"/>
                </a:lnTo>
                <a:lnTo>
                  <a:pt x="2995" y="123"/>
                </a:lnTo>
                <a:lnTo>
                  <a:pt x="2991" y="131"/>
                </a:lnTo>
                <a:lnTo>
                  <a:pt x="2989" y="135"/>
                </a:lnTo>
                <a:lnTo>
                  <a:pt x="2988" y="140"/>
                </a:lnTo>
                <a:lnTo>
                  <a:pt x="2987" y="145"/>
                </a:lnTo>
                <a:lnTo>
                  <a:pt x="2986" y="150"/>
                </a:lnTo>
                <a:lnTo>
                  <a:pt x="2986" y="155"/>
                </a:lnTo>
                <a:lnTo>
                  <a:pt x="2985" y="161"/>
                </a:lnTo>
                <a:lnTo>
                  <a:pt x="2986" y="172"/>
                </a:lnTo>
                <a:lnTo>
                  <a:pt x="2988" y="182"/>
                </a:lnTo>
                <a:lnTo>
                  <a:pt x="2989" y="187"/>
                </a:lnTo>
                <a:lnTo>
                  <a:pt x="2991" y="191"/>
                </a:lnTo>
                <a:lnTo>
                  <a:pt x="2993" y="195"/>
                </a:lnTo>
                <a:lnTo>
                  <a:pt x="2995" y="199"/>
                </a:lnTo>
                <a:lnTo>
                  <a:pt x="2997" y="203"/>
                </a:lnTo>
                <a:lnTo>
                  <a:pt x="3000" y="206"/>
                </a:lnTo>
                <a:lnTo>
                  <a:pt x="3003" y="209"/>
                </a:lnTo>
                <a:lnTo>
                  <a:pt x="3006" y="211"/>
                </a:lnTo>
                <a:lnTo>
                  <a:pt x="3010" y="212"/>
                </a:lnTo>
                <a:lnTo>
                  <a:pt x="3014" y="214"/>
                </a:lnTo>
                <a:lnTo>
                  <a:pt x="3018" y="214"/>
                </a:lnTo>
                <a:lnTo>
                  <a:pt x="3023" y="215"/>
                </a:lnTo>
                <a:close/>
                <a:moveTo>
                  <a:pt x="3142" y="315"/>
                </a:moveTo>
                <a:lnTo>
                  <a:pt x="3142" y="72"/>
                </a:lnTo>
                <a:lnTo>
                  <a:pt x="3191" y="72"/>
                </a:lnTo>
                <a:lnTo>
                  <a:pt x="3191" y="102"/>
                </a:lnTo>
                <a:lnTo>
                  <a:pt x="3197" y="95"/>
                </a:lnTo>
                <a:lnTo>
                  <a:pt x="3202" y="87"/>
                </a:lnTo>
                <a:lnTo>
                  <a:pt x="3206" y="84"/>
                </a:lnTo>
                <a:lnTo>
                  <a:pt x="3209" y="81"/>
                </a:lnTo>
                <a:lnTo>
                  <a:pt x="3214" y="78"/>
                </a:lnTo>
                <a:lnTo>
                  <a:pt x="3218" y="75"/>
                </a:lnTo>
                <a:lnTo>
                  <a:pt x="3224" y="73"/>
                </a:lnTo>
                <a:lnTo>
                  <a:pt x="3227" y="72"/>
                </a:lnTo>
                <a:lnTo>
                  <a:pt x="3230" y="71"/>
                </a:lnTo>
                <a:lnTo>
                  <a:pt x="3236" y="70"/>
                </a:lnTo>
                <a:lnTo>
                  <a:pt x="3243" y="70"/>
                </a:lnTo>
                <a:lnTo>
                  <a:pt x="3253" y="71"/>
                </a:lnTo>
                <a:lnTo>
                  <a:pt x="3257" y="71"/>
                </a:lnTo>
                <a:lnTo>
                  <a:pt x="3262" y="73"/>
                </a:lnTo>
                <a:lnTo>
                  <a:pt x="3266" y="74"/>
                </a:lnTo>
                <a:lnTo>
                  <a:pt x="3270" y="76"/>
                </a:lnTo>
                <a:lnTo>
                  <a:pt x="3279" y="80"/>
                </a:lnTo>
                <a:lnTo>
                  <a:pt x="3283" y="83"/>
                </a:lnTo>
                <a:lnTo>
                  <a:pt x="3286" y="86"/>
                </a:lnTo>
                <a:lnTo>
                  <a:pt x="3290" y="89"/>
                </a:lnTo>
                <a:lnTo>
                  <a:pt x="3293" y="93"/>
                </a:lnTo>
                <a:lnTo>
                  <a:pt x="3297" y="97"/>
                </a:lnTo>
                <a:lnTo>
                  <a:pt x="3299" y="101"/>
                </a:lnTo>
                <a:lnTo>
                  <a:pt x="3302" y="106"/>
                </a:lnTo>
                <a:lnTo>
                  <a:pt x="3305" y="110"/>
                </a:lnTo>
                <a:lnTo>
                  <a:pt x="3307" y="116"/>
                </a:lnTo>
                <a:lnTo>
                  <a:pt x="3309" y="121"/>
                </a:lnTo>
                <a:lnTo>
                  <a:pt x="3311" y="127"/>
                </a:lnTo>
                <a:lnTo>
                  <a:pt x="3312" y="133"/>
                </a:lnTo>
                <a:lnTo>
                  <a:pt x="3313" y="140"/>
                </a:lnTo>
                <a:lnTo>
                  <a:pt x="3314" y="146"/>
                </a:lnTo>
                <a:lnTo>
                  <a:pt x="3314" y="154"/>
                </a:lnTo>
                <a:lnTo>
                  <a:pt x="3315" y="161"/>
                </a:lnTo>
                <a:lnTo>
                  <a:pt x="3314" y="175"/>
                </a:lnTo>
                <a:lnTo>
                  <a:pt x="3312" y="188"/>
                </a:lnTo>
                <a:lnTo>
                  <a:pt x="3311" y="194"/>
                </a:lnTo>
                <a:lnTo>
                  <a:pt x="3309" y="200"/>
                </a:lnTo>
                <a:lnTo>
                  <a:pt x="3307" y="206"/>
                </a:lnTo>
                <a:lnTo>
                  <a:pt x="3305" y="211"/>
                </a:lnTo>
                <a:lnTo>
                  <a:pt x="3303" y="216"/>
                </a:lnTo>
                <a:lnTo>
                  <a:pt x="3300" y="220"/>
                </a:lnTo>
                <a:lnTo>
                  <a:pt x="3297" y="225"/>
                </a:lnTo>
                <a:lnTo>
                  <a:pt x="3294" y="229"/>
                </a:lnTo>
                <a:lnTo>
                  <a:pt x="3287" y="236"/>
                </a:lnTo>
                <a:lnTo>
                  <a:pt x="3283" y="239"/>
                </a:lnTo>
                <a:lnTo>
                  <a:pt x="3279" y="242"/>
                </a:lnTo>
                <a:lnTo>
                  <a:pt x="3271" y="246"/>
                </a:lnTo>
                <a:lnTo>
                  <a:pt x="3267" y="248"/>
                </a:lnTo>
                <a:lnTo>
                  <a:pt x="3262" y="249"/>
                </a:lnTo>
                <a:lnTo>
                  <a:pt x="3253" y="251"/>
                </a:lnTo>
                <a:lnTo>
                  <a:pt x="3243" y="252"/>
                </a:lnTo>
                <a:lnTo>
                  <a:pt x="3236" y="252"/>
                </a:lnTo>
                <a:lnTo>
                  <a:pt x="3230" y="251"/>
                </a:lnTo>
                <a:lnTo>
                  <a:pt x="3224" y="249"/>
                </a:lnTo>
                <a:lnTo>
                  <a:pt x="3219" y="247"/>
                </a:lnTo>
                <a:lnTo>
                  <a:pt x="3214" y="245"/>
                </a:lnTo>
                <a:lnTo>
                  <a:pt x="3210" y="242"/>
                </a:lnTo>
                <a:lnTo>
                  <a:pt x="3208" y="240"/>
                </a:lnTo>
                <a:lnTo>
                  <a:pt x="3206" y="239"/>
                </a:lnTo>
                <a:lnTo>
                  <a:pt x="3203" y="235"/>
                </a:lnTo>
                <a:lnTo>
                  <a:pt x="3200" y="232"/>
                </a:lnTo>
                <a:lnTo>
                  <a:pt x="3197" y="228"/>
                </a:lnTo>
                <a:lnTo>
                  <a:pt x="3193" y="221"/>
                </a:lnTo>
                <a:lnTo>
                  <a:pt x="3191" y="315"/>
                </a:lnTo>
                <a:lnTo>
                  <a:pt x="3142" y="315"/>
                </a:lnTo>
                <a:close/>
                <a:moveTo>
                  <a:pt x="3190" y="161"/>
                </a:moveTo>
                <a:lnTo>
                  <a:pt x="3191" y="172"/>
                </a:lnTo>
                <a:lnTo>
                  <a:pt x="3193" y="182"/>
                </a:lnTo>
                <a:lnTo>
                  <a:pt x="3194" y="187"/>
                </a:lnTo>
                <a:lnTo>
                  <a:pt x="3196" y="191"/>
                </a:lnTo>
                <a:lnTo>
                  <a:pt x="3198" y="195"/>
                </a:lnTo>
                <a:lnTo>
                  <a:pt x="3200" y="199"/>
                </a:lnTo>
                <a:lnTo>
                  <a:pt x="3205" y="205"/>
                </a:lnTo>
                <a:lnTo>
                  <a:pt x="3208" y="207"/>
                </a:lnTo>
                <a:lnTo>
                  <a:pt x="3212" y="209"/>
                </a:lnTo>
                <a:lnTo>
                  <a:pt x="3215" y="211"/>
                </a:lnTo>
                <a:lnTo>
                  <a:pt x="3219" y="212"/>
                </a:lnTo>
                <a:lnTo>
                  <a:pt x="3223" y="213"/>
                </a:lnTo>
                <a:lnTo>
                  <a:pt x="3227" y="213"/>
                </a:lnTo>
                <a:lnTo>
                  <a:pt x="3232" y="213"/>
                </a:lnTo>
                <a:lnTo>
                  <a:pt x="3236" y="212"/>
                </a:lnTo>
                <a:lnTo>
                  <a:pt x="3240" y="211"/>
                </a:lnTo>
                <a:lnTo>
                  <a:pt x="3243" y="209"/>
                </a:lnTo>
                <a:lnTo>
                  <a:pt x="3247" y="207"/>
                </a:lnTo>
                <a:lnTo>
                  <a:pt x="3250" y="205"/>
                </a:lnTo>
                <a:lnTo>
                  <a:pt x="3253" y="202"/>
                </a:lnTo>
                <a:lnTo>
                  <a:pt x="3255" y="198"/>
                </a:lnTo>
                <a:lnTo>
                  <a:pt x="3259" y="191"/>
                </a:lnTo>
                <a:lnTo>
                  <a:pt x="3261" y="186"/>
                </a:lnTo>
                <a:lnTo>
                  <a:pt x="3262" y="182"/>
                </a:lnTo>
                <a:lnTo>
                  <a:pt x="3263" y="177"/>
                </a:lnTo>
                <a:lnTo>
                  <a:pt x="3264" y="172"/>
                </a:lnTo>
                <a:lnTo>
                  <a:pt x="3264" y="166"/>
                </a:lnTo>
                <a:lnTo>
                  <a:pt x="3265" y="161"/>
                </a:lnTo>
                <a:lnTo>
                  <a:pt x="3264" y="150"/>
                </a:lnTo>
                <a:lnTo>
                  <a:pt x="3262" y="140"/>
                </a:lnTo>
                <a:lnTo>
                  <a:pt x="3261" y="135"/>
                </a:lnTo>
                <a:lnTo>
                  <a:pt x="3259" y="131"/>
                </a:lnTo>
                <a:lnTo>
                  <a:pt x="3257" y="127"/>
                </a:lnTo>
                <a:lnTo>
                  <a:pt x="3255" y="123"/>
                </a:lnTo>
                <a:lnTo>
                  <a:pt x="3253" y="120"/>
                </a:lnTo>
                <a:lnTo>
                  <a:pt x="3250" y="117"/>
                </a:lnTo>
                <a:lnTo>
                  <a:pt x="3247" y="115"/>
                </a:lnTo>
                <a:lnTo>
                  <a:pt x="3243" y="113"/>
                </a:lnTo>
                <a:lnTo>
                  <a:pt x="3240" y="111"/>
                </a:lnTo>
                <a:lnTo>
                  <a:pt x="3236" y="110"/>
                </a:lnTo>
                <a:lnTo>
                  <a:pt x="3232" y="109"/>
                </a:lnTo>
                <a:lnTo>
                  <a:pt x="3227" y="109"/>
                </a:lnTo>
                <a:lnTo>
                  <a:pt x="3219" y="110"/>
                </a:lnTo>
                <a:lnTo>
                  <a:pt x="3215" y="111"/>
                </a:lnTo>
                <a:lnTo>
                  <a:pt x="3212" y="113"/>
                </a:lnTo>
                <a:lnTo>
                  <a:pt x="3208" y="115"/>
                </a:lnTo>
                <a:lnTo>
                  <a:pt x="3205" y="117"/>
                </a:lnTo>
                <a:lnTo>
                  <a:pt x="3202" y="120"/>
                </a:lnTo>
                <a:lnTo>
                  <a:pt x="3200" y="123"/>
                </a:lnTo>
                <a:lnTo>
                  <a:pt x="3196" y="131"/>
                </a:lnTo>
                <a:lnTo>
                  <a:pt x="3194" y="135"/>
                </a:lnTo>
                <a:lnTo>
                  <a:pt x="3193" y="139"/>
                </a:lnTo>
                <a:lnTo>
                  <a:pt x="3192" y="144"/>
                </a:lnTo>
                <a:lnTo>
                  <a:pt x="3191" y="150"/>
                </a:lnTo>
                <a:lnTo>
                  <a:pt x="3190" y="155"/>
                </a:lnTo>
                <a:lnTo>
                  <a:pt x="3190" y="161"/>
                </a:lnTo>
                <a:close/>
                <a:moveTo>
                  <a:pt x="3373" y="50"/>
                </a:moveTo>
                <a:lnTo>
                  <a:pt x="3368" y="49"/>
                </a:lnTo>
                <a:lnTo>
                  <a:pt x="3363" y="48"/>
                </a:lnTo>
                <a:lnTo>
                  <a:pt x="3358" y="45"/>
                </a:lnTo>
                <a:lnTo>
                  <a:pt x="3354" y="42"/>
                </a:lnTo>
                <a:lnTo>
                  <a:pt x="3351" y="38"/>
                </a:lnTo>
                <a:lnTo>
                  <a:pt x="3348" y="34"/>
                </a:lnTo>
                <a:lnTo>
                  <a:pt x="3347" y="30"/>
                </a:lnTo>
                <a:lnTo>
                  <a:pt x="3346" y="25"/>
                </a:lnTo>
                <a:lnTo>
                  <a:pt x="3347" y="20"/>
                </a:lnTo>
                <a:lnTo>
                  <a:pt x="3348" y="15"/>
                </a:lnTo>
                <a:lnTo>
                  <a:pt x="3351" y="11"/>
                </a:lnTo>
                <a:lnTo>
                  <a:pt x="3354" y="7"/>
                </a:lnTo>
                <a:lnTo>
                  <a:pt x="3358" y="4"/>
                </a:lnTo>
                <a:lnTo>
                  <a:pt x="3363" y="2"/>
                </a:lnTo>
                <a:lnTo>
                  <a:pt x="3368" y="0"/>
                </a:lnTo>
                <a:lnTo>
                  <a:pt x="3373" y="0"/>
                </a:lnTo>
                <a:lnTo>
                  <a:pt x="3378" y="0"/>
                </a:lnTo>
                <a:lnTo>
                  <a:pt x="3383" y="2"/>
                </a:lnTo>
                <a:lnTo>
                  <a:pt x="3387" y="4"/>
                </a:lnTo>
                <a:lnTo>
                  <a:pt x="3392" y="7"/>
                </a:lnTo>
                <a:lnTo>
                  <a:pt x="3395" y="11"/>
                </a:lnTo>
                <a:lnTo>
                  <a:pt x="3397" y="15"/>
                </a:lnTo>
                <a:lnTo>
                  <a:pt x="3399" y="20"/>
                </a:lnTo>
                <a:lnTo>
                  <a:pt x="3399" y="25"/>
                </a:lnTo>
                <a:lnTo>
                  <a:pt x="3399" y="30"/>
                </a:lnTo>
                <a:lnTo>
                  <a:pt x="3397" y="34"/>
                </a:lnTo>
                <a:lnTo>
                  <a:pt x="3395" y="38"/>
                </a:lnTo>
                <a:lnTo>
                  <a:pt x="3392" y="42"/>
                </a:lnTo>
                <a:lnTo>
                  <a:pt x="3387" y="45"/>
                </a:lnTo>
                <a:lnTo>
                  <a:pt x="3383" y="48"/>
                </a:lnTo>
                <a:lnTo>
                  <a:pt x="3378" y="49"/>
                </a:lnTo>
                <a:lnTo>
                  <a:pt x="3373" y="50"/>
                </a:lnTo>
                <a:close/>
                <a:moveTo>
                  <a:pt x="3348" y="72"/>
                </a:moveTo>
                <a:lnTo>
                  <a:pt x="3397" y="72"/>
                </a:lnTo>
                <a:lnTo>
                  <a:pt x="3397" y="249"/>
                </a:lnTo>
                <a:lnTo>
                  <a:pt x="3348" y="249"/>
                </a:lnTo>
                <a:lnTo>
                  <a:pt x="3348" y="72"/>
                </a:lnTo>
                <a:close/>
                <a:moveTo>
                  <a:pt x="3585" y="123"/>
                </a:moveTo>
                <a:lnTo>
                  <a:pt x="3540" y="126"/>
                </a:lnTo>
                <a:lnTo>
                  <a:pt x="3539" y="121"/>
                </a:lnTo>
                <a:lnTo>
                  <a:pt x="3537" y="118"/>
                </a:lnTo>
                <a:lnTo>
                  <a:pt x="3534" y="114"/>
                </a:lnTo>
                <a:lnTo>
                  <a:pt x="3531" y="111"/>
                </a:lnTo>
                <a:lnTo>
                  <a:pt x="3527" y="108"/>
                </a:lnTo>
                <a:lnTo>
                  <a:pt x="3522" y="106"/>
                </a:lnTo>
                <a:lnTo>
                  <a:pt x="3516" y="105"/>
                </a:lnTo>
                <a:lnTo>
                  <a:pt x="3510" y="105"/>
                </a:lnTo>
                <a:lnTo>
                  <a:pt x="3505" y="105"/>
                </a:lnTo>
                <a:lnTo>
                  <a:pt x="3500" y="106"/>
                </a:lnTo>
                <a:lnTo>
                  <a:pt x="3495" y="108"/>
                </a:lnTo>
                <a:lnTo>
                  <a:pt x="3491" y="110"/>
                </a:lnTo>
                <a:lnTo>
                  <a:pt x="3488" y="112"/>
                </a:lnTo>
                <a:lnTo>
                  <a:pt x="3485" y="115"/>
                </a:lnTo>
                <a:lnTo>
                  <a:pt x="3484" y="119"/>
                </a:lnTo>
                <a:lnTo>
                  <a:pt x="3483" y="122"/>
                </a:lnTo>
                <a:lnTo>
                  <a:pt x="3484" y="125"/>
                </a:lnTo>
                <a:lnTo>
                  <a:pt x="3485" y="128"/>
                </a:lnTo>
                <a:lnTo>
                  <a:pt x="3486" y="131"/>
                </a:lnTo>
                <a:lnTo>
                  <a:pt x="3488" y="133"/>
                </a:lnTo>
                <a:lnTo>
                  <a:pt x="3491" y="135"/>
                </a:lnTo>
                <a:lnTo>
                  <a:pt x="3495" y="137"/>
                </a:lnTo>
                <a:lnTo>
                  <a:pt x="3500" y="139"/>
                </a:lnTo>
                <a:lnTo>
                  <a:pt x="3506" y="140"/>
                </a:lnTo>
                <a:lnTo>
                  <a:pt x="3538" y="146"/>
                </a:lnTo>
                <a:lnTo>
                  <a:pt x="3544" y="148"/>
                </a:lnTo>
                <a:lnTo>
                  <a:pt x="3550" y="150"/>
                </a:lnTo>
                <a:lnTo>
                  <a:pt x="3555" y="151"/>
                </a:lnTo>
                <a:lnTo>
                  <a:pt x="3560" y="153"/>
                </a:lnTo>
                <a:lnTo>
                  <a:pt x="3569" y="158"/>
                </a:lnTo>
                <a:lnTo>
                  <a:pt x="3576" y="164"/>
                </a:lnTo>
                <a:lnTo>
                  <a:pt x="3579" y="167"/>
                </a:lnTo>
                <a:lnTo>
                  <a:pt x="3582" y="170"/>
                </a:lnTo>
                <a:lnTo>
                  <a:pt x="3584" y="174"/>
                </a:lnTo>
                <a:lnTo>
                  <a:pt x="3586" y="177"/>
                </a:lnTo>
                <a:lnTo>
                  <a:pt x="3588" y="185"/>
                </a:lnTo>
                <a:lnTo>
                  <a:pt x="3589" y="190"/>
                </a:lnTo>
                <a:lnTo>
                  <a:pt x="3589" y="194"/>
                </a:lnTo>
                <a:lnTo>
                  <a:pt x="3589" y="199"/>
                </a:lnTo>
                <a:lnTo>
                  <a:pt x="3588" y="203"/>
                </a:lnTo>
                <a:lnTo>
                  <a:pt x="3587" y="207"/>
                </a:lnTo>
                <a:lnTo>
                  <a:pt x="3586" y="211"/>
                </a:lnTo>
                <a:lnTo>
                  <a:pt x="3585" y="214"/>
                </a:lnTo>
                <a:lnTo>
                  <a:pt x="3583" y="218"/>
                </a:lnTo>
                <a:lnTo>
                  <a:pt x="3581" y="221"/>
                </a:lnTo>
                <a:lnTo>
                  <a:pt x="3579" y="225"/>
                </a:lnTo>
                <a:lnTo>
                  <a:pt x="3573" y="231"/>
                </a:lnTo>
                <a:lnTo>
                  <a:pt x="3567" y="236"/>
                </a:lnTo>
                <a:lnTo>
                  <a:pt x="3559" y="241"/>
                </a:lnTo>
                <a:lnTo>
                  <a:pt x="3551" y="245"/>
                </a:lnTo>
                <a:lnTo>
                  <a:pt x="3542" y="248"/>
                </a:lnTo>
                <a:lnTo>
                  <a:pt x="3532" y="251"/>
                </a:lnTo>
                <a:lnTo>
                  <a:pt x="3521" y="252"/>
                </a:lnTo>
                <a:lnTo>
                  <a:pt x="3510" y="253"/>
                </a:lnTo>
                <a:lnTo>
                  <a:pt x="3502" y="252"/>
                </a:lnTo>
                <a:lnTo>
                  <a:pt x="3494" y="252"/>
                </a:lnTo>
                <a:lnTo>
                  <a:pt x="3486" y="250"/>
                </a:lnTo>
                <a:lnTo>
                  <a:pt x="3479" y="249"/>
                </a:lnTo>
                <a:lnTo>
                  <a:pt x="3472" y="247"/>
                </a:lnTo>
                <a:lnTo>
                  <a:pt x="3466" y="244"/>
                </a:lnTo>
                <a:lnTo>
                  <a:pt x="3460" y="241"/>
                </a:lnTo>
                <a:lnTo>
                  <a:pt x="3454" y="238"/>
                </a:lnTo>
                <a:lnTo>
                  <a:pt x="3449" y="234"/>
                </a:lnTo>
                <a:lnTo>
                  <a:pt x="3445" y="230"/>
                </a:lnTo>
                <a:lnTo>
                  <a:pt x="3441" y="225"/>
                </a:lnTo>
                <a:lnTo>
                  <a:pt x="3437" y="221"/>
                </a:lnTo>
                <a:lnTo>
                  <a:pt x="3434" y="215"/>
                </a:lnTo>
                <a:lnTo>
                  <a:pt x="3432" y="210"/>
                </a:lnTo>
                <a:lnTo>
                  <a:pt x="3430" y="204"/>
                </a:lnTo>
                <a:lnTo>
                  <a:pt x="3429" y="198"/>
                </a:lnTo>
                <a:lnTo>
                  <a:pt x="3478" y="195"/>
                </a:lnTo>
                <a:lnTo>
                  <a:pt x="3480" y="200"/>
                </a:lnTo>
                <a:lnTo>
                  <a:pt x="3482" y="205"/>
                </a:lnTo>
                <a:lnTo>
                  <a:pt x="3485" y="209"/>
                </a:lnTo>
                <a:lnTo>
                  <a:pt x="3489" y="212"/>
                </a:lnTo>
                <a:lnTo>
                  <a:pt x="3493" y="214"/>
                </a:lnTo>
                <a:lnTo>
                  <a:pt x="3498" y="216"/>
                </a:lnTo>
                <a:lnTo>
                  <a:pt x="3504" y="217"/>
                </a:lnTo>
                <a:lnTo>
                  <a:pt x="3510" y="217"/>
                </a:lnTo>
                <a:lnTo>
                  <a:pt x="3516" y="217"/>
                </a:lnTo>
                <a:lnTo>
                  <a:pt x="3522" y="216"/>
                </a:lnTo>
                <a:lnTo>
                  <a:pt x="3527" y="214"/>
                </a:lnTo>
                <a:lnTo>
                  <a:pt x="3529" y="213"/>
                </a:lnTo>
                <a:lnTo>
                  <a:pt x="3531" y="212"/>
                </a:lnTo>
                <a:lnTo>
                  <a:pt x="3535" y="209"/>
                </a:lnTo>
                <a:lnTo>
                  <a:pt x="3537" y="206"/>
                </a:lnTo>
                <a:lnTo>
                  <a:pt x="3538" y="205"/>
                </a:lnTo>
                <a:lnTo>
                  <a:pt x="3539" y="203"/>
                </a:lnTo>
                <a:lnTo>
                  <a:pt x="3539" y="199"/>
                </a:lnTo>
                <a:lnTo>
                  <a:pt x="3539" y="196"/>
                </a:lnTo>
                <a:lnTo>
                  <a:pt x="3538" y="193"/>
                </a:lnTo>
                <a:lnTo>
                  <a:pt x="3536" y="191"/>
                </a:lnTo>
                <a:lnTo>
                  <a:pt x="3533" y="188"/>
                </a:lnTo>
                <a:lnTo>
                  <a:pt x="3530" y="186"/>
                </a:lnTo>
                <a:lnTo>
                  <a:pt x="3526" y="184"/>
                </a:lnTo>
                <a:lnTo>
                  <a:pt x="3522" y="183"/>
                </a:lnTo>
                <a:lnTo>
                  <a:pt x="3516" y="182"/>
                </a:lnTo>
                <a:lnTo>
                  <a:pt x="3486" y="176"/>
                </a:lnTo>
                <a:lnTo>
                  <a:pt x="3480" y="174"/>
                </a:lnTo>
                <a:lnTo>
                  <a:pt x="3474" y="173"/>
                </a:lnTo>
                <a:lnTo>
                  <a:pt x="3463" y="169"/>
                </a:lnTo>
                <a:lnTo>
                  <a:pt x="3459" y="166"/>
                </a:lnTo>
                <a:lnTo>
                  <a:pt x="3455" y="164"/>
                </a:lnTo>
                <a:lnTo>
                  <a:pt x="3451" y="161"/>
                </a:lnTo>
                <a:lnTo>
                  <a:pt x="3447" y="158"/>
                </a:lnTo>
                <a:lnTo>
                  <a:pt x="3444" y="155"/>
                </a:lnTo>
                <a:lnTo>
                  <a:pt x="3442" y="151"/>
                </a:lnTo>
                <a:lnTo>
                  <a:pt x="3440" y="147"/>
                </a:lnTo>
                <a:lnTo>
                  <a:pt x="3437" y="143"/>
                </a:lnTo>
                <a:lnTo>
                  <a:pt x="3435" y="139"/>
                </a:lnTo>
                <a:lnTo>
                  <a:pt x="3434" y="135"/>
                </a:lnTo>
                <a:lnTo>
                  <a:pt x="3434" y="130"/>
                </a:lnTo>
                <a:lnTo>
                  <a:pt x="3434" y="125"/>
                </a:lnTo>
                <a:lnTo>
                  <a:pt x="3434" y="119"/>
                </a:lnTo>
                <a:lnTo>
                  <a:pt x="3435" y="113"/>
                </a:lnTo>
                <a:lnTo>
                  <a:pt x="3437" y="107"/>
                </a:lnTo>
                <a:lnTo>
                  <a:pt x="3440" y="102"/>
                </a:lnTo>
                <a:lnTo>
                  <a:pt x="3443" y="97"/>
                </a:lnTo>
                <a:lnTo>
                  <a:pt x="3446" y="93"/>
                </a:lnTo>
                <a:lnTo>
                  <a:pt x="3450" y="89"/>
                </a:lnTo>
                <a:lnTo>
                  <a:pt x="3455" y="85"/>
                </a:lnTo>
                <a:lnTo>
                  <a:pt x="3460" y="81"/>
                </a:lnTo>
                <a:lnTo>
                  <a:pt x="3466" y="78"/>
                </a:lnTo>
                <a:lnTo>
                  <a:pt x="3472" y="76"/>
                </a:lnTo>
                <a:lnTo>
                  <a:pt x="3479" y="74"/>
                </a:lnTo>
                <a:lnTo>
                  <a:pt x="3482" y="73"/>
                </a:lnTo>
                <a:lnTo>
                  <a:pt x="3486" y="72"/>
                </a:lnTo>
                <a:lnTo>
                  <a:pt x="3493" y="71"/>
                </a:lnTo>
                <a:lnTo>
                  <a:pt x="3501" y="70"/>
                </a:lnTo>
                <a:lnTo>
                  <a:pt x="3510" y="70"/>
                </a:lnTo>
                <a:lnTo>
                  <a:pt x="3518" y="70"/>
                </a:lnTo>
                <a:lnTo>
                  <a:pt x="3525" y="71"/>
                </a:lnTo>
                <a:lnTo>
                  <a:pt x="3533" y="72"/>
                </a:lnTo>
                <a:lnTo>
                  <a:pt x="3540" y="74"/>
                </a:lnTo>
                <a:lnTo>
                  <a:pt x="3546" y="76"/>
                </a:lnTo>
                <a:lnTo>
                  <a:pt x="3552" y="78"/>
                </a:lnTo>
                <a:lnTo>
                  <a:pt x="3557" y="81"/>
                </a:lnTo>
                <a:lnTo>
                  <a:pt x="3562" y="84"/>
                </a:lnTo>
                <a:lnTo>
                  <a:pt x="3567" y="88"/>
                </a:lnTo>
                <a:lnTo>
                  <a:pt x="3571" y="92"/>
                </a:lnTo>
                <a:lnTo>
                  <a:pt x="3575" y="96"/>
                </a:lnTo>
                <a:lnTo>
                  <a:pt x="3578" y="101"/>
                </a:lnTo>
                <a:lnTo>
                  <a:pt x="3580" y="106"/>
                </a:lnTo>
                <a:lnTo>
                  <a:pt x="3582" y="111"/>
                </a:lnTo>
                <a:lnTo>
                  <a:pt x="3584" y="117"/>
                </a:lnTo>
                <a:lnTo>
                  <a:pt x="3585" y="123"/>
                </a:lnTo>
                <a:close/>
                <a:moveTo>
                  <a:pt x="3714" y="72"/>
                </a:moveTo>
                <a:lnTo>
                  <a:pt x="3714" y="109"/>
                </a:lnTo>
                <a:lnTo>
                  <a:pt x="3680" y="109"/>
                </a:lnTo>
                <a:lnTo>
                  <a:pt x="3680" y="195"/>
                </a:lnTo>
                <a:lnTo>
                  <a:pt x="3681" y="199"/>
                </a:lnTo>
                <a:lnTo>
                  <a:pt x="3682" y="203"/>
                </a:lnTo>
                <a:lnTo>
                  <a:pt x="3682" y="205"/>
                </a:lnTo>
                <a:lnTo>
                  <a:pt x="3683" y="206"/>
                </a:lnTo>
                <a:lnTo>
                  <a:pt x="3685" y="208"/>
                </a:lnTo>
                <a:lnTo>
                  <a:pt x="3687" y="210"/>
                </a:lnTo>
                <a:lnTo>
                  <a:pt x="3690" y="211"/>
                </a:lnTo>
                <a:lnTo>
                  <a:pt x="3693" y="212"/>
                </a:lnTo>
                <a:lnTo>
                  <a:pt x="3697" y="212"/>
                </a:lnTo>
                <a:lnTo>
                  <a:pt x="3704" y="211"/>
                </a:lnTo>
                <a:lnTo>
                  <a:pt x="3709" y="210"/>
                </a:lnTo>
                <a:lnTo>
                  <a:pt x="3717" y="247"/>
                </a:lnTo>
                <a:lnTo>
                  <a:pt x="3707" y="250"/>
                </a:lnTo>
                <a:lnTo>
                  <a:pt x="3699" y="251"/>
                </a:lnTo>
                <a:lnTo>
                  <a:pt x="3690" y="252"/>
                </a:lnTo>
                <a:lnTo>
                  <a:pt x="3684" y="252"/>
                </a:lnTo>
                <a:lnTo>
                  <a:pt x="3678" y="251"/>
                </a:lnTo>
                <a:lnTo>
                  <a:pt x="3672" y="250"/>
                </a:lnTo>
                <a:lnTo>
                  <a:pt x="3666" y="249"/>
                </a:lnTo>
                <a:lnTo>
                  <a:pt x="3661" y="248"/>
                </a:lnTo>
                <a:lnTo>
                  <a:pt x="3656" y="245"/>
                </a:lnTo>
                <a:lnTo>
                  <a:pt x="3652" y="243"/>
                </a:lnTo>
                <a:lnTo>
                  <a:pt x="3647" y="240"/>
                </a:lnTo>
                <a:lnTo>
                  <a:pt x="3644" y="237"/>
                </a:lnTo>
                <a:lnTo>
                  <a:pt x="3640" y="233"/>
                </a:lnTo>
                <a:lnTo>
                  <a:pt x="3638" y="229"/>
                </a:lnTo>
                <a:lnTo>
                  <a:pt x="3635" y="224"/>
                </a:lnTo>
                <a:lnTo>
                  <a:pt x="3634" y="219"/>
                </a:lnTo>
                <a:lnTo>
                  <a:pt x="3632" y="213"/>
                </a:lnTo>
                <a:lnTo>
                  <a:pt x="3632" y="208"/>
                </a:lnTo>
                <a:lnTo>
                  <a:pt x="3631" y="201"/>
                </a:lnTo>
                <a:lnTo>
                  <a:pt x="3631" y="109"/>
                </a:lnTo>
                <a:lnTo>
                  <a:pt x="3607" y="109"/>
                </a:lnTo>
                <a:lnTo>
                  <a:pt x="3607" y="72"/>
                </a:lnTo>
                <a:lnTo>
                  <a:pt x="3631" y="72"/>
                </a:lnTo>
                <a:lnTo>
                  <a:pt x="3631" y="30"/>
                </a:lnTo>
                <a:lnTo>
                  <a:pt x="3680" y="30"/>
                </a:lnTo>
                <a:lnTo>
                  <a:pt x="3680" y="72"/>
                </a:lnTo>
                <a:lnTo>
                  <a:pt x="3714" y="72"/>
                </a:lnTo>
                <a:close/>
                <a:moveTo>
                  <a:pt x="3821" y="253"/>
                </a:moveTo>
                <a:lnTo>
                  <a:pt x="3808" y="252"/>
                </a:lnTo>
                <a:lnTo>
                  <a:pt x="3801" y="251"/>
                </a:lnTo>
                <a:lnTo>
                  <a:pt x="3796" y="250"/>
                </a:lnTo>
                <a:lnTo>
                  <a:pt x="3784" y="246"/>
                </a:lnTo>
                <a:lnTo>
                  <a:pt x="3779" y="244"/>
                </a:lnTo>
                <a:lnTo>
                  <a:pt x="3774" y="241"/>
                </a:lnTo>
                <a:lnTo>
                  <a:pt x="3765" y="235"/>
                </a:lnTo>
                <a:lnTo>
                  <a:pt x="3761" y="231"/>
                </a:lnTo>
                <a:lnTo>
                  <a:pt x="3757" y="227"/>
                </a:lnTo>
                <a:lnTo>
                  <a:pt x="3750" y="219"/>
                </a:lnTo>
                <a:lnTo>
                  <a:pt x="3747" y="214"/>
                </a:lnTo>
                <a:lnTo>
                  <a:pt x="3744" y="209"/>
                </a:lnTo>
                <a:lnTo>
                  <a:pt x="3740" y="198"/>
                </a:lnTo>
                <a:lnTo>
                  <a:pt x="3738" y="193"/>
                </a:lnTo>
                <a:lnTo>
                  <a:pt x="3736" y="187"/>
                </a:lnTo>
                <a:lnTo>
                  <a:pt x="3735" y="181"/>
                </a:lnTo>
                <a:lnTo>
                  <a:pt x="3734" y="175"/>
                </a:lnTo>
                <a:lnTo>
                  <a:pt x="3734" y="168"/>
                </a:lnTo>
                <a:lnTo>
                  <a:pt x="3734" y="161"/>
                </a:lnTo>
                <a:lnTo>
                  <a:pt x="3734" y="155"/>
                </a:lnTo>
                <a:lnTo>
                  <a:pt x="3734" y="148"/>
                </a:lnTo>
                <a:lnTo>
                  <a:pt x="3735" y="142"/>
                </a:lnTo>
                <a:lnTo>
                  <a:pt x="3736" y="136"/>
                </a:lnTo>
                <a:lnTo>
                  <a:pt x="3740" y="124"/>
                </a:lnTo>
                <a:lnTo>
                  <a:pt x="3742" y="119"/>
                </a:lnTo>
                <a:lnTo>
                  <a:pt x="3744" y="114"/>
                </a:lnTo>
                <a:lnTo>
                  <a:pt x="3750" y="104"/>
                </a:lnTo>
                <a:lnTo>
                  <a:pt x="3753" y="99"/>
                </a:lnTo>
                <a:lnTo>
                  <a:pt x="3757" y="95"/>
                </a:lnTo>
                <a:lnTo>
                  <a:pt x="3761" y="91"/>
                </a:lnTo>
                <a:lnTo>
                  <a:pt x="3765" y="88"/>
                </a:lnTo>
                <a:lnTo>
                  <a:pt x="3770" y="85"/>
                </a:lnTo>
                <a:lnTo>
                  <a:pt x="3774" y="82"/>
                </a:lnTo>
                <a:lnTo>
                  <a:pt x="3779" y="79"/>
                </a:lnTo>
                <a:lnTo>
                  <a:pt x="3784" y="77"/>
                </a:lnTo>
                <a:lnTo>
                  <a:pt x="3790" y="75"/>
                </a:lnTo>
                <a:lnTo>
                  <a:pt x="3796" y="73"/>
                </a:lnTo>
                <a:lnTo>
                  <a:pt x="3801" y="72"/>
                </a:lnTo>
                <a:lnTo>
                  <a:pt x="3808" y="71"/>
                </a:lnTo>
                <a:lnTo>
                  <a:pt x="3821" y="70"/>
                </a:lnTo>
                <a:lnTo>
                  <a:pt x="3834" y="71"/>
                </a:lnTo>
                <a:lnTo>
                  <a:pt x="3840" y="72"/>
                </a:lnTo>
                <a:lnTo>
                  <a:pt x="3846" y="73"/>
                </a:lnTo>
                <a:lnTo>
                  <a:pt x="3857" y="77"/>
                </a:lnTo>
                <a:lnTo>
                  <a:pt x="3862" y="79"/>
                </a:lnTo>
                <a:lnTo>
                  <a:pt x="3867" y="82"/>
                </a:lnTo>
                <a:lnTo>
                  <a:pt x="3876" y="88"/>
                </a:lnTo>
                <a:lnTo>
                  <a:pt x="3880" y="91"/>
                </a:lnTo>
                <a:lnTo>
                  <a:pt x="3884" y="95"/>
                </a:lnTo>
                <a:lnTo>
                  <a:pt x="3891" y="104"/>
                </a:lnTo>
                <a:lnTo>
                  <a:pt x="3894" y="109"/>
                </a:lnTo>
                <a:lnTo>
                  <a:pt x="3897" y="114"/>
                </a:lnTo>
                <a:lnTo>
                  <a:pt x="3903" y="124"/>
                </a:lnTo>
                <a:lnTo>
                  <a:pt x="3904" y="130"/>
                </a:lnTo>
                <a:lnTo>
                  <a:pt x="3906" y="136"/>
                </a:lnTo>
                <a:lnTo>
                  <a:pt x="3907" y="142"/>
                </a:lnTo>
                <a:lnTo>
                  <a:pt x="3908" y="148"/>
                </a:lnTo>
                <a:lnTo>
                  <a:pt x="3908" y="155"/>
                </a:lnTo>
                <a:lnTo>
                  <a:pt x="3909" y="161"/>
                </a:lnTo>
                <a:lnTo>
                  <a:pt x="3908" y="168"/>
                </a:lnTo>
                <a:lnTo>
                  <a:pt x="3908" y="175"/>
                </a:lnTo>
                <a:lnTo>
                  <a:pt x="3907" y="181"/>
                </a:lnTo>
                <a:lnTo>
                  <a:pt x="3906" y="187"/>
                </a:lnTo>
                <a:lnTo>
                  <a:pt x="3903" y="198"/>
                </a:lnTo>
                <a:lnTo>
                  <a:pt x="3900" y="204"/>
                </a:lnTo>
                <a:lnTo>
                  <a:pt x="3897" y="209"/>
                </a:lnTo>
                <a:lnTo>
                  <a:pt x="3891" y="219"/>
                </a:lnTo>
                <a:lnTo>
                  <a:pt x="3888" y="223"/>
                </a:lnTo>
                <a:lnTo>
                  <a:pt x="3884" y="227"/>
                </a:lnTo>
                <a:lnTo>
                  <a:pt x="3880" y="231"/>
                </a:lnTo>
                <a:lnTo>
                  <a:pt x="3876" y="235"/>
                </a:lnTo>
                <a:lnTo>
                  <a:pt x="3872" y="238"/>
                </a:lnTo>
                <a:lnTo>
                  <a:pt x="3867" y="241"/>
                </a:lnTo>
                <a:lnTo>
                  <a:pt x="3862" y="244"/>
                </a:lnTo>
                <a:lnTo>
                  <a:pt x="3857" y="246"/>
                </a:lnTo>
                <a:lnTo>
                  <a:pt x="3851" y="248"/>
                </a:lnTo>
                <a:lnTo>
                  <a:pt x="3846" y="250"/>
                </a:lnTo>
                <a:lnTo>
                  <a:pt x="3840" y="251"/>
                </a:lnTo>
                <a:lnTo>
                  <a:pt x="3834" y="252"/>
                </a:lnTo>
                <a:lnTo>
                  <a:pt x="3821" y="253"/>
                </a:lnTo>
                <a:close/>
                <a:moveTo>
                  <a:pt x="3821" y="215"/>
                </a:moveTo>
                <a:lnTo>
                  <a:pt x="3825" y="214"/>
                </a:lnTo>
                <a:lnTo>
                  <a:pt x="3829" y="214"/>
                </a:lnTo>
                <a:lnTo>
                  <a:pt x="3833" y="212"/>
                </a:lnTo>
                <a:lnTo>
                  <a:pt x="3837" y="211"/>
                </a:lnTo>
                <a:lnTo>
                  <a:pt x="3840" y="209"/>
                </a:lnTo>
                <a:lnTo>
                  <a:pt x="3843" y="206"/>
                </a:lnTo>
                <a:lnTo>
                  <a:pt x="3846" y="203"/>
                </a:lnTo>
                <a:lnTo>
                  <a:pt x="3848" y="199"/>
                </a:lnTo>
                <a:lnTo>
                  <a:pt x="3851" y="195"/>
                </a:lnTo>
                <a:lnTo>
                  <a:pt x="3852" y="191"/>
                </a:lnTo>
                <a:lnTo>
                  <a:pt x="3854" y="187"/>
                </a:lnTo>
                <a:lnTo>
                  <a:pt x="3855" y="182"/>
                </a:lnTo>
                <a:lnTo>
                  <a:pt x="3857" y="172"/>
                </a:lnTo>
                <a:lnTo>
                  <a:pt x="3858" y="167"/>
                </a:lnTo>
                <a:lnTo>
                  <a:pt x="3858" y="161"/>
                </a:lnTo>
                <a:lnTo>
                  <a:pt x="3857" y="150"/>
                </a:lnTo>
                <a:lnTo>
                  <a:pt x="3855" y="140"/>
                </a:lnTo>
                <a:lnTo>
                  <a:pt x="3854" y="135"/>
                </a:lnTo>
                <a:lnTo>
                  <a:pt x="3852" y="131"/>
                </a:lnTo>
                <a:lnTo>
                  <a:pt x="3848" y="123"/>
                </a:lnTo>
                <a:lnTo>
                  <a:pt x="3846" y="119"/>
                </a:lnTo>
                <a:lnTo>
                  <a:pt x="3843" y="116"/>
                </a:lnTo>
                <a:lnTo>
                  <a:pt x="3840" y="113"/>
                </a:lnTo>
                <a:lnTo>
                  <a:pt x="3837" y="111"/>
                </a:lnTo>
                <a:lnTo>
                  <a:pt x="3833" y="110"/>
                </a:lnTo>
                <a:lnTo>
                  <a:pt x="3829" y="108"/>
                </a:lnTo>
                <a:lnTo>
                  <a:pt x="3825" y="108"/>
                </a:lnTo>
                <a:lnTo>
                  <a:pt x="3821" y="107"/>
                </a:lnTo>
                <a:lnTo>
                  <a:pt x="3816" y="108"/>
                </a:lnTo>
                <a:lnTo>
                  <a:pt x="3812" y="108"/>
                </a:lnTo>
                <a:lnTo>
                  <a:pt x="3808" y="110"/>
                </a:lnTo>
                <a:lnTo>
                  <a:pt x="3805" y="111"/>
                </a:lnTo>
                <a:lnTo>
                  <a:pt x="3801" y="113"/>
                </a:lnTo>
                <a:lnTo>
                  <a:pt x="3798" y="116"/>
                </a:lnTo>
                <a:lnTo>
                  <a:pt x="3795" y="119"/>
                </a:lnTo>
                <a:lnTo>
                  <a:pt x="3793" y="123"/>
                </a:lnTo>
                <a:lnTo>
                  <a:pt x="3789" y="131"/>
                </a:lnTo>
                <a:lnTo>
                  <a:pt x="3787" y="135"/>
                </a:lnTo>
                <a:lnTo>
                  <a:pt x="3786" y="140"/>
                </a:lnTo>
                <a:lnTo>
                  <a:pt x="3785" y="145"/>
                </a:lnTo>
                <a:lnTo>
                  <a:pt x="3784" y="150"/>
                </a:lnTo>
                <a:lnTo>
                  <a:pt x="3784" y="155"/>
                </a:lnTo>
                <a:lnTo>
                  <a:pt x="3783" y="161"/>
                </a:lnTo>
                <a:lnTo>
                  <a:pt x="3784" y="172"/>
                </a:lnTo>
                <a:lnTo>
                  <a:pt x="3786" y="182"/>
                </a:lnTo>
                <a:lnTo>
                  <a:pt x="3787" y="187"/>
                </a:lnTo>
                <a:lnTo>
                  <a:pt x="3789" y="191"/>
                </a:lnTo>
                <a:lnTo>
                  <a:pt x="3791" y="195"/>
                </a:lnTo>
                <a:lnTo>
                  <a:pt x="3793" y="199"/>
                </a:lnTo>
                <a:lnTo>
                  <a:pt x="3795" y="203"/>
                </a:lnTo>
                <a:lnTo>
                  <a:pt x="3798" y="206"/>
                </a:lnTo>
                <a:lnTo>
                  <a:pt x="3801" y="209"/>
                </a:lnTo>
                <a:lnTo>
                  <a:pt x="3805" y="211"/>
                </a:lnTo>
                <a:lnTo>
                  <a:pt x="3808" y="212"/>
                </a:lnTo>
                <a:lnTo>
                  <a:pt x="3812" y="214"/>
                </a:lnTo>
                <a:lnTo>
                  <a:pt x="3816" y="214"/>
                </a:lnTo>
                <a:lnTo>
                  <a:pt x="3821" y="215"/>
                </a:lnTo>
                <a:close/>
                <a:moveTo>
                  <a:pt x="1623" y="930"/>
                </a:moveTo>
                <a:lnTo>
                  <a:pt x="1569" y="930"/>
                </a:lnTo>
                <a:lnTo>
                  <a:pt x="1651" y="694"/>
                </a:lnTo>
                <a:lnTo>
                  <a:pt x="1715" y="694"/>
                </a:lnTo>
                <a:lnTo>
                  <a:pt x="1797" y="930"/>
                </a:lnTo>
                <a:lnTo>
                  <a:pt x="1743" y="930"/>
                </a:lnTo>
                <a:lnTo>
                  <a:pt x="1726" y="876"/>
                </a:lnTo>
                <a:lnTo>
                  <a:pt x="1641" y="876"/>
                </a:lnTo>
                <a:lnTo>
                  <a:pt x="1623" y="930"/>
                </a:lnTo>
                <a:close/>
                <a:moveTo>
                  <a:pt x="1653" y="837"/>
                </a:moveTo>
                <a:lnTo>
                  <a:pt x="1713" y="837"/>
                </a:lnTo>
                <a:lnTo>
                  <a:pt x="1684" y="748"/>
                </a:lnTo>
                <a:lnTo>
                  <a:pt x="1653" y="837"/>
                </a:lnTo>
                <a:close/>
                <a:moveTo>
                  <a:pt x="1874" y="933"/>
                </a:moveTo>
                <a:lnTo>
                  <a:pt x="1867" y="933"/>
                </a:lnTo>
                <a:lnTo>
                  <a:pt x="1861" y="932"/>
                </a:lnTo>
                <a:lnTo>
                  <a:pt x="1856" y="931"/>
                </a:lnTo>
                <a:lnTo>
                  <a:pt x="1850" y="930"/>
                </a:lnTo>
                <a:lnTo>
                  <a:pt x="1845" y="928"/>
                </a:lnTo>
                <a:lnTo>
                  <a:pt x="1840" y="926"/>
                </a:lnTo>
                <a:lnTo>
                  <a:pt x="1836" y="923"/>
                </a:lnTo>
                <a:lnTo>
                  <a:pt x="1832" y="920"/>
                </a:lnTo>
                <a:lnTo>
                  <a:pt x="1828" y="916"/>
                </a:lnTo>
                <a:lnTo>
                  <a:pt x="1824" y="913"/>
                </a:lnTo>
                <a:lnTo>
                  <a:pt x="1821" y="908"/>
                </a:lnTo>
                <a:lnTo>
                  <a:pt x="1820" y="906"/>
                </a:lnTo>
                <a:lnTo>
                  <a:pt x="1819" y="903"/>
                </a:lnTo>
                <a:lnTo>
                  <a:pt x="1817" y="898"/>
                </a:lnTo>
                <a:lnTo>
                  <a:pt x="1816" y="893"/>
                </a:lnTo>
                <a:lnTo>
                  <a:pt x="1815" y="887"/>
                </a:lnTo>
                <a:lnTo>
                  <a:pt x="1815" y="880"/>
                </a:lnTo>
                <a:lnTo>
                  <a:pt x="1815" y="871"/>
                </a:lnTo>
                <a:lnTo>
                  <a:pt x="1817" y="863"/>
                </a:lnTo>
                <a:lnTo>
                  <a:pt x="1818" y="859"/>
                </a:lnTo>
                <a:lnTo>
                  <a:pt x="1820" y="856"/>
                </a:lnTo>
                <a:lnTo>
                  <a:pt x="1824" y="849"/>
                </a:lnTo>
                <a:lnTo>
                  <a:pt x="1827" y="847"/>
                </a:lnTo>
                <a:lnTo>
                  <a:pt x="1829" y="844"/>
                </a:lnTo>
                <a:lnTo>
                  <a:pt x="1832" y="842"/>
                </a:lnTo>
                <a:lnTo>
                  <a:pt x="1835" y="840"/>
                </a:lnTo>
                <a:lnTo>
                  <a:pt x="1838" y="838"/>
                </a:lnTo>
                <a:lnTo>
                  <a:pt x="1841" y="836"/>
                </a:lnTo>
                <a:lnTo>
                  <a:pt x="1845" y="834"/>
                </a:lnTo>
                <a:lnTo>
                  <a:pt x="1849" y="833"/>
                </a:lnTo>
                <a:lnTo>
                  <a:pt x="1856" y="831"/>
                </a:lnTo>
                <a:lnTo>
                  <a:pt x="1864" y="829"/>
                </a:lnTo>
                <a:lnTo>
                  <a:pt x="1873" y="827"/>
                </a:lnTo>
                <a:lnTo>
                  <a:pt x="1881" y="826"/>
                </a:lnTo>
                <a:lnTo>
                  <a:pt x="1901" y="824"/>
                </a:lnTo>
                <a:lnTo>
                  <a:pt x="1908" y="822"/>
                </a:lnTo>
                <a:lnTo>
                  <a:pt x="1914" y="821"/>
                </a:lnTo>
                <a:lnTo>
                  <a:pt x="1918" y="820"/>
                </a:lnTo>
                <a:lnTo>
                  <a:pt x="1920" y="818"/>
                </a:lnTo>
                <a:lnTo>
                  <a:pt x="1922" y="817"/>
                </a:lnTo>
                <a:lnTo>
                  <a:pt x="1923" y="816"/>
                </a:lnTo>
                <a:lnTo>
                  <a:pt x="1923" y="814"/>
                </a:lnTo>
                <a:lnTo>
                  <a:pt x="1924" y="812"/>
                </a:lnTo>
                <a:lnTo>
                  <a:pt x="1924" y="810"/>
                </a:lnTo>
                <a:lnTo>
                  <a:pt x="1924" y="805"/>
                </a:lnTo>
                <a:lnTo>
                  <a:pt x="1922" y="800"/>
                </a:lnTo>
                <a:lnTo>
                  <a:pt x="1921" y="798"/>
                </a:lnTo>
                <a:lnTo>
                  <a:pt x="1920" y="796"/>
                </a:lnTo>
                <a:lnTo>
                  <a:pt x="1919" y="794"/>
                </a:lnTo>
                <a:lnTo>
                  <a:pt x="1917" y="793"/>
                </a:lnTo>
                <a:lnTo>
                  <a:pt x="1913" y="790"/>
                </a:lnTo>
                <a:lnTo>
                  <a:pt x="1909" y="788"/>
                </a:lnTo>
                <a:lnTo>
                  <a:pt x="1904" y="787"/>
                </a:lnTo>
                <a:lnTo>
                  <a:pt x="1898" y="787"/>
                </a:lnTo>
                <a:lnTo>
                  <a:pt x="1892" y="787"/>
                </a:lnTo>
                <a:lnTo>
                  <a:pt x="1886" y="788"/>
                </a:lnTo>
                <a:lnTo>
                  <a:pt x="1881" y="790"/>
                </a:lnTo>
                <a:lnTo>
                  <a:pt x="1877" y="792"/>
                </a:lnTo>
                <a:lnTo>
                  <a:pt x="1873" y="795"/>
                </a:lnTo>
                <a:lnTo>
                  <a:pt x="1870" y="799"/>
                </a:lnTo>
                <a:lnTo>
                  <a:pt x="1868" y="803"/>
                </a:lnTo>
                <a:lnTo>
                  <a:pt x="1867" y="805"/>
                </a:lnTo>
                <a:lnTo>
                  <a:pt x="1866" y="807"/>
                </a:lnTo>
                <a:lnTo>
                  <a:pt x="1821" y="803"/>
                </a:lnTo>
                <a:lnTo>
                  <a:pt x="1823" y="797"/>
                </a:lnTo>
                <a:lnTo>
                  <a:pt x="1825" y="792"/>
                </a:lnTo>
                <a:lnTo>
                  <a:pt x="1827" y="787"/>
                </a:lnTo>
                <a:lnTo>
                  <a:pt x="1830" y="782"/>
                </a:lnTo>
                <a:lnTo>
                  <a:pt x="1833" y="777"/>
                </a:lnTo>
                <a:lnTo>
                  <a:pt x="1837" y="773"/>
                </a:lnTo>
                <a:lnTo>
                  <a:pt x="1841" y="769"/>
                </a:lnTo>
                <a:lnTo>
                  <a:pt x="1846" y="765"/>
                </a:lnTo>
                <a:lnTo>
                  <a:pt x="1851" y="762"/>
                </a:lnTo>
                <a:lnTo>
                  <a:pt x="1857" y="759"/>
                </a:lnTo>
                <a:lnTo>
                  <a:pt x="1863" y="756"/>
                </a:lnTo>
                <a:lnTo>
                  <a:pt x="1869" y="754"/>
                </a:lnTo>
                <a:lnTo>
                  <a:pt x="1876" y="753"/>
                </a:lnTo>
                <a:lnTo>
                  <a:pt x="1883" y="752"/>
                </a:lnTo>
                <a:lnTo>
                  <a:pt x="1890" y="751"/>
                </a:lnTo>
                <a:lnTo>
                  <a:pt x="1898" y="751"/>
                </a:lnTo>
                <a:lnTo>
                  <a:pt x="1908" y="751"/>
                </a:lnTo>
                <a:lnTo>
                  <a:pt x="1917" y="752"/>
                </a:lnTo>
                <a:lnTo>
                  <a:pt x="1926" y="754"/>
                </a:lnTo>
                <a:lnTo>
                  <a:pt x="1935" y="757"/>
                </a:lnTo>
                <a:lnTo>
                  <a:pt x="1943" y="761"/>
                </a:lnTo>
                <a:lnTo>
                  <a:pt x="1947" y="763"/>
                </a:lnTo>
                <a:lnTo>
                  <a:pt x="1950" y="765"/>
                </a:lnTo>
                <a:lnTo>
                  <a:pt x="1957" y="770"/>
                </a:lnTo>
                <a:lnTo>
                  <a:pt x="1963" y="776"/>
                </a:lnTo>
                <a:lnTo>
                  <a:pt x="1965" y="780"/>
                </a:lnTo>
                <a:lnTo>
                  <a:pt x="1967" y="784"/>
                </a:lnTo>
                <a:lnTo>
                  <a:pt x="1969" y="787"/>
                </a:lnTo>
                <a:lnTo>
                  <a:pt x="1970" y="792"/>
                </a:lnTo>
                <a:lnTo>
                  <a:pt x="1972" y="796"/>
                </a:lnTo>
                <a:lnTo>
                  <a:pt x="1972" y="801"/>
                </a:lnTo>
                <a:lnTo>
                  <a:pt x="1973" y="806"/>
                </a:lnTo>
                <a:lnTo>
                  <a:pt x="1973" y="811"/>
                </a:lnTo>
                <a:lnTo>
                  <a:pt x="1973" y="930"/>
                </a:lnTo>
                <a:lnTo>
                  <a:pt x="1927" y="930"/>
                </a:lnTo>
                <a:lnTo>
                  <a:pt x="1927" y="905"/>
                </a:lnTo>
                <a:lnTo>
                  <a:pt x="1922" y="911"/>
                </a:lnTo>
                <a:lnTo>
                  <a:pt x="1917" y="917"/>
                </a:lnTo>
                <a:lnTo>
                  <a:pt x="1912" y="921"/>
                </a:lnTo>
                <a:lnTo>
                  <a:pt x="1906" y="925"/>
                </a:lnTo>
                <a:lnTo>
                  <a:pt x="1899" y="929"/>
                </a:lnTo>
                <a:lnTo>
                  <a:pt x="1891" y="931"/>
                </a:lnTo>
                <a:lnTo>
                  <a:pt x="1887" y="932"/>
                </a:lnTo>
                <a:lnTo>
                  <a:pt x="1883" y="933"/>
                </a:lnTo>
                <a:lnTo>
                  <a:pt x="1874" y="933"/>
                </a:lnTo>
                <a:close/>
                <a:moveTo>
                  <a:pt x="1888" y="899"/>
                </a:moveTo>
                <a:lnTo>
                  <a:pt x="1895" y="899"/>
                </a:lnTo>
                <a:lnTo>
                  <a:pt x="1902" y="897"/>
                </a:lnTo>
                <a:lnTo>
                  <a:pt x="1905" y="896"/>
                </a:lnTo>
                <a:lnTo>
                  <a:pt x="1908" y="894"/>
                </a:lnTo>
                <a:lnTo>
                  <a:pt x="1914" y="890"/>
                </a:lnTo>
                <a:lnTo>
                  <a:pt x="1916" y="888"/>
                </a:lnTo>
                <a:lnTo>
                  <a:pt x="1919" y="885"/>
                </a:lnTo>
                <a:lnTo>
                  <a:pt x="1922" y="879"/>
                </a:lnTo>
                <a:lnTo>
                  <a:pt x="1924" y="873"/>
                </a:lnTo>
                <a:lnTo>
                  <a:pt x="1924" y="870"/>
                </a:lnTo>
                <a:lnTo>
                  <a:pt x="1924" y="867"/>
                </a:lnTo>
                <a:lnTo>
                  <a:pt x="1924" y="848"/>
                </a:lnTo>
                <a:lnTo>
                  <a:pt x="1921" y="850"/>
                </a:lnTo>
                <a:lnTo>
                  <a:pt x="1915" y="851"/>
                </a:lnTo>
                <a:lnTo>
                  <a:pt x="1903" y="854"/>
                </a:lnTo>
                <a:lnTo>
                  <a:pt x="1890" y="856"/>
                </a:lnTo>
                <a:lnTo>
                  <a:pt x="1884" y="857"/>
                </a:lnTo>
                <a:lnTo>
                  <a:pt x="1879" y="859"/>
                </a:lnTo>
                <a:lnTo>
                  <a:pt x="1874" y="861"/>
                </a:lnTo>
                <a:lnTo>
                  <a:pt x="1870" y="863"/>
                </a:lnTo>
                <a:lnTo>
                  <a:pt x="1866" y="866"/>
                </a:lnTo>
                <a:lnTo>
                  <a:pt x="1864" y="870"/>
                </a:lnTo>
                <a:lnTo>
                  <a:pt x="1863" y="872"/>
                </a:lnTo>
                <a:lnTo>
                  <a:pt x="1862" y="874"/>
                </a:lnTo>
                <a:lnTo>
                  <a:pt x="1862" y="879"/>
                </a:lnTo>
                <a:lnTo>
                  <a:pt x="1862" y="884"/>
                </a:lnTo>
                <a:lnTo>
                  <a:pt x="1863" y="888"/>
                </a:lnTo>
                <a:lnTo>
                  <a:pt x="1865" y="890"/>
                </a:lnTo>
                <a:lnTo>
                  <a:pt x="1866" y="891"/>
                </a:lnTo>
                <a:lnTo>
                  <a:pt x="1869" y="894"/>
                </a:lnTo>
                <a:lnTo>
                  <a:pt x="1873" y="896"/>
                </a:lnTo>
                <a:lnTo>
                  <a:pt x="1875" y="897"/>
                </a:lnTo>
                <a:lnTo>
                  <a:pt x="1877" y="898"/>
                </a:lnTo>
                <a:lnTo>
                  <a:pt x="1882" y="899"/>
                </a:lnTo>
                <a:lnTo>
                  <a:pt x="1888" y="899"/>
                </a:lnTo>
                <a:close/>
                <a:moveTo>
                  <a:pt x="2063" y="930"/>
                </a:moveTo>
                <a:lnTo>
                  <a:pt x="2013" y="930"/>
                </a:lnTo>
                <a:lnTo>
                  <a:pt x="2013" y="694"/>
                </a:lnTo>
                <a:lnTo>
                  <a:pt x="2063" y="694"/>
                </a:lnTo>
                <a:lnTo>
                  <a:pt x="2063" y="930"/>
                </a:lnTo>
                <a:close/>
                <a:moveTo>
                  <a:pt x="2197" y="753"/>
                </a:moveTo>
                <a:lnTo>
                  <a:pt x="2197" y="790"/>
                </a:lnTo>
                <a:lnTo>
                  <a:pt x="2164" y="790"/>
                </a:lnTo>
                <a:lnTo>
                  <a:pt x="2164" y="876"/>
                </a:lnTo>
                <a:lnTo>
                  <a:pt x="2164" y="880"/>
                </a:lnTo>
                <a:lnTo>
                  <a:pt x="2165" y="884"/>
                </a:lnTo>
                <a:lnTo>
                  <a:pt x="2166" y="886"/>
                </a:lnTo>
                <a:lnTo>
                  <a:pt x="2167" y="887"/>
                </a:lnTo>
                <a:lnTo>
                  <a:pt x="2169" y="889"/>
                </a:lnTo>
                <a:lnTo>
                  <a:pt x="2171" y="891"/>
                </a:lnTo>
                <a:lnTo>
                  <a:pt x="2174" y="892"/>
                </a:lnTo>
                <a:lnTo>
                  <a:pt x="2177" y="893"/>
                </a:lnTo>
                <a:lnTo>
                  <a:pt x="2181" y="893"/>
                </a:lnTo>
                <a:lnTo>
                  <a:pt x="2188" y="892"/>
                </a:lnTo>
                <a:lnTo>
                  <a:pt x="2193" y="891"/>
                </a:lnTo>
                <a:lnTo>
                  <a:pt x="2201" y="928"/>
                </a:lnTo>
                <a:lnTo>
                  <a:pt x="2190" y="930"/>
                </a:lnTo>
                <a:lnTo>
                  <a:pt x="2183" y="932"/>
                </a:lnTo>
                <a:lnTo>
                  <a:pt x="2174" y="932"/>
                </a:lnTo>
                <a:lnTo>
                  <a:pt x="2168" y="932"/>
                </a:lnTo>
                <a:lnTo>
                  <a:pt x="2161" y="932"/>
                </a:lnTo>
                <a:lnTo>
                  <a:pt x="2156" y="931"/>
                </a:lnTo>
                <a:lnTo>
                  <a:pt x="2150" y="930"/>
                </a:lnTo>
                <a:lnTo>
                  <a:pt x="2145" y="928"/>
                </a:lnTo>
                <a:lnTo>
                  <a:pt x="2140" y="926"/>
                </a:lnTo>
                <a:lnTo>
                  <a:pt x="2135" y="924"/>
                </a:lnTo>
                <a:lnTo>
                  <a:pt x="2131" y="921"/>
                </a:lnTo>
                <a:lnTo>
                  <a:pt x="2127" y="917"/>
                </a:lnTo>
                <a:lnTo>
                  <a:pt x="2124" y="914"/>
                </a:lnTo>
                <a:lnTo>
                  <a:pt x="2121" y="909"/>
                </a:lnTo>
                <a:lnTo>
                  <a:pt x="2119" y="905"/>
                </a:lnTo>
                <a:lnTo>
                  <a:pt x="2117" y="900"/>
                </a:lnTo>
                <a:lnTo>
                  <a:pt x="2116" y="894"/>
                </a:lnTo>
                <a:lnTo>
                  <a:pt x="2115" y="888"/>
                </a:lnTo>
                <a:lnTo>
                  <a:pt x="2115" y="882"/>
                </a:lnTo>
                <a:lnTo>
                  <a:pt x="2115" y="790"/>
                </a:lnTo>
                <a:lnTo>
                  <a:pt x="2091" y="790"/>
                </a:lnTo>
                <a:lnTo>
                  <a:pt x="2091" y="753"/>
                </a:lnTo>
                <a:lnTo>
                  <a:pt x="2115" y="753"/>
                </a:lnTo>
                <a:lnTo>
                  <a:pt x="2115" y="711"/>
                </a:lnTo>
                <a:lnTo>
                  <a:pt x="2164" y="711"/>
                </a:lnTo>
                <a:lnTo>
                  <a:pt x="2164" y="753"/>
                </a:lnTo>
                <a:lnTo>
                  <a:pt x="2197" y="753"/>
                </a:lnTo>
                <a:close/>
                <a:moveTo>
                  <a:pt x="2304" y="933"/>
                </a:moveTo>
                <a:lnTo>
                  <a:pt x="2291" y="933"/>
                </a:lnTo>
                <a:lnTo>
                  <a:pt x="2285" y="932"/>
                </a:lnTo>
                <a:lnTo>
                  <a:pt x="2279" y="930"/>
                </a:lnTo>
                <a:lnTo>
                  <a:pt x="2268" y="927"/>
                </a:lnTo>
                <a:lnTo>
                  <a:pt x="2263" y="925"/>
                </a:lnTo>
                <a:lnTo>
                  <a:pt x="2258" y="922"/>
                </a:lnTo>
                <a:lnTo>
                  <a:pt x="2249" y="916"/>
                </a:lnTo>
                <a:lnTo>
                  <a:pt x="2245" y="912"/>
                </a:lnTo>
                <a:lnTo>
                  <a:pt x="2241" y="908"/>
                </a:lnTo>
                <a:lnTo>
                  <a:pt x="2234" y="900"/>
                </a:lnTo>
                <a:lnTo>
                  <a:pt x="2231" y="895"/>
                </a:lnTo>
                <a:lnTo>
                  <a:pt x="2228" y="890"/>
                </a:lnTo>
                <a:lnTo>
                  <a:pt x="2223" y="879"/>
                </a:lnTo>
                <a:lnTo>
                  <a:pt x="2221" y="874"/>
                </a:lnTo>
                <a:lnTo>
                  <a:pt x="2220" y="868"/>
                </a:lnTo>
                <a:lnTo>
                  <a:pt x="2219" y="862"/>
                </a:lnTo>
                <a:lnTo>
                  <a:pt x="2218" y="855"/>
                </a:lnTo>
                <a:lnTo>
                  <a:pt x="2218" y="849"/>
                </a:lnTo>
                <a:lnTo>
                  <a:pt x="2217" y="842"/>
                </a:lnTo>
                <a:lnTo>
                  <a:pt x="2218" y="835"/>
                </a:lnTo>
                <a:lnTo>
                  <a:pt x="2218" y="829"/>
                </a:lnTo>
                <a:lnTo>
                  <a:pt x="2219" y="823"/>
                </a:lnTo>
                <a:lnTo>
                  <a:pt x="2220" y="816"/>
                </a:lnTo>
                <a:lnTo>
                  <a:pt x="2223" y="805"/>
                </a:lnTo>
                <a:lnTo>
                  <a:pt x="2225" y="799"/>
                </a:lnTo>
                <a:lnTo>
                  <a:pt x="2228" y="794"/>
                </a:lnTo>
                <a:lnTo>
                  <a:pt x="2234" y="785"/>
                </a:lnTo>
                <a:lnTo>
                  <a:pt x="2237" y="780"/>
                </a:lnTo>
                <a:lnTo>
                  <a:pt x="2241" y="776"/>
                </a:lnTo>
                <a:lnTo>
                  <a:pt x="2245" y="772"/>
                </a:lnTo>
                <a:lnTo>
                  <a:pt x="2249" y="769"/>
                </a:lnTo>
                <a:lnTo>
                  <a:pt x="2253" y="765"/>
                </a:lnTo>
                <a:lnTo>
                  <a:pt x="2258" y="762"/>
                </a:lnTo>
                <a:lnTo>
                  <a:pt x="2263" y="760"/>
                </a:lnTo>
                <a:lnTo>
                  <a:pt x="2268" y="757"/>
                </a:lnTo>
                <a:lnTo>
                  <a:pt x="2274" y="755"/>
                </a:lnTo>
                <a:lnTo>
                  <a:pt x="2279" y="754"/>
                </a:lnTo>
                <a:lnTo>
                  <a:pt x="2285" y="752"/>
                </a:lnTo>
                <a:lnTo>
                  <a:pt x="2291" y="752"/>
                </a:lnTo>
                <a:lnTo>
                  <a:pt x="2304" y="751"/>
                </a:lnTo>
                <a:lnTo>
                  <a:pt x="2317" y="752"/>
                </a:lnTo>
                <a:lnTo>
                  <a:pt x="2323" y="752"/>
                </a:lnTo>
                <a:lnTo>
                  <a:pt x="2329" y="754"/>
                </a:lnTo>
                <a:lnTo>
                  <a:pt x="2340" y="757"/>
                </a:lnTo>
                <a:lnTo>
                  <a:pt x="2346" y="760"/>
                </a:lnTo>
                <a:lnTo>
                  <a:pt x="2351" y="762"/>
                </a:lnTo>
                <a:lnTo>
                  <a:pt x="2360" y="769"/>
                </a:lnTo>
                <a:lnTo>
                  <a:pt x="2364" y="772"/>
                </a:lnTo>
                <a:lnTo>
                  <a:pt x="2368" y="776"/>
                </a:lnTo>
                <a:lnTo>
                  <a:pt x="2375" y="785"/>
                </a:lnTo>
                <a:lnTo>
                  <a:pt x="2378" y="789"/>
                </a:lnTo>
                <a:lnTo>
                  <a:pt x="2381" y="794"/>
                </a:lnTo>
                <a:lnTo>
                  <a:pt x="2385" y="805"/>
                </a:lnTo>
                <a:lnTo>
                  <a:pt x="2387" y="811"/>
                </a:lnTo>
                <a:lnTo>
                  <a:pt x="2389" y="816"/>
                </a:lnTo>
                <a:lnTo>
                  <a:pt x="2390" y="823"/>
                </a:lnTo>
                <a:lnTo>
                  <a:pt x="2391" y="829"/>
                </a:lnTo>
                <a:lnTo>
                  <a:pt x="2391" y="835"/>
                </a:lnTo>
                <a:lnTo>
                  <a:pt x="2391" y="842"/>
                </a:lnTo>
                <a:lnTo>
                  <a:pt x="2391" y="849"/>
                </a:lnTo>
                <a:lnTo>
                  <a:pt x="2391" y="855"/>
                </a:lnTo>
                <a:lnTo>
                  <a:pt x="2390" y="862"/>
                </a:lnTo>
                <a:lnTo>
                  <a:pt x="2389" y="868"/>
                </a:lnTo>
                <a:lnTo>
                  <a:pt x="2385" y="879"/>
                </a:lnTo>
                <a:lnTo>
                  <a:pt x="2383" y="885"/>
                </a:lnTo>
                <a:lnTo>
                  <a:pt x="2381" y="890"/>
                </a:lnTo>
                <a:lnTo>
                  <a:pt x="2375" y="900"/>
                </a:lnTo>
                <a:lnTo>
                  <a:pt x="2372" y="904"/>
                </a:lnTo>
                <a:lnTo>
                  <a:pt x="2368" y="908"/>
                </a:lnTo>
                <a:lnTo>
                  <a:pt x="2364" y="912"/>
                </a:lnTo>
                <a:lnTo>
                  <a:pt x="2360" y="916"/>
                </a:lnTo>
                <a:lnTo>
                  <a:pt x="2355" y="919"/>
                </a:lnTo>
                <a:lnTo>
                  <a:pt x="2351" y="922"/>
                </a:lnTo>
                <a:lnTo>
                  <a:pt x="2346" y="925"/>
                </a:lnTo>
                <a:lnTo>
                  <a:pt x="2340" y="927"/>
                </a:lnTo>
                <a:lnTo>
                  <a:pt x="2335" y="929"/>
                </a:lnTo>
                <a:lnTo>
                  <a:pt x="2329" y="930"/>
                </a:lnTo>
                <a:lnTo>
                  <a:pt x="2323" y="932"/>
                </a:lnTo>
                <a:lnTo>
                  <a:pt x="2317" y="933"/>
                </a:lnTo>
                <a:lnTo>
                  <a:pt x="2304" y="933"/>
                </a:lnTo>
                <a:close/>
                <a:moveTo>
                  <a:pt x="2305" y="895"/>
                </a:moveTo>
                <a:lnTo>
                  <a:pt x="2309" y="895"/>
                </a:lnTo>
                <a:lnTo>
                  <a:pt x="2313" y="894"/>
                </a:lnTo>
                <a:lnTo>
                  <a:pt x="2317" y="893"/>
                </a:lnTo>
                <a:lnTo>
                  <a:pt x="2321" y="892"/>
                </a:lnTo>
                <a:lnTo>
                  <a:pt x="2324" y="889"/>
                </a:lnTo>
                <a:lnTo>
                  <a:pt x="2327" y="887"/>
                </a:lnTo>
                <a:lnTo>
                  <a:pt x="2330" y="884"/>
                </a:lnTo>
                <a:lnTo>
                  <a:pt x="2332" y="880"/>
                </a:lnTo>
                <a:lnTo>
                  <a:pt x="2334" y="876"/>
                </a:lnTo>
                <a:lnTo>
                  <a:pt x="2336" y="872"/>
                </a:lnTo>
                <a:lnTo>
                  <a:pt x="2338" y="868"/>
                </a:lnTo>
                <a:lnTo>
                  <a:pt x="2339" y="863"/>
                </a:lnTo>
                <a:lnTo>
                  <a:pt x="2341" y="853"/>
                </a:lnTo>
                <a:lnTo>
                  <a:pt x="2341" y="847"/>
                </a:lnTo>
                <a:lnTo>
                  <a:pt x="2342" y="842"/>
                </a:lnTo>
                <a:lnTo>
                  <a:pt x="2341" y="831"/>
                </a:lnTo>
                <a:lnTo>
                  <a:pt x="2339" y="821"/>
                </a:lnTo>
                <a:lnTo>
                  <a:pt x="2338" y="816"/>
                </a:lnTo>
                <a:lnTo>
                  <a:pt x="2336" y="812"/>
                </a:lnTo>
                <a:lnTo>
                  <a:pt x="2332" y="803"/>
                </a:lnTo>
                <a:lnTo>
                  <a:pt x="2330" y="800"/>
                </a:lnTo>
                <a:lnTo>
                  <a:pt x="2327" y="797"/>
                </a:lnTo>
                <a:lnTo>
                  <a:pt x="2324" y="794"/>
                </a:lnTo>
                <a:lnTo>
                  <a:pt x="2321" y="792"/>
                </a:lnTo>
                <a:lnTo>
                  <a:pt x="2317" y="790"/>
                </a:lnTo>
                <a:lnTo>
                  <a:pt x="2313" y="789"/>
                </a:lnTo>
                <a:lnTo>
                  <a:pt x="2309" y="788"/>
                </a:lnTo>
                <a:lnTo>
                  <a:pt x="2305" y="788"/>
                </a:lnTo>
                <a:lnTo>
                  <a:pt x="2300" y="788"/>
                </a:lnTo>
                <a:lnTo>
                  <a:pt x="2296" y="789"/>
                </a:lnTo>
                <a:lnTo>
                  <a:pt x="2292" y="790"/>
                </a:lnTo>
                <a:lnTo>
                  <a:pt x="2288" y="792"/>
                </a:lnTo>
                <a:lnTo>
                  <a:pt x="2285" y="794"/>
                </a:lnTo>
                <a:lnTo>
                  <a:pt x="2282" y="797"/>
                </a:lnTo>
                <a:lnTo>
                  <a:pt x="2279" y="800"/>
                </a:lnTo>
                <a:lnTo>
                  <a:pt x="2277" y="803"/>
                </a:lnTo>
                <a:lnTo>
                  <a:pt x="2272" y="812"/>
                </a:lnTo>
                <a:lnTo>
                  <a:pt x="2271" y="816"/>
                </a:lnTo>
                <a:lnTo>
                  <a:pt x="2270" y="821"/>
                </a:lnTo>
                <a:lnTo>
                  <a:pt x="2269" y="826"/>
                </a:lnTo>
                <a:lnTo>
                  <a:pt x="2268" y="831"/>
                </a:lnTo>
                <a:lnTo>
                  <a:pt x="2267" y="836"/>
                </a:lnTo>
                <a:lnTo>
                  <a:pt x="2267" y="842"/>
                </a:lnTo>
                <a:lnTo>
                  <a:pt x="2268" y="853"/>
                </a:lnTo>
                <a:lnTo>
                  <a:pt x="2270" y="863"/>
                </a:lnTo>
                <a:lnTo>
                  <a:pt x="2271" y="868"/>
                </a:lnTo>
                <a:lnTo>
                  <a:pt x="2272" y="872"/>
                </a:lnTo>
                <a:lnTo>
                  <a:pt x="2274" y="876"/>
                </a:lnTo>
                <a:lnTo>
                  <a:pt x="2277" y="880"/>
                </a:lnTo>
                <a:lnTo>
                  <a:pt x="2279" y="884"/>
                </a:lnTo>
                <a:lnTo>
                  <a:pt x="2282" y="887"/>
                </a:lnTo>
                <a:lnTo>
                  <a:pt x="2285" y="889"/>
                </a:lnTo>
                <a:lnTo>
                  <a:pt x="2288" y="892"/>
                </a:lnTo>
                <a:lnTo>
                  <a:pt x="2292" y="893"/>
                </a:lnTo>
                <a:lnTo>
                  <a:pt x="2296" y="894"/>
                </a:lnTo>
                <a:lnTo>
                  <a:pt x="2300" y="895"/>
                </a:lnTo>
                <a:lnTo>
                  <a:pt x="2305" y="895"/>
                </a:lnTo>
                <a:close/>
                <a:moveTo>
                  <a:pt x="2646" y="694"/>
                </a:moveTo>
                <a:lnTo>
                  <a:pt x="2696" y="694"/>
                </a:lnTo>
                <a:lnTo>
                  <a:pt x="2696" y="847"/>
                </a:lnTo>
                <a:lnTo>
                  <a:pt x="2696" y="854"/>
                </a:lnTo>
                <a:lnTo>
                  <a:pt x="2695" y="860"/>
                </a:lnTo>
                <a:lnTo>
                  <a:pt x="2694" y="866"/>
                </a:lnTo>
                <a:lnTo>
                  <a:pt x="2693" y="871"/>
                </a:lnTo>
                <a:lnTo>
                  <a:pt x="2691" y="877"/>
                </a:lnTo>
                <a:lnTo>
                  <a:pt x="2689" y="882"/>
                </a:lnTo>
                <a:lnTo>
                  <a:pt x="2686" y="887"/>
                </a:lnTo>
                <a:lnTo>
                  <a:pt x="2684" y="892"/>
                </a:lnTo>
                <a:lnTo>
                  <a:pt x="2680" y="897"/>
                </a:lnTo>
                <a:lnTo>
                  <a:pt x="2677" y="901"/>
                </a:lnTo>
                <a:lnTo>
                  <a:pt x="2673" y="906"/>
                </a:lnTo>
                <a:lnTo>
                  <a:pt x="2669" y="910"/>
                </a:lnTo>
                <a:lnTo>
                  <a:pt x="2664" y="913"/>
                </a:lnTo>
                <a:lnTo>
                  <a:pt x="2660" y="917"/>
                </a:lnTo>
                <a:lnTo>
                  <a:pt x="2655" y="920"/>
                </a:lnTo>
                <a:lnTo>
                  <a:pt x="2649" y="922"/>
                </a:lnTo>
                <a:lnTo>
                  <a:pt x="2638" y="927"/>
                </a:lnTo>
                <a:lnTo>
                  <a:pt x="2632" y="929"/>
                </a:lnTo>
                <a:lnTo>
                  <a:pt x="2626" y="930"/>
                </a:lnTo>
                <a:lnTo>
                  <a:pt x="2619" y="932"/>
                </a:lnTo>
                <a:lnTo>
                  <a:pt x="2612" y="932"/>
                </a:lnTo>
                <a:lnTo>
                  <a:pt x="2605" y="933"/>
                </a:lnTo>
                <a:lnTo>
                  <a:pt x="2598" y="933"/>
                </a:lnTo>
                <a:lnTo>
                  <a:pt x="2591" y="933"/>
                </a:lnTo>
                <a:lnTo>
                  <a:pt x="2584" y="932"/>
                </a:lnTo>
                <a:lnTo>
                  <a:pt x="2577" y="932"/>
                </a:lnTo>
                <a:lnTo>
                  <a:pt x="2571" y="930"/>
                </a:lnTo>
                <a:lnTo>
                  <a:pt x="2558" y="927"/>
                </a:lnTo>
                <a:lnTo>
                  <a:pt x="2552" y="925"/>
                </a:lnTo>
                <a:lnTo>
                  <a:pt x="2547" y="922"/>
                </a:lnTo>
                <a:lnTo>
                  <a:pt x="2541" y="920"/>
                </a:lnTo>
                <a:lnTo>
                  <a:pt x="2536" y="917"/>
                </a:lnTo>
                <a:lnTo>
                  <a:pt x="2527" y="910"/>
                </a:lnTo>
                <a:lnTo>
                  <a:pt x="2518" y="901"/>
                </a:lnTo>
                <a:lnTo>
                  <a:pt x="2515" y="897"/>
                </a:lnTo>
                <a:lnTo>
                  <a:pt x="2512" y="892"/>
                </a:lnTo>
                <a:lnTo>
                  <a:pt x="2509" y="887"/>
                </a:lnTo>
                <a:lnTo>
                  <a:pt x="2506" y="882"/>
                </a:lnTo>
                <a:lnTo>
                  <a:pt x="2504" y="877"/>
                </a:lnTo>
                <a:lnTo>
                  <a:pt x="2502" y="871"/>
                </a:lnTo>
                <a:lnTo>
                  <a:pt x="2501" y="866"/>
                </a:lnTo>
                <a:lnTo>
                  <a:pt x="2500" y="860"/>
                </a:lnTo>
                <a:lnTo>
                  <a:pt x="2500" y="854"/>
                </a:lnTo>
                <a:lnTo>
                  <a:pt x="2499" y="847"/>
                </a:lnTo>
                <a:lnTo>
                  <a:pt x="2499" y="694"/>
                </a:lnTo>
                <a:lnTo>
                  <a:pt x="2550" y="694"/>
                </a:lnTo>
                <a:lnTo>
                  <a:pt x="2550" y="843"/>
                </a:lnTo>
                <a:lnTo>
                  <a:pt x="2551" y="853"/>
                </a:lnTo>
                <a:lnTo>
                  <a:pt x="2552" y="857"/>
                </a:lnTo>
                <a:lnTo>
                  <a:pt x="2553" y="861"/>
                </a:lnTo>
                <a:lnTo>
                  <a:pt x="2555" y="865"/>
                </a:lnTo>
                <a:lnTo>
                  <a:pt x="2558" y="869"/>
                </a:lnTo>
                <a:lnTo>
                  <a:pt x="2560" y="873"/>
                </a:lnTo>
                <a:lnTo>
                  <a:pt x="2563" y="876"/>
                </a:lnTo>
                <a:lnTo>
                  <a:pt x="2567" y="879"/>
                </a:lnTo>
                <a:lnTo>
                  <a:pt x="2570" y="882"/>
                </a:lnTo>
                <a:lnTo>
                  <a:pt x="2574" y="884"/>
                </a:lnTo>
                <a:lnTo>
                  <a:pt x="2579" y="886"/>
                </a:lnTo>
                <a:lnTo>
                  <a:pt x="2583" y="887"/>
                </a:lnTo>
                <a:lnTo>
                  <a:pt x="2588" y="889"/>
                </a:lnTo>
                <a:lnTo>
                  <a:pt x="2598" y="889"/>
                </a:lnTo>
                <a:lnTo>
                  <a:pt x="2608" y="889"/>
                </a:lnTo>
                <a:lnTo>
                  <a:pt x="2613" y="887"/>
                </a:lnTo>
                <a:lnTo>
                  <a:pt x="2618" y="886"/>
                </a:lnTo>
                <a:lnTo>
                  <a:pt x="2622" y="884"/>
                </a:lnTo>
                <a:lnTo>
                  <a:pt x="2626" y="882"/>
                </a:lnTo>
                <a:lnTo>
                  <a:pt x="2629" y="879"/>
                </a:lnTo>
                <a:lnTo>
                  <a:pt x="2633" y="876"/>
                </a:lnTo>
                <a:lnTo>
                  <a:pt x="2636" y="873"/>
                </a:lnTo>
                <a:lnTo>
                  <a:pt x="2639" y="869"/>
                </a:lnTo>
                <a:lnTo>
                  <a:pt x="2641" y="865"/>
                </a:lnTo>
                <a:lnTo>
                  <a:pt x="2643" y="861"/>
                </a:lnTo>
                <a:lnTo>
                  <a:pt x="2644" y="857"/>
                </a:lnTo>
                <a:lnTo>
                  <a:pt x="2645" y="853"/>
                </a:lnTo>
                <a:lnTo>
                  <a:pt x="2646" y="848"/>
                </a:lnTo>
                <a:lnTo>
                  <a:pt x="2646" y="843"/>
                </a:lnTo>
                <a:lnTo>
                  <a:pt x="2646" y="694"/>
                </a:lnTo>
                <a:close/>
                <a:moveTo>
                  <a:pt x="2788" y="828"/>
                </a:moveTo>
                <a:lnTo>
                  <a:pt x="2788" y="930"/>
                </a:lnTo>
                <a:lnTo>
                  <a:pt x="2739" y="930"/>
                </a:lnTo>
                <a:lnTo>
                  <a:pt x="2739" y="753"/>
                </a:lnTo>
                <a:lnTo>
                  <a:pt x="2786" y="753"/>
                </a:lnTo>
                <a:lnTo>
                  <a:pt x="2786" y="784"/>
                </a:lnTo>
                <a:lnTo>
                  <a:pt x="2790" y="777"/>
                </a:lnTo>
                <a:lnTo>
                  <a:pt x="2796" y="770"/>
                </a:lnTo>
                <a:lnTo>
                  <a:pt x="2801" y="765"/>
                </a:lnTo>
                <a:lnTo>
                  <a:pt x="2808" y="760"/>
                </a:lnTo>
                <a:lnTo>
                  <a:pt x="2815" y="756"/>
                </a:lnTo>
                <a:lnTo>
                  <a:pt x="2819" y="754"/>
                </a:lnTo>
                <a:lnTo>
                  <a:pt x="2823" y="753"/>
                </a:lnTo>
                <a:lnTo>
                  <a:pt x="2832" y="751"/>
                </a:lnTo>
                <a:lnTo>
                  <a:pt x="2836" y="751"/>
                </a:lnTo>
                <a:lnTo>
                  <a:pt x="2841" y="751"/>
                </a:lnTo>
                <a:lnTo>
                  <a:pt x="2848" y="751"/>
                </a:lnTo>
                <a:lnTo>
                  <a:pt x="2854" y="752"/>
                </a:lnTo>
                <a:lnTo>
                  <a:pt x="2860" y="753"/>
                </a:lnTo>
                <a:lnTo>
                  <a:pt x="2866" y="755"/>
                </a:lnTo>
                <a:lnTo>
                  <a:pt x="2871" y="758"/>
                </a:lnTo>
                <a:lnTo>
                  <a:pt x="2876" y="761"/>
                </a:lnTo>
                <a:lnTo>
                  <a:pt x="2881" y="764"/>
                </a:lnTo>
                <a:lnTo>
                  <a:pt x="2885" y="769"/>
                </a:lnTo>
                <a:lnTo>
                  <a:pt x="2889" y="773"/>
                </a:lnTo>
                <a:lnTo>
                  <a:pt x="2893" y="778"/>
                </a:lnTo>
                <a:lnTo>
                  <a:pt x="2895" y="784"/>
                </a:lnTo>
                <a:lnTo>
                  <a:pt x="2897" y="787"/>
                </a:lnTo>
                <a:lnTo>
                  <a:pt x="2898" y="790"/>
                </a:lnTo>
                <a:lnTo>
                  <a:pt x="2900" y="796"/>
                </a:lnTo>
                <a:lnTo>
                  <a:pt x="2901" y="803"/>
                </a:lnTo>
                <a:lnTo>
                  <a:pt x="2902" y="810"/>
                </a:lnTo>
                <a:lnTo>
                  <a:pt x="2902" y="817"/>
                </a:lnTo>
                <a:lnTo>
                  <a:pt x="2902" y="930"/>
                </a:lnTo>
                <a:lnTo>
                  <a:pt x="2853" y="930"/>
                </a:lnTo>
                <a:lnTo>
                  <a:pt x="2853" y="826"/>
                </a:lnTo>
                <a:lnTo>
                  <a:pt x="2853" y="818"/>
                </a:lnTo>
                <a:lnTo>
                  <a:pt x="2852" y="815"/>
                </a:lnTo>
                <a:lnTo>
                  <a:pt x="2851" y="812"/>
                </a:lnTo>
                <a:lnTo>
                  <a:pt x="2848" y="806"/>
                </a:lnTo>
                <a:lnTo>
                  <a:pt x="2847" y="803"/>
                </a:lnTo>
                <a:lnTo>
                  <a:pt x="2845" y="801"/>
                </a:lnTo>
                <a:lnTo>
                  <a:pt x="2840" y="797"/>
                </a:lnTo>
                <a:lnTo>
                  <a:pt x="2837" y="795"/>
                </a:lnTo>
                <a:lnTo>
                  <a:pt x="2835" y="794"/>
                </a:lnTo>
                <a:lnTo>
                  <a:pt x="2829" y="792"/>
                </a:lnTo>
                <a:lnTo>
                  <a:pt x="2825" y="792"/>
                </a:lnTo>
                <a:lnTo>
                  <a:pt x="2822" y="792"/>
                </a:lnTo>
                <a:lnTo>
                  <a:pt x="2814" y="792"/>
                </a:lnTo>
                <a:lnTo>
                  <a:pt x="2808" y="794"/>
                </a:lnTo>
                <a:lnTo>
                  <a:pt x="2805" y="795"/>
                </a:lnTo>
                <a:lnTo>
                  <a:pt x="2802" y="797"/>
                </a:lnTo>
                <a:lnTo>
                  <a:pt x="2800" y="799"/>
                </a:lnTo>
                <a:lnTo>
                  <a:pt x="2797" y="801"/>
                </a:lnTo>
                <a:lnTo>
                  <a:pt x="2795" y="804"/>
                </a:lnTo>
                <a:lnTo>
                  <a:pt x="2793" y="806"/>
                </a:lnTo>
                <a:lnTo>
                  <a:pt x="2792" y="809"/>
                </a:lnTo>
                <a:lnTo>
                  <a:pt x="2790" y="812"/>
                </a:lnTo>
                <a:lnTo>
                  <a:pt x="2789" y="820"/>
                </a:lnTo>
                <a:lnTo>
                  <a:pt x="2788" y="824"/>
                </a:lnTo>
                <a:lnTo>
                  <a:pt x="2788" y="828"/>
                </a:lnTo>
                <a:close/>
                <a:moveTo>
                  <a:pt x="2966" y="730"/>
                </a:moveTo>
                <a:lnTo>
                  <a:pt x="2961" y="730"/>
                </a:lnTo>
                <a:lnTo>
                  <a:pt x="2956" y="729"/>
                </a:lnTo>
                <a:lnTo>
                  <a:pt x="2952" y="726"/>
                </a:lnTo>
                <a:lnTo>
                  <a:pt x="2948" y="723"/>
                </a:lnTo>
                <a:lnTo>
                  <a:pt x="2944" y="719"/>
                </a:lnTo>
                <a:lnTo>
                  <a:pt x="2942" y="715"/>
                </a:lnTo>
                <a:lnTo>
                  <a:pt x="2940" y="710"/>
                </a:lnTo>
                <a:lnTo>
                  <a:pt x="2940" y="705"/>
                </a:lnTo>
                <a:lnTo>
                  <a:pt x="2940" y="701"/>
                </a:lnTo>
                <a:lnTo>
                  <a:pt x="2942" y="696"/>
                </a:lnTo>
                <a:lnTo>
                  <a:pt x="2944" y="692"/>
                </a:lnTo>
                <a:lnTo>
                  <a:pt x="2948" y="688"/>
                </a:lnTo>
                <a:lnTo>
                  <a:pt x="2952" y="685"/>
                </a:lnTo>
                <a:lnTo>
                  <a:pt x="2956" y="683"/>
                </a:lnTo>
                <a:lnTo>
                  <a:pt x="2961" y="681"/>
                </a:lnTo>
                <a:lnTo>
                  <a:pt x="2966" y="681"/>
                </a:lnTo>
                <a:lnTo>
                  <a:pt x="2972" y="681"/>
                </a:lnTo>
                <a:lnTo>
                  <a:pt x="2977" y="683"/>
                </a:lnTo>
                <a:lnTo>
                  <a:pt x="2982" y="685"/>
                </a:lnTo>
                <a:lnTo>
                  <a:pt x="2986" y="688"/>
                </a:lnTo>
                <a:lnTo>
                  <a:pt x="2990" y="692"/>
                </a:lnTo>
                <a:lnTo>
                  <a:pt x="2992" y="696"/>
                </a:lnTo>
                <a:lnTo>
                  <a:pt x="2994" y="701"/>
                </a:lnTo>
                <a:lnTo>
                  <a:pt x="2994" y="705"/>
                </a:lnTo>
                <a:lnTo>
                  <a:pt x="2994" y="710"/>
                </a:lnTo>
                <a:lnTo>
                  <a:pt x="2992" y="715"/>
                </a:lnTo>
                <a:lnTo>
                  <a:pt x="2990" y="719"/>
                </a:lnTo>
                <a:lnTo>
                  <a:pt x="2986" y="723"/>
                </a:lnTo>
                <a:lnTo>
                  <a:pt x="2982" y="726"/>
                </a:lnTo>
                <a:lnTo>
                  <a:pt x="2977" y="729"/>
                </a:lnTo>
                <a:lnTo>
                  <a:pt x="2972" y="730"/>
                </a:lnTo>
                <a:lnTo>
                  <a:pt x="2966" y="730"/>
                </a:lnTo>
                <a:close/>
                <a:moveTo>
                  <a:pt x="2942" y="753"/>
                </a:moveTo>
                <a:lnTo>
                  <a:pt x="2992" y="753"/>
                </a:lnTo>
                <a:lnTo>
                  <a:pt x="2992" y="930"/>
                </a:lnTo>
                <a:lnTo>
                  <a:pt x="2942" y="930"/>
                </a:lnTo>
                <a:lnTo>
                  <a:pt x="2942" y="753"/>
                </a:lnTo>
                <a:close/>
                <a:moveTo>
                  <a:pt x="3195" y="753"/>
                </a:moveTo>
                <a:lnTo>
                  <a:pt x="3134" y="930"/>
                </a:lnTo>
                <a:lnTo>
                  <a:pt x="3078" y="930"/>
                </a:lnTo>
                <a:lnTo>
                  <a:pt x="3017" y="753"/>
                </a:lnTo>
                <a:lnTo>
                  <a:pt x="3068" y="753"/>
                </a:lnTo>
                <a:lnTo>
                  <a:pt x="3105" y="880"/>
                </a:lnTo>
                <a:lnTo>
                  <a:pt x="3143" y="753"/>
                </a:lnTo>
                <a:lnTo>
                  <a:pt x="3195" y="753"/>
                </a:lnTo>
                <a:close/>
                <a:moveTo>
                  <a:pt x="3294" y="933"/>
                </a:moveTo>
                <a:lnTo>
                  <a:pt x="3287" y="933"/>
                </a:lnTo>
                <a:lnTo>
                  <a:pt x="3280" y="933"/>
                </a:lnTo>
                <a:lnTo>
                  <a:pt x="3268" y="931"/>
                </a:lnTo>
                <a:lnTo>
                  <a:pt x="3263" y="929"/>
                </a:lnTo>
                <a:lnTo>
                  <a:pt x="3257" y="927"/>
                </a:lnTo>
                <a:lnTo>
                  <a:pt x="3247" y="922"/>
                </a:lnTo>
                <a:lnTo>
                  <a:pt x="3242" y="919"/>
                </a:lnTo>
                <a:lnTo>
                  <a:pt x="3237" y="916"/>
                </a:lnTo>
                <a:lnTo>
                  <a:pt x="3233" y="913"/>
                </a:lnTo>
                <a:lnTo>
                  <a:pt x="3229" y="909"/>
                </a:lnTo>
                <a:lnTo>
                  <a:pt x="3222" y="900"/>
                </a:lnTo>
                <a:lnTo>
                  <a:pt x="3219" y="896"/>
                </a:lnTo>
                <a:lnTo>
                  <a:pt x="3216" y="891"/>
                </a:lnTo>
                <a:lnTo>
                  <a:pt x="3212" y="880"/>
                </a:lnTo>
                <a:lnTo>
                  <a:pt x="3210" y="874"/>
                </a:lnTo>
                <a:lnTo>
                  <a:pt x="3209" y="868"/>
                </a:lnTo>
                <a:lnTo>
                  <a:pt x="3207" y="862"/>
                </a:lnTo>
                <a:lnTo>
                  <a:pt x="3207" y="856"/>
                </a:lnTo>
                <a:lnTo>
                  <a:pt x="3206" y="849"/>
                </a:lnTo>
                <a:lnTo>
                  <a:pt x="3206" y="842"/>
                </a:lnTo>
                <a:lnTo>
                  <a:pt x="3206" y="836"/>
                </a:lnTo>
                <a:lnTo>
                  <a:pt x="3207" y="829"/>
                </a:lnTo>
                <a:lnTo>
                  <a:pt x="3207" y="823"/>
                </a:lnTo>
                <a:lnTo>
                  <a:pt x="3209" y="817"/>
                </a:lnTo>
                <a:lnTo>
                  <a:pt x="3212" y="805"/>
                </a:lnTo>
                <a:lnTo>
                  <a:pt x="3214" y="800"/>
                </a:lnTo>
                <a:lnTo>
                  <a:pt x="3216" y="794"/>
                </a:lnTo>
                <a:lnTo>
                  <a:pt x="3222" y="785"/>
                </a:lnTo>
                <a:lnTo>
                  <a:pt x="3226" y="780"/>
                </a:lnTo>
                <a:lnTo>
                  <a:pt x="3229" y="776"/>
                </a:lnTo>
                <a:lnTo>
                  <a:pt x="3233" y="772"/>
                </a:lnTo>
                <a:lnTo>
                  <a:pt x="3237" y="769"/>
                </a:lnTo>
                <a:lnTo>
                  <a:pt x="3246" y="762"/>
                </a:lnTo>
                <a:lnTo>
                  <a:pt x="3251" y="760"/>
                </a:lnTo>
                <a:lnTo>
                  <a:pt x="3256" y="757"/>
                </a:lnTo>
                <a:lnTo>
                  <a:pt x="3262" y="755"/>
                </a:lnTo>
                <a:lnTo>
                  <a:pt x="3267" y="754"/>
                </a:lnTo>
                <a:lnTo>
                  <a:pt x="3273" y="752"/>
                </a:lnTo>
                <a:lnTo>
                  <a:pt x="3279" y="752"/>
                </a:lnTo>
                <a:lnTo>
                  <a:pt x="3292" y="751"/>
                </a:lnTo>
                <a:lnTo>
                  <a:pt x="3303" y="751"/>
                </a:lnTo>
                <a:lnTo>
                  <a:pt x="3314" y="753"/>
                </a:lnTo>
                <a:lnTo>
                  <a:pt x="3319" y="755"/>
                </a:lnTo>
                <a:lnTo>
                  <a:pt x="3324" y="756"/>
                </a:lnTo>
                <a:lnTo>
                  <a:pt x="3334" y="761"/>
                </a:lnTo>
                <a:lnTo>
                  <a:pt x="3343" y="766"/>
                </a:lnTo>
                <a:lnTo>
                  <a:pt x="3347" y="770"/>
                </a:lnTo>
                <a:lnTo>
                  <a:pt x="3351" y="773"/>
                </a:lnTo>
                <a:lnTo>
                  <a:pt x="3358" y="781"/>
                </a:lnTo>
                <a:lnTo>
                  <a:pt x="3361" y="786"/>
                </a:lnTo>
                <a:lnTo>
                  <a:pt x="3364" y="791"/>
                </a:lnTo>
                <a:lnTo>
                  <a:pt x="3366" y="796"/>
                </a:lnTo>
                <a:lnTo>
                  <a:pt x="3368" y="801"/>
                </a:lnTo>
                <a:lnTo>
                  <a:pt x="3370" y="807"/>
                </a:lnTo>
                <a:lnTo>
                  <a:pt x="3372" y="813"/>
                </a:lnTo>
                <a:lnTo>
                  <a:pt x="3373" y="819"/>
                </a:lnTo>
                <a:lnTo>
                  <a:pt x="3374" y="826"/>
                </a:lnTo>
                <a:lnTo>
                  <a:pt x="3374" y="833"/>
                </a:lnTo>
                <a:lnTo>
                  <a:pt x="3375" y="841"/>
                </a:lnTo>
                <a:lnTo>
                  <a:pt x="3375" y="854"/>
                </a:lnTo>
                <a:lnTo>
                  <a:pt x="3254" y="854"/>
                </a:lnTo>
                <a:lnTo>
                  <a:pt x="3254" y="859"/>
                </a:lnTo>
                <a:lnTo>
                  <a:pt x="3255" y="863"/>
                </a:lnTo>
                <a:lnTo>
                  <a:pt x="3256" y="868"/>
                </a:lnTo>
                <a:lnTo>
                  <a:pt x="3257" y="872"/>
                </a:lnTo>
                <a:lnTo>
                  <a:pt x="3260" y="879"/>
                </a:lnTo>
                <a:lnTo>
                  <a:pt x="3263" y="882"/>
                </a:lnTo>
                <a:lnTo>
                  <a:pt x="3265" y="885"/>
                </a:lnTo>
                <a:lnTo>
                  <a:pt x="3268" y="888"/>
                </a:lnTo>
                <a:lnTo>
                  <a:pt x="3271" y="890"/>
                </a:lnTo>
                <a:lnTo>
                  <a:pt x="3274" y="892"/>
                </a:lnTo>
                <a:lnTo>
                  <a:pt x="3278" y="894"/>
                </a:lnTo>
                <a:lnTo>
                  <a:pt x="3282" y="895"/>
                </a:lnTo>
                <a:lnTo>
                  <a:pt x="3286" y="896"/>
                </a:lnTo>
                <a:lnTo>
                  <a:pt x="3294" y="897"/>
                </a:lnTo>
                <a:lnTo>
                  <a:pt x="3300" y="896"/>
                </a:lnTo>
                <a:lnTo>
                  <a:pt x="3306" y="895"/>
                </a:lnTo>
                <a:lnTo>
                  <a:pt x="3311" y="894"/>
                </a:lnTo>
                <a:lnTo>
                  <a:pt x="3316" y="892"/>
                </a:lnTo>
                <a:lnTo>
                  <a:pt x="3318" y="890"/>
                </a:lnTo>
                <a:lnTo>
                  <a:pt x="3320" y="889"/>
                </a:lnTo>
                <a:lnTo>
                  <a:pt x="3323" y="885"/>
                </a:lnTo>
                <a:lnTo>
                  <a:pt x="3326" y="881"/>
                </a:lnTo>
                <a:lnTo>
                  <a:pt x="3328" y="876"/>
                </a:lnTo>
                <a:lnTo>
                  <a:pt x="3374" y="879"/>
                </a:lnTo>
                <a:lnTo>
                  <a:pt x="3372" y="885"/>
                </a:lnTo>
                <a:lnTo>
                  <a:pt x="3370" y="891"/>
                </a:lnTo>
                <a:lnTo>
                  <a:pt x="3367" y="896"/>
                </a:lnTo>
                <a:lnTo>
                  <a:pt x="3364" y="901"/>
                </a:lnTo>
                <a:lnTo>
                  <a:pt x="3361" y="906"/>
                </a:lnTo>
                <a:lnTo>
                  <a:pt x="3357" y="911"/>
                </a:lnTo>
                <a:lnTo>
                  <a:pt x="3352" y="915"/>
                </a:lnTo>
                <a:lnTo>
                  <a:pt x="3347" y="919"/>
                </a:lnTo>
                <a:lnTo>
                  <a:pt x="3342" y="922"/>
                </a:lnTo>
                <a:lnTo>
                  <a:pt x="3336" y="925"/>
                </a:lnTo>
                <a:lnTo>
                  <a:pt x="3330" y="928"/>
                </a:lnTo>
                <a:lnTo>
                  <a:pt x="3323" y="930"/>
                </a:lnTo>
                <a:lnTo>
                  <a:pt x="3320" y="930"/>
                </a:lnTo>
                <a:lnTo>
                  <a:pt x="3316" y="931"/>
                </a:lnTo>
                <a:lnTo>
                  <a:pt x="3309" y="932"/>
                </a:lnTo>
                <a:lnTo>
                  <a:pt x="3302" y="933"/>
                </a:lnTo>
                <a:lnTo>
                  <a:pt x="3294" y="933"/>
                </a:lnTo>
                <a:close/>
                <a:moveTo>
                  <a:pt x="3254" y="824"/>
                </a:moveTo>
                <a:lnTo>
                  <a:pt x="3329" y="824"/>
                </a:lnTo>
                <a:lnTo>
                  <a:pt x="3328" y="820"/>
                </a:lnTo>
                <a:lnTo>
                  <a:pt x="3328" y="816"/>
                </a:lnTo>
                <a:lnTo>
                  <a:pt x="3327" y="813"/>
                </a:lnTo>
                <a:lnTo>
                  <a:pt x="3326" y="809"/>
                </a:lnTo>
                <a:lnTo>
                  <a:pt x="3324" y="806"/>
                </a:lnTo>
                <a:lnTo>
                  <a:pt x="3323" y="803"/>
                </a:lnTo>
                <a:lnTo>
                  <a:pt x="3321" y="800"/>
                </a:lnTo>
                <a:lnTo>
                  <a:pt x="3318" y="798"/>
                </a:lnTo>
                <a:lnTo>
                  <a:pt x="3313" y="793"/>
                </a:lnTo>
                <a:lnTo>
                  <a:pt x="3307" y="790"/>
                </a:lnTo>
                <a:lnTo>
                  <a:pt x="3300" y="788"/>
                </a:lnTo>
                <a:lnTo>
                  <a:pt x="3292" y="787"/>
                </a:lnTo>
                <a:lnTo>
                  <a:pt x="3285" y="788"/>
                </a:lnTo>
                <a:lnTo>
                  <a:pt x="3281" y="789"/>
                </a:lnTo>
                <a:lnTo>
                  <a:pt x="3278" y="790"/>
                </a:lnTo>
                <a:lnTo>
                  <a:pt x="3271" y="793"/>
                </a:lnTo>
                <a:lnTo>
                  <a:pt x="3268" y="796"/>
                </a:lnTo>
                <a:lnTo>
                  <a:pt x="3266" y="798"/>
                </a:lnTo>
                <a:lnTo>
                  <a:pt x="3261" y="804"/>
                </a:lnTo>
                <a:lnTo>
                  <a:pt x="3258" y="810"/>
                </a:lnTo>
                <a:lnTo>
                  <a:pt x="3256" y="813"/>
                </a:lnTo>
                <a:lnTo>
                  <a:pt x="3255" y="816"/>
                </a:lnTo>
                <a:lnTo>
                  <a:pt x="3254" y="824"/>
                </a:lnTo>
                <a:close/>
                <a:moveTo>
                  <a:pt x="3409" y="930"/>
                </a:moveTo>
                <a:lnTo>
                  <a:pt x="3409" y="753"/>
                </a:lnTo>
                <a:lnTo>
                  <a:pt x="3457" y="753"/>
                </a:lnTo>
                <a:lnTo>
                  <a:pt x="3457" y="784"/>
                </a:lnTo>
                <a:lnTo>
                  <a:pt x="3461" y="776"/>
                </a:lnTo>
                <a:lnTo>
                  <a:pt x="3465" y="769"/>
                </a:lnTo>
                <a:lnTo>
                  <a:pt x="3470" y="764"/>
                </a:lnTo>
                <a:lnTo>
                  <a:pt x="3475" y="759"/>
                </a:lnTo>
                <a:lnTo>
                  <a:pt x="3478" y="757"/>
                </a:lnTo>
                <a:lnTo>
                  <a:pt x="3481" y="755"/>
                </a:lnTo>
                <a:lnTo>
                  <a:pt x="3487" y="753"/>
                </a:lnTo>
                <a:lnTo>
                  <a:pt x="3494" y="751"/>
                </a:lnTo>
                <a:lnTo>
                  <a:pt x="3501" y="751"/>
                </a:lnTo>
                <a:lnTo>
                  <a:pt x="3509" y="751"/>
                </a:lnTo>
                <a:lnTo>
                  <a:pt x="3517" y="752"/>
                </a:lnTo>
                <a:lnTo>
                  <a:pt x="3517" y="796"/>
                </a:lnTo>
                <a:lnTo>
                  <a:pt x="3513" y="795"/>
                </a:lnTo>
                <a:lnTo>
                  <a:pt x="3507" y="794"/>
                </a:lnTo>
                <a:lnTo>
                  <a:pt x="3496" y="793"/>
                </a:lnTo>
                <a:lnTo>
                  <a:pt x="3488" y="794"/>
                </a:lnTo>
                <a:lnTo>
                  <a:pt x="3485" y="795"/>
                </a:lnTo>
                <a:lnTo>
                  <a:pt x="3481" y="796"/>
                </a:lnTo>
                <a:lnTo>
                  <a:pt x="3478" y="797"/>
                </a:lnTo>
                <a:lnTo>
                  <a:pt x="3475" y="799"/>
                </a:lnTo>
                <a:lnTo>
                  <a:pt x="3472" y="801"/>
                </a:lnTo>
                <a:lnTo>
                  <a:pt x="3469" y="803"/>
                </a:lnTo>
                <a:lnTo>
                  <a:pt x="3465" y="809"/>
                </a:lnTo>
                <a:lnTo>
                  <a:pt x="3463" y="812"/>
                </a:lnTo>
                <a:lnTo>
                  <a:pt x="3461" y="815"/>
                </a:lnTo>
                <a:lnTo>
                  <a:pt x="3460" y="818"/>
                </a:lnTo>
                <a:lnTo>
                  <a:pt x="3459" y="822"/>
                </a:lnTo>
                <a:lnTo>
                  <a:pt x="3459" y="826"/>
                </a:lnTo>
                <a:lnTo>
                  <a:pt x="3459" y="830"/>
                </a:lnTo>
                <a:lnTo>
                  <a:pt x="3459" y="930"/>
                </a:lnTo>
                <a:lnTo>
                  <a:pt x="3409" y="930"/>
                </a:lnTo>
                <a:close/>
                <a:moveTo>
                  <a:pt x="3690" y="804"/>
                </a:moveTo>
                <a:lnTo>
                  <a:pt x="3645" y="806"/>
                </a:lnTo>
                <a:lnTo>
                  <a:pt x="3644" y="802"/>
                </a:lnTo>
                <a:lnTo>
                  <a:pt x="3642" y="798"/>
                </a:lnTo>
                <a:lnTo>
                  <a:pt x="3639" y="795"/>
                </a:lnTo>
                <a:lnTo>
                  <a:pt x="3636" y="792"/>
                </a:lnTo>
                <a:lnTo>
                  <a:pt x="3632" y="789"/>
                </a:lnTo>
                <a:lnTo>
                  <a:pt x="3627" y="787"/>
                </a:lnTo>
                <a:lnTo>
                  <a:pt x="3622" y="786"/>
                </a:lnTo>
                <a:lnTo>
                  <a:pt x="3616" y="786"/>
                </a:lnTo>
                <a:lnTo>
                  <a:pt x="3610" y="786"/>
                </a:lnTo>
                <a:lnTo>
                  <a:pt x="3605" y="787"/>
                </a:lnTo>
                <a:lnTo>
                  <a:pt x="3601" y="788"/>
                </a:lnTo>
                <a:lnTo>
                  <a:pt x="3596" y="790"/>
                </a:lnTo>
                <a:lnTo>
                  <a:pt x="3593" y="793"/>
                </a:lnTo>
                <a:lnTo>
                  <a:pt x="3591" y="796"/>
                </a:lnTo>
                <a:lnTo>
                  <a:pt x="3589" y="799"/>
                </a:lnTo>
                <a:lnTo>
                  <a:pt x="3589" y="803"/>
                </a:lnTo>
                <a:lnTo>
                  <a:pt x="3589" y="806"/>
                </a:lnTo>
                <a:lnTo>
                  <a:pt x="3590" y="809"/>
                </a:lnTo>
                <a:lnTo>
                  <a:pt x="3591" y="811"/>
                </a:lnTo>
                <a:lnTo>
                  <a:pt x="3594" y="814"/>
                </a:lnTo>
                <a:lnTo>
                  <a:pt x="3597" y="816"/>
                </a:lnTo>
                <a:lnTo>
                  <a:pt x="3601" y="818"/>
                </a:lnTo>
                <a:lnTo>
                  <a:pt x="3605" y="819"/>
                </a:lnTo>
                <a:lnTo>
                  <a:pt x="3611" y="821"/>
                </a:lnTo>
                <a:lnTo>
                  <a:pt x="3643" y="827"/>
                </a:lnTo>
                <a:lnTo>
                  <a:pt x="3649" y="829"/>
                </a:lnTo>
                <a:lnTo>
                  <a:pt x="3655" y="830"/>
                </a:lnTo>
                <a:lnTo>
                  <a:pt x="3660" y="832"/>
                </a:lnTo>
                <a:lnTo>
                  <a:pt x="3665" y="834"/>
                </a:lnTo>
                <a:lnTo>
                  <a:pt x="3674" y="839"/>
                </a:lnTo>
                <a:lnTo>
                  <a:pt x="3681" y="844"/>
                </a:lnTo>
                <a:lnTo>
                  <a:pt x="3684" y="848"/>
                </a:lnTo>
                <a:lnTo>
                  <a:pt x="3687" y="851"/>
                </a:lnTo>
                <a:lnTo>
                  <a:pt x="3689" y="854"/>
                </a:lnTo>
                <a:lnTo>
                  <a:pt x="3691" y="858"/>
                </a:lnTo>
                <a:lnTo>
                  <a:pt x="3693" y="866"/>
                </a:lnTo>
                <a:lnTo>
                  <a:pt x="3694" y="870"/>
                </a:lnTo>
                <a:lnTo>
                  <a:pt x="3694" y="875"/>
                </a:lnTo>
                <a:lnTo>
                  <a:pt x="3694" y="879"/>
                </a:lnTo>
                <a:lnTo>
                  <a:pt x="3694" y="883"/>
                </a:lnTo>
                <a:lnTo>
                  <a:pt x="3693" y="888"/>
                </a:lnTo>
                <a:lnTo>
                  <a:pt x="3692" y="891"/>
                </a:lnTo>
                <a:lnTo>
                  <a:pt x="3690" y="895"/>
                </a:lnTo>
                <a:lnTo>
                  <a:pt x="3688" y="899"/>
                </a:lnTo>
                <a:lnTo>
                  <a:pt x="3686" y="902"/>
                </a:lnTo>
                <a:lnTo>
                  <a:pt x="3684" y="906"/>
                </a:lnTo>
                <a:lnTo>
                  <a:pt x="3678" y="912"/>
                </a:lnTo>
                <a:lnTo>
                  <a:pt x="3672" y="917"/>
                </a:lnTo>
                <a:lnTo>
                  <a:pt x="3664" y="922"/>
                </a:lnTo>
                <a:lnTo>
                  <a:pt x="3656" y="926"/>
                </a:lnTo>
                <a:lnTo>
                  <a:pt x="3647" y="929"/>
                </a:lnTo>
                <a:lnTo>
                  <a:pt x="3637" y="931"/>
                </a:lnTo>
                <a:lnTo>
                  <a:pt x="3627" y="933"/>
                </a:lnTo>
                <a:lnTo>
                  <a:pt x="3615" y="933"/>
                </a:lnTo>
                <a:lnTo>
                  <a:pt x="3607" y="933"/>
                </a:lnTo>
                <a:lnTo>
                  <a:pt x="3599" y="932"/>
                </a:lnTo>
                <a:lnTo>
                  <a:pt x="3591" y="931"/>
                </a:lnTo>
                <a:lnTo>
                  <a:pt x="3584" y="930"/>
                </a:lnTo>
                <a:lnTo>
                  <a:pt x="3577" y="928"/>
                </a:lnTo>
                <a:lnTo>
                  <a:pt x="3571" y="925"/>
                </a:lnTo>
                <a:lnTo>
                  <a:pt x="3565" y="922"/>
                </a:lnTo>
                <a:lnTo>
                  <a:pt x="3560" y="919"/>
                </a:lnTo>
                <a:lnTo>
                  <a:pt x="3555" y="915"/>
                </a:lnTo>
                <a:lnTo>
                  <a:pt x="3550" y="911"/>
                </a:lnTo>
                <a:lnTo>
                  <a:pt x="3546" y="906"/>
                </a:lnTo>
                <a:lnTo>
                  <a:pt x="3543" y="901"/>
                </a:lnTo>
                <a:lnTo>
                  <a:pt x="3540" y="896"/>
                </a:lnTo>
                <a:lnTo>
                  <a:pt x="3538" y="891"/>
                </a:lnTo>
                <a:lnTo>
                  <a:pt x="3536" y="885"/>
                </a:lnTo>
                <a:lnTo>
                  <a:pt x="3535" y="879"/>
                </a:lnTo>
                <a:lnTo>
                  <a:pt x="3584" y="876"/>
                </a:lnTo>
                <a:lnTo>
                  <a:pt x="3585" y="881"/>
                </a:lnTo>
                <a:lnTo>
                  <a:pt x="3587" y="886"/>
                </a:lnTo>
                <a:lnTo>
                  <a:pt x="3590" y="889"/>
                </a:lnTo>
                <a:lnTo>
                  <a:pt x="3594" y="892"/>
                </a:lnTo>
                <a:lnTo>
                  <a:pt x="3599" y="895"/>
                </a:lnTo>
                <a:lnTo>
                  <a:pt x="3604" y="897"/>
                </a:lnTo>
                <a:lnTo>
                  <a:pt x="3609" y="898"/>
                </a:lnTo>
                <a:lnTo>
                  <a:pt x="3616" y="898"/>
                </a:lnTo>
                <a:lnTo>
                  <a:pt x="3622" y="898"/>
                </a:lnTo>
                <a:lnTo>
                  <a:pt x="3627" y="897"/>
                </a:lnTo>
                <a:lnTo>
                  <a:pt x="3632" y="895"/>
                </a:lnTo>
                <a:lnTo>
                  <a:pt x="3634" y="894"/>
                </a:lnTo>
                <a:lnTo>
                  <a:pt x="3636" y="893"/>
                </a:lnTo>
                <a:lnTo>
                  <a:pt x="3640" y="890"/>
                </a:lnTo>
                <a:lnTo>
                  <a:pt x="3642" y="887"/>
                </a:lnTo>
                <a:lnTo>
                  <a:pt x="3643" y="886"/>
                </a:lnTo>
                <a:lnTo>
                  <a:pt x="3644" y="884"/>
                </a:lnTo>
                <a:lnTo>
                  <a:pt x="3644" y="880"/>
                </a:lnTo>
                <a:lnTo>
                  <a:pt x="3644" y="877"/>
                </a:lnTo>
                <a:lnTo>
                  <a:pt x="3643" y="874"/>
                </a:lnTo>
                <a:lnTo>
                  <a:pt x="3641" y="871"/>
                </a:lnTo>
                <a:lnTo>
                  <a:pt x="3639" y="869"/>
                </a:lnTo>
                <a:lnTo>
                  <a:pt x="3635" y="867"/>
                </a:lnTo>
                <a:lnTo>
                  <a:pt x="3631" y="865"/>
                </a:lnTo>
                <a:lnTo>
                  <a:pt x="3627" y="864"/>
                </a:lnTo>
                <a:lnTo>
                  <a:pt x="3622" y="862"/>
                </a:lnTo>
                <a:lnTo>
                  <a:pt x="3591" y="856"/>
                </a:lnTo>
                <a:lnTo>
                  <a:pt x="3585" y="855"/>
                </a:lnTo>
                <a:lnTo>
                  <a:pt x="3579" y="853"/>
                </a:lnTo>
                <a:lnTo>
                  <a:pt x="3569" y="849"/>
                </a:lnTo>
                <a:lnTo>
                  <a:pt x="3564" y="847"/>
                </a:lnTo>
                <a:lnTo>
                  <a:pt x="3560" y="844"/>
                </a:lnTo>
                <a:lnTo>
                  <a:pt x="3556" y="842"/>
                </a:lnTo>
                <a:lnTo>
                  <a:pt x="3553" y="839"/>
                </a:lnTo>
                <a:lnTo>
                  <a:pt x="3550" y="835"/>
                </a:lnTo>
                <a:lnTo>
                  <a:pt x="3547" y="832"/>
                </a:lnTo>
                <a:lnTo>
                  <a:pt x="3545" y="828"/>
                </a:lnTo>
                <a:lnTo>
                  <a:pt x="3543" y="824"/>
                </a:lnTo>
                <a:lnTo>
                  <a:pt x="3542" y="820"/>
                </a:lnTo>
                <a:lnTo>
                  <a:pt x="3541" y="815"/>
                </a:lnTo>
                <a:lnTo>
                  <a:pt x="3540" y="811"/>
                </a:lnTo>
                <a:lnTo>
                  <a:pt x="3540" y="806"/>
                </a:lnTo>
                <a:lnTo>
                  <a:pt x="3540" y="800"/>
                </a:lnTo>
                <a:lnTo>
                  <a:pt x="3541" y="794"/>
                </a:lnTo>
                <a:lnTo>
                  <a:pt x="3543" y="788"/>
                </a:lnTo>
                <a:lnTo>
                  <a:pt x="3545" y="783"/>
                </a:lnTo>
                <a:lnTo>
                  <a:pt x="3548" y="778"/>
                </a:lnTo>
                <a:lnTo>
                  <a:pt x="3551" y="774"/>
                </a:lnTo>
                <a:lnTo>
                  <a:pt x="3556" y="769"/>
                </a:lnTo>
                <a:lnTo>
                  <a:pt x="3560" y="766"/>
                </a:lnTo>
                <a:lnTo>
                  <a:pt x="3566" y="762"/>
                </a:lnTo>
                <a:lnTo>
                  <a:pt x="3572" y="759"/>
                </a:lnTo>
                <a:lnTo>
                  <a:pt x="3578" y="757"/>
                </a:lnTo>
                <a:lnTo>
                  <a:pt x="3584" y="754"/>
                </a:lnTo>
                <a:lnTo>
                  <a:pt x="3588" y="754"/>
                </a:lnTo>
                <a:lnTo>
                  <a:pt x="3591" y="753"/>
                </a:lnTo>
                <a:lnTo>
                  <a:pt x="3599" y="752"/>
                </a:lnTo>
                <a:lnTo>
                  <a:pt x="3607" y="751"/>
                </a:lnTo>
                <a:lnTo>
                  <a:pt x="3615" y="751"/>
                </a:lnTo>
                <a:lnTo>
                  <a:pt x="3623" y="751"/>
                </a:lnTo>
                <a:lnTo>
                  <a:pt x="3631" y="752"/>
                </a:lnTo>
                <a:lnTo>
                  <a:pt x="3638" y="753"/>
                </a:lnTo>
                <a:lnTo>
                  <a:pt x="3645" y="754"/>
                </a:lnTo>
                <a:lnTo>
                  <a:pt x="3651" y="756"/>
                </a:lnTo>
                <a:lnTo>
                  <a:pt x="3657" y="759"/>
                </a:lnTo>
                <a:lnTo>
                  <a:pt x="3663" y="762"/>
                </a:lnTo>
                <a:lnTo>
                  <a:pt x="3668" y="765"/>
                </a:lnTo>
                <a:lnTo>
                  <a:pt x="3672" y="769"/>
                </a:lnTo>
                <a:lnTo>
                  <a:pt x="3676" y="773"/>
                </a:lnTo>
                <a:lnTo>
                  <a:pt x="3680" y="777"/>
                </a:lnTo>
                <a:lnTo>
                  <a:pt x="3683" y="782"/>
                </a:lnTo>
                <a:lnTo>
                  <a:pt x="3685" y="787"/>
                </a:lnTo>
                <a:lnTo>
                  <a:pt x="3688" y="792"/>
                </a:lnTo>
                <a:lnTo>
                  <a:pt x="3689" y="798"/>
                </a:lnTo>
                <a:lnTo>
                  <a:pt x="3690" y="804"/>
                </a:lnTo>
                <a:close/>
                <a:moveTo>
                  <a:pt x="3751" y="730"/>
                </a:moveTo>
                <a:lnTo>
                  <a:pt x="3746" y="730"/>
                </a:lnTo>
                <a:lnTo>
                  <a:pt x="3741" y="729"/>
                </a:lnTo>
                <a:lnTo>
                  <a:pt x="3736" y="726"/>
                </a:lnTo>
                <a:lnTo>
                  <a:pt x="3732" y="723"/>
                </a:lnTo>
                <a:lnTo>
                  <a:pt x="3729" y="719"/>
                </a:lnTo>
                <a:lnTo>
                  <a:pt x="3726" y="715"/>
                </a:lnTo>
                <a:lnTo>
                  <a:pt x="3725" y="710"/>
                </a:lnTo>
                <a:lnTo>
                  <a:pt x="3724" y="705"/>
                </a:lnTo>
                <a:lnTo>
                  <a:pt x="3725" y="701"/>
                </a:lnTo>
                <a:lnTo>
                  <a:pt x="3726" y="696"/>
                </a:lnTo>
                <a:lnTo>
                  <a:pt x="3729" y="692"/>
                </a:lnTo>
                <a:lnTo>
                  <a:pt x="3732" y="688"/>
                </a:lnTo>
                <a:lnTo>
                  <a:pt x="3736" y="685"/>
                </a:lnTo>
                <a:lnTo>
                  <a:pt x="3741" y="683"/>
                </a:lnTo>
                <a:lnTo>
                  <a:pt x="3746" y="681"/>
                </a:lnTo>
                <a:lnTo>
                  <a:pt x="3751" y="681"/>
                </a:lnTo>
                <a:lnTo>
                  <a:pt x="3756" y="681"/>
                </a:lnTo>
                <a:lnTo>
                  <a:pt x="3761" y="683"/>
                </a:lnTo>
                <a:lnTo>
                  <a:pt x="3765" y="685"/>
                </a:lnTo>
                <a:lnTo>
                  <a:pt x="3770" y="688"/>
                </a:lnTo>
                <a:lnTo>
                  <a:pt x="3773" y="692"/>
                </a:lnTo>
                <a:lnTo>
                  <a:pt x="3775" y="696"/>
                </a:lnTo>
                <a:lnTo>
                  <a:pt x="3777" y="701"/>
                </a:lnTo>
                <a:lnTo>
                  <a:pt x="3777" y="705"/>
                </a:lnTo>
                <a:lnTo>
                  <a:pt x="3777" y="710"/>
                </a:lnTo>
                <a:lnTo>
                  <a:pt x="3775" y="715"/>
                </a:lnTo>
                <a:lnTo>
                  <a:pt x="3773" y="719"/>
                </a:lnTo>
                <a:lnTo>
                  <a:pt x="3770" y="723"/>
                </a:lnTo>
                <a:lnTo>
                  <a:pt x="3765" y="726"/>
                </a:lnTo>
                <a:lnTo>
                  <a:pt x="3761" y="729"/>
                </a:lnTo>
                <a:lnTo>
                  <a:pt x="3756" y="730"/>
                </a:lnTo>
                <a:lnTo>
                  <a:pt x="3751" y="730"/>
                </a:lnTo>
                <a:close/>
                <a:moveTo>
                  <a:pt x="3726" y="753"/>
                </a:moveTo>
                <a:lnTo>
                  <a:pt x="3775" y="753"/>
                </a:lnTo>
                <a:lnTo>
                  <a:pt x="3775" y="930"/>
                </a:lnTo>
                <a:lnTo>
                  <a:pt x="3726" y="930"/>
                </a:lnTo>
                <a:lnTo>
                  <a:pt x="3726" y="753"/>
                </a:lnTo>
                <a:close/>
                <a:moveTo>
                  <a:pt x="3908" y="753"/>
                </a:moveTo>
                <a:lnTo>
                  <a:pt x="3908" y="790"/>
                </a:lnTo>
                <a:lnTo>
                  <a:pt x="3874" y="790"/>
                </a:lnTo>
                <a:lnTo>
                  <a:pt x="3874" y="876"/>
                </a:lnTo>
                <a:lnTo>
                  <a:pt x="3874" y="880"/>
                </a:lnTo>
                <a:lnTo>
                  <a:pt x="3875" y="884"/>
                </a:lnTo>
                <a:lnTo>
                  <a:pt x="3876" y="886"/>
                </a:lnTo>
                <a:lnTo>
                  <a:pt x="3877" y="887"/>
                </a:lnTo>
                <a:lnTo>
                  <a:pt x="3879" y="889"/>
                </a:lnTo>
                <a:lnTo>
                  <a:pt x="3881" y="891"/>
                </a:lnTo>
                <a:lnTo>
                  <a:pt x="3884" y="892"/>
                </a:lnTo>
                <a:lnTo>
                  <a:pt x="3887" y="893"/>
                </a:lnTo>
                <a:lnTo>
                  <a:pt x="3891" y="893"/>
                </a:lnTo>
                <a:lnTo>
                  <a:pt x="3899" y="892"/>
                </a:lnTo>
                <a:lnTo>
                  <a:pt x="3904" y="891"/>
                </a:lnTo>
                <a:lnTo>
                  <a:pt x="3912" y="928"/>
                </a:lnTo>
                <a:lnTo>
                  <a:pt x="3901" y="930"/>
                </a:lnTo>
                <a:lnTo>
                  <a:pt x="3893" y="932"/>
                </a:lnTo>
                <a:lnTo>
                  <a:pt x="3884" y="932"/>
                </a:lnTo>
                <a:lnTo>
                  <a:pt x="3878" y="932"/>
                </a:lnTo>
                <a:lnTo>
                  <a:pt x="3871" y="932"/>
                </a:lnTo>
                <a:lnTo>
                  <a:pt x="3866" y="931"/>
                </a:lnTo>
                <a:lnTo>
                  <a:pt x="3860" y="930"/>
                </a:lnTo>
                <a:lnTo>
                  <a:pt x="3855" y="928"/>
                </a:lnTo>
                <a:lnTo>
                  <a:pt x="3850" y="926"/>
                </a:lnTo>
                <a:lnTo>
                  <a:pt x="3845" y="924"/>
                </a:lnTo>
                <a:lnTo>
                  <a:pt x="3841" y="921"/>
                </a:lnTo>
                <a:lnTo>
                  <a:pt x="3837" y="917"/>
                </a:lnTo>
                <a:lnTo>
                  <a:pt x="3834" y="914"/>
                </a:lnTo>
                <a:lnTo>
                  <a:pt x="3831" y="909"/>
                </a:lnTo>
                <a:lnTo>
                  <a:pt x="3829" y="905"/>
                </a:lnTo>
                <a:lnTo>
                  <a:pt x="3827" y="900"/>
                </a:lnTo>
                <a:lnTo>
                  <a:pt x="3826" y="894"/>
                </a:lnTo>
                <a:lnTo>
                  <a:pt x="3825" y="888"/>
                </a:lnTo>
                <a:lnTo>
                  <a:pt x="3825" y="882"/>
                </a:lnTo>
                <a:lnTo>
                  <a:pt x="3825" y="790"/>
                </a:lnTo>
                <a:lnTo>
                  <a:pt x="3801" y="790"/>
                </a:lnTo>
                <a:lnTo>
                  <a:pt x="3801" y="753"/>
                </a:lnTo>
                <a:lnTo>
                  <a:pt x="3825" y="753"/>
                </a:lnTo>
                <a:lnTo>
                  <a:pt x="3825" y="711"/>
                </a:lnTo>
                <a:lnTo>
                  <a:pt x="3874" y="711"/>
                </a:lnTo>
                <a:lnTo>
                  <a:pt x="3874" y="753"/>
                </a:lnTo>
                <a:lnTo>
                  <a:pt x="3908" y="753"/>
                </a:lnTo>
                <a:close/>
                <a:moveTo>
                  <a:pt x="3974" y="996"/>
                </a:moveTo>
                <a:lnTo>
                  <a:pt x="3965" y="996"/>
                </a:lnTo>
                <a:lnTo>
                  <a:pt x="3956" y="995"/>
                </a:lnTo>
                <a:lnTo>
                  <a:pt x="3949" y="993"/>
                </a:lnTo>
                <a:lnTo>
                  <a:pt x="3943" y="991"/>
                </a:lnTo>
                <a:lnTo>
                  <a:pt x="3954" y="954"/>
                </a:lnTo>
                <a:lnTo>
                  <a:pt x="3960" y="956"/>
                </a:lnTo>
                <a:lnTo>
                  <a:pt x="3966" y="957"/>
                </a:lnTo>
                <a:lnTo>
                  <a:pt x="3971" y="957"/>
                </a:lnTo>
                <a:lnTo>
                  <a:pt x="3976" y="957"/>
                </a:lnTo>
                <a:lnTo>
                  <a:pt x="3978" y="956"/>
                </a:lnTo>
                <a:lnTo>
                  <a:pt x="3980" y="955"/>
                </a:lnTo>
                <a:lnTo>
                  <a:pt x="3984" y="952"/>
                </a:lnTo>
                <a:lnTo>
                  <a:pt x="3987" y="948"/>
                </a:lnTo>
                <a:lnTo>
                  <a:pt x="3990" y="942"/>
                </a:lnTo>
                <a:lnTo>
                  <a:pt x="3993" y="935"/>
                </a:lnTo>
                <a:lnTo>
                  <a:pt x="3930" y="753"/>
                </a:lnTo>
                <a:lnTo>
                  <a:pt x="3981" y="753"/>
                </a:lnTo>
                <a:lnTo>
                  <a:pt x="4018" y="883"/>
                </a:lnTo>
                <a:lnTo>
                  <a:pt x="4056" y="753"/>
                </a:lnTo>
                <a:lnTo>
                  <a:pt x="4108" y="753"/>
                </a:lnTo>
                <a:lnTo>
                  <a:pt x="4040" y="949"/>
                </a:lnTo>
                <a:lnTo>
                  <a:pt x="4035" y="959"/>
                </a:lnTo>
                <a:lnTo>
                  <a:pt x="4033" y="964"/>
                </a:lnTo>
                <a:lnTo>
                  <a:pt x="4030" y="968"/>
                </a:lnTo>
                <a:lnTo>
                  <a:pt x="4024" y="976"/>
                </a:lnTo>
                <a:lnTo>
                  <a:pt x="4017" y="983"/>
                </a:lnTo>
                <a:lnTo>
                  <a:pt x="4013" y="986"/>
                </a:lnTo>
                <a:lnTo>
                  <a:pt x="4008" y="989"/>
                </a:lnTo>
                <a:lnTo>
                  <a:pt x="4003" y="991"/>
                </a:lnTo>
                <a:lnTo>
                  <a:pt x="3998" y="993"/>
                </a:lnTo>
                <a:lnTo>
                  <a:pt x="3993" y="994"/>
                </a:lnTo>
                <a:lnTo>
                  <a:pt x="3987" y="995"/>
                </a:lnTo>
                <a:lnTo>
                  <a:pt x="3980" y="996"/>
                </a:lnTo>
                <a:lnTo>
                  <a:pt x="3974" y="996"/>
                </a:lnTo>
                <a:close/>
                <a:moveTo>
                  <a:pt x="1623" y="590"/>
                </a:moveTo>
                <a:lnTo>
                  <a:pt x="1569" y="590"/>
                </a:lnTo>
                <a:lnTo>
                  <a:pt x="1651" y="354"/>
                </a:lnTo>
                <a:lnTo>
                  <a:pt x="1715" y="354"/>
                </a:lnTo>
                <a:lnTo>
                  <a:pt x="1797" y="590"/>
                </a:lnTo>
                <a:lnTo>
                  <a:pt x="1743" y="590"/>
                </a:lnTo>
                <a:lnTo>
                  <a:pt x="1726" y="536"/>
                </a:lnTo>
                <a:lnTo>
                  <a:pt x="1641" y="536"/>
                </a:lnTo>
                <a:lnTo>
                  <a:pt x="1623" y="590"/>
                </a:lnTo>
                <a:close/>
                <a:moveTo>
                  <a:pt x="1653" y="497"/>
                </a:moveTo>
                <a:lnTo>
                  <a:pt x="1713" y="497"/>
                </a:lnTo>
                <a:lnTo>
                  <a:pt x="1684" y="408"/>
                </a:lnTo>
                <a:lnTo>
                  <a:pt x="1653" y="497"/>
                </a:lnTo>
                <a:close/>
                <a:moveTo>
                  <a:pt x="1874" y="593"/>
                </a:moveTo>
                <a:lnTo>
                  <a:pt x="1867" y="593"/>
                </a:lnTo>
                <a:lnTo>
                  <a:pt x="1861" y="592"/>
                </a:lnTo>
                <a:lnTo>
                  <a:pt x="1856" y="591"/>
                </a:lnTo>
                <a:lnTo>
                  <a:pt x="1850" y="590"/>
                </a:lnTo>
                <a:lnTo>
                  <a:pt x="1845" y="588"/>
                </a:lnTo>
                <a:lnTo>
                  <a:pt x="1840" y="586"/>
                </a:lnTo>
                <a:lnTo>
                  <a:pt x="1836" y="583"/>
                </a:lnTo>
                <a:lnTo>
                  <a:pt x="1832" y="580"/>
                </a:lnTo>
                <a:lnTo>
                  <a:pt x="1828" y="576"/>
                </a:lnTo>
                <a:lnTo>
                  <a:pt x="1824" y="572"/>
                </a:lnTo>
                <a:lnTo>
                  <a:pt x="1821" y="568"/>
                </a:lnTo>
                <a:lnTo>
                  <a:pt x="1820" y="566"/>
                </a:lnTo>
                <a:lnTo>
                  <a:pt x="1819" y="563"/>
                </a:lnTo>
                <a:lnTo>
                  <a:pt x="1817" y="558"/>
                </a:lnTo>
                <a:lnTo>
                  <a:pt x="1816" y="553"/>
                </a:lnTo>
                <a:lnTo>
                  <a:pt x="1815" y="547"/>
                </a:lnTo>
                <a:lnTo>
                  <a:pt x="1815" y="540"/>
                </a:lnTo>
                <a:lnTo>
                  <a:pt x="1815" y="531"/>
                </a:lnTo>
                <a:lnTo>
                  <a:pt x="1817" y="523"/>
                </a:lnTo>
                <a:lnTo>
                  <a:pt x="1818" y="519"/>
                </a:lnTo>
                <a:lnTo>
                  <a:pt x="1820" y="515"/>
                </a:lnTo>
                <a:lnTo>
                  <a:pt x="1824" y="509"/>
                </a:lnTo>
                <a:lnTo>
                  <a:pt x="1827" y="507"/>
                </a:lnTo>
                <a:lnTo>
                  <a:pt x="1829" y="504"/>
                </a:lnTo>
                <a:lnTo>
                  <a:pt x="1832" y="502"/>
                </a:lnTo>
                <a:lnTo>
                  <a:pt x="1835" y="499"/>
                </a:lnTo>
                <a:lnTo>
                  <a:pt x="1838" y="497"/>
                </a:lnTo>
                <a:lnTo>
                  <a:pt x="1841" y="496"/>
                </a:lnTo>
                <a:lnTo>
                  <a:pt x="1845" y="494"/>
                </a:lnTo>
                <a:lnTo>
                  <a:pt x="1849" y="493"/>
                </a:lnTo>
                <a:lnTo>
                  <a:pt x="1856" y="490"/>
                </a:lnTo>
                <a:lnTo>
                  <a:pt x="1864" y="488"/>
                </a:lnTo>
                <a:lnTo>
                  <a:pt x="1873" y="487"/>
                </a:lnTo>
                <a:lnTo>
                  <a:pt x="1881" y="486"/>
                </a:lnTo>
                <a:lnTo>
                  <a:pt x="1901" y="484"/>
                </a:lnTo>
                <a:lnTo>
                  <a:pt x="1908" y="482"/>
                </a:lnTo>
                <a:lnTo>
                  <a:pt x="1914" y="481"/>
                </a:lnTo>
                <a:lnTo>
                  <a:pt x="1918" y="479"/>
                </a:lnTo>
                <a:lnTo>
                  <a:pt x="1920" y="478"/>
                </a:lnTo>
                <a:lnTo>
                  <a:pt x="1922" y="477"/>
                </a:lnTo>
                <a:lnTo>
                  <a:pt x="1923" y="476"/>
                </a:lnTo>
                <a:lnTo>
                  <a:pt x="1923" y="474"/>
                </a:lnTo>
                <a:lnTo>
                  <a:pt x="1924" y="472"/>
                </a:lnTo>
                <a:lnTo>
                  <a:pt x="1924" y="470"/>
                </a:lnTo>
                <a:lnTo>
                  <a:pt x="1924" y="464"/>
                </a:lnTo>
                <a:lnTo>
                  <a:pt x="1922" y="460"/>
                </a:lnTo>
                <a:lnTo>
                  <a:pt x="1921" y="458"/>
                </a:lnTo>
                <a:lnTo>
                  <a:pt x="1920" y="456"/>
                </a:lnTo>
                <a:lnTo>
                  <a:pt x="1919" y="454"/>
                </a:lnTo>
                <a:lnTo>
                  <a:pt x="1917" y="452"/>
                </a:lnTo>
                <a:lnTo>
                  <a:pt x="1913" y="450"/>
                </a:lnTo>
                <a:lnTo>
                  <a:pt x="1909" y="448"/>
                </a:lnTo>
                <a:lnTo>
                  <a:pt x="1904" y="447"/>
                </a:lnTo>
                <a:lnTo>
                  <a:pt x="1898" y="446"/>
                </a:lnTo>
                <a:lnTo>
                  <a:pt x="1892" y="447"/>
                </a:lnTo>
                <a:lnTo>
                  <a:pt x="1886" y="448"/>
                </a:lnTo>
                <a:lnTo>
                  <a:pt x="1881" y="450"/>
                </a:lnTo>
                <a:lnTo>
                  <a:pt x="1877" y="452"/>
                </a:lnTo>
                <a:lnTo>
                  <a:pt x="1873" y="455"/>
                </a:lnTo>
                <a:lnTo>
                  <a:pt x="1870" y="459"/>
                </a:lnTo>
                <a:lnTo>
                  <a:pt x="1868" y="463"/>
                </a:lnTo>
                <a:lnTo>
                  <a:pt x="1867" y="465"/>
                </a:lnTo>
                <a:lnTo>
                  <a:pt x="1866" y="467"/>
                </a:lnTo>
                <a:lnTo>
                  <a:pt x="1821" y="463"/>
                </a:lnTo>
                <a:lnTo>
                  <a:pt x="1823" y="457"/>
                </a:lnTo>
                <a:lnTo>
                  <a:pt x="1825" y="452"/>
                </a:lnTo>
                <a:lnTo>
                  <a:pt x="1827" y="446"/>
                </a:lnTo>
                <a:lnTo>
                  <a:pt x="1830" y="441"/>
                </a:lnTo>
                <a:lnTo>
                  <a:pt x="1833" y="437"/>
                </a:lnTo>
                <a:lnTo>
                  <a:pt x="1837" y="432"/>
                </a:lnTo>
                <a:lnTo>
                  <a:pt x="1841" y="428"/>
                </a:lnTo>
                <a:lnTo>
                  <a:pt x="1846" y="425"/>
                </a:lnTo>
                <a:lnTo>
                  <a:pt x="1851" y="421"/>
                </a:lnTo>
                <a:lnTo>
                  <a:pt x="1857" y="419"/>
                </a:lnTo>
                <a:lnTo>
                  <a:pt x="1863" y="416"/>
                </a:lnTo>
                <a:lnTo>
                  <a:pt x="1869" y="414"/>
                </a:lnTo>
                <a:lnTo>
                  <a:pt x="1876" y="413"/>
                </a:lnTo>
                <a:lnTo>
                  <a:pt x="1883" y="412"/>
                </a:lnTo>
                <a:lnTo>
                  <a:pt x="1890" y="411"/>
                </a:lnTo>
                <a:lnTo>
                  <a:pt x="1898" y="411"/>
                </a:lnTo>
                <a:lnTo>
                  <a:pt x="1908" y="411"/>
                </a:lnTo>
                <a:lnTo>
                  <a:pt x="1917" y="412"/>
                </a:lnTo>
                <a:lnTo>
                  <a:pt x="1926" y="414"/>
                </a:lnTo>
                <a:lnTo>
                  <a:pt x="1935" y="417"/>
                </a:lnTo>
                <a:lnTo>
                  <a:pt x="1943" y="420"/>
                </a:lnTo>
                <a:lnTo>
                  <a:pt x="1947" y="422"/>
                </a:lnTo>
                <a:lnTo>
                  <a:pt x="1950" y="425"/>
                </a:lnTo>
                <a:lnTo>
                  <a:pt x="1957" y="430"/>
                </a:lnTo>
                <a:lnTo>
                  <a:pt x="1963" y="436"/>
                </a:lnTo>
                <a:lnTo>
                  <a:pt x="1965" y="440"/>
                </a:lnTo>
                <a:lnTo>
                  <a:pt x="1967" y="443"/>
                </a:lnTo>
                <a:lnTo>
                  <a:pt x="1969" y="447"/>
                </a:lnTo>
                <a:lnTo>
                  <a:pt x="1970" y="451"/>
                </a:lnTo>
                <a:lnTo>
                  <a:pt x="1972" y="456"/>
                </a:lnTo>
                <a:lnTo>
                  <a:pt x="1972" y="460"/>
                </a:lnTo>
                <a:lnTo>
                  <a:pt x="1973" y="465"/>
                </a:lnTo>
                <a:lnTo>
                  <a:pt x="1973" y="470"/>
                </a:lnTo>
                <a:lnTo>
                  <a:pt x="1973" y="590"/>
                </a:lnTo>
                <a:lnTo>
                  <a:pt x="1927" y="590"/>
                </a:lnTo>
                <a:lnTo>
                  <a:pt x="1927" y="565"/>
                </a:lnTo>
                <a:lnTo>
                  <a:pt x="1922" y="571"/>
                </a:lnTo>
                <a:lnTo>
                  <a:pt x="1917" y="576"/>
                </a:lnTo>
                <a:lnTo>
                  <a:pt x="1912" y="581"/>
                </a:lnTo>
                <a:lnTo>
                  <a:pt x="1906" y="585"/>
                </a:lnTo>
                <a:lnTo>
                  <a:pt x="1899" y="589"/>
                </a:lnTo>
                <a:lnTo>
                  <a:pt x="1891" y="591"/>
                </a:lnTo>
                <a:lnTo>
                  <a:pt x="1887" y="592"/>
                </a:lnTo>
                <a:lnTo>
                  <a:pt x="1883" y="592"/>
                </a:lnTo>
                <a:lnTo>
                  <a:pt x="1874" y="593"/>
                </a:lnTo>
                <a:close/>
                <a:moveTo>
                  <a:pt x="1888" y="559"/>
                </a:moveTo>
                <a:lnTo>
                  <a:pt x="1895" y="559"/>
                </a:lnTo>
                <a:lnTo>
                  <a:pt x="1902" y="557"/>
                </a:lnTo>
                <a:lnTo>
                  <a:pt x="1905" y="556"/>
                </a:lnTo>
                <a:lnTo>
                  <a:pt x="1908" y="554"/>
                </a:lnTo>
                <a:lnTo>
                  <a:pt x="1914" y="550"/>
                </a:lnTo>
                <a:lnTo>
                  <a:pt x="1916" y="547"/>
                </a:lnTo>
                <a:lnTo>
                  <a:pt x="1919" y="545"/>
                </a:lnTo>
                <a:lnTo>
                  <a:pt x="1922" y="539"/>
                </a:lnTo>
                <a:lnTo>
                  <a:pt x="1924" y="533"/>
                </a:lnTo>
                <a:lnTo>
                  <a:pt x="1924" y="530"/>
                </a:lnTo>
                <a:lnTo>
                  <a:pt x="1924" y="527"/>
                </a:lnTo>
                <a:lnTo>
                  <a:pt x="1924" y="508"/>
                </a:lnTo>
                <a:lnTo>
                  <a:pt x="1921" y="510"/>
                </a:lnTo>
                <a:lnTo>
                  <a:pt x="1915" y="511"/>
                </a:lnTo>
                <a:lnTo>
                  <a:pt x="1903" y="514"/>
                </a:lnTo>
                <a:lnTo>
                  <a:pt x="1890" y="516"/>
                </a:lnTo>
                <a:lnTo>
                  <a:pt x="1884" y="517"/>
                </a:lnTo>
                <a:lnTo>
                  <a:pt x="1879" y="518"/>
                </a:lnTo>
                <a:lnTo>
                  <a:pt x="1874" y="520"/>
                </a:lnTo>
                <a:lnTo>
                  <a:pt x="1870" y="523"/>
                </a:lnTo>
                <a:lnTo>
                  <a:pt x="1866" y="526"/>
                </a:lnTo>
                <a:lnTo>
                  <a:pt x="1864" y="530"/>
                </a:lnTo>
                <a:lnTo>
                  <a:pt x="1863" y="532"/>
                </a:lnTo>
                <a:lnTo>
                  <a:pt x="1862" y="534"/>
                </a:lnTo>
                <a:lnTo>
                  <a:pt x="1862" y="539"/>
                </a:lnTo>
                <a:lnTo>
                  <a:pt x="1862" y="543"/>
                </a:lnTo>
                <a:lnTo>
                  <a:pt x="1863" y="548"/>
                </a:lnTo>
                <a:lnTo>
                  <a:pt x="1865" y="549"/>
                </a:lnTo>
                <a:lnTo>
                  <a:pt x="1866" y="551"/>
                </a:lnTo>
                <a:lnTo>
                  <a:pt x="1869" y="554"/>
                </a:lnTo>
                <a:lnTo>
                  <a:pt x="1873" y="556"/>
                </a:lnTo>
                <a:lnTo>
                  <a:pt x="1875" y="557"/>
                </a:lnTo>
                <a:lnTo>
                  <a:pt x="1877" y="558"/>
                </a:lnTo>
                <a:lnTo>
                  <a:pt x="1882" y="559"/>
                </a:lnTo>
                <a:lnTo>
                  <a:pt x="1888" y="559"/>
                </a:lnTo>
                <a:close/>
                <a:moveTo>
                  <a:pt x="2063" y="590"/>
                </a:moveTo>
                <a:lnTo>
                  <a:pt x="2013" y="590"/>
                </a:lnTo>
                <a:lnTo>
                  <a:pt x="2013" y="354"/>
                </a:lnTo>
                <a:lnTo>
                  <a:pt x="2063" y="354"/>
                </a:lnTo>
                <a:lnTo>
                  <a:pt x="2063" y="590"/>
                </a:lnTo>
                <a:close/>
                <a:moveTo>
                  <a:pt x="2197" y="413"/>
                </a:moveTo>
                <a:lnTo>
                  <a:pt x="2197" y="450"/>
                </a:lnTo>
                <a:lnTo>
                  <a:pt x="2164" y="450"/>
                </a:lnTo>
                <a:lnTo>
                  <a:pt x="2164" y="535"/>
                </a:lnTo>
                <a:lnTo>
                  <a:pt x="2164" y="540"/>
                </a:lnTo>
                <a:lnTo>
                  <a:pt x="2165" y="544"/>
                </a:lnTo>
                <a:lnTo>
                  <a:pt x="2166" y="545"/>
                </a:lnTo>
                <a:lnTo>
                  <a:pt x="2167" y="547"/>
                </a:lnTo>
                <a:lnTo>
                  <a:pt x="2169" y="549"/>
                </a:lnTo>
                <a:lnTo>
                  <a:pt x="2171" y="551"/>
                </a:lnTo>
                <a:lnTo>
                  <a:pt x="2174" y="552"/>
                </a:lnTo>
                <a:lnTo>
                  <a:pt x="2177" y="552"/>
                </a:lnTo>
                <a:lnTo>
                  <a:pt x="2181" y="553"/>
                </a:lnTo>
                <a:lnTo>
                  <a:pt x="2188" y="552"/>
                </a:lnTo>
                <a:lnTo>
                  <a:pt x="2193" y="551"/>
                </a:lnTo>
                <a:lnTo>
                  <a:pt x="2201" y="587"/>
                </a:lnTo>
                <a:lnTo>
                  <a:pt x="2190" y="590"/>
                </a:lnTo>
                <a:lnTo>
                  <a:pt x="2183" y="591"/>
                </a:lnTo>
                <a:lnTo>
                  <a:pt x="2174" y="592"/>
                </a:lnTo>
                <a:lnTo>
                  <a:pt x="2168" y="592"/>
                </a:lnTo>
                <a:lnTo>
                  <a:pt x="2161" y="592"/>
                </a:lnTo>
                <a:lnTo>
                  <a:pt x="2156" y="591"/>
                </a:lnTo>
                <a:lnTo>
                  <a:pt x="2150" y="590"/>
                </a:lnTo>
                <a:lnTo>
                  <a:pt x="2145" y="588"/>
                </a:lnTo>
                <a:lnTo>
                  <a:pt x="2140" y="586"/>
                </a:lnTo>
                <a:lnTo>
                  <a:pt x="2135" y="583"/>
                </a:lnTo>
                <a:lnTo>
                  <a:pt x="2131" y="581"/>
                </a:lnTo>
                <a:lnTo>
                  <a:pt x="2127" y="577"/>
                </a:lnTo>
                <a:lnTo>
                  <a:pt x="2124" y="573"/>
                </a:lnTo>
                <a:lnTo>
                  <a:pt x="2121" y="569"/>
                </a:lnTo>
                <a:lnTo>
                  <a:pt x="2119" y="564"/>
                </a:lnTo>
                <a:lnTo>
                  <a:pt x="2117" y="559"/>
                </a:lnTo>
                <a:lnTo>
                  <a:pt x="2116" y="554"/>
                </a:lnTo>
                <a:lnTo>
                  <a:pt x="2115" y="548"/>
                </a:lnTo>
                <a:lnTo>
                  <a:pt x="2115" y="542"/>
                </a:lnTo>
                <a:lnTo>
                  <a:pt x="2115" y="450"/>
                </a:lnTo>
                <a:lnTo>
                  <a:pt x="2091" y="450"/>
                </a:lnTo>
                <a:lnTo>
                  <a:pt x="2091" y="413"/>
                </a:lnTo>
                <a:lnTo>
                  <a:pt x="2115" y="413"/>
                </a:lnTo>
                <a:lnTo>
                  <a:pt x="2115" y="371"/>
                </a:lnTo>
                <a:lnTo>
                  <a:pt x="2164" y="371"/>
                </a:lnTo>
                <a:lnTo>
                  <a:pt x="2164" y="413"/>
                </a:lnTo>
                <a:lnTo>
                  <a:pt x="2197" y="413"/>
                </a:lnTo>
                <a:close/>
                <a:moveTo>
                  <a:pt x="2304" y="593"/>
                </a:moveTo>
                <a:lnTo>
                  <a:pt x="2291" y="592"/>
                </a:lnTo>
                <a:lnTo>
                  <a:pt x="2285" y="591"/>
                </a:lnTo>
                <a:lnTo>
                  <a:pt x="2279" y="590"/>
                </a:lnTo>
                <a:lnTo>
                  <a:pt x="2268" y="587"/>
                </a:lnTo>
                <a:lnTo>
                  <a:pt x="2263" y="584"/>
                </a:lnTo>
                <a:lnTo>
                  <a:pt x="2258" y="582"/>
                </a:lnTo>
                <a:lnTo>
                  <a:pt x="2249" y="575"/>
                </a:lnTo>
                <a:lnTo>
                  <a:pt x="2245" y="572"/>
                </a:lnTo>
                <a:lnTo>
                  <a:pt x="2241" y="568"/>
                </a:lnTo>
                <a:lnTo>
                  <a:pt x="2234" y="559"/>
                </a:lnTo>
                <a:lnTo>
                  <a:pt x="2231" y="555"/>
                </a:lnTo>
                <a:lnTo>
                  <a:pt x="2228" y="550"/>
                </a:lnTo>
                <a:lnTo>
                  <a:pt x="2223" y="539"/>
                </a:lnTo>
                <a:lnTo>
                  <a:pt x="2221" y="533"/>
                </a:lnTo>
                <a:lnTo>
                  <a:pt x="2220" y="527"/>
                </a:lnTo>
                <a:lnTo>
                  <a:pt x="2219" y="521"/>
                </a:lnTo>
                <a:lnTo>
                  <a:pt x="2218" y="515"/>
                </a:lnTo>
                <a:lnTo>
                  <a:pt x="2218" y="509"/>
                </a:lnTo>
                <a:lnTo>
                  <a:pt x="2217" y="502"/>
                </a:lnTo>
                <a:lnTo>
                  <a:pt x="2218" y="495"/>
                </a:lnTo>
                <a:lnTo>
                  <a:pt x="2218" y="489"/>
                </a:lnTo>
                <a:lnTo>
                  <a:pt x="2219" y="482"/>
                </a:lnTo>
                <a:lnTo>
                  <a:pt x="2220" y="476"/>
                </a:lnTo>
                <a:lnTo>
                  <a:pt x="2223" y="465"/>
                </a:lnTo>
                <a:lnTo>
                  <a:pt x="2225" y="459"/>
                </a:lnTo>
                <a:lnTo>
                  <a:pt x="2228" y="454"/>
                </a:lnTo>
                <a:lnTo>
                  <a:pt x="2234" y="444"/>
                </a:lnTo>
                <a:lnTo>
                  <a:pt x="2237" y="440"/>
                </a:lnTo>
                <a:lnTo>
                  <a:pt x="2241" y="436"/>
                </a:lnTo>
                <a:lnTo>
                  <a:pt x="2245" y="432"/>
                </a:lnTo>
                <a:lnTo>
                  <a:pt x="2249" y="428"/>
                </a:lnTo>
                <a:lnTo>
                  <a:pt x="2253" y="425"/>
                </a:lnTo>
                <a:lnTo>
                  <a:pt x="2258" y="422"/>
                </a:lnTo>
                <a:lnTo>
                  <a:pt x="2263" y="419"/>
                </a:lnTo>
                <a:lnTo>
                  <a:pt x="2268" y="417"/>
                </a:lnTo>
                <a:lnTo>
                  <a:pt x="2274" y="415"/>
                </a:lnTo>
                <a:lnTo>
                  <a:pt x="2279" y="413"/>
                </a:lnTo>
                <a:lnTo>
                  <a:pt x="2285" y="412"/>
                </a:lnTo>
                <a:lnTo>
                  <a:pt x="2291" y="411"/>
                </a:lnTo>
                <a:lnTo>
                  <a:pt x="2304" y="411"/>
                </a:lnTo>
                <a:lnTo>
                  <a:pt x="2317" y="411"/>
                </a:lnTo>
                <a:lnTo>
                  <a:pt x="2323" y="412"/>
                </a:lnTo>
                <a:lnTo>
                  <a:pt x="2329" y="413"/>
                </a:lnTo>
                <a:lnTo>
                  <a:pt x="2340" y="417"/>
                </a:lnTo>
                <a:lnTo>
                  <a:pt x="2346" y="419"/>
                </a:lnTo>
                <a:lnTo>
                  <a:pt x="2351" y="422"/>
                </a:lnTo>
                <a:lnTo>
                  <a:pt x="2360" y="428"/>
                </a:lnTo>
                <a:lnTo>
                  <a:pt x="2364" y="432"/>
                </a:lnTo>
                <a:lnTo>
                  <a:pt x="2368" y="436"/>
                </a:lnTo>
                <a:lnTo>
                  <a:pt x="2375" y="444"/>
                </a:lnTo>
                <a:lnTo>
                  <a:pt x="2378" y="449"/>
                </a:lnTo>
                <a:lnTo>
                  <a:pt x="2381" y="454"/>
                </a:lnTo>
                <a:lnTo>
                  <a:pt x="2385" y="465"/>
                </a:lnTo>
                <a:lnTo>
                  <a:pt x="2387" y="470"/>
                </a:lnTo>
                <a:lnTo>
                  <a:pt x="2389" y="476"/>
                </a:lnTo>
                <a:lnTo>
                  <a:pt x="2390" y="482"/>
                </a:lnTo>
                <a:lnTo>
                  <a:pt x="2391" y="489"/>
                </a:lnTo>
                <a:lnTo>
                  <a:pt x="2391" y="495"/>
                </a:lnTo>
                <a:lnTo>
                  <a:pt x="2391" y="502"/>
                </a:lnTo>
                <a:lnTo>
                  <a:pt x="2391" y="509"/>
                </a:lnTo>
                <a:lnTo>
                  <a:pt x="2391" y="515"/>
                </a:lnTo>
                <a:lnTo>
                  <a:pt x="2390" y="521"/>
                </a:lnTo>
                <a:lnTo>
                  <a:pt x="2389" y="527"/>
                </a:lnTo>
                <a:lnTo>
                  <a:pt x="2385" y="539"/>
                </a:lnTo>
                <a:lnTo>
                  <a:pt x="2383" y="544"/>
                </a:lnTo>
                <a:lnTo>
                  <a:pt x="2381" y="550"/>
                </a:lnTo>
                <a:lnTo>
                  <a:pt x="2375" y="559"/>
                </a:lnTo>
                <a:lnTo>
                  <a:pt x="2372" y="564"/>
                </a:lnTo>
                <a:lnTo>
                  <a:pt x="2368" y="568"/>
                </a:lnTo>
                <a:lnTo>
                  <a:pt x="2364" y="572"/>
                </a:lnTo>
                <a:lnTo>
                  <a:pt x="2360" y="575"/>
                </a:lnTo>
                <a:lnTo>
                  <a:pt x="2355" y="579"/>
                </a:lnTo>
                <a:lnTo>
                  <a:pt x="2351" y="582"/>
                </a:lnTo>
                <a:lnTo>
                  <a:pt x="2346" y="584"/>
                </a:lnTo>
                <a:lnTo>
                  <a:pt x="2340" y="587"/>
                </a:lnTo>
                <a:lnTo>
                  <a:pt x="2335" y="589"/>
                </a:lnTo>
                <a:lnTo>
                  <a:pt x="2329" y="590"/>
                </a:lnTo>
                <a:lnTo>
                  <a:pt x="2323" y="591"/>
                </a:lnTo>
                <a:lnTo>
                  <a:pt x="2317" y="592"/>
                </a:lnTo>
                <a:lnTo>
                  <a:pt x="2304" y="593"/>
                </a:lnTo>
                <a:close/>
                <a:moveTo>
                  <a:pt x="2305" y="555"/>
                </a:moveTo>
                <a:lnTo>
                  <a:pt x="2309" y="555"/>
                </a:lnTo>
                <a:lnTo>
                  <a:pt x="2313" y="554"/>
                </a:lnTo>
                <a:lnTo>
                  <a:pt x="2317" y="553"/>
                </a:lnTo>
                <a:lnTo>
                  <a:pt x="2321" y="551"/>
                </a:lnTo>
                <a:lnTo>
                  <a:pt x="2324" y="549"/>
                </a:lnTo>
                <a:lnTo>
                  <a:pt x="2327" y="547"/>
                </a:lnTo>
                <a:lnTo>
                  <a:pt x="2330" y="544"/>
                </a:lnTo>
                <a:lnTo>
                  <a:pt x="2332" y="540"/>
                </a:lnTo>
                <a:lnTo>
                  <a:pt x="2334" y="536"/>
                </a:lnTo>
                <a:lnTo>
                  <a:pt x="2336" y="532"/>
                </a:lnTo>
                <a:lnTo>
                  <a:pt x="2338" y="527"/>
                </a:lnTo>
                <a:lnTo>
                  <a:pt x="2339" y="523"/>
                </a:lnTo>
                <a:lnTo>
                  <a:pt x="2341" y="513"/>
                </a:lnTo>
                <a:lnTo>
                  <a:pt x="2341" y="507"/>
                </a:lnTo>
                <a:lnTo>
                  <a:pt x="2342" y="502"/>
                </a:lnTo>
                <a:lnTo>
                  <a:pt x="2341" y="491"/>
                </a:lnTo>
                <a:lnTo>
                  <a:pt x="2339" y="480"/>
                </a:lnTo>
                <a:lnTo>
                  <a:pt x="2338" y="476"/>
                </a:lnTo>
                <a:lnTo>
                  <a:pt x="2336" y="471"/>
                </a:lnTo>
                <a:lnTo>
                  <a:pt x="2332" y="463"/>
                </a:lnTo>
                <a:lnTo>
                  <a:pt x="2330" y="460"/>
                </a:lnTo>
                <a:lnTo>
                  <a:pt x="2327" y="457"/>
                </a:lnTo>
                <a:lnTo>
                  <a:pt x="2324" y="454"/>
                </a:lnTo>
                <a:lnTo>
                  <a:pt x="2321" y="452"/>
                </a:lnTo>
                <a:lnTo>
                  <a:pt x="2317" y="450"/>
                </a:lnTo>
                <a:lnTo>
                  <a:pt x="2313" y="449"/>
                </a:lnTo>
                <a:lnTo>
                  <a:pt x="2309" y="448"/>
                </a:lnTo>
                <a:lnTo>
                  <a:pt x="2305" y="448"/>
                </a:lnTo>
                <a:lnTo>
                  <a:pt x="2300" y="448"/>
                </a:lnTo>
                <a:lnTo>
                  <a:pt x="2296" y="449"/>
                </a:lnTo>
                <a:lnTo>
                  <a:pt x="2292" y="450"/>
                </a:lnTo>
                <a:lnTo>
                  <a:pt x="2288" y="452"/>
                </a:lnTo>
                <a:lnTo>
                  <a:pt x="2285" y="454"/>
                </a:lnTo>
                <a:lnTo>
                  <a:pt x="2282" y="457"/>
                </a:lnTo>
                <a:lnTo>
                  <a:pt x="2279" y="460"/>
                </a:lnTo>
                <a:lnTo>
                  <a:pt x="2277" y="463"/>
                </a:lnTo>
                <a:lnTo>
                  <a:pt x="2272" y="471"/>
                </a:lnTo>
                <a:lnTo>
                  <a:pt x="2271" y="476"/>
                </a:lnTo>
                <a:lnTo>
                  <a:pt x="2270" y="480"/>
                </a:lnTo>
                <a:lnTo>
                  <a:pt x="2269" y="485"/>
                </a:lnTo>
                <a:lnTo>
                  <a:pt x="2268" y="491"/>
                </a:lnTo>
                <a:lnTo>
                  <a:pt x="2267" y="496"/>
                </a:lnTo>
                <a:lnTo>
                  <a:pt x="2267" y="502"/>
                </a:lnTo>
                <a:lnTo>
                  <a:pt x="2268" y="513"/>
                </a:lnTo>
                <a:lnTo>
                  <a:pt x="2270" y="523"/>
                </a:lnTo>
                <a:lnTo>
                  <a:pt x="2271" y="527"/>
                </a:lnTo>
                <a:lnTo>
                  <a:pt x="2272" y="532"/>
                </a:lnTo>
                <a:lnTo>
                  <a:pt x="2274" y="536"/>
                </a:lnTo>
                <a:lnTo>
                  <a:pt x="2277" y="540"/>
                </a:lnTo>
                <a:lnTo>
                  <a:pt x="2279" y="544"/>
                </a:lnTo>
                <a:lnTo>
                  <a:pt x="2282" y="547"/>
                </a:lnTo>
                <a:lnTo>
                  <a:pt x="2285" y="549"/>
                </a:lnTo>
                <a:lnTo>
                  <a:pt x="2288" y="551"/>
                </a:lnTo>
                <a:lnTo>
                  <a:pt x="2292" y="553"/>
                </a:lnTo>
                <a:lnTo>
                  <a:pt x="2296" y="554"/>
                </a:lnTo>
                <a:lnTo>
                  <a:pt x="2300" y="555"/>
                </a:lnTo>
                <a:lnTo>
                  <a:pt x="2305" y="555"/>
                </a:lnTo>
                <a:close/>
                <a:moveTo>
                  <a:pt x="2539" y="512"/>
                </a:moveTo>
                <a:lnTo>
                  <a:pt x="2430" y="512"/>
                </a:lnTo>
                <a:lnTo>
                  <a:pt x="2430" y="473"/>
                </a:lnTo>
                <a:lnTo>
                  <a:pt x="2539" y="473"/>
                </a:lnTo>
                <a:lnTo>
                  <a:pt x="2539" y="512"/>
                </a:lnTo>
                <a:close/>
                <a:moveTo>
                  <a:pt x="2695" y="514"/>
                </a:moveTo>
                <a:lnTo>
                  <a:pt x="2695" y="413"/>
                </a:lnTo>
                <a:lnTo>
                  <a:pt x="2744" y="413"/>
                </a:lnTo>
                <a:lnTo>
                  <a:pt x="2744" y="590"/>
                </a:lnTo>
                <a:lnTo>
                  <a:pt x="2697" y="590"/>
                </a:lnTo>
                <a:lnTo>
                  <a:pt x="2697" y="558"/>
                </a:lnTo>
                <a:lnTo>
                  <a:pt x="2693" y="565"/>
                </a:lnTo>
                <a:lnTo>
                  <a:pt x="2688" y="572"/>
                </a:lnTo>
                <a:lnTo>
                  <a:pt x="2682" y="577"/>
                </a:lnTo>
                <a:lnTo>
                  <a:pt x="2675" y="583"/>
                </a:lnTo>
                <a:lnTo>
                  <a:pt x="2672" y="585"/>
                </a:lnTo>
                <a:lnTo>
                  <a:pt x="2668" y="587"/>
                </a:lnTo>
                <a:lnTo>
                  <a:pt x="2666" y="588"/>
                </a:lnTo>
                <a:lnTo>
                  <a:pt x="2664" y="588"/>
                </a:lnTo>
                <a:lnTo>
                  <a:pt x="2660" y="590"/>
                </a:lnTo>
                <a:lnTo>
                  <a:pt x="2651" y="591"/>
                </a:lnTo>
                <a:lnTo>
                  <a:pt x="2647" y="592"/>
                </a:lnTo>
                <a:lnTo>
                  <a:pt x="2642" y="592"/>
                </a:lnTo>
                <a:lnTo>
                  <a:pt x="2635" y="592"/>
                </a:lnTo>
                <a:lnTo>
                  <a:pt x="2629" y="591"/>
                </a:lnTo>
                <a:lnTo>
                  <a:pt x="2623" y="589"/>
                </a:lnTo>
                <a:lnTo>
                  <a:pt x="2618" y="588"/>
                </a:lnTo>
                <a:lnTo>
                  <a:pt x="2612" y="585"/>
                </a:lnTo>
                <a:lnTo>
                  <a:pt x="2607" y="582"/>
                </a:lnTo>
                <a:lnTo>
                  <a:pt x="2603" y="578"/>
                </a:lnTo>
                <a:lnTo>
                  <a:pt x="2598" y="574"/>
                </a:lnTo>
                <a:lnTo>
                  <a:pt x="2596" y="572"/>
                </a:lnTo>
                <a:lnTo>
                  <a:pt x="2595" y="570"/>
                </a:lnTo>
                <a:lnTo>
                  <a:pt x="2591" y="564"/>
                </a:lnTo>
                <a:lnTo>
                  <a:pt x="2588" y="559"/>
                </a:lnTo>
                <a:lnTo>
                  <a:pt x="2587" y="556"/>
                </a:lnTo>
                <a:lnTo>
                  <a:pt x="2586" y="553"/>
                </a:lnTo>
                <a:lnTo>
                  <a:pt x="2584" y="547"/>
                </a:lnTo>
                <a:lnTo>
                  <a:pt x="2583" y="540"/>
                </a:lnTo>
                <a:lnTo>
                  <a:pt x="2582" y="533"/>
                </a:lnTo>
                <a:lnTo>
                  <a:pt x="2582" y="525"/>
                </a:lnTo>
                <a:lnTo>
                  <a:pt x="2582" y="413"/>
                </a:lnTo>
                <a:lnTo>
                  <a:pt x="2631" y="413"/>
                </a:lnTo>
                <a:lnTo>
                  <a:pt x="2631" y="517"/>
                </a:lnTo>
                <a:lnTo>
                  <a:pt x="2631" y="524"/>
                </a:lnTo>
                <a:lnTo>
                  <a:pt x="2633" y="531"/>
                </a:lnTo>
                <a:lnTo>
                  <a:pt x="2636" y="536"/>
                </a:lnTo>
                <a:lnTo>
                  <a:pt x="2637" y="539"/>
                </a:lnTo>
                <a:lnTo>
                  <a:pt x="2639" y="541"/>
                </a:lnTo>
                <a:lnTo>
                  <a:pt x="2644" y="545"/>
                </a:lnTo>
                <a:lnTo>
                  <a:pt x="2646" y="547"/>
                </a:lnTo>
                <a:lnTo>
                  <a:pt x="2649" y="548"/>
                </a:lnTo>
                <a:lnTo>
                  <a:pt x="2655" y="550"/>
                </a:lnTo>
                <a:lnTo>
                  <a:pt x="2658" y="550"/>
                </a:lnTo>
                <a:lnTo>
                  <a:pt x="2661" y="551"/>
                </a:lnTo>
                <a:lnTo>
                  <a:pt x="2668" y="550"/>
                </a:lnTo>
                <a:lnTo>
                  <a:pt x="2674" y="548"/>
                </a:lnTo>
                <a:lnTo>
                  <a:pt x="2680" y="545"/>
                </a:lnTo>
                <a:lnTo>
                  <a:pt x="2685" y="541"/>
                </a:lnTo>
                <a:lnTo>
                  <a:pt x="2687" y="539"/>
                </a:lnTo>
                <a:lnTo>
                  <a:pt x="2689" y="536"/>
                </a:lnTo>
                <a:lnTo>
                  <a:pt x="2693" y="530"/>
                </a:lnTo>
                <a:lnTo>
                  <a:pt x="2695" y="523"/>
                </a:lnTo>
                <a:lnTo>
                  <a:pt x="2695" y="519"/>
                </a:lnTo>
                <a:lnTo>
                  <a:pt x="2695" y="514"/>
                </a:lnTo>
                <a:close/>
                <a:moveTo>
                  <a:pt x="2834" y="487"/>
                </a:moveTo>
                <a:lnTo>
                  <a:pt x="2834" y="590"/>
                </a:lnTo>
                <a:lnTo>
                  <a:pt x="2785" y="590"/>
                </a:lnTo>
                <a:lnTo>
                  <a:pt x="2785" y="413"/>
                </a:lnTo>
                <a:lnTo>
                  <a:pt x="2832" y="413"/>
                </a:lnTo>
                <a:lnTo>
                  <a:pt x="2832" y="444"/>
                </a:lnTo>
                <a:lnTo>
                  <a:pt x="2837" y="437"/>
                </a:lnTo>
                <a:lnTo>
                  <a:pt x="2842" y="430"/>
                </a:lnTo>
                <a:lnTo>
                  <a:pt x="2847" y="425"/>
                </a:lnTo>
                <a:lnTo>
                  <a:pt x="2854" y="420"/>
                </a:lnTo>
                <a:lnTo>
                  <a:pt x="2861" y="416"/>
                </a:lnTo>
                <a:lnTo>
                  <a:pt x="2865" y="414"/>
                </a:lnTo>
                <a:lnTo>
                  <a:pt x="2869" y="413"/>
                </a:lnTo>
                <a:lnTo>
                  <a:pt x="2878" y="411"/>
                </a:lnTo>
                <a:lnTo>
                  <a:pt x="2882" y="411"/>
                </a:lnTo>
                <a:lnTo>
                  <a:pt x="2887" y="411"/>
                </a:lnTo>
                <a:lnTo>
                  <a:pt x="2894" y="411"/>
                </a:lnTo>
                <a:lnTo>
                  <a:pt x="2900" y="412"/>
                </a:lnTo>
                <a:lnTo>
                  <a:pt x="2906" y="413"/>
                </a:lnTo>
                <a:lnTo>
                  <a:pt x="2912" y="415"/>
                </a:lnTo>
                <a:lnTo>
                  <a:pt x="2917" y="418"/>
                </a:lnTo>
                <a:lnTo>
                  <a:pt x="2922" y="421"/>
                </a:lnTo>
                <a:lnTo>
                  <a:pt x="2927" y="424"/>
                </a:lnTo>
                <a:lnTo>
                  <a:pt x="2932" y="428"/>
                </a:lnTo>
                <a:lnTo>
                  <a:pt x="2935" y="433"/>
                </a:lnTo>
                <a:lnTo>
                  <a:pt x="2939" y="438"/>
                </a:lnTo>
                <a:lnTo>
                  <a:pt x="2942" y="444"/>
                </a:lnTo>
                <a:lnTo>
                  <a:pt x="2943" y="446"/>
                </a:lnTo>
                <a:lnTo>
                  <a:pt x="2944" y="449"/>
                </a:lnTo>
                <a:lnTo>
                  <a:pt x="2946" y="456"/>
                </a:lnTo>
                <a:lnTo>
                  <a:pt x="2947" y="462"/>
                </a:lnTo>
                <a:lnTo>
                  <a:pt x="2948" y="470"/>
                </a:lnTo>
                <a:lnTo>
                  <a:pt x="2948" y="477"/>
                </a:lnTo>
                <a:lnTo>
                  <a:pt x="2948" y="590"/>
                </a:lnTo>
                <a:lnTo>
                  <a:pt x="2899" y="590"/>
                </a:lnTo>
                <a:lnTo>
                  <a:pt x="2899" y="486"/>
                </a:lnTo>
                <a:lnTo>
                  <a:pt x="2899" y="478"/>
                </a:lnTo>
                <a:lnTo>
                  <a:pt x="2898" y="475"/>
                </a:lnTo>
                <a:lnTo>
                  <a:pt x="2897" y="471"/>
                </a:lnTo>
                <a:lnTo>
                  <a:pt x="2895" y="466"/>
                </a:lnTo>
                <a:lnTo>
                  <a:pt x="2893" y="463"/>
                </a:lnTo>
                <a:lnTo>
                  <a:pt x="2891" y="461"/>
                </a:lnTo>
                <a:lnTo>
                  <a:pt x="2886" y="457"/>
                </a:lnTo>
                <a:lnTo>
                  <a:pt x="2884" y="455"/>
                </a:lnTo>
                <a:lnTo>
                  <a:pt x="2881" y="454"/>
                </a:lnTo>
                <a:lnTo>
                  <a:pt x="2875" y="452"/>
                </a:lnTo>
                <a:lnTo>
                  <a:pt x="2871" y="451"/>
                </a:lnTo>
                <a:lnTo>
                  <a:pt x="2868" y="451"/>
                </a:lnTo>
                <a:lnTo>
                  <a:pt x="2861" y="452"/>
                </a:lnTo>
                <a:lnTo>
                  <a:pt x="2854" y="454"/>
                </a:lnTo>
                <a:lnTo>
                  <a:pt x="2851" y="455"/>
                </a:lnTo>
                <a:lnTo>
                  <a:pt x="2849" y="457"/>
                </a:lnTo>
                <a:lnTo>
                  <a:pt x="2846" y="459"/>
                </a:lnTo>
                <a:lnTo>
                  <a:pt x="2844" y="461"/>
                </a:lnTo>
                <a:lnTo>
                  <a:pt x="2842" y="463"/>
                </a:lnTo>
                <a:lnTo>
                  <a:pt x="2840" y="466"/>
                </a:lnTo>
                <a:lnTo>
                  <a:pt x="2838" y="469"/>
                </a:lnTo>
                <a:lnTo>
                  <a:pt x="2837" y="472"/>
                </a:lnTo>
                <a:lnTo>
                  <a:pt x="2835" y="479"/>
                </a:lnTo>
                <a:lnTo>
                  <a:pt x="2834" y="483"/>
                </a:lnTo>
                <a:lnTo>
                  <a:pt x="2834" y="487"/>
                </a:lnTo>
                <a:close/>
                <a:moveTo>
                  <a:pt x="3014" y="390"/>
                </a:moveTo>
                <a:lnTo>
                  <a:pt x="3008" y="390"/>
                </a:lnTo>
                <a:lnTo>
                  <a:pt x="3004" y="388"/>
                </a:lnTo>
                <a:lnTo>
                  <a:pt x="2999" y="386"/>
                </a:lnTo>
                <a:lnTo>
                  <a:pt x="2995" y="383"/>
                </a:lnTo>
                <a:lnTo>
                  <a:pt x="2992" y="379"/>
                </a:lnTo>
                <a:lnTo>
                  <a:pt x="2989" y="375"/>
                </a:lnTo>
                <a:lnTo>
                  <a:pt x="2988" y="370"/>
                </a:lnTo>
                <a:lnTo>
                  <a:pt x="2987" y="365"/>
                </a:lnTo>
                <a:lnTo>
                  <a:pt x="2988" y="360"/>
                </a:lnTo>
                <a:lnTo>
                  <a:pt x="2989" y="356"/>
                </a:lnTo>
                <a:lnTo>
                  <a:pt x="2992" y="352"/>
                </a:lnTo>
                <a:lnTo>
                  <a:pt x="2995" y="348"/>
                </a:lnTo>
                <a:lnTo>
                  <a:pt x="2999" y="345"/>
                </a:lnTo>
                <a:lnTo>
                  <a:pt x="3004" y="342"/>
                </a:lnTo>
                <a:lnTo>
                  <a:pt x="3008" y="341"/>
                </a:lnTo>
                <a:lnTo>
                  <a:pt x="3014" y="341"/>
                </a:lnTo>
                <a:lnTo>
                  <a:pt x="3019" y="341"/>
                </a:lnTo>
                <a:lnTo>
                  <a:pt x="3024" y="342"/>
                </a:lnTo>
                <a:lnTo>
                  <a:pt x="3028" y="345"/>
                </a:lnTo>
                <a:lnTo>
                  <a:pt x="3032" y="348"/>
                </a:lnTo>
                <a:lnTo>
                  <a:pt x="3036" y="352"/>
                </a:lnTo>
                <a:lnTo>
                  <a:pt x="3038" y="356"/>
                </a:lnTo>
                <a:lnTo>
                  <a:pt x="3040" y="360"/>
                </a:lnTo>
                <a:lnTo>
                  <a:pt x="3040" y="365"/>
                </a:lnTo>
                <a:lnTo>
                  <a:pt x="3040" y="370"/>
                </a:lnTo>
                <a:lnTo>
                  <a:pt x="3038" y="375"/>
                </a:lnTo>
                <a:lnTo>
                  <a:pt x="3036" y="379"/>
                </a:lnTo>
                <a:lnTo>
                  <a:pt x="3032" y="383"/>
                </a:lnTo>
                <a:lnTo>
                  <a:pt x="3028" y="386"/>
                </a:lnTo>
                <a:lnTo>
                  <a:pt x="3024" y="388"/>
                </a:lnTo>
                <a:lnTo>
                  <a:pt x="3019" y="390"/>
                </a:lnTo>
                <a:lnTo>
                  <a:pt x="3014" y="390"/>
                </a:lnTo>
                <a:close/>
                <a:moveTo>
                  <a:pt x="2989" y="413"/>
                </a:moveTo>
                <a:lnTo>
                  <a:pt x="3038" y="413"/>
                </a:lnTo>
                <a:lnTo>
                  <a:pt x="3038" y="590"/>
                </a:lnTo>
                <a:lnTo>
                  <a:pt x="2989" y="590"/>
                </a:lnTo>
                <a:lnTo>
                  <a:pt x="2989" y="413"/>
                </a:lnTo>
                <a:close/>
                <a:moveTo>
                  <a:pt x="3242" y="413"/>
                </a:moveTo>
                <a:lnTo>
                  <a:pt x="3180" y="590"/>
                </a:lnTo>
                <a:lnTo>
                  <a:pt x="3125" y="590"/>
                </a:lnTo>
                <a:lnTo>
                  <a:pt x="3063" y="413"/>
                </a:lnTo>
                <a:lnTo>
                  <a:pt x="3115" y="413"/>
                </a:lnTo>
                <a:lnTo>
                  <a:pt x="3151" y="539"/>
                </a:lnTo>
                <a:lnTo>
                  <a:pt x="3190" y="413"/>
                </a:lnTo>
                <a:lnTo>
                  <a:pt x="3242" y="413"/>
                </a:lnTo>
                <a:close/>
                <a:moveTo>
                  <a:pt x="3340" y="593"/>
                </a:moveTo>
                <a:lnTo>
                  <a:pt x="3333" y="593"/>
                </a:lnTo>
                <a:lnTo>
                  <a:pt x="3327" y="592"/>
                </a:lnTo>
                <a:lnTo>
                  <a:pt x="3315" y="590"/>
                </a:lnTo>
                <a:lnTo>
                  <a:pt x="3309" y="589"/>
                </a:lnTo>
                <a:lnTo>
                  <a:pt x="3303" y="587"/>
                </a:lnTo>
                <a:lnTo>
                  <a:pt x="3293" y="582"/>
                </a:lnTo>
                <a:lnTo>
                  <a:pt x="3288" y="579"/>
                </a:lnTo>
                <a:lnTo>
                  <a:pt x="3284" y="576"/>
                </a:lnTo>
                <a:lnTo>
                  <a:pt x="3279" y="572"/>
                </a:lnTo>
                <a:lnTo>
                  <a:pt x="3276" y="569"/>
                </a:lnTo>
                <a:lnTo>
                  <a:pt x="3269" y="560"/>
                </a:lnTo>
                <a:lnTo>
                  <a:pt x="3266" y="555"/>
                </a:lnTo>
                <a:lnTo>
                  <a:pt x="3263" y="550"/>
                </a:lnTo>
                <a:lnTo>
                  <a:pt x="3258" y="540"/>
                </a:lnTo>
                <a:lnTo>
                  <a:pt x="3256" y="534"/>
                </a:lnTo>
                <a:lnTo>
                  <a:pt x="3255" y="528"/>
                </a:lnTo>
                <a:lnTo>
                  <a:pt x="3254" y="522"/>
                </a:lnTo>
                <a:lnTo>
                  <a:pt x="3253" y="516"/>
                </a:lnTo>
                <a:lnTo>
                  <a:pt x="3252" y="509"/>
                </a:lnTo>
                <a:lnTo>
                  <a:pt x="3252" y="502"/>
                </a:lnTo>
                <a:lnTo>
                  <a:pt x="3252" y="495"/>
                </a:lnTo>
                <a:lnTo>
                  <a:pt x="3253" y="489"/>
                </a:lnTo>
                <a:lnTo>
                  <a:pt x="3254" y="483"/>
                </a:lnTo>
                <a:lnTo>
                  <a:pt x="3255" y="477"/>
                </a:lnTo>
                <a:lnTo>
                  <a:pt x="3258" y="465"/>
                </a:lnTo>
                <a:lnTo>
                  <a:pt x="3260" y="459"/>
                </a:lnTo>
                <a:lnTo>
                  <a:pt x="3263" y="454"/>
                </a:lnTo>
                <a:lnTo>
                  <a:pt x="3269" y="445"/>
                </a:lnTo>
                <a:lnTo>
                  <a:pt x="3272" y="440"/>
                </a:lnTo>
                <a:lnTo>
                  <a:pt x="3275" y="436"/>
                </a:lnTo>
                <a:lnTo>
                  <a:pt x="3279" y="432"/>
                </a:lnTo>
                <a:lnTo>
                  <a:pt x="3283" y="428"/>
                </a:lnTo>
                <a:lnTo>
                  <a:pt x="3293" y="422"/>
                </a:lnTo>
                <a:lnTo>
                  <a:pt x="3297" y="419"/>
                </a:lnTo>
                <a:lnTo>
                  <a:pt x="3303" y="417"/>
                </a:lnTo>
                <a:lnTo>
                  <a:pt x="3308" y="415"/>
                </a:lnTo>
                <a:lnTo>
                  <a:pt x="3314" y="413"/>
                </a:lnTo>
                <a:lnTo>
                  <a:pt x="3319" y="412"/>
                </a:lnTo>
                <a:lnTo>
                  <a:pt x="3325" y="411"/>
                </a:lnTo>
                <a:lnTo>
                  <a:pt x="3338" y="411"/>
                </a:lnTo>
                <a:lnTo>
                  <a:pt x="3349" y="411"/>
                </a:lnTo>
                <a:lnTo>
                  <a:pt x="3360" y="413"/>
                </a:lnTo>
                <a:lnTo>
                  <a:pt x="3365" y="414"/>
                </a:lnTo>
                <a:lnTo>
                  <a:pt x="3370" y="416"/>
                </a:lnTo>
                <a:lnTo>
                  <a:pt x="3380" y="421"/>
                </a:lnTo>
                <a:lnTo>
                  <a:pt x="3389" y="426"/>
                </a:lnTo>
                <a:lnTo>
                  <a:pt x="3393" y="429"/>
                </a:lnTo>
                <a:lnTo>
                  <a:pt x="3397" y="433"/>
                </a:lnTo>
                <a:lnTo>
                  <a:pt x="3404" y="441"/>
                </a:lnTo>
                <a:lnTo>
                  <a:pt x="3407" y="446"/>
                </a:lnTo>
                <a:lnTo>
                  <a:pt x="3410" y="450"/>
                </a:lnTo>
                <a:lnTo>
                  <a:pt x="3412" y="456"/>
                </a:lnTo>
                <a:lnTo>
                  <a:pt x="3415" y="461"/>
                </a:lnTo>
                <a:lnTo>
                  <a:pt x="3417" y="467"/>
                </a:lnTo>
                <a:lnTo>
                  <a:pt x="3418" y="473"/>
                </a:lnTo>
                <a:lnTo>
                  <a:pt x="3419" y="479"/>
                </a:lnTo>
                <a:lnTo>
                  <a:pt x="3420" y="486"/>
                </a:lnTo>
                <a:lnTo>
                  <a:pt x="3421" y="493"/>
                </a:lnTo>
                <a:lnTo>
                  <a:pt x="3421" y="500"/>
                </a:lnTo>
                <a:lnTo>
                  <a:pt x="3421" y="514"/>
                </a:lnTo>
                <a:lnTo>
                  <a:pt x="3301" y="514"/>
                </a:lnTo>
                <a:lnTo>
                  <a:pt x="3301" y="519"/>
                </a:lnTo>
                <a:lnTo>
                  <a:pt x="3301" y="523"/>
                </a:lnTo>
                <a:lnTo>
                  <a:pt x="3302" y="528"/>
                </a:lnTo>
                <a:lnTo>
                  <a:pt x="3303" y="532"/>
                </a:lnTo>
                <a:lnTo>
                  <a:pt x="3307" y="539"/>
                </a:lnTo>
                <a:lnTo>
                  <a:pt x="3309" y="542"/>
                </a:lnTo>
                <a:lnTo>
                  <a:pt x="3311" y="545"/>
                </a:lnTo>
                <a:lnTo>
                  <a:pt x="3314" y="548"/>
                </a:lnTo>
                <a:lnTo>
                  <a:pt x="3317" y="550"/>
                </a:lnTo>
                <a:lnTo>
                  <a:pt x="3321" y="552"/>
                </a:lnTo>
                <a:lnTo>
                  <a:pt x="3324" y="554"/>
                </a:lnTo>
                <a:lnTo>
                  <a:pt x="3328" y="555"/>
                </a:lnTo>
                <a:lnTo>
                  <a:pt x="3332" y="556"/>
                </a:lnTo>
                <a:lnTo>
                  <a:pt x="3341" y="557"/>
                </a:lnTo>
                <a:lnTo>
                  <a:pt x="3347" y="556"/>
                </a:lnTo>
                <a:lnTo>
                  <a:pt x="3352" y="555"/>
                </a:lnTo>
                <a:lnTo>
                  <a:pt x="3357" y="554"/>
                </a:lnTo>
                <a:lnTo>
                  <a:pt x="3362" y="551"/>
                </a:lnTo>
                <a:lnTo>
                  <a:pt x="3364" y="550"/>
                </a:lnTo>
                <a:lnTo>
                  <a:pt x="3366" y="548"/>
                </a:lnTo>
                <a:lnTo>
                  <a:pt x="3370" y="545"/>
                </a:lnTo>
                <a:lnTo>
                  <a:pt x="3372" y="541"/>
                </a:lnTo>
                <a:lnTo>
                  <a:pt x="3375" y="536"/>
                </a:lnTo>
                <a:lnTo>
                  <a:pt x="3420" y="539"/>
                </a:lnTo>
                <a:lnTo>
                  <a:pt x="3418" y="545"/>
                </a:lnTo>
                <a:lnTo>
                  <a:pt x="3416" y="551"/>
                </a:lnTo>
                <a:lnTo>
                  <a:pt x="3414" y="556"/>
                </a:lnTo>
                <a:lnTo>
                  <a:pt x="3411" y="561"/>
                </a:lnTo>
                <a:lnTo>
                  <a:pt x="3407" y="566"/>
                </a:lnTo>
                <a:lnTo>
                  <a:pt x="3403" y="570"/>
                </a:lnTo>
                <a:lnTo>
                  <a:pt x="3399" y="575"/>
                </a:lnTo>
                <a:lnTo>
                  <a:pt x="3394" y="578"/>
                </a:lnTo>
                <a:lnTo>
                  <a:pt x="3388" y="582"/>
                </a:lnTo>
                <a:lnTo>
                  <a:pt x="3382" y="585"/>
                </a:lnTo>
                <a:lnTo>
                  <a:pt x="3376" y="587"/>
                </a:lnTo>
                <a:lnTo>
                  <a:pt x="3370" y="589"/>
                </a:lnTo>
                <a:lnTo>
                  <a:pt x="3366" y="590"/>
                </a:lnTo>
                <a:lnTo>
                  <a:pt x="3363" y="591"/>
                </a:lnTo>
                <a:lnTo>
                  <a:pt x="3355" y="592"/>
                </a:lnTo>
                <a:lnTo>
                  <a:pt x="3348" y="593"/>
                </a:lnTo>
                <a:lnTo>
                  <a:pt x="3340" y="593"/>
                </a:lnTo>
                <a:close/>
                <a:moveTo>
                  <a:pt x="3301" y="483"/>
                </a:moveTo>
                <a:lnTo>
                  <a:pt x="3375" y="483"/>
                </a:lnTo>
                <a:lnTo>
                  <a:pt x="3375" y="480"/>
                </a:lnTo>
                <a:lnTo>
                  <a:pt x="3374" y="476"/>
                </a:lnTo>
                <a:lnTo>
                  <a:pt x="3373" y="472"/>
                </a:lnTo>
                <a:lnTo>
                  <a:pt x="3372" y="469"/>
                </a:lnTo>
                <a:lnTo>
                  <a:pt x="3371" y="466"/>
                </a:lnTo>
                <a:lnTo>
                  <a:pt x="3369" y="463"/>
                </a:lnTo>
                <a:lnTo>
                  <a:pt x="3367" y="460"/>
                </a:lnTo>
                <a:lnTo>
                  <a:pt x="3365" y="457"/>
                </a:lnTo>
                <a:lnTo>
                  <a:pt x="3359" y="453"/>
                </a:lnTo>
                <a:lnTo>
                  <a:pt x="3353" y="450"/>
                </a:lnTo>
                <a:lnTo>
                  <a:pt x="3346" y="448"/>
                </a:lnTo>
                <a:lnTo>
                  <a:pt x="3339" y="447"/>
                </a:lnTo>
                <a:lnTo>
                  <a:pt x="3331" y="448"/>
                </a:lnTo>
                <a:lnTo>
                  <a:pt x="3327" y="449"/>
                </a:lnTo>
                <a:lnTo>
                  <a:pt x="3324" y="450"/>
                </a:lnTo>
                <a:lnTo>
                  <a:pt x="3317" y="453"/>
                </a:lnTo>
                <a:lnTo>
                  <a:pt x="3315" y="455"/>
                </a:lnTo>
                <a:lnTo>
                  <a:pt x="3312" y="458"/>
                </a:lnTo>
                <a:lnTo>
                  <a:pt x="3307" y="463"/>
                </a:lnTo>
                <a:lnTo>
                  <a:pt x="3304" y="470"/>
                </a:lnTo>
                <a:lnTo>
                  <a:pt x="3303" y="473"/>
                </a:lnTo>
                <a:lnTo>
                  <a:pt x="3302" y="476"/>
                </a:lnTo>
                <a:lnTo>
                  <a:pt x="3301" y="483"/>
                </a:lnTo>
                <a:close/>
                <a:moveTo>
                  <a:pt x="3456" y="590"/>
                </a:moveTo>
                <a:lnTo>
                  <a:pt x="3456" y="413"/>
                </a:lnTo>
                <a:lnTo>
                  <a:pt x="3503" y="413"/>
                </a:lnTo>
                <a:lnTo>
                  <a:pt x="3503" y="444"/>
                </a:lnTo>
                <a:lnTo>
                  <a:pt x="3507" y="436"/>
                </a:lnTo>
                <a:lnTo>
                  <a:pt x="3511" y="429"/>
                </a:lnTo>
                <a:lnTo>
                  <a:pt x="3516" y="424"/>
                </a:lnTo>
                <a:lnTo>
                  <a:pt x="3521" y="419"/>
                </a:lnTo>
                <a:lnTo>
                  <a:pt x="3524" y="417"/>
                </a:lnTo>
                <a:lnTo>
                  <a:pt x="3527" y="415"/>
                </a:lnTo>
                <a:lnTo>
                  <a:pt x="3534" y="413"/>
                </a:lnTo>
                <a:lnTo>
                  <a:pt x="3540" y="411"/>
                </a:lnTo>
                <a:lnTo>
                  <a:pt x="3548" y="410"/>
                </a:lnTo>
                <a:lnTo>
                  <a:pt x="3556" y="411"/>
                </a:lnTo>
                <a:lnTo>
                  <a:pt x="3563" y="412"/>
                </a:lnTo>
                <a:lnTo>
                  <a:pt x="3563" y="456"/>
                </a:lnTo>
                <a:lnTo>
                  <a:pt x="3559" y="455"/>
                </a:lnTo>
                <a:lnTo>
                  <a:pt x="3554" y="454"/>
                </a:lnTo>
                <a:lnTo>
                  <a:pt x="3542" y="453"/>
                </a:lnTo>
                <a:lnTo>
                  <a:pt x="3535" y="454"/>
                </a:lnTo>
                <a:lnTo>
                  <a:pt x="3531" y="454"/>
                </a:lnTo>
                <a:lnTo>
                  <a:pt x="3528" y="456"/>
                </a:lnTo>
                <a:lnTo>
                  <a:pt x="3524" y="457"/>
                </a:lnTo>
                <a:lnTo>
                  <a:pt x="3521" y="459"/>
                </a:lnTo>
                <a:lnTo>
                  <a:pt x="3518" y="461"/>
                </a:lnTo>
                <a:lnTo>
                  <a:pt x="3515" y="463"/>
                </a:lnTo>
                <a:lnTo>
                  <a:pt x="3511" y="469"/>
                </a:lnTo>
                <a:lnTo>
                  <a:pt x="3509" y="472"/>
                </a:lnTo>
                <a:lnTo>
                  <a:pt x="3508" y="475"/>
                </a:lnTo>
                <a:lnTo>
                  <a:pt x="3506" y="478"/>
                </a:lnTo>
                <a:lnTo>
                  <a:pt x="3506" y="482"/>
                </a:lnTo>
                <a:lnTo>
                  <a:pt x="3505" y="486"/>
                </a:lnTo>
                <a:lnTo>
                  <a:pt x="3505" y="490"/>
                </a:lnTo>
                <a:lnTo>
                  <a:pt x="3505" y="590"/>
                </a:lnTo>
                <a:lnTo>
                  <a:pt x="3456" y="590"/>
                </a:lnTo>
                <a:close/>
                <a:moveTo>
                  <a:pt x="3736" y="463"/>
                </a:moveTo>
                <a:lnTo>
                  <a:pt x="3692" y="466"/>
                </a:lnTo>
                <a:lnTo>
                  <a:pt x="3690" y="462"/>
                </a:lnTo>
                <a:lnTo>
                  <a:pt x="3688" y="458"/>
                </a:lnTo>
                <a:lnTo>
                  <a:pt x="3686" y="455"/>
                </a:lnTo>
                <a:lnTo>
                  <a:pt x="3682" y="451"/>
                </a:lnTo>
                <a:lnTo>
                  <a:pt x="3678" y="449"/>
                </a:lnTo>
                <a:lnTo>
                  <a:pt x="3673" y="447"/>
                </a:lnTo>
                <a:lnTo>
                  <a:pt x="3668" y="446"/>
                </a:lnTo>
                <a:lnTo>
                  <a:pt x="3662" y="445"/>
                </a:lnTo>
                <a:lnTo>
                  <a:pt x="3656" y="446"/>
                </a:lnTo>
                <a:lnTo>
                  <a:pt x="3651" y="447"/>
                </a:lnTo>
                <a:lnTo>
                  <a:pt x="3647" y="448"/>
                </a:lnTo>
                <a:lnTo>
                  <a:pt x="3643" y="450"/>
                </a:lnTo>
                <a:lnTo>
                  <a:pt x="3639" y="453"/>
                </a:lnTo>
                <a:lnTo>
                  <a:pt x="3637" y="456"/>
                </a:lnTo>
                <a:lnTo>
                  <a:pt x="3635" y="459"/>
                </a:lnTo>
                <a:lnTo>
                  <a:pt x="3635" y="463"/>
                </a:lnTo>
                <a:lnTo>
                  <a:pt x="3635" y="466"/>
                </a:lnTo>
                <a:lnTo>
                  <a:pt x="3636" y="469"/>
                </a:lnTo>
                <a:lnTo>
                  <a:pt x="3638" y="471"/>
                </a:lnTo>
                <a:lnTo>
                  <a:pt x="3640" y="474"/>
                </a:lnTo>
                <a:lnTo>
                  <a:pt x="3643" y="476"/>
                </a:lnTo>
                <a:lnTo>
                  <a:pt x="3647" y="478"/>
                </a:lnTo>
                <a:lnTo>
                  <a:pt x="3652" y="479"/>
                </a:lnTo>
                <a:lnTo>
                  <a:pt x="3657" y="481"/>
                </a:lnTo>
                <a:lnTo>
                  <a:pt x="3689" y="487"/>
                </a:lnTo>
                <a:lnTo>
                  <a:pt x="3696" y="488"/>
                </a:lnTo>
                <a:lnTo>
                  <a:pt x="3701" y="490"/>
                </a:lnTo>
                <a:lnTo>
                  <a:pt x="3707" y="492"/>
                </a:lnTo>
                <a:lnTo>
                  <a:pt x="3712" y="494"/>
                </a:lnTo>
                <a:lnTo>
                  <a:pt x="3720" y="499"/>
                </a:lnTo>
                <a:lnTo>
                  <a:pt x="3728" y="504"/>
                </a:lnTo>
                <a:lnTo>
                  <a:pt x="3731" y="507"/>
                </a:lnTo>
                <a:lnTo>
                  <a:pt x="3733" y="511"/>
                </a:lnTo>
                <a:lnTo>
                  <a:pt x="3735" y="514"/>
                </a:lnTo>
                <a:lnTo>
                  <a:pt x="3737" y="518"/>
                </a:lnTo>
                <a:lnTo>
                  <a:pt x="3740" y="526"/>
                </a:lnTo>
                <a:lnTo>
                  <a:pt x="3740" y="530"/>
                </a:lnTo>
                <a:lnTo>
                  <a:pt x="3740" y="535"/>
                </a:lnTo>
                <a:lnTo>
                  <a:pt x="3740" y="539"/>
                </a:lnTo>
                <a:lnTo>
                  <a:pt x="3740" y="543"/>
                </a:lnTo>
                <a:lnTo>
                  <a:pt x="3739" y="547"/>
                </a:lnTo>
                <a:lnTo>
                  <a:pt x="3738" y="551"/>
                </a:lnTo>
                <a:lnTo>
                  <a:pt x="3736" y="555"/>
                </a:lnTo>
                <a:lnTo>
                  <a:pt x="3735" y="559"/>
                </a:lnTo>
                <a:lnTo>
                  <a:pt x="3733" y="562"/>
                </a:lnTo>
                <a:lnTo>
                  <a:pt x="3730" y="565"/>
                </a:lnTo>
                <a:lnTo>
                  <a:pt x="3725" y="572"/>
                </a:lnTo>
                <a:lnTo>
                  <a:pt x="3718" y="577"/>
                </a:lnTo>
                <a:lnTo>
                  <a:pt x="3711" y="582"/>
                </a:lnTo>
                <a:lnTo>
                  <a:pt x="3702" y="586"/>
                </a:lnTo>
                <a:lnTo>
                  <a:pt x="3693" y="589"/>
                </a:lnTo>
                <a:lnTo>
                  <a:pt x="3683" y="591"/>
                </a:lnTo>
                <a:lnTo>
                  <a:pt x="3673" y="593"/>
                </a:lnTo>
                <a:lnTo>
                  <a:pt x="3662" y="593"/>
                </a:lnTo>
                <a:lnTo>
                  <a:pt x="3653" y="593"/>
                </a:lnTo>
                <a:lnTo>
                  <a:pt x="3645" y="592"/>
                </a:lnTo>
                <a:lnTo>
                  <a:pt x="3637" y="591"/>
                </a:lnTo>
                <a:lnTo>
                  <a:pt x="3630" y="589"/>
                </a:lnTo>
                <a:lnTo>
                  <a:pt x="3623" y="587"/>
                </a:lnTo>
                <a:lnTo>
                  <a:pt x="3617" y="585"/>
                </a:lnTo>
                <a:lnTo>
                  <a:pt x="3611" y="582"/>
                </a:lnTo>
                <a:lnTo>
                  <a:pt x="3606" y="578"/>
                </a:lnTo>
                <a:lnTo>
                  <a:pt x="3601" y="575"/>
                </a:lnTo>
                <a:lnTo>
                  <a:pt x="3596" y="570"/>
                </a:lnTo>
                <a:lnTo>
                  <a:pt x="3593" y="566"/>
                </a:lnTo>
                <a:lnTo>
                  <a:pt x="3589" y="561"/>
                </a:lnTo>
                <a:lnTo>
                  <a:pt x="3587" y="556"/>
                </a:lnTo>
                <a:lnTo>
                  <a:pt x="3584" y="550"/>
                </a:lnTo>
                <a:lnTo>
                  <a:pt x="3583" y="545"/>
                </a:lnTo>
                <a:lnTo>
                  <a:pt x="3582" y="538"/>
                </a:lnTo>
                <a:lnTo>
                  <a:pt x="3630" y="536"/>
                </a:lnTo>
                <a:lnTo>
                  <a:pt x="3631" y="541"/>
                </a:lnTo>
                <a:lnTo>
                  <a:pt x="3634" y="545"/>
                </a:lnTo>
                <a:lnTo>
                  <a:pt x="3637" y="549"/>
                </a:lnTo>
                <a:lnTo>
                  <a:pt x="3640" y="552"/>
                </a:lnTo>
                <a:lnTo>
                  <a:pt x="3645" y="555"/>
                </a:lnTo>
                <a:lnTo>
                  <a:pt x="3650" y="556"/>
                </a:lnTo>
                <a:lnTo>
                  <a:pt x="3656" y="557"/>
                </a:lnTo>
                <a:lnTo>
                  <a:pt x="3662" y="558"/>
                </a:lnTo>
                <a:lnTo>
                  <a:pt x="3668" y="557"/>
                </a:lnTo>
                <a:lnTo>
                  <a:pt x="3673" y="557"/>
                </a:lnTo>
                <a:lnTo>
                  <a:pt x="3678" y="555"/>
                </a:lnTo>
                <a:lnTo>
                  <a:pt x="3681" y="554"/>
                </a:lnTo>
                <a:lnTo>
                  <a:pt x="3683" y="553"/>
                </a:lnTo>
                <a:lnTo>
                  <a:pt x="3686" y="550"/>
                </a:lnTo>
                <a:lnTo>
                  <a:pt x="3689" y="547"/>
                </a:lnTo>
                <a:lnTo>
                  <a:pt x="3689" y="545"/>
                </a:lnTo>
                <a:lnTo>
                  <a:pt x="3690" y="544"/>
                </a:lnTo>
                <a:lnTo>
                  <a:pt x="3691" y="540"/>
                </a:lnTo>
                <a:lnTo>
                  <a:pt x="3690" y="537"/>
                </a:lnTo>
                <a:lnTo>
                  <a:pt x="3689" y="534"/>
                </a:lnTo>
                <a:lnTo>
                  <a:pt x="3687" y="531"/>
                </a:lnTo>
                <a:lnTo>
                  <a:pt x="3685" y="529"/>
                </a:lnTo>
                <a:lnTo>
                  <a:pt x="3682" y="527"/>
                </a:lnTo>
                <a:lnTo>
                  <a:pt x="3678" y="525"/>
                </a:lnTo>
                <a:lnTo>
                  <a:pt x="3673" y="523"/>
                </a:lnTo>
                <a:lnTo>
                  <a:pt x="3668" y="522"/>
                </a:lnTo>
                <a:lnTo>
                  <a:pt x="3637" y="516"/>
                </a:lnTo>
                <a:lnTo>
                  <a:pt x="3631" y="515"/>
                </a:lnTo>
                <a:lnTo>
                  <a:pt x="3625" y="513"/>
                </a:lnTo>
                <a:lnTo>
                  <a:pt x="3615" y="509"/>
                </a:lnTo>
                <a:lnTo>
                  <a:pt x="3610" y="507"/>
                </a:lnTo>
                <a:lnTo>
                  <a:pt x="3606" y="504"/>
                </a:lnTo>
                <a:lnTo>
                  <a:pt x="3602" y="501"/>
                </a:lnTo>
                <a:lnTo>
                  <a:pt x="3599" y="498"/>
                </a:lnTo>
                <a:lnTo>
                  <a:pt x="3596" y="495"/>
                </a:lnTo>
                <a:lnTo>
                  <a:pt x="3593" y="492"/>
                </a:lnTo>
                <a:lnTo>
                  <a:pt x="3591" y="488"/>
                </a:lnTo>
                <a:lnTo>
                  <a:pt x="3589" y="484"/>
                </a:lnTo>
                <a:lnTo>
                  <a:pt x="3588" y="480"/>
                </a:lnTo>
                <a:lnTo>
                  <a:pt x="3587" y="475"/>
                </a:lnTo>
                <a:lnTo>
                  <a:pt x="3586" y="471"/>
                </a:lnTo>
                <a:lnTo>
                  <a:pt x="3586" y="466"/>
                </a:lnTo>
                <a:lnTo>
                  <a:pt x="3587" y="459"/>
                </a:lnTo>
                <a:lnTo>
                  <a:pt x="3587" y="454"/>
                </a:lnTo>
                <a:lnTo>
                  <a:pt x="3589" y="448"/>
                </a:lnTo>
                <a:lnTo>
                  <a:pt x="3591" y="443"/>
                </a:lnTo>
                <a:lnTo>
                  <a:pt x="3594" y="438"/>
                </a:lnTo>
                <a:lnTo>
                  <a:pt x="3598" y="433"/>
                </a:lnTo>
                <a:lnTo>
                  <a:pt x="3602" y="429"/>
                </a:lnTo>
                <a:lnTo>
                  <a:pt x="3607" y="425"/>
                </a:lnTo>
                <a:lnTo>
                  <a:pt x="3612" y="422"/>
                </a:lnTo>
                <a:lnTo>
                  <a:pt x="3618" y="419"/>
                </a:lnTo>
                <a:lnTo>
                  <a:pt x="3624" y="416"/>
                </a:lnTo>
                <a:lnTo>
                  <a:pt x="3631" y="414"/>
                </a:lnTo>
                <a:lnTo>
                  <a:pt x="3634" y="413"/>
                </a:lnTo>
                <a:lnTo>
                  <a:pt x="3638" y="413"/>
                </a:lnTo>
                <a:lnTo>
                  <a:pt x="3645" y="412"/>
                </a:lnTo>
                <a:lnTo>
                  <a:pt x="3653" y="411"/>
                </a:lnTo>
                <a:lnTo>
                  <a:pt x="3661" y="411"/>
                </a:lnTo>
                <a:lnTo>
                  <a:pt x="3669" y="411"/>
                </a:lnTo>
                <a:lnTo>
                  <a:pt x="3677" y="412"/>
                </a:lnTo>
                <a:lnTo>
                  <a:pt x="3684" y="413"/>
                </a:lnTo>
                <a:lnTo>
                  <a:pt x="3691" y="414"/>
                </a:lnTo>
                <a:lnTo>
                  <a:pt x="3697" y="416"/>
                </a:lnTo>
                <a:lnTo>
                  <a:pt x="3703" y="419"/>
                </a:lnTo>
                <a:lnTo>
                  <a:pt x="3709" y="421"/>
                </a:lnTo>
                <a:lnTo>
                  <a:pt x="3714" y="425"/>
                </a:lnTo>
                <a:lnTo>
                  <a:pt x="3718" y="428"/>
                </a:lnTo>
                <a:lnTo>
                  <a:pt x="3723" y="432"/>
                </a:lnTo>
                <a:lnTo>
                  <a:pt x="3726" y="437"/>
                </a:lnTo>
                <a:lnTo>
                  <a:pt x="3728" y="439"/>
                </a:lnTo>
                <a:lnTo>
                  <a:pt x="3729" y="441"/>
                </a:lnTo>
                <a:lnTo>
                  <a:pt x="3732" y="446"/>
                </a:lnTo>
                <a:lnTo>
                  <a:pt x="3734" y="452"/>
                </a:lnTo>
                <a:lnTo>
                  <a:pt x="3735" y="457"/>
                </a:lnTo>
                <a:lnTo>
                  <a:pt x="3736" y="463"/>
                </a:lnTo>
                <a:close/>
                <a:moveTo>
                  <a:pt x="3797" y="390"/>
                </a:moveTo>
                <a:lnTo>
                  <a:pt x="3792" y="390"/>
                </a:lnTo>
                <a:lnTo>
                  <a:pt x="3787" y="388"/>
                </a:lnTo>
                <a:lnTo>
                  <a:pt x="3783" y="386"/>
                </a:lnTo>
                <a:lnTo>
                  <a:pt x="3778" y="383"/>
                </a:lnTo>
                <a:lnTo>
                  <a:pt x="3775" y="379"/>
                </a:lnTo>
                <a:lnTo>
                  <a:pt x="3773" y="375"/>
                </a:lnTo>
                <a:lnTo>
                  <a:pt x="3771" y="370"/>
                </a:lnTo>
                <a:lnTo>
                  <a:pt x="3771" y="365"/>
                </a:lnTo>
                <a:lnTo>
                  <a:pt x="3771" y="360"/>
                </a:lnTo>
                <a:lnTo>
                  <a:pt x="3773" y="356"/>
                </a:lnTo>
                <a:lnTo>
                  <a:pt x="3775" y="352"/>
                </a:lnTo>
                <a:lnTo>
                  <a:pt x="3778" y="348"/>
                </a:lnTo>
                <a:lnTo>
                  <a:pt x="3783" y="345"/>
                </a:lnTo>
                <a:lnTo>
                  <a:pt x="3787" y="342"/>
                </a:lnTo>
                <a:lnTo>
                  <a:pt x="3792" y="341"/>
                </a:lnTo>
                <a:lnTo>
                  <a:pt x="3797" y="341"/>
                </a:lnTo>
                <a:lnTo>
                  <a:pt x="3802" y="341"/>
                </a:lnTo>
                <a:lnTo>
                  <a:pt x="3807" y="342"/>
                </a:lnTo>
                <a:lnTo>
                  <a:pt x="3812" y="345"/>
                </a:lnTo>
                <a:lnTo>
                  <a:pt x="3816" y="348"/>
                </a:lnTo>
                <a:lnTo>
                  <a:pt x="3819" y="352"/>
                </a:lnTo>
                <a:lnTo>
                  <a:pt x="3822" y="356"/>
                </a:lnTo>
                <a:lnTo>
                  <a:pt x="3823" y="360"/>
                </a:lnTo>
                <a:lnTo>
                  <a:pt x="3824" y="365"/>
                </a:lnTo>
                <a:lnTo>
                  <a:pt x="3823" y="370"/>
                </a:lnTo>
                <a:lnTo>
                  <a:pt x="3822" y="375"/>
                </a:lnTo>
                <a:lnTo>
                  <a:pt x="3819" y="379"/>
                </a:lnTo>
                <a:lnTo>
                  <a:pt x="3816" y="383"/>
                </a:lnTo>
                <a:lnTo>
                  <a:pt x="3812" y="386"/>
                </a:lnTo>
                <a:lnTo>
                  <a:pt x="3807" y="388"/>
                </a:lnTo>
                <a:lnTo>
                  <a:pt x="3802" y="390"/>
                </a:lnTo>
                <a:lnTo>
                  <a:pt x="3797" y="390"/>
                </a:lnTo>
                <a:close/>
                <a:moveTo>
                  <a:pt x="3772" y="413"/>
                </a:moveTo>
                <a:lnTo>
                  <a:pt x="3822" y="413"/>
                </a:lnTo>
                <a:lnTo>
                  <a:pt x="3822" y="590"/>
                </a:lnTo>
                <a:lnTo>
                  <a:pt x="3772" y="590"/>
                </a:lnTo>
                <a:lnTo>
                  <a:pt x="3772" y="413"/>
                </a:lnTo>
                <a:close/>
                <a:moveTo>
                  <a:pt x="3955" y="413"/>
                </a:moveTo>
                <a:lnTo>
                  <a:pt x="3955" y="450"/>
                </a:lnTo>
                <a:lnTo>
                  <a:pt x="3921" y="450"/>
                </a:lnTo>
                <a:lnTo>
                  <a:pt x="3921" y="535"/>
                </a:lnTo>
                <a:lnTo>
                  <a:pt x="3922" y="540"/>
                </a:lnTo>
                <a:lnTo>
                  <a:pt x="3923" y="544"/>
                </a:lnTo>
                <a:lnTo>
                  <a:pt x="3923" y="545"/>
                </a:lnTo>
                <a:lnTo>
                  <a:pt x="3924" y="547"/>
                </a:lnTo>
                <a:lnTo>
                  <a:pt x="3926" y="549"/>
                </a:lnTo>
                <a:lnTo>
                  <a:pt x="3929" y="551"/>
                </a:lnTo>
                <a:lnTo>
                  <a:pt x="3931" y="552"/>
                </a:lnTo>
                <a:lnTo>
                  <a:pt x="3935" y="552"/>
                </a:lnTo>
                <a:lnTo>
                  <a:pt x="3938" y="553"/>
                </a:lnTo>
                <a:lnTo>
                  <a:pt x="3945" y="552"/>
                </a:lnTo>
                <a:lnTo>
                  <a:pt x="3950" y="551"/>
                </a:lnTo>
                <a:lnTo>
                  <a:pt x="3958" y="587"/>
                </a:lnTo>
                <a:lnTo>
                  <a:pt x="3948" y="590"/>
                </a:lnTo>
                <a:lnTo>
                  <a:pt x="3940" y="591"/>
                </a:lnTo>
                <a:lnTo>
                  <a:pt x="3931" y="592"/>
                </a:lnTo>
                <a:lnTo>
                  <a:pt x="3925" y="592"/>
                </a:lnTo>
                <a:lnTo>
                  <a:pt x="3919" y="592"/>
                </a:lnTo>
                <a:lnTo>
                  <a:pt x="3913" y="591"/>
                </a:lnTo>
                <a:lnTo>
                  <a:pt x="3907" y="590"/>
                </a:lnTo>
                <a:lnTo>
                  <a:pt x="3902" y="588"/>
                </a:lnTo>
                <a:lnTo>
                  <a:pt x="3896" y="586"/>
                </a:lnTo>
                <a:lnTo>
                  <a:pt x="3892" y="583"/>
                </a:lnTo>
                <a:lnTo>
                  <a:pt x="3887" y="581"/>
                </a:lnTo>
                <a:lnTo>
                  <a:pt x="3884" y="577"/>
                </a:lnTo>
                <a:lnTo>
                  <a:pt x="3880" y="573"/>
                </a:lnTo>
                <a:lnTo>
                  <a:pt x="3878" y="569"/>
                </a:lnTo>
                <a:lnTo>
                  <a:pt x="3875" y="564"/>
                </a:lnTo>
                <a:lnTo>
                  <a:pt x="3874" y="559"/>
                </a:lnTo>
                <a:lnTo>
                  <a:pt x="3872" y="554"/>
                </a:lnTo>
                <a:lnTo>
                  <a:pt x="3872" y="548"/>
                </a:lnTo>
                <a:lnTo>
                  <a:pt x="3871" y="542"/>
                </a:lnTo>
                <a:lnTo>
                  <a:pt x="3871" y="450"/>
                </a:lnTo>
                <a:lnTo>
                  <a:pt x="3847" y="450"/>
                </a:lnTo>
                <a:lnTo>
                  <a:pt x="3847" y="413"/>
                </a:lnTo>
                <a:lnTo>
                  <a:pt x="3871" y="413"/>
                </a:lnTo>
                <a:lnTo>
                  <a:pt x="3871" y="371"/>
                </a:lnTo>
                <a:lnTo>
                  <a:pt x="3921" y="371"/>
                </a:lnTo>
                <a:lnTo>
                  <a:pt x="3921" y="413"/>
                </a:lnTo>
                <a:lnTo>
                  <a:pt x="3955" y="413"/>
                </a:lnTo>
                <a:close/>
                <a:moveTo>
                  <a:pt x="4062" y="593"/>
                </a:moveTo>
                <a:lnTo>
                  <a:pt x="4056" y="593"/>
                </a:lnTo>
                <a:lnTo>
                  <a:pt x="4049" y="592"/>
                </a:lnTo>
                <a:lnTo>
                  <a:pt x="4037" y="590"/>
                </a:lnTo>
                <a:lnTo>
                  <a:pt x="4031" y="589"/>
                </a:lnTo>
                <a:lnTo>
                  <a:pt x="4026" y="587"/>
                </a:lnTo>
                <a:lnTo>
                  <a:pt x="4015" y="582"/>
                </a:lnTo>
                <a:lnTo>
                  <a:pt x="4011" y="579"/>
                </a:lnTo>
                <a:lnTo>
                  <a:pt x="4006" y="576"/>
                </a:lnTo>
                <a:lnTo>
                  <a:pt x="4002" y="572"/>
                </a:lnTo>
                <a:lnTo>
                  <a:pt x="3998" y="569"/>
                </a:lnTo>
                <a:lnTo>
                  <a:pt x="3991" y="560"/>
                </a:lnTo>
                <a:lnTo>
                  <a:pt x="3988" y="555"/>
                </a:lnTo>
                <a:lnTo>
                  <a:pt x="3985" y="550"/>
                </a:lnTo>
                <a:lnTo>
                  <a:pt x="3981" y="540"/>
                </a:lnTo>
                <a:lnTo>
                  <a:pt x="3979" y="534"/>
                </a:lnTo>
                <a:lnTo>
                  <a:pt x="3977" y="528"/>
                </a:lnTo>
                <a:lnTo>
                  <a:pt x="3976" y="522"/>
                </a:lnTo>
                <a:lnTo>
                  <a:pt x="3975" y="516"/>
                </a:lnTo>
                <a:lnTo>
                  <a:pt x="3975" y="509"/>
                </a:lnTo>
                <a:lnTo>
                  <a:pt x="3975" y="502"/>
                </a:lnTo>
                <a:lnTo>
                  <a:pt x="3975" y="495"/>
                </a:lnTo>
                <a:lnTo>
                  <a:pt x="3975" y="489"/>
                </a:lnTo>
                <a:lnTo>
                  <a:pt x="3976" y="483"/>
                </a:lnTo>
                <a:lnTo>
                  <a:pt x="3977" y="477"/>
                </a:lnTo>
                <a:lnTo>
                  <a:pt x="3981" y="465"/>
                </a:lnTo>
                <a:lnTo>
                  <a:pt x="3983" y="459"/>
                </a:lnTo>
                <a:lnTo>
                  <a:pt x="3985" y="454"/>
                </a:lnTo>
                <a:lnTo>
                  <a:pt x="3991" y="445"/>
                </a:lnTo>
                <a:lnTo>
                  <a:pt x="3994" y="440"/>
                </a:lnTo>
                <a:lnTo>
                  <a:pt x="3998" y="436"/>
                </a:lnTo>
                <a:lnTo>
                  <a:pt x="4002" y="432"/>
                </a:lnTo>
                <a:lnTo>
                  <a:pt x="4006" y="428"/>
                </a:lnTo>
                <a:lnTo>
                  <a:pt x="4015" y="422"/>
                </a:lnTo>
                <a:lnTo>
                  <a:pt x="4020" y="419"/>
                </a:lnTo>
                <a:lnTo>
                  <a:pt x="4025" y="417"/>
                </a:lnTo>
                <a:lnTo>
                  <a:pt x="4030" y="415"/>
                </a:lnTo>
                <a:lnTo>
                  <a:pt x="4036" y="413"/>
                </a:lnTo>
                <a:lnTo>
                  <a:pt x="4042" y="412"/>
                </a:lnTo>
                <a:lnTo>
                  <a:pt x="4048" y="411"/>
                </a:lnTo>
                <a:lnTo>
                  <a:pt x="4060" y="411"/>
                </a:lnTo>
                <a:lnTo>
                  <a:pt x="4072" y="411"/>
                </a:lnTo>
                <a:lnTo>
                  <a:pt x="4083" y="413"/>
                </a:lnTo>
                <a:lnTo>
                  <a:pt x="4088" y="414"/>
                </a:lnTo>
                <a:lnTo>
                  <a:pt x="4093" y="416"/>
                </a:lnTo>
                <a:lnTo>
                  <a:pt x="4103" y="421"/>
                </a:lnTo>
                <a:lnTo>
                  <a:pt x="4111" y="426"/>
                </a:lnTo>
                <a:lnTo>
                  <a:pt x="4116" y="429"/>
                </a:lnTo>
                <a:lnTo>
                  <a:pt x="4119" y="433"/>
                </a:lnTo>
                <a:lnTo>
                  <a:pt x="4126" y="441"/>
                </a:lnTo>
                <a:lnTo>
                  <a:pt x="4129" y="446"/>
                </a:lnTo>
                <a:lnTo>
                  <a:pt x="4132" y="450"/>
                </a:lnTo>
                <a:lnTo>
                  <a:pt x="4135" y="456"/>
                </a:lnTo>
                <a:lnTo>
                  <a:pt x="4137" y="461"/>
                </a:lnTo>
                <a:lnTo>
                  <a:pt x="4139" y="467"/>
                </a:lnTo>
                <a:lnTo>
                  <a:pt x="4141" y="473"/>
                </a:lnTo>
                <a:lnTo>
                  <a:pt x="4142" y="479"/>
                </a:lnTo>
                <a:lnTo>
                  <a:pt x="4143" y="486"/>
                </a:lnTo>
                <a:lnTo>
                  <a:pt x="4143" y="493"/>
                </a:lnTo>
                <a:lnTo>
                  <a:pt x="4143" y="500"/>
                </a:lnTo>
                <a:lnTo>
                  <a:pt x="4143" y="514"/>
                </a:lnTo>
                <a:lnTo>
                  <a:pt x="4023" y="514"/>
                </a:lnTo>
                <a:lnTo>
                  <a:pt x="4023" y="519"/>
                </a:lnTo>
                <a:lnTo>
                  <a:pt x="4024" y="523"/>
                </a:lnTo>
                <a:lnTo>
                  <a:pt x="4026" y="532"/>
                </a:lnTo>
                <a:lnTo>
                  <a:pt x="4027" y="535"/>
                </a:lnTo>
                <a:lnTo>
                  <a:pt x="4029" y="539"/>
                </a:lnTo>
                <a:lnTo>
                  <a:pt x="4031" y="542"/>
                </a:lnTo>
                <a:lnTo>
                  <a:pt x="4034" y="545"/>
                </a:lnTo>
                <a:lnTo>
                  <a:pt x="4037" y="548"/>
                </a:lnTo>
                <a:lnTo>
                  <a:pt x="4040" y="550"/>
                </a:lnTo>
                <a:lnTo>
                  <a:pt x="4043" y="552"/>
                </a:lnTo>
                <a:lnTo>
                  <a:pt x="4047" y="554"/>
                </a:lnTo>
                <a:lnTo>
                  <a:pt x="4050" y="555"/>
                </a:lnTo>
                <a:lnTo>
                  <a:pt x="4054" y="556"/>
                </a:lnTo>
                <a:lnTo>
                  <a:pt x="4063" y="557"/>
                </a:lnTo>
                <a:lnTo>
                  <a:pt x="4069" y="556"/>
                </a:lnTo>
                <a:lnTo>
                  <a:pt x="4075" y="555"/>
                </a:lnTo>
                <a:lnTo>
                  <a:pt x="4080" y="554"/>
                </a:lnTo>
                <a:lnTo>
                  <a:pt x="4084" y="551"/>
                </a:lnTo>
                <a:lnTo>
                  <a:pt x="4087" y="550"/>
                </a:lnTo>
                <a:lnTo>
                  <a:pt x="4089" y="548"/>
                </a:lnTo>
                <a:lnTo>
                  <a:pt x="4092" y="545"/>
                </a:lnTo>
                <a:lnTo>
                  <a:pt x="4095" y="541"/>
                </a:lnTo>
                <a:lnTo>
                  <a:pt x="4097" y="536"/>
                </a:lnTo>
                <a:lnTo>
                  <a:pt x="4142" y="539"/>
                </a:lnTo>
                <a:lnTo>
                  <a:pt x="4141" y="545"/>
                </a:lnTo>
                <a:lnTo>
                  <a:pt x="4139" y="551"/>
                </a:lnTo>
                <a:lnTo>
                  <a:pt x="4136" y="556"/>
                </a:lnTo>
                <a:lnTo>
                  <a:pt x="4133" y="561"/>
                </a:lnTo>
                <a:lnTo>
                  <a:pt x="4130" y="566"/>
                </a:lnTo>
                <a:lnTo>
                  <a:pt x="4126" y="570"/>
                </a:lnTo>
                <a:lnTo>
                  <a:pt x="4121" y="575"/>
                </a:lnTo>
                <a:lnTo>
                  <a:pt x="4116" y="578"/>
                </a:lnTo>
                <a:lnTo>
                  <a:pt x="4111" y="582"/>
                </a:lnTo>
                <a:lnTo>
                  <a:pt x="4105" y="585"/>
                </a:lnTo>
                <a:lnTo>
                  <a:pt x="4099" y="587"/>
                </a:lnTo>
                <a:lnTo>
                  <a:pt x="4092" y="589"/>
                </a:lnTo>
                <a:lnTo>
                  <a:pt x="4089" y="590"/>
                </a:lnTo>
                <a:lnTo>
                  <a:pt x="4085" y="591"/>
                </a:lnTo>
                <a:lnTo>
                  <a:pt x="4078" y="592"/>
                </a:lnTo>
                <a:lnTo>
                  <a:pt x="4070" y="593"/>
                </a:lnTo>
                <a:lnTo>
                  <a:pt x="4062" y="593"/>
                </a:lnTo>
                <a:close/>
                <a:moveTo>
                  <a:pt x="4023" y="483"/>
                </a:moveTo>
                <a:lnTo>
                  <a:pt x="4097" y="483"/>
                </a:lnTo>
                <a:lnTo>
                  <a:pt x="4097" y="480"/>
                </a:lnTo>
                <a:lnTo>
                  <a:pt x="4097" y="476"/>
                </a:lnTo>
                <a:lnTo>
                  <a:pt x="4096" y="472"/>
                </a:lnTo>
                <a:lnTo>
                  <a:pt x="4095" y="469"/>
                </a:lnTo>
                <a:lnTo>
                  <a:pt x="4093" y="466"/>
                </a:lnTo>
                <a:lnTo>
                  <a:pt x="4092" y="463"/>
                </a:lnTo>
                <a:lnTo>
                  <a:pt x="4089" y="460"/>
                </a:lnTo>
                <a:lnTo>
                  <a:pt x="4087" y="457"/>
                </a:lnTo>
                <a:lnTo>
                  <a:pt x="4082" y="453"/>
                </a:lnTo>
                <a:lnTo>
                  <a:pt x="4076" y="450"/>
                </a:lnTo>
                <a:lnTo>
                  <a:pt x="4069" y="448"/>
                </a:lnTo>
                <a:lnTo>
                  <a:pt x="4061" y="447"/>
                </a:lnTo>
                <a:lnTo>
                  <a:pt x="4053" y="448"/>
                </a:lnTo>
                <a:lnTo>
                  <a:pt x="4050" y="449"/>
                </a:lnTo>
                <a:lnTo>
                  <a:pt x="4046" y="450"/>
                </a:lnTo>
                <a:lnTo>
                  <a:pt x="4040" y="453"/>
                </a:lnTo>
                <a:lnTo>
                  <a:pt x="4037" y="455"/>
                </a:lnTo>
                <a:lnTo>
                  <a:pt x="4034" y="458"/>
                </a:lnTo>
                <a:lnTo>
                  <a:pt x="4030" y="463"/>
                </a:lnTo>
                <a:lnTo>
                  <a:pt x="4026" y="470"/>
                </a:lnTo>
                <a:lnTo>
                  <a:pt x="4025" y="473"/>
                </a:lnTo>
                <a:lnTo>
                  <a:pt x="4024" y="476"/>
                </a:lnTo>
                <a:lnTo>
                  <a:pt x="4023" y="483"/>
                </a:lnTo>
                <a:close/>
                <a:moveTo>
                  <a:pt x="4267" y="413"/>
                </a:moveTo>
                <a:lnTo>
                  <a:pt x="4267" y="450"/>
                </a:lnTo>
                <a:lnTo>
                  <a:pt x="4234" y="450"/>
                </a:lnTo>
                <a:lnTo>
                  <a:pt x="4234" y="535"/>
                </a:lnTo>
                <a:lnTo>
                  <a:pt x="4234" y="540"/>
                </a:lnTo>
                <a:lnTo>
                  <a:pt x="4235" y="544"/>
                </a:lnTo>
                <a:lnTo>
                  <a:pt x="4236" y="545"/>
                </a:lnTo>
                <a:lnTo>
                  <a:pt x="4236" y="547"/>
                </a:lnTo>
                <a:lnTo>
                  <a:pt x="4238" y="549"/>
                </a:lnTo>
                <a:lnTo>
                  <a:pt x="4241" y="551"/>
                </a:lnTo>
                <a:lnTo>
                  <a:pt x="4244" y="552"/>
                </a:lnTo>
                <a:lnTo>
                  <a:pt x="4247" y="552"/>
                </a:lnTo>
                <a:lnTo>
                  <a:pt x="4250" y="553"/>
                </a:lnTo>
                <a:lnTo>
                  <a:pt x="4257" y="552"/>
                </a:lnTo>
                <a:lnTo>
                  <a:pt x="4263" y="551"/>
                </a:lnTo>
                <a:lnTo>
                  <a:pt x="4270" y="587"/>
                </a:lnTo>
                <a:lnTo>
                  <a:pt x="4260" y="590"/>
                </a:lnTo>
                <a:lnTo>
                  <a:pt x="4253" y="591"/>
                </a:lnTo>
                <a:lnTo>
                  <a:pt x="4244" y="592"/>
                </a:lnTo>
                <a:lnTo>
                  <a:pt x="4237" y="592"/>
                </a:lnTo>
                <a:lnTo>
                  <a:pt x="4231" y="592"/>
                </a:lnTo>
                <a:lnTo>
                  <a:pt x="4225" y="591"/>
                </a:lnTo>
                <a:lnTo>
                  <a:pt x="4220" y="590"/>
                </a:lnTo>
                <a:lnTo>
                  <a:pt x="4214" y="588"/>
                </a:lnTo>
                <a:lnTo>
                  <a:pt x="4210" y="586"/>
                </a:lnTo>
                <a:lnTo>
                  <a:pt x="4205" y="583"/>
                </a:lnTo>
                <a:lnTo>
                  <a:pt x="4201" y="581"/>
                </a:lnTo>
                <a:lnTo>
                  <a:pt x="4197" y="577"/>
                </a:lnTo>
                <a:lnTo>
                  <a:pt x="4194" y="573"/>
                </a:lnTo>
                <a:lnTo>
                  <a:pt x="4191" y="569"/>
                </a:lnTo>
                <a:lnTo>
                  <a:pt x="4189" y="564"/>
                </a:lnTo>
                <a:lnTo>
                  <a:pt x="4187" y="559"/>
                </a:lnTo>
                <a:lnTo>
                  <a:pt x="4186" y="554"/>
                </a:lnTo>
                <a:lnTo>
                  <a:pt x="4185" y="548"/>
                </a:lnTo>
                <a:lnTo>
                  <a:pt x="4185" y="542"/>
                </a:lnTo>
                <a:lnTo>
                  <a:pt x="4185" y="450"/>
                </a:lnTo>
                <a:lnTo>
                  <a:pt x="4161" y="450"/>
                </a:lnTo>
                <a:lnTo>
                  <a:pt x="4161" y="413"/>
                </a:lnTo>
                <a:lnTo>
                  <a:pt x="4185" y="413"/>
                </a:lnTo>
                <a:lnTo>
                  <a:pt x="4185" y="371"/>
                </a:lnTo>
                <a:lnTo>
                  <a:pt x="4234" y="371"/>
                </a:lnTo>
                <a:lnTo>
                  <a:pt x="4234" y="413"/>
                </a:lnTo>
                <a:lnTo>
                  <a:pt x="4267" y="413"/>
                </a:lnTo>
                <a:close/>
                <a:moveTo>
                  <a:pt x="4376" y="593"/>
                </a:moveTo>
                <a:lnTo>
                  <a:pt x="4369" y="593"/>
                </a:lnTo>
                <a:lnTo>
                  <a:pt x="4363" y="592"/>
                </a:lnTo>
                <a:lnTo>
                  <a:pt x="4349" y="590"/>
                </a:lnTo>
                <a:lnTo>
                  <a:pt x="4344" y="589"/>
                </a:lnTo>
                <a:lnTo>
                  <a:pt x="4338" y="587"/>
                </a:lnTo>
                <a:lnTo>
                  <a:pt x="4328" y="582"/>
                </a:lnTo>
                <a:lnTo>
                  <a:pt x="4323" y="579"/>
                </a:lnTo>
                <a:lnTo>
                  <a:pt x="4319" y="576"/>
                </a:lnTo>
                <a:lnTo>
                  <a:pt x="4314" y="572"/>
                </a:lnTo>
                <a:lnTo>
                  <a:pt x="4310" y="569"/>
                </a:lnTo>
                <a:lnTo>
                  <a:pt x="4303" y="560"/>
                </a:lnTo>
                <a:lnTo>
                  <a:pt x="4300" y="555"/>
                </a:lnTo>
                <a:lnTo>
                  <a:pt x="4298" y="550"/>
                </a:lnTo>
                <a:lnTo>
                  <a:pt x="4293" y="540"/>
                </a:lnTo>
                <a:lnTo>
                  <a:pt x="4291" y="534"/>
                </a:lnTo>
                <a:lnTo>
                  <a:pt x="4290" y="528"/>
                </a:lnTo>
                <a:lnTo>
                  <a:pt x="4289" y="522"/>
                </a:lnTo>
                <a:lnTo>
                  <a:pt x="4288" y="516"/>
                </a:lnTo>
                <a:lnTo>
                  <a:pt x="4287" y="509"/>
                </a:lnTo>
                <a:lnTo>
                  <a:pt x="4287" y="502"/>
                </a:lnTo>
                <a:lnTo>
                  <a:pt x="4287" y="495"/>
                </a:lnTo>
                <a:lnTo>
                  <a:pt x="4288" y="489"/>
                </a:lnTo>
                <a:lnTo>
                  <a:pt x="4289" y="483"/>
                </a:lnTo>
                <a:lnTo>
                  <a:pt x="4290" y="477"/>
                </a:lnTo>
                <a:lnTo>
                  <a:pt x="4293" y="465"/>
                </a:lnTo>
                <a:lnTo>
                  <a:pt x="4295" y="459"/>
                </a:lnTo>
                <a:lnTo>
                  <a:pt x="4298" y="454"/>
                </a:lnTo>
                <a:lnTo>
                  <a:pt x="4303" y="445"/>
                </a:lnTo>
                <a:lnTo>
                  <a:pt x="4307" y="440"/>
                </a:lnTo>
                <a:lnTo>
                  <a:pt x="4310" y="436"/>
                </a:lnTo>
                <a:lnTo>
                  <a:pt x="4314" y="432"/>
                </a:lnTo>
                <a:lnTo>
                  <a:pt x="4318" y="428"/>
                </a:lnTo>
                <a:lnTo>
                  <a:pt x="4327" y="422"/>
                </a:lnTo>
                <a:lnTo>
                  <a:pt x="4332" y="419"/>
                </a:lnTo>
                <a:lnTo>
                  <a:pt x="4338" y="417"/>
                </a:lnTo>
                <a:lnTo>
                  <a:pt x="4343" y="415"/>
                </a:lnTo>
                <a:lnTo>
                  <a:pt x="4348" y="413"/>
                </a:lnTo>
                <a:lnTo>
                  <a:pt x="4354" y="412"/>
                </a:lnTo>
                <a:lnTo>
                  <a:pt x="4361" y="411"/>
                </a:lnTo>
                <a:lnTo>
                  <a:pt x="4374" y="411"/>
                </a:lnTo>
                <a:lnTo>
                  <a:pt x="4385" y="411"/>
                </a:lnTo>
                <a:lnTo>
                  <a:pt x="4396" y="413"/>
                </a:lnTo>
                <a:lnTo>
                  <a:pt x="4401" y="414"/>
                </a:lnTo>
                <a:lnTo>
                  <a:pt x="4406" y="416"/>
                </a:lnTo>
                <a:lnTo>
                  <a:pt x="4416" y="421"/>
                </a:lnTo>
                <a:lnTo>
                  <a:pt x="4425" y="426"/>
                </a:lnTo>
                <a:lnTo>
                  <a:pt x="4429" y="429"/>
                </a:lnTo>
                <a:lnTo>
                  <a:pt x="4433" y="433"/>
                </a:lnTo>
                <a:lnTo>
                  <a:pt x="4440" y="441"/>
                </a:lnTo>
                <a:lnTo>
                  <a:pt x="4443" y="446"/>
                </a:lnTo>
                <a:lnTo>
                  <a:pt x="4446" y="450"/>
                </a:lnTo>
                <a:lnTo>
                  <a:pt x="4448" y="456"/>
                </a:lnTo>
                <a:lnTo>
                  <a:pt x="4451" y="461"/>
                </a:lnTo>
                <a:lnTo>
                  <a:pt x="4453" y="467"/>
                </a:lnTo>
                <a:lnTo>
                  <a:pt x="4454" y="473"/>
                </a:lnTo>
                <a:lnTo>
                  <a:pt x="4455" y="479"/>
                </a:lnTo>
                <a:lnTo>
                  <a:pt x="4456" y="486"/>
                </a:lnTo>
                <a:lnTo>
                  <a:pt x="4457" y="493"/>
                </a:lnTo>
                <a:lnTo>
                  <a:pt x="4457" y="500"/>
                </a:lnTo>
                <a:lnTo>
                  <a:pt x="4457" y="514"/>
                </a:lnTo>
                <a:lnTo>
                  <a:pt x="4335" y="514"/>
                </a:lnTo>
                <a:lnTo>
                  <a:pt x="4336" y="519"/>
                </a:lnTo>
                <a:lnTo>
                  <a:pt x="4336" y="523"/>
                </a:lnTo>
                <a:lnTo>
                  <a:pt x="4338" y="532"/>
                </a:lnTo>
                <a:lnTo>
                  <a:pt x="4342" y="539"/>
                </a:lnTo>
                <a:lnTo>
                  <a:pt x="4344" y="542"/>
                </a:lnTo>
                <a:lnTo>
                  <a:pt x="4346" y="545"/>
                </a:lnTo>
                <a:lnTo>
                  <a:pt x="4349" y="548"/>
                </a:lnTo>
                <a:lnTo>
                  <a:pt x="4352" y="550"/>
                </a:lnTo>
                <a:lnTo>
                  <a:pt x="4355" y="552"/>
                </a:lnTo>
                <a:lnTo>
                  <a:pt x="4360" y="554"/>
                </a:lnTo>
                <a:lnTo>
                  <a:pt x="4364" y="555"/>
                </a:lnTo>
                <a:lnTo>
                  <a:pt x="4368" y="556"/>
                </a:lnTo>
                <a:lnTo>
                  <a:pt x="4377" y="557"/>
                </a:lnTo>
                <a:lnTo>
                  <a:pt x="4382" y="556"/>
                </a:lnTo>
                <a:lnTo>
                  <a:pt x="4388" y="555"/>
                </a:lnTo>
                <a:lnTo>
                  <a:pt x="4393" y="554"/>
                </a:lnTo>
                <a:lnTo>
                  <a:pt x="4398" y="551"/>
                </a:lnTo>
                <a:lnTo>
                  <a:pt x="4400" y="550"/>
                </a:lnTo>
                <a:lnTo>
                  <a:pt x="4402" y="548"/>
                </a:lnTo>
                <a:lnTo>
                  <a:pt x="4405" y="545"/>
                </a:lnTo>
                <a:lnTo>
                  <a:pt x="4408" y="541"/>
                </a:lnTo>
                <a:lnTo>
                  <a:pt x="4410" y="536"/>
                </a:lnTo>
                <a:lnTo>
                  <a:pt x="4456" y="539"/>
                </a:lnTo>
                <a:lnTo>
                  <a:pt x="4454" y="545"/>
                </a:lnTo>
                <a:lnTo>
                  <a:pt x="4452" y="551"/>
                </a:lnTo>
                <a:lnTo>
                  <a:pt x="4450" y="556"/>
                </a:lnTo>
                <a:lnTo>
                  <a:pt x="4447" y="561"/>
                </a:lnTo>
                <a:lnTo>
                  <a:pt x="4443" y="566"/>
                </a:lnTo>
                <a:lnTo>
                  <a:pt x="4439" y="570"/>
                </a:lnTo>
                <a:lnTo>
                  <a:pt x="4435" y="575"/>
                </a:lnTo>
                <a:lnTo>
                  <a:pt x="4430" y="578"/>
                </a:lnTo>
                <a:lnTo>
                  <a:pt x="4424" y="582"/>
                </a:lnTo>
                <a:lnTo>
                  <a:pt x="4418" y="585"/>
                </a:lnTo>
                <a:lnTo>
                  <a:pt x="4412" y="587"/>
                </a:lnTo>
                <a:lnTo>
                  <a:pt x="4406" y="589"/>
                </a:lnTo>
                <a:lnTo>
                  <a:pt x="4402" y="590"/>
                </a:lnTo>
                <a:lnTo>
                  <a:pt x="4399" y="591"/>
                </a:lnTo>
                <a:lnTo>
                  <a:pt x="4391" y="592"/>
                </a:lnTo>
                <a:lnTo>
                  <a:pt x="4384" y="593"/>
                </a:lnTo>
                <a:lnTo>
                  <a:pt x="4376" y="593"/>
                </a:lnTo>
                <a:close/>
                <a:moveTo>
                  <a:pt x="4335" y="483"/>
                </a:moveTo>
                <a:lnTo>
                  <a:pt x="4411" y="483"/>
                </a:lnTo>
                <a:lnTo>
                  <a:pt x="4411" y="480"/>
                </a:lnTo>
                <a:lnTo>
                  <a:pt x="4410" y="476"/>
                </a:lnTo>
                <a:lnTo>
                  <a:pt x="4409" y="472"/>
                </a:lnTo>
                <a:lnTo>
                  <a:pt x="4408" y="469"/>
                </a:lnTo>
                <a:lnTo>
                  <a:pt x="4407" y="466"/>
                </a:lnTo>
                <a:lnTo>
                  <a:pt x="4405" y="463"/>
                </a:lnTo>
                <a:lnTo>
                  <a:pt x="4403" y="460"/>
                </a:lnTo>
                <a:lnTo>
                  <a:pt x="4401" y="457"/>
                </a:lnTo>
                <a:lnTo>
                  <a:pt x="4395" y="453"/>
                </a:lnTo>
                <a:lnTo>
                  <a:pt x="4389" y="450"/>
                </a:lnTo>
                <a:lnTo>
                  <a:pt x="4382" y="448"/>
                </a:lnTo>
                <a:lnTo>
                  <a:pt x="4375" y="447"/>
                </a:lnTo>
                <a:lnTo>
                  <a:pt x="4367" y="448"/>
                </a:lnTo>
                <a:lnTo>
                  <a:pt x="4363" y="449"/>
                </a:lnTo>
                <a:lnTo>
                  <a:pt x="4360" y="450"/>
                </a:lnTo>
                <a:lnTo>
                  <a:pt x="4352" y="453"/>
                </a:lnTo>
                <a:lnTo>
                  <a:pt x="4349" y="455"/>
                </a:lnTo>
                <a:lnTo>
                  <a:pt x="4347" y="458"/>
                </a:lnTo>
                <a:lnTo>
                  <a:pt x="4342" y="463"/>
                </a:lnTo>
                <a:lnTo>
                  <a:pt x="4339" y="470"/>
                </a:lnTo>
                <a:lnTo>
                  <a:pt x="4337" y="473"/>
                </a:lnTo>
                <a:lnTo>
                  <a:pt x="4336" y="476"/>
                </a:lnTo>
                <a:lnTo>
                  <a:pt x="4335" y="483"/>
                </a:lnTo>
                <a:close/>
                <a:moveTo>
                  <a:pt x="4580" y="413"/>
                </a:moveTo>
                <a:lnTo>
                  <a:pt x="4580" y="450"/>
                </a:lnTo>
                <a:lnTo>
                  <a:pt x="4547" y="450"/>
                </a:lnTo>
                <a:lnTo>
                  <a:pt x="4547" y="535"/>
                </a:lnTo>
                <a:lnTo>
                  <a:pt x="4548" y="540"/>
                </a:lnTo>
                <a:lnTo>
                  <a:pt x="4548" y="544"/>
                </a:lnTo>
                <a:lnTo>
                  <a:pt x="4549" y="545"/>
                </a:lnTo>
                <a:lnTo>
                  <a:pt x="4550" y="547"/>
                </a:lnTo>
                <a:lnTo>
                  <a:pt x="4552" y="549"/>
                </a:lnTo>
                <a:lnTo>
                  <a:pt x="4554" y="551"/>
                </a:lnTo>
                <a:lnTo>
                  <a:pt x="4557" y="552"/>
                </a:lnTo>
                <a:lnTo>
                  <a:pt x="4560" y="552"/>
                </a:lnTo>
                <a:lnTo>
                  <a:pt x="4564" y="553"/>
                </a:lnTo>
                <a:lnTo>
                  <a:pt x="4571" y="552"/>
                </a:lnTo>
                <a:lnTo>
                  <a:pt x="4576" y="551"/>
                </a:lnTo>
                <a:lnTo>
                  <a:pt x="4584" y="587"/>
                </a:lnTo>
                <a:lnTo>
                  <a:pt x="4573" y="590"/>
                </a:lnTo>
                <a:lnTo>
                  <a:pt x="4566" y="591"/>
                </a:lnTo>
                <a:lnTo>
                  <a:pt x="4557" y="592"/>
                </a:lnTo>
                <a:lnTo>
                  <a:pt x="4551" y="592"/>
                </a:lnTo>
                <a:lnTo>
                  <a:pt x="4544" y="592"/>
                </a:lnTo>
                <a:lnTo>
                  <a:pt x="4539" y="591"/>
                </a:lnTo>
                <a:lnTo>
                  <a:pt x="4533" y="590"/>
                </a:lnTo>
                <a:lnTo>
                  <a:pt x="4528" y="588"/>
                </a:lnTo>
                <a:lnTo>
                  <a:pt x="4523" y="586"/>
                </a:lnTo>
                <a:lnTo>
                  <a:pt x="4518" y="583"/>
                </a:lnTo>
                <a:lnTo>
                  <a:pt x="4514" y="581"/>
                </a:lnTo>
                <a:lnTo>
                  <a:pt x="4510" y="577"/>
                </a:lnTo>
                <a:lnTo>
                  <a:pt x="4507" y="573"/>
                </a:lnTo>
                <a:lnTo>
                  <a:pt x="4504" y="569"/>
                </a:lnTo>
                <a:lnTo>
                  <a:pt x="4502" y="564"/>
                </a:lnTo>
                <a:lnTo>
                  <a:pt x="4500" y="559"/>
                </a:lnTo>
                <a:lnTo>
                  <a:pt x="4499" y="554"/>
                </a:lnTo>
                <a:lnTo>
                  <a:pt x="4498" y="548"/>
                </a:lnTo>
                <a:lnTo>
                  <a:pt x="4498" y="542"/>
                </a:lnTo>
                <a:lnTo>
                  <a:pt x="4498" y="450"/>
                </a:lnTo>
                <a:lnTo>
                  <a:pt x="4474" y="450"/>
                </a:lnTo>
                <a:lnTo>
                  <a:pt x="4474" y="413"/>
                </a:lnTo>
                <a:lnTo>
                  <a:pt x="4498" y="413"/>
                </a:lnTo>
                <a:lnTo>
                  <a:pt x="4498" y="371"/>
                </a:lnTo>
                <a:lnTo>
                  <a:pt x="4547" y="371"/>
                </a:lnTo>
                <a:lnTo>
                  <a:pt x="4547" y="413"/>
                </a:lnTo>
                <a:lnTo>
                  <a:pt x="4580" y="413"/>
                </a:lnTo>
                <a:close/>
                <a:moveTo>
                  <a:pt x="578" y="585"/>
                </a:moveTo>
                <a:lnTo>
                  <a:pt x="465" y="257"/>
                </a:lnTo>
                <a:lnTo>
                  <a:pt x="352" y="585"/>
                </a:lnTo>
                <a:lnTo>
                  <a:pt x="578" y="585"/>
                </a:lnTo>
                <a:close/>
                <a:moveTo>
                  <a:pt x="930" y="930"/>
                </a:moveTo>
                <a:lnTo>
                  <a:pt x="699" y="930"/>
                </a:lnTo>
                <a:lnTo>
                  <a:pt x="642" y="768"/>
                </a:lnTo>
                <a:lnTo>
                  <a:pt x="288" y="768"/>
                </a:lnTo>
                <a:lnTo>
                  <a:pt x="232" y="930"/>
                </a:lnTo>
                <a:lnTo>
                  <a:pt x="0" y="930"/>
                </a:lnTo>
                <a:lnTo>
                  <a:pt x="162" y="471"/>
                </a:lnTo>
                <a:lnTo>
                  <a:pt x="326" y="12"/>
                </a:lnTo>
                <a:lnTo>
                  <a:pt x="603" y="12"/>
                </a:lnTo>
                <a:lnTo>
                  <a:pt x="767" y="471"/>
                </a:lnTo>
                <a:lnTo>
                  <a:pt x="930" y="930"/>
                </a:lnTo>
                <a:close/>
                <a:moveTo>
                  <a:pt x="1016" y="930"/>
                </a:moveTo>
                <a:lnTo>
                  <a:pt x="1016" y="722"/>
                </a:lnTo>
                <a:lnTo>
                  <a:pt x="1225" y="722"/>
                </a:lnTo>
                <a:lnTo>
                  <a:pt x="1225" y="930"/>
                </a:lnTo>
                <a:lnTo>
                  <a:pt x="1016"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cxnSp>
        <p:nvCxnSpPr>
          <p:cNvPr id="20" name="Straight Connector 19">
            <a:extLst>
              <a:ext uri="{FF2B5EF4-FFF2-40B4-BE49-F238E27FC236}">
                <a16:creationId xmlns:a16="http://schemas.microsoft.com/office/drawing/2014/main" id="{E5214FC4-D5E6-4BFF-BDD7-E1A5F00F21BF}"/>
              </a:ext>
            </a:extLst>
          </p:cNvPr>
          <p:cNvCxnSpPr>
            <a:cxnSpLocks/>
          </p:cNvCxnSpPr>
          <p:nvPr/>
        </p:nvCxnSpPr>
        <p:spPr>
          <a:xfrm>
            <a:off x="6600056" y="1233937"/>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Date Placeholder 22">
            <a:extLst>
              <a:ext uri="{FF2B5EF4-FFF2-40B4-BE49-F238E27FC236}">
                <a16:creationId xmlns:a16="http://schemas.microsoft.com/office/drawing/2014/main" id="{CA1682D5-9875-6DFE-B1FA-F20EE1301C6A}"/>
              </a:ext>
            </a:extLst>
          </p:cNvPr>
          <p:cNvSpPr>
            <a:spLocks noGrp="1"/>
          </p:cNvSpPr>
          <p:nvPr>
            <p:ph type="dt" sz="half" idx="10"/>
          </p:nvPr>
        </p:nvSpPr>
        <p:spPr>
          <a:xfrm>
            <a:off x="10200456" y="6309320"/>
            <a:ext cx="1152128" cy="143868"/>
          </a:xfrm>
          <a:prstGeom prst="rect">
            <a:avLst/>
          </a:prstGeom>
        </p:spPr>
        <p:txBody>
          <a:bodyPr/>
          <a:lstStyle>
            <a:lvl1pPr>
              <a:defRPr>
                <a:solidFill>
                  <a:schemeClr val="bg1"/>
                </a:solidFill>
              </a:defRPr>
            </a:lvl1pPr>
          </a:lstStyle>
          <a:p>
            <a:r>
              <a:rPr lang="fi-FI"/>
              <a:t>28.04.2026</a:t>
            </a:r>
          </a:p>
        </p:txBody>
      </p:sp>
      <p:sp>
        <p:nvSpPr>
          <p:cNvPr id="24" name="Footer Placeholder 23">
            <a:extLst>
              <a:ext uri="{FF2B5EF4-FFF2-40B4-BE49-F238E27FC236}">
                <a16:creationId xmlns:a16="http://schemas.microsoft.com/office/drawing/2014/main" id="{CB76FCA5-9DA7-BF02-3EBB-BC56DDA0FE1D}"/>
              </a:ext>
            </a:extLst>
          </p:cNvPr>
          <p:cNvSpPr>
            <a:spLocks noGrp="1"/>
          </p:cNvSpPr>
          <p:nvPr>
            <p:ph type="ftr" sz="quarter" idx="11"/>
          </p:nvPr>
        </p:nvSpPr>
        <p:spPr>
          <a:xfrm>
            <a:off x="1271464" y="6309320"/>
            <a:ext cx="8928992" cy="143869"/>
          </a:xfrm>
          <a:prstGeom prst="rect">
            <a:avLst/>
          </a:prstGeom>
        </p:spPr>
        <p:txBody>
          <a:bodyPr/>
          <a:lstStyle>
            <a:lvl1pPr>
              <a:defRPr>
                <a:solidFill>
                  <a:schemeClr val="bg1"/>
                </a:solidFill>
              </a:defRPr>
            </a:lvl1pPr>
          </a:lstStyle>
          <a:p>
            <a:r>
              <a:rPr lang="pt-BR"/>
              <a:t>Enrico Glerean &amp; Pedro Silva (2026) Please cite DOI: 10.5281/zenodo.14032261 (CC-BY)</a:t>
            </a:r>
            <a:endParaRPr lang="fi-FI"/>
          </a:p>
        </p:txBody>
      </p:sp>
      <p:sp>
        <p:nvSpPr>
          <p:cNvPr id="25" name="Slide Number Placeholder 24">
            <a:extLst>
              <a:ext uri="{FF2B5EF4-FFF2-40B4-BE49-F238E27FC236}">
                <a16:creationId xmlns:a16="http://schemas.microsoft.com/office/drawing/2014/main" id="{807BD9D2-D4DB-4F42-21C0-76A363F74553}"/>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44143580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ext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2817B02A-E412-3D57-D720-53C16DE5CD79}"/>
              </a:ext>
            </a:extLst>
          </p:cNvPr>
          <p:cNvSpPr>
            <a:spLocks noGrp="1"/>
          </p:cNvSpPr>
          <p:nvPr>
            <p:ph type="dt" sz="half" idx="14"/>
          </p:nvPr>
        </p:nvSpPr>
        <p:spPr/>
        <p:txBody>
          <a:bodyPr/>
          <a:lstStyle/>
          <a:p>
            <a:r>
              <a:rPr lang="fi-FI"/>
              <a:t>28.04.2026</a:t>
            </a:r>
          </a:p>
        </p:txBody>
      </p:sp>
      <p:sp>
        <p:nvSpPr>
          <p:cNvPr id="11" name="Footer Placeholder 10">
            <a:extLst>
              <a:ext uri="{FF2B5EF4-FFF2-40B4-BE49-F238E27FC236}">
                <a16:creationId xmlns:a16="http://schemas.microsoft.com/office/drawing/2014/main" id="{F69D12B5-7125-30E3-24A9-B13A45A47DD2}"/>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12" name="Slide Number Placeholder 11">
            <a:extLst>
              <a:ext uri="{FF2B5EF4-FFF2-40B4-BE49-F238E27FC236}">
                <a16:creationId xmlns:a16="http://schemas.microsoft.com/office/drawing/2014/main" id="{FBF2F3BF-BDB4-934B-223F-10D124A9FF7F}"/>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527660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Text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solidFill>
                  <a:schemeClr val="bg1"/>
                </a:solidFill>
              </a:defRPr>
            </a:lvl1pPr>
            <a:lvl2pP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1290A9EE-B882-1AC8-FB03-9E891579AE36}"/>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10" name="Date Placeholder 9">
            <a:extLst>
              <a:ext uri="{FF2B5EF4-FFF2-40B4-BE49-F238E27FC236}">
                <a16:creationId xmlns:a16="http://schemas.microsoft.com/office/drawing/2014/main" id="{B05A6015-939E-F9FC-0FB4-D470EC8A0BBD}"/>
              </a:ext>
            </a:extLst>
          </p:cNvPr>
          <p:cNvSpPr>
            <a:spLocks noGrp="1"/>
          </p:cNvSpPr>
          <p:nvPr>
            <p:ph type="dt" sz="half" idx="14"/>
          </p:nvPr>
        </p:nvSpPr>
        <p:spPr/>
        <p:txBody>
          <a:bodyPr/>
          <a:lstStyle/>
          <a:p>
            <a:r>
              <a:rPr lang="fi-FI"/>
              <a:t>28.04.2026</a:t>
            </a:r>
          </a:p>
        </p:txBody>
      </p:sp>
      <p:sp>
        <p:nvSpPr>
          <p:cNvPr id="11" name="Footer Placeholder 10">
            <a:extLst>
              <a:ext uri="{FF2B5EF4-FFF2-40B4-BE49-F238E27FC236}">
                <a16:creationId xmlns:a16="http://schemas.microsoft.com/office/drawing/2014/main" id="{14DB1AA2-CCCB-5B08-265D-BE56112733BF}"/>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12" name="Slide Number Placeholder 11">
            <a:extLst>
              <a:ext uri="{FF2B5EF4-FFF2-40B4-BE49-F238E27FC236}">
                <a16:creationId xmlns:a16="http://schemas.microsoft.com/office/drawing/2014/main" id="{CCA03FB0-714E-A993-B1E2-A06FD8310D2E}"/>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9002068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ext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61808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ext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5500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Text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37809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Bullets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4" name="Date Placeholder 3">
            <a:extLst>
              <a:ext uri="{FF2B5EF4-FFF2-40B4-BE49-F238E27FC236}">
                <a16:creationId xmlns:a16="http://schemas.microsoft.com/office/drawing/2014/main" id="{5BB6FDD6-AC67-386D-7AA4-C02EC9BB07D2}"/>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A597A9CB-A538-660F-9EC0-84FF7D333DFB}"/>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40567151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obj" preserve="1">
  <p:cSld name="Bullets and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solidFill>
                  <a:schemeClr val="bg1"/>
                </a:solidFill>
              </a:defRPr>
            </a:lvl1pPr>
            <a:lvl2pPr marL="539750" indent="-266700">
              <a:defRPr>
                <a:solidFill>
                  <a:schemeClr val="bg1"/>
                </a:solidFill>
              </a:defRPr>
            </a:lvl2pPr>
            <a:lvl3pPr marL="808038" indent="-276225">
              <a:defRPr>
                <a:solidFill>
                  <a:schemeClr val="bg1"/>
                </a:solidFill>
              </a:defRPr>
            </a:lvl3pPr>
            <a:lvl4pPr marL="1077913" indent="-266700">
              <a:defRPr>
                <a:solidFill>
                  <a:schemeClr val="bg1"/>
                </a:solidFill>
              </a:defRPr>
            </a:lvl4pPr>
            <a:lvl5pPr marL="1347788" indent="-266700">
              <a:defRPr>
                <a:solidFill>
                  <a:schemeClr val="bg1"/>
                </a:solidFill>
              </a:defRPr>
            </a:lvl5pPr>
            <a:lvl6pPr marL="1617663" indent="-266700">
              <a:defRPr>
                <a:solidFill>
                  <a:schemeClr val="bg1"/>
                </a:solidFill>
              </a:defRPr>
            </a:lvl6pPr>
            <a:lvl7pPr marL="1885950" indent="-276225">
              <a:defRPr>
                <a:solidFill>
                  <a:schemeClr val="bg1"/>
                </a:solidFill>
              </a:defRPr>
            </a:lvl7pPr>
            <a:lvl8pPr marL="2155825" indent="-266700">
              <a:defRPr>
                <a:solidFill>
                  <a:schemeClr val="bg1"/>
                </a:solidFill>
              </a:defRPr>
            </a:lvl8pPr>
            <a:lvl9pPr marL="2425700" indent="-266700">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7" name="Freeform 5">
            <a:extLst>
              <a:ext uri="{FF2B5EF4-FFF2-40B4-BE49-F238E27FC236}">
                <a16:creationId xmlns:a16="http://schemas.microsoft.com/office/drawing/2014/main" id="{E925B5BF-537D-28C4-E616-ABEDC53298DE}"/>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3293214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Bullets and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689401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Bullets and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7473211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Bullets and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DF6D14CD-046B-4F4C-C56E-9224E5C28466}"/>
              </a:ext>
            </a:extLst>
          </p:cNvPr>
          <p:cNvSpPr>
            <a:spLocks noGrp="1"/>
          </p:cNvSpPr>
          <p:nvPr>
            <p:ph idx="1"/>
          </p:nvPr>
        </p:nvSpPr>
        <p:spPr>
          <a:xfrm>
            <a:off x="1055688" y="2205037"/>
            <a:ext cx="10080625" cy="3671887"/>
          </a:xfrm>
        </p:spPr>
        <p:txBody>
          <a:bodyPr/>
          <a:lstStyle>
            <a:lvl1pPr marL="269875" indent="-269875">
              <a:buFont typeface="Arial" panose="020B0604020202020204" pitchFamily="34" charset="0"/>
              <a:buChar char="•"/>
              <a:defRPr/>
            </a:lvl1pPr>
            <a:lvl2pPr marL="539750" indent="-266700">
              <a:defRPr/>
            </a:lvl2pPr>
            <a:lvl3pPr marL="808038" indent="-276225">
              <a:defRPr/>
            </a:lvl3pPr>
            <a:lvl4pPr marL="1077913" indent="-266700">
              <a:defRPr/>
            </a:lvl4pPr>
            <a:lvl5pPr marL="1347788" indent="-266700">
              <a:defRPr/>
            </a:lvl5pPr>
            <a:lvl6pPr marL="1617663" indent="-266700">
              <a:defRPr/>
            </a:lvl6pPr>
            <a:lvl7pPr marL="1885950" indent="-276225">
              <a:defRPr/>
            </a:lvl7pPr>
            <a:lvl8pPr marL="2155825" indent="-266700">
              <a:defRPr/>
            </a:lvl8pPr>
            <a:lvl9pPr marL="2425700" indent="-2667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EA82AD59-DDD9-3867-649E-CC4DA3F6CAE5}"/>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BB605C51-1C15-2D57-6D47-F4C9D3A403B2}"/>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9999033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6" name="Slide Number Placeholder 15">
            <a:extLst>
              <a:ext uri="{FF2B5EF4-FFF2-40B4-BE49-F238E27FC236}">
                <a16:creationId xmlns:a16="http://schemas.microsoft.com/office/drawing/2014/main" id="{302C1AAA-FFC0-A072-DE72-90A83A340821}"/>
              </a:ext>
            </a:extLst>
          </p:cNvPr>
          <p:cNvSpPr>
            <a:spLocks noGrp="1"/>
          </p:cNvSpPr>
          <p:nvPr>
            <p:ph type="sldNum" sz="quarter" idx="12"/>
          </p:nvPr>
        </p:nvSpPr>
        <p:spPr/>
        <p:txBody>
          <a:bodyPr/>
          <a:lstStyle/>
          <a:p>
            <a:fld id="{D701140D-C14F-41CA-99FC-0EF83E8DA40A}" type="slidenum">
              <a:rPr lang="fi-FI" smtClean="0"/>
              <a:pPr/>
              <a:t>‹#›</a:t>
            </a:fld>
            <a:endParaRPr lang="fi-FI"/>
          </a:p>
        </p:txBody>
      </p:sp>
      <p:sp>
        <p:nvSpPr>
          <p:cNvPr id="5" name="Date Placeholder 4">
            <a:extLst>
              <a:ext uri="{FF2B5EF4-FFF2-40B4-BE49-F238E27FC236}">
                <a16:creationId xmlns:a16="http://schemas.microsoft.com/office/drawing/2014/main" id="{2E2A57BB-F53F-2B7B-D0F6-79F25B989302}"/>
              </a:ext>
            </a:extLst>
          </p:cNvPr>
          <p:cNvSpPr>
            <a:spLocks noGrp="1"/>
          </p:cNvSpPr>
          <p:nvPr>
            <p:ph type="dt" sz="half" idx="13"/>
          </p:nvPr>
        </p:nvSpPr>
        <p:spPr/>
        <p:txBody>
          <a:bodyPr/>
          <a:lstStyle/>
          <a:p>
            <a:r>
              <a:rPr lang="fi-FI"/>
              <a:t>28.04.2026</a:t>
            </a:r>
          </a:p>
        </p:txBody>
      </p:sp>
      <p:sp>
        <p:nvSpPr>
          <p:cNvPr id="6" name="Footer Placeholder 5">
            <a:extLst>
              <a:ext uri="{FF2B5EF4-FFF2-40B4-BE49-F238E27FC236}">
                <a16:creationId xmlns:a16="http://schemas.microsoft.com/office/drawing/2014/main" id="{F421E61B-D35D-AB1D-B003-595DF1E201E2}"/>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420866584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Two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3" name="Freeform 5">
            <a:extLst>
              <a:ext uri="{FF2B5EF4-FFF2-40B4-BE49-F238E27FC236}">
                <a16:creationId xmlns:a16="http://schemas.microsoft.com/office/drawing/2014/main" id="{18D0D236-0E9F-85F5-9BC1-6B8DF3DB512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60964261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wo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1339626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wo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405486518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wo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53616294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hre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05633797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Three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8" name="Freeform 5">
            <a:extLst>
              <a:ext uri="{FF2B5EF4-FFF2-40B4-BE49-F238E27FC236}">
                <a16:creationId xmlns:a16="http://schemas.microsoft.com/office/drawing/2014/main" id="{D7912BB5-9834-D960-62E3-9D95A380EB5B}"/>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357263337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hree Content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18668508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hree Content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50355033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cSld name="Section Header Black">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solidFill>
                  <a:schemeClr val="bg1"/>
                </a:solidFill>
                <a:latin typeface="+mj-lt"/>
              </a:defRPr>
            </a:lvl1pPr>
          </a:lstStyle>
          <a:p>
            <a:r>
              <a:rPr lang="en-US"/>
              <a:t>Click to edit Master title style</a:t>
            </a:r>
            <a:endParaRPr lang="fi-FI"/>
          </a:p>
        </p:txBody>
      </p:sp>
      <p:sp>
        <p:nvSpPr>
          <p:cNvPr id="2" name="Freeform 5">
            <a:extLst>
              <a:ext uri="{FF2B5EF4-FFF2-40B4-BE49-F238E27FC236}">
                <a16:creationId xmlns:a16="http://schemas.microsoft.com/office/drawing/2014/main" id="{5A269375-E1A8-C31B-7E8E-7F024302667C}"/>
              </a:ext>
            </a:extLst>
          </p:cNvPr>
          <p:cNvSpPr>
            <a:spLocks noChangeAspect="1" noEditPoints="1"/>
          </p:cNvSpPr>
          <p:nvPr userDrawn="1"/>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AFAB8C54-8FF4-ECB4-5321-511CAEE5FB2D}"/>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D00DBC1F-EE08-1759-7EA7-58669FCAF887}"/>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56070564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hree Content Yellow">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1055688" y="2205037"/>
            <a:ext cx="3168104"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a:extLst>
              <a:ext uri="{FF2B5EF4-FFF2-40B4-BE49-F238E27FC236}">
                <a16:creationId xmlns:a16="http://schemas.microsoft.com/office/drawing/2014/main" id="{9BB0BFA1-AAA3-B436-0EE2-E469AA3932D9}"/>
              </a:ext>
            </a:extLst>
          </p:cNvPr>
          <p:cNvSpPr>
            <a:spLocks noGrp="1"/>
          </p:cNvSpPr>
          <p:nvPr>
            <p:ph sz="half" idx="2"/>
          </p:nvPr>
        </p:nvSpPr>
        <p:spPr>
          <a:xfrm>
            <a:off x="4511825" y="2205037"/>
            <a:ext cx="316835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2" name="Content Placeholder 3">
            <a:extLst>
              <a:ext uri="{FF2B5EF4-FFF2-40B4-BE49-F238E27FC236}">
                <a16:creationId xmlns:a16="http://schemas.microsoft.com/office/drawing/2014/main" id="{D2A1A8FC-ED18-02E4-A33A-C74DEBE3A1BD}"/>
              </a:ext>
            </a:extLst>
          </p:cNvPr>
          <p:cNvSpPr>
            <a:spLocks noGrp="1"/>
          </p:cNvSpPr>
          <p:nvPr>
            <p:ph sz="half" idx="13"/>
          </p:nvPr>
        </p:nvSpPr>
        <p:spPr>
          <a:xfrm>
            <a:off x="7968208" y="2205037"/>
            <a:ext cx="3168105"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12059037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Section Header ">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426800860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Section Header Black">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solidFill>
                  <a:schemeClr val="bg1"/>
                </a:solidFill>
                <a:latin typeface="+mj-lt"/>
              </a:defRPr>
            </a:lvl1pPr>
          </a:lstStyle>
          <a:p>
            <a:r>
              <a:rPr lang="en-US"/>
              <a:t>Click to edit Master title style</a:t>
            </a:r>
            <a:endParaRPr lang="fi-FI"/>
          </a:p>
        </p:txBody>
      </p:sp>
      <p:sp>
        <p:nvSpPr>
          <p:cNvPr id="2" name="Freeform 5">
            <a:extLst>
              <a:ext uri="{FF2B5EF4-FFF2-40B4-BE49-F238E27FC236}">
                <a16:creationId xmlns:a16="http://schemas.microsoft.com/office/drawing/2014/main" id="{5A269375-E1A8-C31B-7E8E-7F024302667C}"/>
              </a:ext>
            </a:extLst>
          </p:cNvPr>
          <p:cNvSpPr>
            <a:spLocks noChangeAspect="1" noEditPoints="1"/>
          </p:cNvSpPr>
          <p:nvPr userDrawn="1"/>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AFAB8C54-8FF4-ECB4-5321-511CAEE5FB2D}"/>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D00DBC1F-EE08-1759-7EA7-58669FCAF887}"/>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16782502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Section Header Blue">
    <p:bg>
      <p:bgPr>
        <a:solidFill>
          <a:schemeClr val="accent3"/>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348313828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Section Header Red">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87530901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Section Header Yellow">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1DE05B-FFAF-0858-13F9-0EB7AD3526CC}"/>
              </a:ext>
            </a:extLst>
          </p:cNvPr>
          <p:cNvSpPr>
            <a:spLocks noGrp="1"/>
          </p:cNvSpPr>
          <p:nvPr>
            <p:ph type="dt" sz="half" idx="10"/>
          </p:nvPr>
        </p:nvSpPr>
        <p:spPr/>
        <p:txBody>
          <a:bodyPr/>
          <a:lstStyle/>
          <a:p>
            <a:r>
              <a:rPr lang="fi-FI"/>
              <a:t>28.04.2026</a:t>
            </a:r>
          </a:p>
        </p:txBody>
      </p:sp>
      <p:sp>
        <p:nvSpPr>
          <p:cNvPr id="5" name="Footer Placeholder 4">
            <a:extLst>
              <a:ext uri="{FF2B5EF4-FFF2-40B4-BE49-F238E27FC236}">
                <a16:creationId xmlns:a16="http://schemas.microsoft.com/office/drawing/2014/main" id="{06FD89D3-D829-039B-7727-4ABD59B9BD6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latin typeface="+mj-lt"/>
              </a:defRPr>
            </a:lvl1pPr>
          </a:lstStyle>
          <a:p>
            <a:r>
              <a:rPr lang="en-US"/>
              <a:t>Click to edit Master title style</a:t>
            </a:r>
            <a:endParaRPr lang="fi-FI"/>
          </a:p>
        </p:txBody>
      </p:sp>
    </p:spTree>
    <p:extLst>
      <p:ext uri="{BB962C8B-B14F-4D97-AF65-F5344CB8AC3E}">
        <p14:creationId xmlns:p14="http://schemas.microsoft.com/office/powerpoint/2010/main" val="65709518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Content and Picture ">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0" name="Slide Number Placeholder 9">
            <a:extLst>
              <a:ext uri="{FF2B5EF4-FFF2-40B4-BE49-F238E27FC236}">
                <a16:creationId xmlns:a16="http://schemas.microsoft.com/office/drawing/2014/main" id="{59484465-F54B-AF10-4DE5-9408CEC67995}"/>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4" name="Date Placeholder 3">
            <a:extLst>
              <a:ext uri="{FF2B5EF4-FFF2-40B4-BE49-F238E27FC236}">
                <a16:creationId xmlns:a16="http://schemas.microsoft.com/office/drawing/2014/main" id="{559A4F6C-FE3B-D1DD-5391-CF2E074E2523}"/>
              </a:ext>
            </a:extLst>
          </p:cNvPr>
          <p:cNvSpPr>
            <a:spLocks noGrp="1"/>
          </p:cNvSpPr>
          <p:nvPr>
            <p:ph type="dt" sz="half" idx="17"/>
          </p:nvPr>
        </p:nvSpPr>
        <p:spPr/>
        <p:txBody>
          <a:bodyPr/>
          <a:lstStyle/>
          <a:p>
            <a:r>
              <a:rPr lang="fi-FI"/>
              <a:t>28.04.2026</a:t>
            </a:r>
          </a:p>
        </p:txBody>
      </p:sp>
      <p:sp>
        <p:nvSpPr>
          <p:cNvPr id="7" name="Footer Placeholder 6">
            <a:extLst>
              <a:ext uri="{FF2B5EF4-FFF2-40B4-BE49-F238E27FC236}">
                <a16:creationId xmlns:a16="http://schemas.microsoft.com/office/drawing/2014/main" id="{837FB843-FB8C-BD1A-3B3A-74930C6A6633}"/>
              </a:ext>
            </a:extLst>
          </p:cNvPr>
          <p:cNvSpPr>
            <a:spLocks noGrp="1"/>
          </p:cNvSpPr>
          <p:nvPr>
            <p:ph type="ftr" sz="quarter" idx="18"/>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16826661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Content and Picture Black">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solidFill>
                  <a:schemeClr val="bg1"/>
                </a:solidFill>
              </a:defRPr>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Freeform 5">
            <a:extLst>
              <a:ext uri="{FF2B5EF4-FFF2-40B4-BE49-F238E27FC236}">
                <a16:creationId xmlns:a16="http://schemas.microsoft.com/office/drawing/2014/main" id="{E9DBB8D9-1FAC-C1EB-F377-B1DBC3921D1F}"/>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9" name="Date Placeholder 8">
            <a:extLst>
              <a:ext uri="{FF2B5EF4-FFF2-40B4-BE49-F238E27FC236}">
                <a16:creationId xmlns:a16="http://schemas.microsoft.com/office/drawing/2014/main" id="{4D950C6D-A26F-82AD-182C-D6A75325AABD}"/>
              </a:ext>
            </a:extLst>
          </p:cNvPr>
          <p:cNvSpPr>
            <a:spLocks noGrp="1"/>
          </p:cNvSpPr>
          <p:nvPr>
            <p:ph type="dt" sz="half" idx="14"/>
          </p:nvPr>
        </p:nvSpPr>
        <p:spPr/>
        <p:txBody>
          <a:bodyPr/>
          <a:lstStyle/>
          <a:p>
            <a:r>
              <a:rPr lang="fi-FI"/>
              <a:t>28.04.2026</a:t>
            </a:r>
          </a:p>
        </p:txBody>
      </p:sp>
      <p:sp>
        <p:nvSpPr>
          <p:cNvPr id="10" name="Footer Placeholder 9">
            <a:extLst>
              <a:ext uri="{FF2B5EF4-FFF2-40B4-BE49-F238E27FC236}">
                <a16:creationId xmlns:a16="http://schemas.microsoft.com/office/drawing/2014/main" id="{B6FD463F-4C08-CD4B-ACA8-A8D406E1D024}"/>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11" name="Slide Number Placeholder 10">
            <a:extLst>
              <a:ext uri="{FF2B5EF4-FFF2-40B4-BE49-F238E27FC236}">
                <a16:creationId xmlns:a16="http://schemas.microsoft.com/office/drawing/2014/main" id="{6FDEFB73-E47C-07B1-833F-288DD37CC7D7}"/>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72817627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Content and Picture Blue">
    <p:bg>
      <p:bgPr>
        <a:solidFill>
          <a:schemeClr val="accent3"/>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65EB32AC-0ABC-0E7B-294B-708C591BFA29}"/>
              </a:ext>
            </a:extLst>
          </p:cNvPr>
          <p:cNvSpPr>
            <a:spLocks noGrp="1"/>
          </p:cNvSpPr>
          <p:nvPr>
            <p:ph type="dt" sz="half" idx="14"/>
          </p:nvPr>
        </p:nvSpPr>
        <p:spPr/>
        <p:txBody>
          <a:bodyPr/>
          <a:lstStyle/>
          <a:p>
            <a:r>
              <a:rPr lang="fi-FI"/>
              <a:t>28.04.2026</a:t>
            </a:r>
          </a:p>
        </p:txBody>
      </p:sp>
      <p:sp>
        <p:nvSpPr>
          <p:cNvPr id="9" name="Footer Placeholder 8">
            <a:extLst>
              <a:ext uri="{FF2B5EF4-FFF2-40B4-BE49-F238E27FC236}">
                <a16:creationId xmlns:a16="http://schemas.microsoft.com/office/drawing/2014/main" id="{5E3C45FD-2DA7-21D3-D7EA-EDB8CC0DEDE0}"/>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10" name="Slide Number Placeholder 9">
            <a:extLst>
              <a:ext uri="{FF2B5EF4-FFF2-40B4-BE49-F238E27FC236}">
                <a16:creationId xmlns:a16="http://schemas.microsoft.com/office/drawing/2014/main" id="{EA7EF4F3-F356-D015-B51C-F58A2EFAFC65}"/>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81119458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Content and Picture Red">
    <p:bg>
      <p:bgPr>
        <a:solidFill>
          <a:schemeClr val="accent2"/>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DCD17003-12B8-DA47-F8E1-382B0F5AA96D}"/>
              </a:ext>
            </a:extLst>
          </p:cNvPr>
          <p:cNvSpPr>
            <a:spLocks noGrp="1"/>
          </p:cNvSpPr>
          <p:nvPr>
            <p:ph type="dt" sz="half" idx="14"/>
          </p:nvPr>
        </p:nvSpPr>
        <p:spPr/>
        <p:txBody>
          <a:bodyPr/>
          <a:lstStyle/>
          <a:p>
            <a:r>
              <a:rPr lang="fi-FI"/>
              <a:t>28.04.2026</a:t>
            </a:r>
          </a:p>
        </p:txBody>
      </p:sp>
      <p:sp>
        <p:nvSpPr>
          <p:cNvPr id="9" name="Footer Placeholder 8">
            <a:extLst>
              <a:ext uri="{FF2B5EF4-FFF2-40B4-BE49-F238E27FC236}">
                <a16:creationId xmlns:a16="http://schemas.microsoft.com/office/drawing/2014/main" id="{9D2F484C-0C8C-D0FD-09BC-0B16D6CA5709}"/>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10" name="Slide Number Placeholder 9">
            <a:extLst>
              <a:ext uri="{FF2B5EF4-FFF2-40B4-BE49-F238E27FC236}">
                <a16:creationId xmlns:a16="http://schemas.microsoft.com/office/drawing/2014/main" id="{CEF20DBE-D9A9-41D0-C209-1177231424EB}"/>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77045685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Content and Picture Yellow">
    <p:bg>
      <p:bgPr>
        <a:solidFill>
          <a:schemeClr val="accent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6858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1079971"/>
          </a:xfrm>
        </p:spPr>
        <p:txBody>
          <a:bodyPr/>
          <a:lstStyle>
            <a:lvl1pPr>
              <a:defRPr sz="3000" baseline="0"/>
            </a:lvl1pPr>
          </a:lstStyle>
          <a:p>
            <a:r>
              <a:rPr lang="en-US"/>
              <a:t>Click to edit Master title style</a:t>
            </a:r>
            <a:endParaRPr lang="fi-FI"/>
          </a:p>
        </p:txBody>
      </p:sp>
      <p:sp>
        <p:nvSpPr>
          <p:cNvPr id="3" name="Content Placeholder 2">
            <a:extLst>
              <a:ext uri="{FF2B5EF4-FFF2-40B4-BE49-F238E27FC236}">
                <a16:creationId xmlns:a16="http://schemas.microsoft.com/office/drawing/2014/main" id="{94FE4CDE-4B4B-6499-1855-DD7A0DEF5AC1}"/>
              </a:ext>
            </a:extLst>
          </p:cNvPr>
          <p:cNvSpPr>
            <a:spLocks noGrp="1"/>
          </p:cNvSpPr>
          <p:nvPr>
            <p:ph sz="half" idx="1"/>
          </p:nvPr>
        </p:nvSpPr>
        <p:spPr>
          <a:xfrm>
            <a:off x="407988" y="2205037"/>
            <a:ext cx="5327972"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5C2B3000-AED7-FFA7-06DD-1B8AF1D7EF5D}"/>
              </a:ext>
            </a:extLst>
          </p:cNvPr>
          <p:cNvSpPr>
            <a:spLocks noGrp="1"/>
          </p:cNvSpPr>
          <p:nvPr>
            <p:ph type="dt" sz="half" idx="14"/>
          </p:nvPr>
        </p:nvSpPr>
        <p:spPr/>
        <p:txBody>
          <a:bodyPr/>
          <a:lstStyle/>
          <a:p>
            <a:r>
              <a:rPr lang="fi-FI"/>
              <a:t>28.04.2026</a:t>
            </a:r>
          </a:p>
        </p:txBody>
      </p:sp>
      <p:sp>
        <p:nvSpPr>
          <p:cNvPr id="9" name="Footer Placeholder 8">
            <a:extLst>
              <a:ext uri="{FF2B5EF4-FFF2-40B4-BE49-F238E27FC236}">
                <a16:creationId xmlns:a16="http://schemas.microsoft.com/office/drawing/2014/main" id="{C4980F80-8A9D-A1A1-2592-73099A506595}"/>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10" name="Slide Number Placeholder 9">
            <a:extLst>
              <a:ext uri="{FF2B5EF4-FFF2-40B4-BE49-F238E27FC236}">
                <a16:creationId xmlns:a16="http://schemas.microsoft.com/office/drawing/2014/main" id="{621E2DBB-4A09-9204-F075-52D5356D843C}"/>
              </a:ext>
            </a:extLst>
          </p:cNvPr>
          <p:cNvSpPr>
            <a:spLocks noGrp="1"/>
          </p:cNvSpPr>
          <p:nvPr>
            <p:ph type="sldNum" sz="quarter" idx="16"/>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03408818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Content and Picture 2 ">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endParaRPr lang="en-US"/>
          </a:p>
        </p:txBody>
      </p:sp>
      <p:sp>
        <p:nvSpPr>
          <p:cNvPr id="3" name="Date Placeholder 2">
            <a:extLst>
              <a:ext uri="{FF2B5EF4-FFF2-40B4-BE49-F238E27FC236}">
                <a16:creationId xmlns:a16="http://schemas.microsoft.com/office/drawing/2014/main" id="{8550C619-D2A1-26CD-F8DE-1F1FC0A0EB16}"/>
              </a:ext>
            </a:extLst>
          </p:cNvPr>
          <p:cNvSpPr>
            <a:spLocks noGrp="1"/>
          </p:cNvSpPr>
          <p:nvPr>
            <p:ph type="dt" sz="half" idx="15"/>
          </p:nvPr>
        </p:nvSpPr>
        <p:spPr/>
        <p:txBody>
          <a:bodyPr/>
          <a:lstStyle>
            <a:lvl1pPr>
              <a:defRPr>
                <a:solidFill>
                  <a:schemeClr val="bg1"/>
                </a:solidFill>
              </a:defRPr>
            </a:lvl1pPr>
          </a:lstStyle>
          <a:p>
            <a:r>
              <a:rPr lang="fi-FI"/>
              <a:t>28.04.2026</a:t>
            </a:r>
          </a:p>
        </p:txBody>
      </p:sp>
      <p:sp>
        <p:nvSpPr>
          <p:cNvPr id="4" name="Footer Placeholder 3">
            <a:extLst>
              <a:ext uri="{FF2B5EF4-FFF2-40B4-BE49-F238E27FC236}">
                <a16:creationId xmlns:a16="http://schemas.microsoft.com/office/drawing/2014/main" id="{B7E340A2-ADB0-C4DB-BEC4-741C5D2BFA91}"/>
              </a:ext>
            </a:extLst>
          </p:cNvPr>
          <p:cNvSpPr>
            <a:spLocks noGrp="1"/>
          </p:cNvSpPr>
          <p:nvPr>
            <p:ph type="ftr" sz="quarter" idx="16"/>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10" name="Slide Number Placeholder 9">
            <a:extLst>
              <a:ext uri="{FF2B5EF4-FFF2-40B4-BE49-F238E27FC236}">
                <a16:creationId xmlns:a16="http://schemas.microsoft.com/office/drawing/2014/main" id="{9F832BD1-9BBA-98CE-116F-05ABC6CBA930}"/>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100548371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Content and Picture 2 Blue">
    <p:bg>
      <p:bgPr>
        <a:solidFill>
          <a:schemeClr val="accent3"/>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endParaRPr lang="en-US"/>
          </a:p>
        </p:txBody>
      </p:sp>
      <p:sp>
        <p:nvSpPr>
          <p:cNvPr id="3" name="Date Placeholder 2">
            <a:extLst>
              <a:ext uri="{FF2B5EF4-FFF2-40B4-BE49-F238E27FC236}">
                <a16:creationId xmlns:a16="http://schemas.microsoft.com/office/drawing/2014/main" id="{1B2A142A-BF4E-5EF0-8055-D60384BD50E9}"/>
              </a:ext>
            </a:extLst>
          </p:cNvPr>
          <p:cNvSpPr>
            <a:spLocks noGrp="1"/>
          </p:cNvSpPr>
          <p:nvPr>
            <p:ph type="dt" sz="half" idx="15"/>
          </p:nvPr>
        </p:nvSpPr>
        <p:spPr/>
        <p:txBody>
          <a:bodyPr/>
          <a:lstStyle>
            <a:lvl1pPr>
              <a:defRPr>
                <a:solidFill>
                  <a:schemeClr val="bg1"/>
                </a:solidFill>
              </a:defRPr>
            </a:lvl1pPr>
          </a:lstStyle>
          <a:p>
            <a:r>
              <a:rPr lang="fi-FI"/>
              <a:t>28.04.2026</a:t>
            </a:r>
          </a:p>
        </p:txBody>
      </p:sp>
      <p:sp>
        <p:nvSpPr>
          <p:cNvPr id="4" name="Footer Placeholder 3">
            <a:extLst>
              <a:ext uri="{FF2B5EF4-FFF2-40B4-BE49-F238E27FC236}">
                <a16:creationId xmlns:a16="http://schemas.microsoft.com/office/drawing/2014/main" id="{3BF780F4-1A92-F147-469C-3F289BD99E64}"/>
              </a:ext>
            </a:extLst>
          </p:cNvPr>
          <p:cNvSpPr>
            <a:spLocks noGrp="1"/>
          </p:cNvSpPr>
          <p:nvPr>
            <p:ph type="ftr" sz="quarter" idx="16"/>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10" name="Slide Number Placeholder 9">
            <a:extLst>
              <a:ext uri="{FF2B5EF4-FFF2-40B4-BE49-F238E27FC236}">
                <a16:creationId xmlns:a16="http://schemas.microsoft.com/office/drawing/2014/main" id="{696244F1-5AD7-1A82-FC48-D3C4AC0F7D18}"/>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133430289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Content and Picture 2 Red">
    <p:bg>
      <p:bgPr>
        <a:solidFill>
          <a:schemeClr val="accent2"/>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endParaRPr lang="en-US"/>
          </a:p>
        </p:txBody>
      </p:sp>
      <p:sp>
        <p:nvSpPr>
          <p:cNvPr id="3" name="Date Placeholder 2">
            <a:extLst>
              <a:ext uri="{FF2B5EF4-FFF2-40B4-BE49-F238E27FC236}">
                <a16:creationId xmlns:a16="http://schemas.microsoft.com/office/drawing/2014/main" id="{F2993854-8244-43E3-C637-3DC3E22EE8CD}"/>
              </a:ext>
            </a:extLst>
          </p:cNvPr>
          <p:cNvSpPr>
            <a:spLocks noGrp="1"/>
          </p:cNvSpPr>
          <p:nvPr>
            <p:ph type="dt" sz="half" idx="15"/>
          </p:nvPr>
        </p:nvSpPr>
        <p:spPr/>
        <p:txBody>
          <a:bodyPr/>
          <a:lstStyle>
            <a:lvl1pPr>
              <a:defRPr>
                <a:solidFill>
                  <a:schemeClr val="bg1"/>
                </a:solidFill>
              </a:defRPr>
            </a:lvl1pPr>
          </a:lstStyle>
          <a:p>
            <a:r>
              <a:rPr lang="fi-FI"/>
              <a:t>28.04.2026</a:t>
            </a:r>
          </a:p>
        </p:txBody>
      </p:sp>
      <p:sp>
        <p:nvSpPr>
          <p:cNvPr id="4" name="Footer Placeholder 3">
            <a:extLst>
              <a:ext uri="{FF2B5EF4-FFF2-40B4-BE49-F238E27FC236}">
                <a16:creationId xmlns:a16="http://schemas.microsoft.com/office/drawing/2014/main" id="{716C7C5B-53CC-BAF2-FF29-BF8EBB2FDDB5}"/>
              </a:ext>
            </a:extLst>
          </p:cNvPr>
          <p:cNvSpPr>
            <a:spLocks noGrp="1"/>
          </p:cNvSpPr>
          <p:nvPr>
            <p:ph type="ftr" sz="quarter" idx="16"/>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10" name="Slide Number Placeholder 9">
            <a:extLst>
              <a:ext uri="{FF2B5EF4-FFF2-40B4-BE49-F238E27FC236}">
                <a16:creationId xmlns:a16="http://schemas.microsoft.com/office/drawing/2014/main" id="{6B487434-97D5-2547-3523-2345F0919C58}"/>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80796737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Content and Picture 2 Yellow">
    <p:bg>
      <p:bgPr>
        <a:solidFill>
          <a:schemeClr val="accent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tx1"/>
          </a:solidFill>
        </p:spPr>
        <p:txBody>
          <a:bodyPr lIns="360000" tIns="360000" rIns="360000" bIns="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marL="1076325" indent="0">
              <a:buNone/>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endParaRPr lang="en-US"/>
          </a:p>
        </p:txBody>
      </p:sp>
      <p:sp>
        <p:nvSpPr>
          <p:cNvPr id="3" name="Date Placeholder 2">
            <a:extLst>
              <a:ext uri="{FF2B5EF4-FFF2-40B4-BE49-F238E27FC236}">
                <a16:creationId xmlns:a16="http://schemas.microsoft.com/office/drawing/2014/main" id="{2E59C5E6-3848-DD51-861F-156013956903}"/>
              </a:ext>
            </a:extLst>
          </p:cNvPr>
          <p:cNvSpPr>
            <a:spLocks noGrp="1"/>
          </p:cNvSpPr>
          <p:nvPr>
            <p:ph type="dt" sz="half" idx="15"/>
          </p:nvPr>
        </p:nvSpPr>
        <p:spPr/>
        <p:txBody>
          <a:bodyPr/>
          <a:lstStyle>
            <a:lvl1pPr>
              <a:defRPr>
                <a:solidFill>
                  <a:schemeClr val="bg1"/>
                </a:solidFill>
              </a:defRPr>
            </a:lvl1pPr>
          </a:lstStyle>
          <a:p>
            <a:r>
              <a:rPr lang="fi-FI"/>
              <a:t>28.04.2026</a:t>
            </a:r>
          </a:p>
        </p:txBody>
      </p:sp>
      <p:sp>
        <p:nvSpPr>
          <p:cNvPr id="4" name="Footer Placeholder 3">
            <a:extLst>
              <a:ext uri="{FF2B5EF4-FFF2-40B4-BE49-F238E27FC236}">
                <a16:creationId xmlns:a16="http://schemas.microsoft.com/office/drawing/2014/main" id="{5CFDF37D-70A5-B3BF-17C8-24A668D69183}"/>
              </a:ext>
            </a:extLst>
          </p:cNvPr>
          <p:cNvSpPr>
            <a:spLocks noGrp="1"/>
          </p:cNvSpPr>
          <p:nvPr>
            <p:ph type="ftr" sz="quarter" idx="16"/>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10" name="Slide Number Placeholder 9">
            <a:extLst>
              <a:ext uri="{FF2B5EF4-FFF2-40B4-BE49-F238E27FC236}">
                <a16:creationId xmlns:a16="http://schemas.microsoft.com/office/drawing/2014/main" id="{6443D1A9-B4DE-2DBA-6821-ED921573F159}"/>
              </a:ext>
            </a:extLst>
          </p:cNvPr>
          <p:cNvSpPr>
            <a:spLocks noGrp="1"/>
          </p:cNvSpPr>
          <p:nvPr>
            <p:ph type="sldNum" sz="quarter" idx="17"/>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21681528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Content and Picture 3 ">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bg1"/>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5130E494-A65E-1D78-DB63-3C5D959CBFE0}"/>
              </a:ext>
            </a:extLst>
          </p:cNvPr>
          <p:cNvSpPr>
            <a:spLocks noGrp="1"/>
          </p:cNvSpPr>
          <p:nvPr>
            <p:ph type="dt" sz="half" idx="15"/>
          </p:nvPr>
        </p:nvSpPr>
        <p:spPr/>
        <p:txBody>
          <a:bodyPr/>
          <a:lstStyle/>
          <a:p>
            <a:r>
              <a:rPr lang="fi-FI"/>
              <a:t>28.04.2026</a:t>
            </a:r>
          </a:p>
        </p:txBody>
      </p:sp>
      <p:sp>
        <p:nvSpPr>
          <p:cNvPr id="10" name="Footer Placeholder 9">
            <a:extLst>
              <a:ext uri="{FF2B5EF4-FFF2-40B4-BE49-F238E27FC236}">
                <a16:creationId xmlns:a16="http://schemas.microsoft.com/office/drawing/2014/main" id="{97EEDB51-27D7-7F66-3869-56438094A3FB}"/>
              </a:ext>
            </a:extLst>
          </p:cNvPr>
          <p:cNvSpPr>
            <a:spLocks noGrp="1"/>
          </p:cNvSpPr>
          <p:nvPr>
            <p:ph type="ftr" sz="quarter" idx="16"/>
          </p:nvPr>
        </p:nvSpPr>
        <p:spPr/>
        <p:txBody>
          <a:bodyPr/>
          <a:lstStyle/>
          <a:p>
            <a:r>
              <a:rPr lang="pt-BR"/>
              <a:t>Enrico Glerean &amp; Pedro Silva (2026) Please cite DOI: 10.5281/zenodo.14032261 (CC-BY)</a:t>
            </a:r>
            <a:endParaRPr lang="fi-FI"/>
          </a:p>
        </p:txBody>
      </p:sp>
      <p:sp>
        <p:nvSpPr>
          <p:cNvPr id="11" name="Slide Number Placeholder 10">
            <a:extLst>
              <a:ext uri="{FF2B5EF4-FFF2-40B4-BE49-F238E27FC236}">
                <a16:creationId xmlns:a16="http://schemas.microsoft.com/office/drawing/2014/main" id="{9036D707-D9E0-5D34-60D5-E79DC6881585}"/>
              </a:ext>
            </a:extLst>
          </p:cNvPr>
          <p:cNvSpPr>
            <a:spLocks noGrp="1"/>
          </p:cNvSpPr>
          <p:nvPr>
            <p:ph type="sldNum" sz="quarter" idx="17"/>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75867761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Content and Picture 3 Blue">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accent3"/>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767DC4F0-F8C6-06CD-A34E-EF0D5D3EF4FC}"/>
              </a:ext>
            </a:extLst>
          </p:cNvPr>
          <p:cNvSpPr>
            <a:spLocks noGrp="1"/>
          </p:cNvSpPr>
          <p:nvPr>
            <p:ph type="dt" sz="half" idx="15"/>
          </p:nvPr>
        </p:nvSpPr>
        <p:spPr/>
        <p:txBody>
          <a:bodyPr/>
          <a:lstStyle/>
          <a:p>
            <a:r>
              <a:rPr lang="fi-FI"/>
              <a:t>28.04.2026</a:t>
            </a:r>
          </a:p>
        </p:txBody>
      </p:sp>
      <p:sp>
        <p:nvSpPr>
          <p:cNvPr id="10" name="Footer Placeholder 9">
            <a:extLst>
              <a:ext uri="{FF2B5EF4-FFF2-40B4-BE49-F238E27FC236}">
                <a16:creationId xmlns:a16="http://schemas.microsoft.com/office/drawing/2014/main" id="{8F46D1C0-3FD0-2362-C159-BEADDB3EF46D}"/>
              </a:ext>
            </a:extLst>
          </p:cNvPr>
          <p:cNvSpPr>
            <a:spLocks noGrp="1"/>
          </p:cNvSpPr>
          <p:nvPr>
            <p:ph type="ftr" sz="quarter" idx="16"/>
          </p:nvPr>
        </p:nvSpPr>
        <p:spPr/>
        <p:txBody>
          <a:bodyPr/>
          <a:lstStyle/>
          <a:p>
            <a:r>
              <a:rPr lang="pt-BR"/>
              <a:t>Enrico Glerean &amp; Pedro Silva (2026) Please cite DOI: 10.5281/zenodo.14032261 (CC-BY)</a:t>
            </a:r>
            <a:endParaRPr lang="fi-FI"/>
          </a:p>
        </p:txBody>
      </p:sp>
      <p:sp>
        <p:nvSpPr>
          <p:cNvPr id="11" name="Slide Number Placeholder 10">
            <a:extLst>
              <a:ext uri="{FF2B5EF4-FFF2-40B4-BE49-F238E27FC236}">
                <a16:creationId xmlns:a16="http://schemas.microsoft.com/office/drawing/2014/main" id="{06C20592-6442-81CE-E493-1241C6AC5FD1}"/>
              </a:ext>
            </a:extLst>
          </p:cNvPr>
          <p:cNvSpPr>
            <a:spLocks noGrp="1"/>
          </p:cNvSpPr>
          <p:nvPr>
            <p:ph type="sldNum" sz="quarter" idx="17"/>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230687220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Content and Picture 3 Red">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accent2"/>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76E26E52-F01E-BC81-F222-7E4621B62777}"/>
              </a:ext>
            </a:extLst>
          </p:cNvPr>
          <p:cNvSpPr>
            <a:spLocks noGrp="1"/>
          </p:cNvSpPr>
          <p:nvPr>
            <p:ph type="dt" sz="half" idx="15"/>
          </p:nvPr>
        </p:nvSpPr>
        <p:spPr/>
        <p:txBody>
          <a:bodyPr/>
          <a:lstStyle/>
          <a:p>
            <a:r>
              <a:rPr lang="fi-FI"/>
              <a:t>28.04.2026</a:t>
            </a:r>
          </a:p>
        </p:txBody>
      </p:sp>
      <p:sp>
        <p:nvSpPr>
          <p:cNvPr id="10" name="Footer Placeholder 9">
            <a:extLst>
              <a:ext uri="{FF2B5EF4-FFF2-40B4-BE49-F238E27FC236}">
                <a16:creationId xmlns:a16="http://schemas.microsoft.com/office/drawing/2014/main" id="{1C7057D4-C8D8-E41D-29C3-A43C0026CE89}"/>
              </a:ext>
            </a:extLst>
          </p:cNvPr>
          <p:cNvSpPr>
            <a:spLocks noGrp="1"/>
          </p:cNvSpPr>
          <p:nvPr>
            <p:ph type="ftr" sz="quarter" idx="16"/>
          </p:nvPr>
        </p:nvSpPr>
        <p:spPr/>
        <p:txBody>
          <a:bodyPr/>
          <a:lstStyle/>
          <a:p>
            <a:r>
              <a:rPr lang="pt-BR"/>
              <a:t>Enrico Glerean &amp; Pedro Silva (2026) Please cite DOI: 10.5281/zenodo.14032261 (CC-BY)</a:t>
            </a:r>
            <a:endParaRPr lang="fi-FI"/>
          </a:p>
        </p:txBody>
      </p:sp>
      <p:sp>
        <p:nvSpPr>
          <p:cNvPr id="11" name="Slide Number Placeholder 10">
            <a:extLst>
              <a:ext uri="{FF2B5EF4-FFF2-40B4-BE49-F238E27FC236}">
                <a16:creationId xmlns:a16="http://schemas.microsoft.com/office/drawing/2014/main" id="{B29318E7-B01A-6A00-49C8-15BE06F4491F}"/>
              </a:ext>
            </a:extLst>
          </p:cNvPr>
          <p:cNvSpPr>
            <a:spLocks noGrp="1"/>
          </p:cNvSpPr>
          <p:nvPr>
            <p:ph type="sldNum" sz="quarter" idx="17"/>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387256150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Content and Picture 3 Yellow">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6096000" y="0"/>
            <a:ext cx="6096000" cy="3429000"/>
          </a:xfrm>
          <a:solidFill>
            <a:schemeClr val="bg2"/>
          </a:solidFill>
        </p:spPr>
        <p:txBody>
          <a:bodyPr vert="horz" lIns="0" tIns="0" rIns="0" bIns="0" rtlCol="0" anchor="t" anchorCtr="0">
            <a:noAutofit/>
          </a:bodyPr>
          <a:lstStyle>
            <a:lvl1pPr>
              <a:defRPr lang="fi-FI" sz="1200" noProof="1"/>
            </a:lvl1pPr>
          </a:lstStyle>
          <a:p>
            <a:pPr marR="0" lvl="0" fontAlgn="auto">
              <a:spcBef>
                <a:spcPts val="0"/>
              </a:spcBef>
              <a:spcAft>
                <a:spcPts val="0"/>
              </a:spcAft>
              <a:buClrTx/>
              <a:buSzTx/>
              <a:tabLst/>
            </a:pPr>
            <a:r>
              <a:rPr lang="fi-FI" noProof="1"/>
              <a:t>Click icon to add image</a:t>
            </a:r>
            <a:br>
              <a:rPr lang="fi-FI" noProof="1"/>
            </a:br>
            <a:r>
              <a:rPr lang="fi-FI" noProof="1"/>
              <a:t>Fit the image to frame by choosing:</a:t>
            </a:r>
            <a:br>
              <a:rPr lang="fi-FI" noProof="1"/>
            </a:br>
            <a:r>
              <a:rPr lang="fi-FI" noProof="1"/>
              <a:t>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a:t>Click to edit Master title style</a:t>
            </a:r>
            <a:endParaRPr lang="fi-FI"/>
          </a:p>
        </p:txBody>
      </p:sp>
      <p:sp>
        <p:nvSpPr>
          <p:cNvPr id="9" name="Text Placeholder 8">
            <a:extLst>
              <a:ext uri="{FF2B5EF4-FFF2-40B4-BE49-F238E27FC236}">
                <a16:creationId xmlns:a16="http://schemas.microsoft.com/office/drawing/2014/main" id="{0C9DCEB1-9C2B-0120-BA93-9B57D41B94D1}"/>
              </a:ext>
            </a:extLst>
          </p:cNvPr>
          <p:cNvSpPr>
            <a:spLocks noGrp="1"/>
          </p:cNvSpPr>
          <p:nvPr>
            <p:ph type="body" sz="quarter" idx="14"/>
          </p:nvPr>
        </p:nvSpPr>
        <p:spPr>
          <a:xfrm>
            <a:off x="6096000" y="3429000"/>
            <a:ext cx="6096000" cy="3429000"/>
          </a:xfrm>
          <a:solidFill>
            <a:schemeClr val="accent1"/>
          </a:solidFill>
        </p:spPr>
        <p:txBody>
          <a:bodyPr lIns="360000" tIns="360000" rIns="360000" bIns="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5">
            <a:extLst>
              <a:ext uri="{FF2B5EF4-FFF2-40B4-BE49-F238E27FC236}">
                <a16:creationId xmlns:a16="http://schemas.microsoft.com/office/drawing/2014/main" id="{F7FF4B69-C798-C3F1-7188-B925B03733A5}"/>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47B89FBD-DF44-BB8B-9867-383C65A5BB24}"/>
              </a:ext>
            </a:extLst>
          </p:cNvPr>
          <p:cNvSpPr>
            <a:spLocks noGrp="1"/>
          </p:cNvSpPr>
          <p:nvPr>
            <p:ph type="dt" sz="half" idx="15"/>
          </p:nvPr>
        </p:nvSpPr>
        <p:spPr/>
        <p:txBody>
          <a:bodyPr/>
          <a:lstStyle/>
          <a:p>
            <a:r>
              <a:rPr lang="fi-FI"/>
              <a:t>28.04.2026</a:t>
            </a:r>
          </a:p>
        </p:txBody>
      </p:sp>
      <p:sp>
        <p:nvSpPr>
          <p:cNvPr id="10" name="Footer Placeholder 9">
            <a:extLst>
              <a:ext uri="{FF2B5EF4-FFF2-40B4-BE49-F238E27FC236}">
                <a16:creationId xmlns:a16="http://schemas.microsoft.com/office/drawing/2014/main" id="{379603E4-4E8F-7DE5-DBF4-3D80A204C03F}"/>
              </a:ext>
            </a:extLst>
          </p:cNvPr>
          <p:cNvSpPr>
            <a:spLocks noGrp="1"/>
          </p:cNvSpPr>
          <p:nvPr>
            <p:ph type="ftr" sz="quarter" idx="16"/>
          </p:nvPr>
        </p:nvSpPr>
        <p:spPr/>
        <p:txBody>
          <a:bodyPr/>
          <a:lstStyle/>
          <a:p>
            <a:r>
              <a:rPr lang="pt-BR"/>
              <a:t>Enrico Glerean &amp; Pedro Silva (2026) Please cite DOI: 10.5281/zenodo.14032261 (CC-BY)</a:t>
            </a:r>
            <a:endParaRPr lang="fi-FI"/>
          </a:p>
        </p:txBody>
      </p:sp>
      <p:sp>
        <p:nvSpPr>
          <p:cNvPr id="11" name="Slide Number Placeholder 10">
            <a:extLst>
              <a:ext uri="{FF2B5EF4-FFF2-40B4-BE49-F238E27FC236}">
                <a16:creationId xmlns:a16="http://schemas.microsoft.com/office/drawing/2014/main" id="{685C845B-33B8-3089-1820-F8375F1F31A3}"/>
              </a:ext>
            </a:extLst>
          </p:cNvPr>
          <p:cNvSpPr>
            <a:spLocks noGrp="1"/>
          </p:cNvSpPr>
          <p:nvPr>
            <p:ph type="sldNum" sz="quarter" idx="17"/>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83258410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Picture">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0" y="0"/>
            <a:ext cx="12192000" cy="6858000"/>
          </a:xfrm>
          <a:solidFill>
            <a:schemeClr val="bg2"/>
          </a:solidFill>
        </p:spPr>
        <p:txBody>
          <a:bodyPr vert="horz" lIns="0" tIns="0" rIns="0" bIns="0" rtlCol="0" anchor="t" anchorCtr="0">
            <a:noAutofit/>
          </a:bodyPr>
          <a:lstStyle>
            <a:lvl1pPr>
              <a:defRPr lang="fi-FI" sz="1200" noProof="1"/>
            </a:lvl1pPr>
          </a:lstStyle>
          <a:p>
            <a:pPr marR="0" lvl="0" fontAlgn="auto">
              <a:spcAft>
                <a:spcPts val="0"/>
              </a:spcAft>
              <a:buClrTx/>
              <a:buSzTx/>
              <a:tabLst/>
            </a:pPr>
            <a:r>
              <a:rPr lang="fi-FI" noProof="1"/>
              <a:t>Click icon to add image, Fit the image to frame by choosing: 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lvl1pPr>
          </a:lstStyle>
          <a:p>
            <a:r>
              <a:rPr lang="en-US"/>
              <a:t>Click to edit Master title style</a:t>
            </a:r>
            <a:endParaRPr lang="fi-FI"/>
          </a:p>
        </p:txBody>
      </p:sp>
      <p:sp>
        <p:nvSpPr>
          <p:cNvPr id="4" name="Text Placeholder 2">
            <a:extLst>
              <a:ext uri="{FF2B5EF4-FFF2-40B4-BE49-F238E27FC236}">
                <a16:creationId xmlns:a16="http://schemas.microsoft.com/office/drawing/2014/main" id="{3C31FA69-E208-B16D-749C-C889E904FF0C}"/>
              </a:ext>
            </a:extLst>
          </p:cNvPr>
          <p:cNvSpPr>
            <a:spLocks noGrp="1"/>
          </p:cNvSpPr>
          <p:nvPr>
            <p:ph type="body" sz="quarter" idx="19"/>
          </p:nvPr>
        </p:nvSpPr>
        <p:spPr>
          <a:xfrm>
            <a:off x="407988" y="6165336"/>
            <a:ext cx="385200" cy="288000"/>
          </a:xfrm>
          <a:blipFill>
            <a:blip r:embed="rId2"/>
            <a:stretch>
              <a:fillRect/>
            </a:stretch>
          </a:blipFill>
        </p:spPr>
        <p:txBody>
          <a:bodyPr/>
          <a:lstStyle>
            <a:lvl1pPr>
              <a:defRPr sz="100">
                <a:noFill/>
              </a:defRPr>
            </a:lvl1pPr>
          </a:lstStyle>
          <a:p>
            <a:pPr lvl="0"/>
            <a:endParaRPr lang="en-GB"/>
          </a:p>
        </p:txBody>
      </p:sp>
      <p:sp>
        <p:nvSpPr>
          <p:cNvPr id="3" name="Date Placeholder 2">
            <a:extLst>
              <a:ext uri="{FF2B5EF4-FFF2-40B4-BE49-F238E27FC236}">
                <a16:creationId xmlns:a16="http://schemas.microsoft.com/office/drawing/2014/main" id="{0CB1E97D-067B-6A56-E3C1-E0B0E8237E33}"/>
              </a:ext>
            </a:extLst>
          </p:cNvPr>
          <p:cNvSpPr>
            <a:spLocks noGrp="1"/>
          </p:cNvSpPr>
          <p:nvPr>
            <p:ph type="dt" sz="half" idx="20"/>
          </p:nvPr>
        </p:nvSpPr>
        <p:spPr/>
        <p:txBody>
          <a:bodyPr/>
          <a:lstStyle/>
          <a:p>
            <a:r>
              <a:rPr lang="fi-FI"/>
              <a:t>28.04.2026</a:t>
            </a:r>
          </a:p>
        </p:txBody>
      </p:sp>
      <p:sp>
        <p:nvSpPr>
          <p:cNvPr id="9" name="Footer Placeholder 8">
            <a:extLst>
              <a:ext uri="{FF2B5EF4-FFF2-40B4-BE49-F238E27FC236}">
                <a16:creationId xmlns:a16="http://schemas.microsoft.com/office/drawing/2014/main" id="{9DD562FA-3522-5D86-6B5D-D46C31407CA8}"/>
              </a:ext>
            </a:extLst>
          </p:cNvPr>
          <p:cNvSpPr>
            <a:spLocks noGrp="1"/>
          </p:cNvSpPr>
          <p:nvPr>
            <p:ph type="ftr" sz="quarter" idx="21"/>
          </p:nvPr>
        </p:nvSpPr>
        <p:spPr/>
        <p:txBody>
          <a:bodyPr/>
          <a:lstStyle/>
          <a:p>
            <a:r>
              <a:rPr lang="pt-BR"/>
              <a:t>Enrico Glerean &amp; Pedro Silva (2026) Please cite DOI: 10.5281/zenodo.14032261 (CC-BY)</a:t>
            </a:r>
            <a:endParaRPr lang="fi-FI"/>
          </a:p>
        </p:txBody>
      </p:sp>
      <p:sp>
        <p:nvSpPr>
          <p:cNvPr id="10" name="Slide Number Placeholder 9">
            <a:extLst>
              <a:ext uri="{FF2B5EF4-FFF2-40B4-BE49-F238E27FC236}">
                <a16:creationId xmlns:a16="http://schemas.microsoft.com/office/drawing/2014/main" id="{C035D3F8-519A-BD10-B212-14EA8C3C6B26}"/>
              </a:ext>
            </a:extLst>
          </p:cNvPr>
          <p:cNvSpPr>
            <a:spLocks noGrp="1"/>
          </p:cNvSpPr>
          <p:nvPr>
            <p:ph type="sldNum" sz="quarter" idx="22"/>
          </p:nvPr>
        </p:nvSpPr>
        <p:spPr/>
        <p:txBody>
          <a:bodyPr/>
          <a:lstStyle/>
          <a:p>
            <a:fld id="{D701140D-C14F-41CA-99FC-0EF83E8DA40A}" type="slidenum">
              <a:rPr lang="fi-FI" smtClean="0"/>
              <a:pPr/>
              <a:t>‹#›</a:t>
            </a:fld>
            <a:endParaRPr lang="fi-FI"/>
          </a:p>
        </p:txBody>
      </p:sp>
    </p:spTree>
    <p:extLst>
      <p:ext uri="{BB962C8B-B14F-4D97-AF65-F5344CB8AC3E}">
        <p14:creationId xmlns:p14="http://schemas.microsoft.com/office/powerpoint/2010/main" val="130933410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Picture Nega">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A2F443A1-A369-99FA-DAC7-9F6B92627CCE}"/>
              </a:ext>
            </a:extLst>
          </p:cNvPr>
          <p:cNvSpPr>
            <a:spLocks noGrp="1"/>
          </p:cNvSpPr>
          <p:nvPr>
            <p:ph type="pic" sz="quarter" idx="13" hasCustomPrompt="1"/>
          </p:nvPr>
        </p:nvSpPr>
        <p:spPr>
          <a:xfrm>
            <a:off x="0" y="0"/>
            <a:ext cx="12192000" cy="6858000"/>
          </a:xfrm>
          <a:solidFill>
            <a:schemeClr val="bg2"/>
          </a:solidFill>
        </p:spPr>
        <p:txBody>
          <a:bodyPr vert="horz" lIns="0" tIns="0" rIns="0" bIns="0" rtlCol="0" anchor="t" anchorCtr="0">
            <a:noAutofit/>
          </a:bodyPr>
          <a:lstStyle>
            <a:lvl1pPr>
              <a:defRPr lang="fi-FI" sz="1200" noProof="1"/>
            </a:lvl1pPr>
          </a:lstStyle>
          <a:p>
            <a:pPr marR="0" lvl="0" fontAlgn="auto">
              <a:spcAft>
                <a:spcPts val="0"/>
              </a:spcAft>
              <a:buClrTx/>
              <a:buSzTx/>
              <a:tabLst/>
            </a:pPr>
            <a:r>
              <a:rPr lang="fi-FI" noProof="1"/>
              <a:t>Click icon to add image, Fit the image to frame by choosing: crop&gt;fit / rajaa&gt;sovita</a:t>
            </a:r>
          </a:p>
        </p:txBody>
      </p:sp>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a:xfrm>
            <a:off x="407987" y="404813"/>
            <a:ext cx="5327973" cy="415498"/>
          </a:xfrm>
        </p:spPr>
        <p:txBody>
          <a:bodyPr>
            <a:spAutoFit/>
          </a:bodyPr>
          <a:lstStyle>
            <a:lvl1pPr>
              <a:defRPr sz="3000" baseline="0">
                <a:solidFill>
                  <a:schemeClr val="bg1"/>
                </a:solidFill>
              </a:defRPr>
            </a:lvl1pPr>
          </a:lstStyle>
          <a:p>
            <a:r>
              <a:rPr lang="en-US"/>
              <a:t>Click to edit Master title style</a:t>
            </a:r>
            <a:endParaRPr lang="fi-FI"/>
          </a:p>
        </p:txBody>
      </p:sp>
      <p:sp>
        <p:nvSpPr>
          <p:cNvPr id="4" name="Text Placeholder 2">
            <a:extLst>
              <a:ext uri="{FF2B5EF4-FFF2-40B4-BE49-F238E27FC236}">
                <a16:creationId xmlns:a16="http://schemas.microsoft.com/office/drawing/2014/main" id="{3C31FA69-E208-B16D-749C-C889E904FF0C}"/>
              </a:ext>
            </a:extLst>
          </p:cNvPr>
          <p:cNvSpPr>
            <a:spLocks noGrp="1"/>
          </p:cNvSpPr>
          <p:nvPr>
            <p:ph type="body" sz="quarter" idx="19"/>
          </p:nvPr>
        </p:nvSpPr>
        <p:spPr>
          <a:xfrm>
            <a:off x="407988" y="6165336"/>
            <a:ext cx="385200" cy="288000"/>
          </a:xfrm>
          <a:blipFill>
            <a:blip r:embed="rId2"/>
            <a:stretch>
              <a:fillRect/>
            </a:stretch>
          </a:blipFill>
        </p:spPr>
        <p:txBody>
          <a:bodyPr/>
          <a:lstStyle>
            <a:lvl1pPr>
              <a:defRPr sz="100">
                <a:noFill/>
              </a:defRPr>
            </a:lvl1pPr>
          </a:lstStyle>
          <a:p>
            <a:pPr lvl="0"/>
            <a:endParaRPr lang="en-GB"/>
          </a:p>
        </p:txBody>
      </p:sp>
      <p:sp>
        <p:nvSpPr>
          <p:cNvPr id="3" name="Date Placeholder 2">
            <a:extLst>
              <a:ext uri="{FF2B5EF4-FFF2-40B4-BE49-F238E27FC236}">
                <a16:creationId xmlns:a16="http://schemas.microsoft.com/office/drawing/2014/main" id="{9508E6FE-529C-6F82-E69C-32498ED04633}"/>
              </a:ext>
            </a:extLst>
          </p:cNvPr>
          <p:cNvSpPr>
            <a:spLocks noGrp="1"/>
          </p:cNvSpPr>
          <p:nvPr>
            <p:ph type="dt" sz="half" idx="20"/>
          </p:nvPr>
        </p:nvSpPr>
        <p:spPr/>
        <p:txBody>
          <a:bodyPr/>
          <a:lstStyle>
            <a:lvl1pPr>
              <a:defRPr>
                <a:solidFill>
                  <a:schemeClr val="bg1"/>
                </a:solidFill>
              </a:defRPr>
            </a:lvl1pPr>
          </a:lstStyle>
          <a:p>
            <a:r>
              <a:rPr lang="fi-FI"/>
              <a:t>28.04.2026</a:t>
            </a:r>
          </a:p>
        </p:txBody>
      </p:sp>
      <p:sp>
        <p:nvSpPr>
          <p:cNvPr id="9" name="Footer Placeholder 8">
            <a:extLst>
              <a:ext uri="{FF2B5EF4-FFF2-40B4-BE49-F238E27FC236}">
                <a16:creationId xmlns:a16="http://schemas.microsoft.com/office/drawing/2014/main" id="{428CC8F0-0CF6-102F-F83A-926998C03342}"/>
              </a:ext>
            </a:extLst>
          </p:cNvPr>
          <p:cNvSpPr>
            <a:spLocks noGrp="1"/>
          </p:cNvSpPr>
          <p:nvPr>
            <p:ph type="ftr" sz="quarter" idx="2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10" name="Slide Number Placeholder 9">
            <a:extLst>
              <a:ext uri="{FF2B5EF4-FFF2-40B4-BE49-F238E27FC236}">
                <a16:creationId xmlns:a16="http://schemas.microsoft.com/office/drawing/2014/main" id="{2A5F946C-BD14-D558-2FBC-9358BC12A7B5}"/>
              </a:ext>
            </a:extLst>
          </p:cNvPr>
          <p:cNvSpPr>
            <a:spLocks noGrp="1"/>
          </p:cNvSpPr>
          <p:nvPr>
            <p:ph type="sldNum" sz="quarter" idx="22"/>
          </p:nvPr>
        </p:nvSpPr>
        <p:spPr/>
        <p:txBody>
          <a:bodyPr/>
          <a:lstStyle>
            <a:lvl1pPr>
              <a:defRPr>
                <a:solidFill>
                  <a:schemeClr val="bg1"/>
                </a:solidFill>
              </a:defRPr>
            </a:lvl1pPr>
          </a:lstStyle>
          <a:p>
            <a:fld id="{D701140D-C14F-41CA-99FC-0EF83E8DA40A}" type="slidenum">
              <a:rPr lang="fi-FI" smtClean="0"/>
              <a:pPr/>
              <a:t>‹#›</a:t>
            </a:fld>
            <a:endParaRPr lang="fi-FI"/>
          </a:p>
        </p:txBody>
      </p:sp>
    </p:spTree>
    <p:extLst>
      <p:ext uri="{BB962C8B-B14F-4D97-AF65-F5344CB8AC3E}">
        <p14:creationId xmlns:p14="http://schemas.microsoft.com/office/powerpoint/2010/main" val="232610579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Content Placeholder 2">
            <a:extLst>
              <a:ext uri="{FF2B5EF4-FFF2-40B4-BE49-F238E27FC236}">
                <a16:creationId xmlns:a16="http://schemas.microsoft.com/office/drawing/2014/main" id="{8E3AF440-5C52-ECEB-B15D-EBBA951D8C64}"/>
              </a:ext>
            </a:extLst>
          </p:cNvPr>
          <p:cNvSpPr>
            <a:spLocks noGrp="1"/>
          </p:cNvSpPr>
          <p:nvPr>
            <p:ph sz="half" idx="1"/>
          </p:nvPr>
        </p:nvSpPr>
        <p:spPr>
          <a:xfrm>
            <a:off x="1055688"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Content Placeholder 3">
            <a:extLst>
              <a:ext uri="{FF2B5EF4-FFF2-40B4-BE49-F238E27FC236}">
                <a16:creationId xmlns:a16="http://schemas.microsoft.com/office/drawing/2014/main" id="{F2689DE4-F150-1AC4-080E-1FC4078AEBAD}"/>
              </a:ext>
            </a:extLst>
          </p:cNvPr>
          <p:cNvSpPr>
            <a:spLocks noGrp="1"/>
          </p:cNvSpPr>
          <p:nvPr>
            <p:ph sz="half" idx="2"/>
          </p:nvPr>
        </p:nvSpPr>
        <p:spPr>
          <a:xfrm>
            <a:off x="6240016" y="2205037"/>
            <a:ext cx="4896296" cy="3671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Date Placeholder 4">
            <a:extLst>
              <a:ext uri="{FF2B5EF4-FFF2-40B4-BE49-F238E27FC236}">
                <a16:creationId xmlns:a16="http://schemas.microsoft.com/office/drawing/2014/main" id="{D1C10D2D-2489-785D-94CB-A454BE446C9A}"/>
              </a:ext>
            </a:extLst>
          </p:cNvPr>
          <p:cNvSpPr>
            <a:spLocks noGrp="1"/>
          </p:cNvSpPr>
          <p:nvPr>
            <p:ph type="dt" sz="half" idx="13"/>
          </p:nvPr>
        </p:nvSpPr>
        <p:spPr/>
        <p:txBody>
          <a:bodyPr/>
          <a:lstStyle/>
          <a:p>
            <a:r>
              <a:rPr lang="fi-FI"/>
              <a:t>28.04.2026</a:t>
            </a:r>
          </a:p>
        </p:txBody>
      </p:sp>
      <p:sp>
        <p:nvSpPr>
          <p:cNvPr id="6" name="Footer Placeholder 5">
            <a:extLst>
              <a:ext uri="{FF2B5EF4-FFF2-40B4-BE49-F238E27FC236}">
                <a16:creationId xmlns:a16="http://schemas.microsoft.com/office/drawing/2014/main" id="{74B7AAA0-A682-3278-CDBF-5ED0F01E9DEE}"/>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6723512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cSld name="Text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7B0D-D759-BE7C-69E9-E5C99AD9487A}"/>
              </a:ext>
            </a:extLst>
          </p:cNvPr>
          <p:cNvSpPr>
            <a:spLocks noGrp="1"/>
          </p:cNvSpPr>
          <p:nvPr>
            <p:ph type="title"/>
          </p:nvPr>
        </p:nvSpPr>
        <p:spPr/>
        <p:txBody>
          <a:bodyPr/>
          <a:lstStyle/>
          <a:p>
            <a:r>
              <a:rPr lang="en-US"/>
              <a:t>Click to edit Master title style</a:t>
            </a:r>
            <a:endParaRPr lang="fi-FI"/>
          </a:p>
        </p:txBody>
      </p:sp>
      <p:sp>
        <p:nvSpPr>
          <p:cNvPr id="6" name="Slide Number Placeholder 5">
            <a:extLst>
              <a:ext uri="{FF2B5EF4-FFF2-40B4-BE49-F238E27FC236}">
                <a16:creationId xmlns:a16="http://schemas.microsoft.com/office/drawing/2014/main" id="{BDA6A646-EADF-862C-0CF5-D579450F433F}"/>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7">
            <a:extLst>
              <a:ext uri="{FF2B5EF4-FFF2-40B4-BE49-F238E27FC236}">
                <a16:creationId xmlns:a16="http://schemas.microsoft.com/office/drawing/2014/main" id="{E151617C-A1F8-7D62-64C2-33C28BF06EE7}"/>
              </a:ext>
            </a:extLst>
          </p:cNvPr>
          <p:cNvSpPr>
            <a:spLocks noGrp="1"/>
          </p:cNvSpPr>
          <p:nvPr>
            <p:ph type="body" sz="quarter" idx="13"/>
          </p:nvPr>
        </p:nvSpPr>
        <p:spPr>
          <a:xfrm>
            <a:off x="1055688" y="2205039"/>
            <a:ext cx="10080625" cy="3671886"/>
          </a:xfrm>
        </p:spPr>
        <p:txBody>
          <a:bodyPr/>
          <a:lstStyle>
            <a:lvl1pPr>
              <a:defRPr sz="28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BCE684-4648-ED62-ADA7-8F101185522F}"/>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A0DD571C-F368-9F3C-B956-2AD90A0CB2E5}"/>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5634352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cSld name="Section Header Black">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00DE2EE-0379-76A8-D3FE-92AD796C4367}"/>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9" name="Title 1">
            <a:extLst>
              <a:ext uri="{FF2B5EF4-FFF2-40B4-BE49-F238E27FC236}">
                <a16:creationId xmlns:a16="http://schemas.microsoft.com/office/drawing/2014/main" id="{7795DFD4-86D0-9FF1-D4D8-602EECF830DF}"/>
              </a:ext>
            </a:extLst>
          </p:cNvPr>
          <p:cNvSpPr>
            <a:spLocks noGrp="1"/>
          </p:cNvSpPr>
          <p:nvPr>
            <p:ph type="ctrTitle"/>
          </p:nvPr>
        </p:nvSpPr>
        <p:spPr>
          <a:xfrm>
            <a:off x="412647" y="3182779"/>
            <a:ext cx="11371365" cy="492443"/>
          </a:xfrm>
        </p:spPr>
        <p:txBody>
          <a:bodyPr wrap="square" anchor="ctr" anchorCtr="0">
            <a:spAutoFit/>
          </a:bodyPr>
          <a:lstStyle>
            <a:lvl1pPr algn="ctr">
              <a:lnSpc>
                <a:spcPct val="100000"/>
              </a:lnSpc>
              <a:defRPr sz="3200">
                <a:solidFill>
                  <a:schemeClr val="bg1"/>
                </a:solidFill>
                <a:latin typeface="+mj-lt"/>
              </a:defRPr>
            </a:lvl1pPr>
          </a:lstStyle>
          <a:p>
            <a:r>
              <a:rPr lang="en-US"/>
              <a:t>Click to edit Master title style</a:t>
            </a:r>
            <a:endParaRPr lang="fi-FI"/>
          </a:p>
        </p:txBody>
      </p:sp>
      <p:sp>
        <p:nvSpPr>
          <p:cNvPr id="2" name="Freeform 5">
            <a:extLst>
              <a:ext uri="{FF2B5EF4-FFF2-40B4-BE49-F238E27FC236}">
                <a16:creationId xmlns:a16="http://schemas.microsoft.com/office/drawing/2014/main" id="{5A269375-E1A8-C31B-7E8E-7F024302667C}"/>
              </a:ext>
            </a:extLst>
          </p:cNvPr>
          <p:cNvSpPr>
            <a:spLocks noChangeAspect="1" noEditPoints="1"/>
          </p:cNvSpPr>
          <p:nvPr userDrawn="1"/>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
        <p:nvSpPr>
          <p:cNvPr id="4" name="Date Placeholder 3">
            <a:extLst>
              <a:ext uri="{FF2B5EF4-FFF2-40B4-BE49-F238E27FC236}">
                <a16:creationId xmlns:a16="http://schemas.microsoft.com/office/drawing/2014/main" id="{AFAB8C54-8FF4-ECB4-5321-511CAEE5FB2D}"/>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D00DBC1F-EE08-1759-7EA7-58669FCAF887}"/>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647363360"/>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Proces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8" name="Text Placeholder 2">
            <a:extLst>
              <a:ext uri="{FF2B5EF4-FFF2-40B4-BE49-F238E27FC236}">
                <a16:creationId xmlns:a16="http://schemas.microsoft.com/office/drawing/2014/main" id="{11E4B692-D8EE-2089-7427-A5399BE66F38}"/>
              </a:ext>
            </a:extLst>
          </p:cNvPr>
          <p:cNvSpPr>
            <a:spLocks noGrp="1"/>
          </p:cNvSpPr>
          <p:nvPr>
            <p:ph type="body" idx="14" hasCustomPrompt="1"/>
          </p:nvPr>
        </p:nvSpPr>
        <p:spPr>
          <a:xfrm>
            <a:off x="407988" y="1844674"/>
            <a:ext cx="2016119"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p>
        </p:txBody>
      </p:sp>
      <p:sp>
        <p:nvSpPr>
          <p:cNvPr id="13" name="Text Placeholder 12">
            <a:extLst>
              <a:ext uri="{FF2B5EF4-FFF2-40B4-BE49-F238E27FC236}">
                <a16:creationId xmlns:a16="http://schemas.microsoft.com/office/drawing/2014/main" id="{7DFA5604-DFA9-5599-E5FB-95F12FB285D5}"/>
              </a:ext>
            </a:extLst>
          </p:cNvPr>
          <p:cNvSpPr>
            <a:spLocks noGrp="1"/>
          </p:cNvSpPr>
          <p:nvPr>
            <p:ph type="body" sz="quarter" idx="15"/>
          </p:nvPr>
        </p:nvSpPr>
        <p:spPr>
          <a:xfrm>
            <a:off x="407988" y="3284538"/>
            <a:ext cx="2015604"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4" name="Text Placeholder 2">
            <a:extLst>
              <a:ext uri="{FF2B5EF4-FFF2-40B4-BE49-F238E27FC236}">
                <a16:creationId xmlns:a16="http://schemas.microsoft.com/office/drawing/2014/main" id="{3827A3A4-CC58-367B-E36F-7AC44E8EC4DB}"/>
              </a:ext>
            </a:extLst>
          </p:cNvPr>
          <p:cNvSpPr>
            <a:spLocks noGrp="1"/>
          </p:cNvSpPr>
          <p:nvPr>
            <p:ph type="body" idx="16" hasCustomPrompt="1"/>
          </p:nvPr>
        </p:nvSpPr>
        <p:spPr>
          <a:xfrm>
            <a:off x="2711607" y="1844674"/>
            <a:ext cx="2088765"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p>
        </p:txBody>
      </p:sp>
      <p:sp>
        <p:nvSpPr>
          <p:cNvPr id="17" name="Text Placeholder 2">
            <a:extLst>
              <a:ext uri="{FF2B5EF4-FFF2-40B4-BE49-F238E27FC236}">
                <a16:creationId xmlns:a16="http://schemas.microsoft.com/office/drawing/2014/main" id="{B6A71658-2640-5820-00C0-A497E0475D02}"/>
              </a:ext>
            </a:extLst>
          </p:cNvPr>
          <p:cNvSpPr>
            <a:spLocks noGrp="1"/>
          </p:cNvSpPr>
          <p:nvPr>
            <p:ph type="body" idx="18" hasCustomPrompt="1"/>
          </p:nvPr>
        </p:nvSpPr>
        <p:spPr>
          <a:xfrm>
            <a:off x="5087880" y="1844674"/>
            <a:ext cx="2016738"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p>
        </p:txBody>
      </p:sp>
      <p:sp>
        <p:nvSpPr>
          <p:cNvPr id="20" name="Text Placeholder 2">
            <a:extLst>
              <a:ext uri="{FF2B5EF4-FFF2-40B4-BE49-F238E27FC236}">
                <a16:creationId xmlns:a16="http://schemas.microsoft.com/office/drawing/2014/main" id="{E507729F-3FC3-227F-5A8B-85517FBB16B0}"/>
              </a:ext>
            </a:extLst>
          </p:cNvPr>
          <p:cNvSpPr>
            <a:spLocks noGrp="1"/>
          </p:cNvSpPr>
          <p:nvPr>
            <p:ph type="body" idx="20" hasCustomPrompt="1"/>
          </p:nvPr>
        </p:nvSpPr>
        <p:spPr>
          <a:xfrm>
            <a:off x="7392126" y="1844674"/>
            <a:ext cx="2088765"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p>
        </p:txBody>
      </p:sp>
      <p:sp>
        <p:nvSpPr>
          <p:cNvPr id="22" name="Text Placeholder 2">
            <a:extLst>
              <a:ext uri="{FF2B5EF4-FFF2-40B4-BE49-F238E27FC236}">
                <a16:creationId xmlns:a16="http://schemas.microsoft.com/office/drawing/2014/main" id="{2B959ACE-C45A-F672-6EF3-2497A285A008}"/>
              </a:ext>
            </a:extLst>
          </p:cNvPr>
          <p:cNvSpPr>
            <a:spLocks noGrp="1"/>
          </p:cNvSpPr>
          <p:nvPr>
            <p:ph type="body" idx="22" hasCustomPrompt="1"/>
          </p:nvPr>
        </p:nvSpPr>
        <p:spPr>
          <a:xfrm>
            <a:off x="9768409" y="1844674"/>
            <a:ext cx="2016120" cy="1296293"/>
          </a:xfrm>
        </p:spPr>
        <p:txBody>
          <a:bodyPr anchor="t" anchorCtr="0"/>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p>
        </p:txBody>
      </p:sp>
      <p:sp>
        <p:nvSpPr>
          <p:cNvPr id="26" name="Text Placeholder 12">
            <a:extLst>
              <a:ext uri="{FF2B5EF4-FFF2-40B4-BE49-F238E27FC236}">
                <a16:creationId xmlns:a16="http://schemas.microsoft.com/office/drawing/2014/main" id="{D9D79536-3D7F-7D6F-2BE3-5C618CB120D9}"/>
              </a:ext>
            </a:extLst>
          </p:cNvPr>
          <p:cNvSpPr>
            <a:spLocks noGrp="1"/>
          </p:cNvSpPr>
          <p:nvPr>
            <p:ph type="body" sz="quarter" idx="23"/>
          </p:nvPr>
        </p:nvSpPr>
        <p:spPr>
          <a:xfrm>
            <a:off x="2711624" y="3284538"/>
            <a:ext cx="2088232"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7" name="Text Placeholder 12">
            <a:extLst>
              <a:ext uri="{FF2B5EF4-FFF2-40B4-BE49-F238E27FC236}">
                <a16:creationId xmlns:a16="http://schemas.microsoft.com/office/drawing/2014/main" id="{E9B545D8-3555-6CE3-D8FD-D2E749B189FA}"/>
              </a:ext>
            </a:extLst>
          </p:cNvPr>
          <p:cNvSpPr>
            <a:spLocks noGrp="1"/>
          </p:cNvSpPr>
          <p:nvPr>
            <p:ph type="body" sz="quarter" idx="24"/>
          </p:nvPr>
        </p:nvSpPr>
        <p:spPr>
          <a:xfrm>
            <a:off x="5088198" y="3284538"/>
            <a:ext cx="2015604"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8" name="Text Placeholder 12">
            <a:extLst>
              <a:ext uri="{FF2B5EF4-FFF2-40B4-BE49-F238E27FC236}">
                <a16:creationId xmlns:a16="http://schemas.microsoft.com/office/drawing/2014/main" id="{6DB34C07-D845-0A71-7110-873D3E54FE62}"/>
              </a:ext>
            </a:extLst>
          </p:cNvPr>
          <p:cNvSpPr>
            <a:spLocks noGrp="1"/>
          </p:cNvSpPr>
          <p:nvPr>
            <p:ph type="body" sz="quarter" idx="25"/>
          </p:nvPr>
        </p:nvSpPr>
        <p:spPr>
          <a:xfrm>
            <a:off x="7392144" y="3284538"/>
            <a:ext cx="2088232"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9" name="Text Placeholder 12">
            <a:extLst>
              <a:ext uri="{FF2B5EF4-FFF2-40B4-BE49-F238E27FC236}">
                <a16:creationId xmlns:a16="http://schemas.microsoft.com/office/drawing/2014/main" id="{812168A2-46B4-55B8-F41F-994C00D2483C}"/>
              </a:ext>
            </a:extLst>
          </p:cNvPr>
          <p:cNvSpPr>
            <a:spLocks noGrp="1"/>
          </p:cNvSpPr>
          <p:nvPr>
            <p:ph type="body" sz="quarter" idx="26"/>
          </p:nvPr>
        </p:nvSpPr>
        <p:spPr>
          <a:xfrm>
            <a:off x="9769028" y="3284538"/>
            <a:ext cx="2015604" cy="2592387"/>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Tree>
    <p:extLst>
      <p:ext uri="{BB962C8B-B14F-4D97-AF65-F5344CB8AC3E}">
        <p14:creationId xmlns:p14="http://schemas.microsoft.com/office/powerpoint/2010/main" val="1139570010"/>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Process Bl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tx1"/>
          </a:solidFill>
        </p:spPr>
        <p:txBody>
          <a:bodyPr anchor="ctr" anchorCtr="0"/>
          <a:lstStyle>
            <a:lvl1pPr marL="0" indent="0" algn="ctr">
              <a:buNone/>
              <a:defRPr sz="12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Tree>
    <p:extLst>
      <p:ext uri="{BB962C8B-B14F-4D97-AF65-F5344CB8AC3E}">
        <p14:creationId xmlns:p14="http://schemas.microsoft.com/office/powerpoint/2010/main" val="136457289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Process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accent3"/>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Tree>
    <p:extLst>
      <p:ext uri="{BB962C8B-B14F-4D97-AF65-F5344CB8AC3E}">
        <p14:creationId xmlns:p14="http://schemas.microsoft.com/office/powerpoint/2010/main" val="2707835527"/>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Process R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accent2"/>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Tree>
    <p:extLst>
      <p:ext uri="{BB962C8B-B14F-4D97-AF65-F5344CB8AC3E}">
        <p14:creationId xmlns:p14="http://schemas.microsoft.com/office/powerpoint/2010/main" val="340211472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Process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FBF-088F-1B9C-4741-7B63EF764C97}"/>
              </a:ext>
            </a:extLst>
          </p:cNvPr>
          <p:cNvSpPr>
            <a:spLocks noGrp="1"/>
          </p:cNvSpPr>
          <p:nvPr>
            <p:ph type="title"/>
          </p:nvPr>
        </p:nvSpPr>
        <p:spPr/>
        <p:txBody>
          <a:bodyPr/>
          <a:lstStyle/>
          <a:p>
            <a:r>
              <a:rPr lang="en-US"/>
              <a:t>Click to edit Master title style</a:t>
            </a:r>
            <a:endParaRPr lang="fi-FI"/>
          </a:p>
        </p:txBody>
      </p:sp>
      <p:sp>
        <p:nvSpPr>
          <p:cNvPr id="5" name="Date Placeholder 4">
            <a:extLst>
              <a:ext uri="{FF2B5EF4-FFF2-40B4-BE49-F238E27FC236}">
                <a16:creationId xmlns:a16="http://schemas.microsoft.com/office/drawing/2014/main" id="{876DE99E-677A-4DE5-3484-E9ADD64715C4}"/>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FCF29C55-0F2E-2EEA-823A-D1C128A53416}"/>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7" name="Slide Number Placeholder 6">
            <a:extLst>
              <a:ext uri="{FF2B5EF4-FFF2-40B4-BE49-F238E27FC236}">
                <a16:creationId xmlns:a16="http://schemas.microsoft.com/office/drawing/2014/main" id="{7AA8C97D-1A4E-B0F4-839E-4F69C9742E61}"/>
              </a:ext>
            </a:extLst>
          </p:cNvPr>
          <p:cNvSpPr>
            <a:spLocks noGrp="1"/>
          </p:cNvSpPr>
          <p:nvPr>
            <p:ph type="sldNum" sz="quarter" idx="12"/>
          </p:nvPr>
        </p:nvSpPr>
        <p:spPr/>
        <p:txBody>
          <a:bodyPr/>
          <a:lstStyle/>
          <a:p>
            <a:fld id="{D701140D-C14F-41CA-99FC-0EF83E8DA40A}" type="slidenum">
              <a:rPr lang="fi-FI" smtClean="0"/>
              <a:t>‹#›</a:t>
            </a:fld>
            <a:endParaRPr lang="fi-FI"/>
          </a:p>
        </p:txBody>
      </p:sp>
      <p:sp>
        <p:nvSpPr>
          <p:cNvPr id="16" name="Text Placeholder 12">
            <a:extLst>
              <a:ext uri="{FF2B5EF4-FFF2-40B4-BE49-F238E27FC236}">
                <a16:creationId xmlns:a16="http://schemas.microsoft.com/office/drawing/2014/main" id="{2909D46F-AC09-DECA-BACA-C1675FF98C92}"/>
              </a:ext>
            </a:extLst>
          </p:cNvPr>
          <p:cNvSpPr>
            <a:spLocks noGrp="1"/>
          </p:cNvSpPr>
          <p:nvPr>
            <p:ph type="body" sz="quarter" idx="15"/>
          </p:nvPr>
        </p:nvSpPr>
        <p:spPr>
          <a:xfrm>
            <a:off x="40798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9" name="Text Placeholder 12">
            <a:extLst>
              <a:ext uri="{FF2B5EF4-FFF2-40B4-BE49-F238E27FC236}">
                <a16:creationId xmlns:a16="http://schemas.microsoft.com/office/drawing/2014/main" id="{687E3998-D801-6A68-FC17-6DEBC7159F75}"/>
              </a:ext>
            </a:extLst>
          </p:cNvPr>
          <p:cNvSpPr>
            <a:spLocks noGrp="1"/>
          </p:cNvSpPr>
          <p:nvPr>
            <p:ph type="body" sz="quarter" idx="23"/>
          </p:nvPr>
        </p:nvSpPr>
        <p:spPr>
          <a:xfrm>
            <a:off x="271162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4" name="Text Placeholder 12">
            <a:extLst>
              <a:ext uri="{FF2B5EF4-FFF2-40B4-BE49-F238E27FC236}">
                <a16:creationId xmlns:a16="http://schemas.microsoft.com/office/drawing/2014/main" id="{D97F3D4F-F6AB-ED14-9484-30FEA1506137}"/>
              </a:ext>
            </a:extLst>
          </p:cNvPr>
          <p:cNvSpPr>
            <a:spLocks noGrp="1"/>
          </p:cNvSpPr>
          <p:nvPr>
            <p:ph type="body" sz="quarter" idx="29"/>
          </p:nvPr>
        </p:nvSpPr>
        <p:spPr>
          <a:xfrm>
            <a:off x="508819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5" name="Text Placeholder 12">
            <a:extLst>
              <a:ext uri="{FF2B5EF4-FFF2-40B4-BE49-F238E27FC236}">
                <a16:creationId xmlns:a16="http://schemas.microsoft.com/office/drawing/2014/main" id="{F5BB4B25-AFF9-AFEA-85BA-E387072E794C}"/>
              </a:ext>
            </a:extLst>
          </p:cNvPr>
          <p:cNvSpPr>
            <a:spLocks noGrp="1"/>
          </p:cNvSpPr>
          <p:nvPr>
            <p:ph type="body" sz="quarter" idx="30"/>
          </p:nvPr>
        </p:nvSpPr>
        <p:spPr>
          <a:xfrm>
            <a:off x="7392144" y="3573016"/>
            <a:ext cx="2088232"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6" name="Text Placeholder 12">
            <a:extLst>
              <a:ext uri="{FF2B5EF4-FFF2-40B4-BE49-F238E27FC236}">
                <a16:creationId xmlns:a16="http://schemas.microsoft.com/office/drawing/2014/main" id="{ADB44BCB-11F4-E11F-6050-6499858CFA4B}"/>
              </a:ext>
            </a:extLst>
          </p:cNvPr>
          <p:cNvSpPr>
            <a:spLocks noGrp="1"/>
          </p:cNvSpPr>
          <p:nvPr>
            <p:ph type="body" sz="quarter" idx="31"/>
          </p:nvPr>
        </p:nvSpPr>
        <p:spPr>
          <a:xfrm>
            <a:off x="9769028" y="3573016"/>
            <a:ext cx="2015604" cy="2303909"/>
          </a:xfrm>
        </p:spPr>
        <p:txBody>
          <a:bodyPr/>
          <a:lstStyle>
            <a:lvl1pPr>
              <a:defRPr sz="1000"/>
            </a:lvl1pPr>
            <a:lvl2pPr marL="182563" indent="-182563">
              <a:defRPr sz="1000"/>
            </a:lvl2pPr>
            <a:lvl3pPr marL="355600" indent="-173038">
              <a:defRPr sz="1000"/>
            </a:lvl3pPr>
            <a:lvl4pPr marL="539750" indent="-184150">
              <a:defRPr sz="1000"/>
            </a:lvl4pPr>
            <a:lvl5pPr marL="722313" indent="-182563">
              <a:defRPr sz="1000"/>
            </a:lvl5pPr>
            <a:lvl6pPr marL="895350" indent="-173038">
              <a:defRPr sz="1000"/>
            </a:lvl6pPr>
            <a:lvl7pPr marL="1077913" indent="-182563">
              <a:defRPr sz="1000"/>
            </a:lvl7pPr>
            <a:lvl8pPr marL="1250950" indent="-173038">
              <a:defRPr sz="1000"/>
            </a:lvl8pPr>
            <a:lvl9pPr marL="1433513" indent="-182563">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7" name="Text Placeholder 2">
            <a:extLst>
              <a:ext uri="{FF2B5EF4-FFF2-40B4-BE49-F238E27FC236}">
                <a16:creationId xmlns:a16="http://schemas.microsoft.com/office/drawing/2014/main" id="{60527BA6-8E7F-91F7-0FF5-EAFF7FBB237A}"/>
              </a:ext>
            </a:extLst>
          </p:cNvPr>
          <p:cNvSpPr>
            <a:spLocks noGrp="1"/>
          </p:cNvSpPr>
          <p:nvPr>
            <p:ph type="body" idx="14"/>
          </p:nvPr>
        </p:nvSpPr>
        <p:spPr>
          <a:xfrm>
            <a:off x="407988"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18" name="Text Placeholder 2">
            <a:extLst>
              <a:ext uri="{FF2B5EF4-FFF2-40B4-BE49-F238E27FC236}">
                <a16:creationId xmlns:a16="http://schemas.microsoft.com/office/drawing/2014/main" id="{25B7FD09-6933-9B2C-E660-44271E46576A}"/>
              </a:ext>
            </a:extLst>
          </p:cNvPr>
          <p:cNvSpPr>
            <a:spLocks noGrp="1"/>
          </p:cNvSpPr>
          <p:nvPr>
            <p:ph type="body" idx="16"/>
          </p:nvPr>
        </p:nvSpPr>
        <p:spPr>
          <a:xfrm>
            <a:off x="2711607"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0" name="Text Placeholder 2">
            <a:extLst>
              <a:ext uri="{FF2B5EF4-FFF2-40B4-BE49-F238E27FC236}">
                <a16:creationId xmlns:a16="http://schemas.microsoft.com/office/drawing/2014/main" id="{7E9BC9FF-8079-A9F7-940B-AD180B5C7111}"/>
              </a:ext>
            </a:extLst>
          </p:cNvPr>
          <p:cNvSpPr>
            <a:spLocks noGrp="1"/>
          </p:cNvSpPr>
          <p:nvPr>
            <p:ph type="body" idx="18"/>
          </p:nvPr>
        </p:nvSpPr>
        <p:spPr>
          <a:xfrm>
            <a:off x="5087880"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1" name="Text Placeholder 2">
            <a:extLst>
              <a:ext uri="{FF2B5EF4-FFF2-40B4-BE49-F238E27FC236}">
                <a16:creationId xmlns:a16="http://schemas.microsoft.com/office/drawing/2014/main" id="{8BE256EA-AF3A-004E-60D5-EB46182584F3}"/>
              </a:ext>
            </a:extLst>
          </p:cNvPr>
          <p:cNvSpPr>
            <a:spLocks noGrp="1"/>
          </p:cNvSpPr>
          <p:nvPr>
            <p:ph type="body" idx="20"/>
          </p:nvPr>
        </p:nvSpPr>
        <p:spPr>
          <a:xfrm>
            <a:off x="7392126"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
        <p:nvSpPr>
          <p:cNvPr id="22" name="Text Placeholder 2">
            <a:extLst>
              <a:ext uri="{FF2B5EF4-FFF2-40B4-BE49-F238E27FC236}">
                <a16:creationId xmlns:a16="http://schemas.microsoft.com/office/drawing/2014/main" id="{C3F0EB54-3301-1385-D27F-5E7B2877AC94}"/>
              </a:ext>
            </a:extLst>
          </p:cNvPr>
          <p:cNvSpPr>
            <a:spLocks noGrp="1"/>
          </p:cNvSpPr>
          <p:nvPr>
            <p:ph type="body" idx="22"/>
          </p:nvPr>
        </p:nvSpPr>
        <p:spPr>
          <a:xfrm>
            <a:off x="9768409" y="1844673"/>
            <a:ext cx="1584000" cy="1584000"/>
          </a:xfrm>
          <a:prstGeom prst="ellipse">
            <a:avLst/>
          </a:prstGeom>
          <a:solidFill>
            <a:schemeClr val="accent1"/>
          </a:solidFill>
        </p:spPr>
        <p:txBody>
          <a:bodyPr anchor="ctr" anchorCtr="0"/>
          <a:lstStyle>
            <a:lvl1pPr marL="0" indent="0" algn="ctr">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GB"/>
          </a:p>
        </p:txBody>
      </p:sp>
    </p:spTree>
    <p:extLst>
      <p:ext uri="{BB962C8B-B14F-4D97-AF65-F5344CB8AC3E}">
        <p14:creationId xmlns:p14="http://schemas.microsoft.com/office/powerpoint/2010/main" val="32343287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Only" preserve="1">
  <p:cSld name="Title Only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96E9-BA5C-FE6D-29D4-7D5BDF67EBC0}"/>
              </a:ext>
            </a:extLst>
          </p:cNvPr>
          <p:cNvSpPr>
            <a:spLocks noGrp="1"/>
          </p:cNvSpPr>
          <p:nvPr>
            <p:ph type="title"/>
          </p:nvPr>
        </p:nvSpPr>
        <p:spPr/>
        <p:txBody>
          <a:bodyPr/>
          <a:lstStyle/>
          <a:p>
            <a:r>
              <a:rPr lang="en-US"/>
              <a:t>Click to edit Master title style</a:t>
            </a:r>
            <a:endParaRPr lang="fi-FI"/>
          </a:p>
        </p:txBody>
      </p:sp>
      <p:sp>
        <p:nvSpPr>
          <p:cNvPr id="3" name="Date Placeholder 2">
            <a:extLst>
              <a:ext uri="{FF2B5EF4-FFF2-40B4-BE49-F238E27FC236}">
                <a16:creationId xmlns:a16="http://schemas.microsoft.com/office/drawing/2014/main" id="{7B35A839-C462-B1DD-93DB-75C65FA0354B}"/>
              </a:ext>
            </a:extLst>
          </p:cNvPr>
          <p:cNvSpPr>
            <a:spLocks noGrp="1"/>
          </p:cNvSpPr>
          <p:nvPr>
            <p:ph type="dt" sz="half" idx="10"/>
          </p:nvPr>
        </p:nvSpPr>
        <p:spPr/>
        <p:txBody>
          <a:bodyPr/>
          <a:lstStyle/>
          <a:p>
            <a:r>
              <a:rPr lang="fi-FI"/>
              <a:t>28.04.2026</a:t>
            </a:r>
          </a:p>
        </p:txBody>
      </p:sp>
      <p:sp>
        <p:nvSpPr>
          <p:cNvPr id="4" name="Footer Placeholder 3">
            <a:extLst>
              <a:ext uri="{FF2B5EF4-FFF2-40B4-BE49-F238E27FC236}">
                <a16:creationId xmlns:a16="http://schemas.microsoft.com/office/drawing/2014/main" id="{EC323428-9C34-BE00-F14D-566DEEC4E56C}"/>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5" name="Slide Number Placeholder 4">
            <a:extLst>
              <a:ext uri="{FF2B5EF4-FFF2-40B4-BE49-F238E27FC236}">
                <a16:creationId xmlns:a16="http://schemas.microsoft.com/office/drawing/2014/main" id="{67C2FB49-CD3A-1DDD-E564-703C4FE25362}"/>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2907908084"/>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blank" preserve="1">
  <p:cSld name="Blank ">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38857C-8954-2CAC-937A-943D6443A481}"/>
              </a:ext>
            </a:extLst>
          </p:cNvPr>
          <p:cNvSpPr>
            <a:spLocks noGrp="1"/>
          </p:cNvSpPr>
          <p:nvPr>
            <p:ph type="dt" sz="half" idx="10"/>
          </p:nvPr>
        </p:nvSpPr>
        <p:spPr/>
        <p:txBody>
          <a:bodyPr/>
          <a:lstStyle/>
          <a:p>
            <a:r>
              <a:rPr lang="fi-FI"/>
              <a:t>28.04.2026</a:t>
            </a:r>
          </a:p>
        </p:txBody>
      </p:sp>
      <p:sp>
        <p:nvSpPr>
          <p:cNvPr id="3" name="Footer Placeholder 2">
            <a:extLst>
              <a:ext uri="{FF2B5EF4-FFF2-40B4-BE49-F238E27FC236}">
                <a16:creationId xmlns:a16="http://schemas.microsoft.com/office/drawing/2014/main" id="{967ABC24-E5EB-DE80-2D0D-1287AD8F112C}"/>
              </a:ext>
            </a:extLst>
          </p:cNvPr>
          <p:cNvSpPr>
            <a:spLocks noGrp="1"/>
          </p:cNvSpPr>
          <p:nvPr>
            <p:ph type="ftr" sz="quarter" idx="11"/>
          </p:nvPr>
        </p:nvSpPr>
        <p:spPr/>
        <p:txBody>
          <a:bodyPr/>
          <a:lstStyle/>
          <a:p>
            <a:r>
              <a:rPr lang="pt-BR"/>
              <a:t>Enrico Glerean &amp; Pedro Silva (2026) Please cite DOI: 10.5281/zenodo.14032261 (CC-BY)</a:t>
            </a:r>
            <a:endParaRPr lang="fi-FI"/>
          </a:p>
        </p:txBody>
      </p:sp>
      <p:sp>
        <p:nvSpPr>
          <p:cNvPr id="4" name="Slide Number Placeholder 3">
            <a:extLst>
              <a:ext uri="{FF2B5EF4-FFF2-40B4-BE49-F238E27FC236}">
                <a16:creationId xmlns:a16="http://schemas.microsoft.com/office/drawing/2014/main" id="{9253041E-A4B9-C59D-237D-00ECB5319199}"/>
              </a:ext>
            </a:extLst>
          </p:cNvPr>
          <p:cNvSpPr>
            <a:spLocks noGrp="1"/>
          </p:cNvSpPr>
          <p:nvPr>
            <p:ph type="sldNum" sz="quarter" idx="12"/>
          </p:nvPr>
        </p:nvSpPr>
        <p:spPr/>
        <p:txBody>
          <a:bodyPr/>
          <a:lstStyle/>
          <a:p>
            <a:fld id="{D701140D-C14F-41CA-99FC-0EF83E8DA40A}" type="slidenum">
              <a:rPr lang="fi-FI" smtClean="0"/>
              <a:t>‹#›</a:t>
            </a:fld>
            <a:endParaRPr lang="fi-FI"/>
          </a:p>
        </p:txBody>
      </p:sp>
    </p:spTree>
    <p:extLst>
      <p:ext uri="{BB962C8B-B14F-4D97-AF65-F5344CB8AC3E}">
        <p14:creationId xmlns:p14="http://schemas.microsoft.com/office/powerpoint/2010/main" val="393068983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titleOnly" preserve="1">
  <p:cSld name="Title Only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96E9-BA5C-FE6D-29D4-7D5BDF67EBC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fi-FI"/>
          </a:p>
        </p:txBody>
      </p:sp>
      <p:sp>
        <p:nvSpPr>
          <p:cNvPr id="3" name="Date Placeholder 2">
            <a:extLst>
              <a:ext uri="{FF2B5EF4-FFF2-40B4-BE49-F238E27FC236}">
                <a16:creationId xmlns:a16="http://schemas.microsoft.com/office/drawing/2014/main" id="{7B35A839-C462-B1DD-93DB-75C65FA0354B}"/>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4" name="Footer Placeholder 3">
            <a:extLst>
              <a:ext uri="{FF2B5EF4-FFF2-40B4-BE49-F238E27FC236}">
                <a16:creationId xmlns:a16="http://schemas.microsoft.com/office/drawing/2014/main" id="{EC323428-9C34-BE00-F14D-566DEEC4E56C}"/>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5" name="Slide Number Placeholder 4">
            <a:extLst>
              <a:ext uri="{FF2B5EF4-FFF2-40B4-BE49-F238E27FC236}">
                <a16:creationId xmlns:a16="http://schemas.microsoft.com/office/drawing/2014/main" id="{67C2FB49-CD3A-1DDD-E564-703C4FE25362}"/>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6" name="Freeform 5">
            <a:extLst>
              <a:ext uri="{FF2B5EF4-FFF2-40B4-BE49-F238E27FC236}">
                <a16:creationId xmlns:a16="http://schemas.microsoft.com/office/drawing/2014/main" id="{084BE95A-A922-2BF2-1E8C-87BF84158BE3}"/>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54448558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type="blank" preserve="1">
  <p:cSld name="Blank Blac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38857C-8954-2CAC-937A-943D6443A481}"/>
              </a:ext>
            </a:extLst>
          </p:cNvPr>
          <p:cNvSpPr>
            <a:spLocks noGrp="1"/>
          </p:cNvSpPr>
          <p:nvPr>
            <p:ph type="dt" sz="half" idx="10"/>
          </p:nvPr>
        </p:nvSpPr>
        <p:spPr/>
        <p:txBody>
          <a:bodyPr/>
          <a:lstStyle>
            <a:lvl1pPr>
              <a:defRPr>
                <a:solidFill>
                  <a:schemeClr val="bg1"/>
                </a:solidFill>
              </a:defRPr>
            </a:lvl1pPr>
          </a:lstStyle>
          <a:p>
            <a:r>
              <a:rPr lang="fi-FI"/>
              <a:t>28.04.2026</a:t>
            </a:r>
          </a:p>
        </p:txBody>
      </p:sp>
      <p:sp>
        <p:nvSpPr>
          <p:cNvPr id="3" name="Footer Placeholder 2">
            <a:extLst>
              <a:ext uri="{FF2B5EF4-FFF2-40B4-BE49-F238E27FC236}">
                <a16:creationId xmlns:a16="http://schemas.microsoft.com/office/drawing/2014/main" id="{967ABC24-E5EB-DE80-2D0D-1287AD8F112C}"/>
              </a:ext>
            </a:extLst>
          </p:cNvPr>
          <p:cNvSpPr>
            <a:spLocks noGrp="1"/>
          </p:cNvSpPr>
          <p:nvPr>
            <p:ph type="ftr" sz="quarter" idx="11"/>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4" name="Slide Number Placeholder 3">
            <a:extLst>
              <a:ext uri="{FF2B5EF4-FFF2-40B4-BE49-F238E27FC236}">
                <a16:creationId xmlns:a16="http://schemas.microsoft.com/office/drawing/2014/main" id="{9253041E-A4B9-C59D-237D-00ECB5319199}"/>
              </a:ext>
            </a:extLst>
          </p:cNvPr>
          <p:cNvSpPr>
            <a:spLocks noGrp="1"/>
          </p:cNvSpPr>
          <p:nvPr>
            <p:ph type="sldNum" sz="quarter" idx="12"/>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Freeform 5">
            <a:extLst>
              <a:ext uri="{FF2B5EF4-FFF2-40B4-BE49-F238E27FC236}">
                <a16:creationId xmlns:a16="http://schemas.microsoft.com/office/drawing/2014/main" id="{70EE8852-CD7C-BD4D-4DA0-21C63C2F15A6}"/>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fi-FI"/>
          </a:p>
        </p:txBody>
      </p:sp>
    </p:spTree>
    <p:extLst>
      <p:ext uri="{BB962C8B-B14F-4D97-AF65-F5344CB8AC3E}">
        <p14:creationId xmlns:p14="http://schemas.microsoft.com/office/powerpoint/2010/main" val="284593379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p:cSld name="Thank you ">
    <p:bg>
      <p:bgPr>
        <a:solidFill>
          <a:schemeClr val="tx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97C8E3E2-A6A7-5047-7F76-5A852C28CC12}"/>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a:solidFill>
                  <a:schemeClr val="bg1"/>
                </a:solidFill>
                <a:latin typeface="+mj-lt"/>
              </a:rPr>
              <a:t>Kiitos</a:t>
            </a:r>
          </a:p>
        </p:txBody>
      </p:sp>
      <p:sp>
        <p:nvSpPr>
          <p:cNvPr id="2" name="Date Placeholder 1">
            <a:extLst>
              <a:ext uri="{FF2B5EF4-FFF2-40B4-BE49-F238E27FC236}">
                <a16:creationId xmlns:a16="http://schemas.microsoft.com/office/drawing/2014/main" id="{5819FAC3-FDFD-0982-174D-64BFD817B086}"/>
              </a:ext>
            </a:extLst>
          </p:cNvPr>
          <p:cNvSpPr>
            <a:spLocks noGrp="1"/>
          </p:cNvSpPr>
          <p:nvPr>
            <p:ph type="dt" sz="half" idx="14"/>
          </p:nvPr>
        </p:nvSpPr>
        <p:spPr/>
        <p:txBody>
          <a:bodyPr/>
          <a:lstStyle>
            <a:lvl1pPr>
              <a:defRPr>
                <a:solidFill>
                  <a:schemeClr val="bg1"/>
                </a:solidFill>
              </a:defRPr>
            </a:lvl1pPr>
          </a:lstStyle>
          <a:p>
            <a:r>
              <a:rPr lang="fi-FI"/>
              <a:t>28.04.2026</a:t>
            </a:r>
          </a:p>
        </p:txBody>
      </p:sp>
      <p:sp>
        <p:nvSpPr>
          <p:cNvPr id="3" name="Footer Placeholder 2">
            <a:extLst>
              <a:ext uri="{FF2B5EF4-FFF2-40B4-BE49-F238E27FC236}">
                <a16:creationId xmlns:a16="http://schemas.microsoft.com/office/drawing/2014/main" id="{D2BF6814-EA9F-9642-988B-BA0DCA001BE0}"/>
              </a:ext>
            </a:extLst>
          </p:cNvPr>
          <p:cNvSpPr>
            <a:spLocks noGrp="1"/>
          </p:cNvSpPr>
          <p:nvPr>
            <p:ph type="ftr" sz="quarter" idx="15"/>
          </p:nvPr>
        </p:nvSpPr>
        <p:spPr/>
        <p:txBody>
          <a:bodyPr/>
          <a:lstStyle>
            <a:lvl1pPr>
              <a:defRPr>
                <a:solidFill>
                  <a:schemeClr val="bg1"/>
                </a:solidFill>
              </a:defRPr>
            </a:lvl1pPr>
          </a:lstStyle>
          <a:p>
            <a:r>
              <a:rPr lang="pt-BR"/>
              <a:t>Enrico Glerean &amp; Pedro Silva (2026) Please cite DOI: 10.5281/zenodo.14032261 (CC-BY)</a:t>
            </a:r>
            <a:endParaRPr lang="fi-FI"/>
          </a:p>
        </p:txBody>
      </p:sp>
      <p:sp>
        <p:nvSpPr>
          <p:cNvPr id="4" name="Slide Number Placeholder 3">
            <a:extLst>
              <a:ext uri="{FF2B5EF4-FFF2-40B4-BE49-F238E27FC236}">
                <a16:creationId xmlns:a16="http://schemas.microsoft.com/office/drawing/2014/main" id="{F594FCAF-E233-9309-B54B-CAB9B5DA075B}"/>
              </a:ext>
            </a:extLst>
          </p:cNvPr>
          <p:cNvSpPr>
            <a:spLocks noGrp="1"/>
          </p:cNvSpPr>
          <p:nvPr>
            <p:ph type="sldNum" sz="quarter" idx="16"/>
          </p:nvPr>
        </p:nvSpPr>
        <p:spPr/>
        <p:txBody>
          <a:bodyPr/>
          <a:lstStyle>
            <a:lvl1pPr>
              <a:defRPr>
                <a:solidFill>
                  <a:schemeClr val="bg1"/>
                </a:solidFill>
              </a:defRPr>
            </a:lvl1pPr>
          </a:lstStyle>
          <a:p>
            <a:fld id="{D701140D-C14F-41CA-99FC-0EF83E8DA40A}" type="slidenum">
              <a:rPr lang="fi-FI" smtClean="0"/>
              <a:pPr/>
              <a:t>‹#›</a:t>
            </a:fld>
            <a:endParaRPr lang="fi-FI"/>
          </a:p>
        </p:txBody>
      </p:sp>
      <p:sp>
        <p:nvSpPr>
          <p:cNvPr id="5" name="TextBox 4">
            <a:hlinkClick r:id="rId2"/>
            <a:extLst>
              <a:ext uri="{FF2B5EF4-FFF2-40B4-BE49-F238E27FC236}">
                <a16:creationId xmlns:a16="http://schemas.microsoft.com/office/drawing/2014/main" id="{165C98D3-985C-5D09-0F62-234BE3AB58C3}"/>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a:solidFill>
                  <a:schemeClr val="bg1"/>
                </a:solidFill>
              </a:rPr>
              <a:t>aalto.fi</a:t>
            </a:r>
          </a:p>
        </p:txBody>
      </p:sp>
      <p:cxnSp>
        <p:nvCxnSpPr>
          <p:cNvPr id="7" name="Straight Connector 6">
            <a:extLst>
              <a:ext uri="{FF2B5EF4-FFF2-40B4-BE49-F238E27FC236}">
                <a16:creationId xmlns:a16="http://schemas.microsoft.com/office/drawing/2014/main" id="{8CE981A1-63EF-5A62-16BF-911E556C4D71}"/>
              </a:ext>
            </a:extLst>
          </p:cNvPr>
          <p:cNvCxnSpPr>
            <a:cxnSpLocks/>
          </p:cNvCxnSpPr>
          <p:nvPr/>
        </p:nvCxnSpPr>
        <p:spPr>
          <a:xfrm>
            <a:off x="6448576" y="2004866"/>
            <a:ext cx="396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96690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Thank you Blue">
    <p:bg>
      <p:bgPr>
        <a:solidFill>
          <a:schemeClr val="accent3"/>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Date Placeholder 1">
            <a:extLst>
              <a:ext uri="{FF2B5EF4-FFF2-40B4-BE49-F238E27FC236}">
                <a16:creationId xmlns:a16="http://schemas.microsoft.com/office/drawing/2014/main" id="{5819FAC3-FDFD-0982-174D-64BFD817B086}"/>
              </a:ext>
            </a:extLst>
          </p:cNvPr>
          <p:cNvSpPr>
            <a:spLocks noGrp="1"/>
          </p:cNvSpPr>
          <p:nvPr>
            <p:ph type="dt" sz="half" idx="14"/>
          </p:nvPr>
        </p:nvSpPr>
        <p:spPr/>
        <p:txBody>
          <a:bodyPr/>
          <a:lstStyle/>
          <a:p>
            <a:r>
              <a:rPr lang="fi-FI"/>
              <a:t>28.04.2026</a:t>
            </a:r>
          </a:p>
        </p:txBody>
      </p:sp>
      <p:sp>
        <p:nvSpPr>
          <p:cNvPr id="3" name="Footer Placeholder 2">
            <a:extLst>
              <a:ext uri="{FF2B5EF4-FFF2-40B4-BE49-F238E27FC236}">
                <a16:creationId xmlns:a16="http://schemas.microsoft.com/office/drawing/2014/main" id="{D2BF6814-EA9F-9642-988B-BA0DCA001BE0}"/>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4" name="Slide Number Placeholder 3">
            <a:extLst>
              <a:ext uri="{FF2B5EF4-FFF2-40B4-BE49-F238E27FC236}">
                <a16:creationId xmlns:a16="http://schemas.microsoft.com/office/drawing/2014/main" id="{F594FCAF-E233-9309-B54B-CAB9B5DA075B}"/>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7" name="TextBox 6">
            <a:extLst>
              <a:ext uri="{FF2B5EF4-FFF2-40B4-BE49-F238E27FC236}">
                <a16:creationId xmlns:a16="http://schemas.microsoft.com/office/drawing/2014/main" id="{93DFF82F-A665-CA7C-A4D9-281EBE1EA308}"/>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a:latin typeface="+mj-lt"/>
              </a:rPr>
              <a:t>Kiitos</a:t>
            </a:r>
          </a:p>
        </p:txBody>
      </p:sp>
      <p:sp>
        <p:nvSpPr>
          <p:cNvPr id="8" name="TextBox 7">
            <a:hlinkClick r:id="rId2"/>
            <a:extLst>
              <a:ext uri="{FF2B5EF4-FFF2-40B4-BE49-F238E27FC236}">
                <a16:creationId xmlns:a16="http://schemas.microsoft.com/office/drawing/2014/main" id="{F9F35130-809C-54C5-7E28-08465B7283F3}"/>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a:t>aalto.fi</a:t>
            </a:r>
          </a:p>
        </p:txBody>
      </p:sp>
      <p:cxnSp>
        <p:nvCxnSpPr>
          <p:cNvPr id="9" name="Straight Connector 8">
            <a:extLst>
              <a:ext uri="{FF2B5EF4-FFF2-40B4-BE49-F238E27FC236}">
                <a16:creationId xmlns:a16="http://schemas.microsoft.com/office/drawing/2014/main" id="{F4389D5A-AB42-9199-44CF-9CEEAE533454}"/>
              </a:ext>
            </a:extLst>
          </p:cNvPr>
          <p:cNvCxnSpPr>
            <a:cxnSpLocks/>
          </p:cNvCxnSpPr>
          <p:nvPr/>
        </p:nvCxnSpPr>
        <p:spPr>
          <a:xfrm>
            <a:off x="6448576" y="200486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3432045"/>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p:cSld name="Thank you Re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Date Placeholder 1">
            <a:extLst>
              <a:ext uri="{FF2B5EF4-FFF2-40B4-BE49-F238E27FC236}">
                <a16:creationId xmlns:a16="http://schemas.microsoft.com/office/drawing/2014/main" id="{5A44BCDF-D62A-8FD1-A853-63A6E329245A}"/>
              </a:ext>
            </a:extLst>
          </p:cNvPr>
          <p:cNvSpPr>
            <a:spLocks noGrp="1"/>
          </p:cNvSpPr>
          <p:nvPr>
            <p:ph type="dt" sz="half" idx="14"/>
          </p:nvPr>
        </p:nvSpPr>
        <p:spPr/>
        <p:txBody>
          <a:bodyPr/>
          <a:lstStyle/>
          <a:p>
            <a:r>
              <a:rPr lang="fi-FI"/>
              <a:t>28.04.2026</a:t>
            </a:r>
          </a:p>
        </p:txBody>
      </p:sp>
      <p:sp>
        <p:nvSpPr>
          <p:cNvPr id="3" name="Footer Placeholder 2">
            <a:extLst>
              <a:ext uri="{FF2B5EF4-FFF2-40B4-BE49-F238E27FC236}">
                <a16:creationId xmlns:a16="http://schemas.microsoft.com/office/drawing/2014/main" id="{B6EB009C-F38A-C91A-9FEF-AECF89D47A63}"/>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4" name="Slide Number Placeholder 3">
            <a:extLst>
              <a:ext uri="{FF2B5EF4-FFF2-40B4-BE49-F238E27FC236}">
                <a16:creationId xmlns:a16="http://schemas.microsoft.com/office/drawing/2014/main" id="{C8CB65B9-41BC-781D-107D-C5A99B2C7D5E}"/>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7" name="TextBox 6">
            <a:extLst>
              <a:ext uri="{FF2B5EF4-FFF2-40B4-BE49-F238E27FC236}">
                <a16:creationId xmlns:a16="http://schemas.microsoft.com/office/drawing/2014/main" id="{59C85133-50DB-CAA4-935B-5BFB0E1B21AB}"/>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a:latin typeface="+mj-lt"/>
              </a:rPr>
              <a:t>Kiitos</a:t>
            </a:r>
          </a:p>
        </p:txBody>
      </p:sp>
      <p:sp>
        <p:nvSpPr>
          <p:cNvPr id="8" name="TextBox 7">
            <a:hlinkClick r:id="rId2"/>
            <a:extLst>
              <a:ext uri="{FF2B5EF4-FFF2-40B4-BE49-F238E27FC236}">
                <a16:creationId xmlns:a16="http://schemas.microsoft.com/office/drawing/2014/main" id="{7F46B658-9D7D-6338-006D-3915FC261FA2}"/>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a:t>aalto.fi</a:t>
            </a:r>
          </a:p>
        </p:txBody>
      </p:sp>
      <p:cxnSp>
        <p:nvCxnSpPr>
          <p:cNvPr id="9" name="Straight Connector 8">
            <a:extLst>
              <a:ext uri="{FF2B5EF4-FFF2-40B4-BE49-F238E27FC236}">
                <a16:creationId xmlns:a16="http://schemas.microsoft.com/office/drawing/2014/main" id="{526E9EB7-2C97-21BD-728D-4E129DB8FD35}"/>
              </a:ext>
            </a:extLst>
          </p:cNvPr>
          <p:cNvCxnSpPr>
            <a:cxnSpLocks/>
          </p:cNvCxnSpPr>
          <p:nvPr/>
        </p:nvCxnSpPr>
        <p:spPr>
          <a:xfrm>
            <a:off x="6448576" y="200486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6004313"/>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p:cSld name="Thank you Yellow">
    <p:bg>
      <p:bgPr>
        <a:solidFill>
          <a:schemeClr val="accent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4A4D6E-EA47-4FB6-4842-6266F7987D40}"/>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Freeform 5">
            <a:extLst>
              <a:ext uri="{FF2B5EF4-FFF2-40B4-BE49-F238E27FC236}">
                <a16:creationId xmlns:a16="http://schemas.microsoft.com/office/drawing/2014/main" id="{4E379A93-4718-A4A6-52FF-0770DDE1FB8E}"/>
              </a:ext>
            </a:extLst>
          </p:cNvPr>
          <p:cNvSpPr>
            <a:spLocks noChangeAspect="1" noEditPoints="1"/>
          </p:cNvSpPr>
          <p:nvPr/>
        </p:nvSpPr>
        <p:spPr bwMode="auto">
          <a:xfrm>
            <a:off x="407988" y="2805066"/>
            <a:ext cx="4895924" cy="3648121"/>
          </a:xfrm>
          <a:custGeom>
            <a:avLst/>
            <a:gdLst>
              <a:gd name="T0" fmla="*/ 6475 w 6475"/>
              <a:gd name="T1" fmla="*/ 1671 h 4824"/>
              <a:gd name="T2" fmla="*/ 6332 w 6475"/>
              <a:gd name="T3" fmla="*/ 2506 h 4824"/>
              <a:gd name="T4" fmla="*/ 6191 w 6475"/>
              <a:gd name="T5" fmla="*/ 3343 h 4824"/>
              <a:gd name="T6" fmla="*/ 5547 w 6475"/>
              <a:gd name="T7" fmla="*/ 3343 h 4824"/>
              <a:gd name="T8" fmla="*/ 5428 w 6475"/>
              <a:gd name="T9" fmla="*/ 2506 h 4824"/>
              <a:gd name="T10" fmla="*/ 5309 w 6475"/>
              <a:gd name="T11" fmla="*/ 1671 h 4824"/>
              <a:gd name="T12" fmla="*/ 5309 w 6475"/>
              <a:gd name="T13" fmla="*/ 835 h 4824"/>
              <a:gd name="T14" fmla="*/ 5309 w 6475"/>
              <a:gd name="T15" fmla="*/ 0 h 4824"/>
              <a:gd name="T16" fmla="*/ 5892 w 6475"/>
              <a:gd name="T17" fmla="*/ 0 h 4824"/>
              <a:gd name="T18" fmla="*/ 6475 w 6475"/>
              <a:gd name="T19" fmla="*/ 0 h 4824"/>
              <a:gd name="T20" fmla="*/ 6475 w 6475"/>
              <a:gd name="T21" fmla="*/ 835 h 4824"/>
              <a:gd name="T22" fmla="*/ 6475 w 6475"/>
              <a:gd name="T23" fmla="*/ 1671 h 4824"/>
              <a:gd name="T24" fmla="*/ 3041 w 6475"/>
              <a:gd name="T25" fmla="*/ 3007 h 4824"/>
              <a:gd name="T26" fmla="*/ 2742 w 6475"/>
              <a:gd name="T27" fmla="*/ 2147 h 4824"/>
              <a:gd name="T28" fmla="*/ 2444 w 6475"/>
              <a:gd name="T29" fmla="*/ 1289 h 4824"/>
              <a:gd name="T30" fmla="*/ 2145 w 6475"/>
              <a:gd name="T31" fmla="*/ 2147 h 4824"/>
              <a:gd name="T32" fmla="*/ 1847 w 6475"/>
              <a:gd name="T33" fmla="*/ 3007 h 4824"/>
              <a:gd name="T34" fmla="*/ 2444 w 6475"/>
              <a:gd name="T35" fmla="*/ 3007 h 4824"/>
              <a:gd name="T36" fmla="*/ 3041 w 6475"/>
              <a:gd name="T37" fmla="*/ 3007 h 4824"/>
              <a:gd name="T38" fmla="*/ 4887 w 6475"/>
              <a:gd name="T39" fmla="*/ 4824 h 4824"/>
              <a:gd name="T40" fmla="*/ 4278 w 6475"/>
              <a:gd name="T41" fmla="*/ 4824 h 4824"/>
              <a:gd name="T42" fmla="*/ 3671 w 6475"/>
              <a:gd name="T43" fmla="*/ 4824 h 4824"/>
              <a:gd name="T44" fmla="*/ 3375 w 6475"/>
              <a:gd name="T45" fmla="*/ 3971 h 4824"/>
              <a:gd name="T46" fmla="*/ 2444 w 6475"/>
              <a:gd name="T47" fmla="*/ 3971 h 4824"/>
              <a:gd name="T48" fmla="*/ 1513 w 6475"/>
              <a:gd name="T49" fmla="*/ 3971 h 4824"/>
              <a:gd name="T50" fmla="*/ 1216 w 6475"/>
              <a:gd name="T51" fmla="*/ 4824 h 4824"/>
              <a:gd name="T52" fmla="*/ 607 w 6475"/>
              <a:gd name="T53" fmla="*/ 4824 h 4824"/>
              <a:gd name="T54" fmla="*/ 0 w 6475"/>
              <a:gd name="T55" fmla="*/ 4824 h 4824"/>
              <a:gd name="T56" fmla="*/ 214 w 6475"/>
              <a:gd name="T57" fmla="*/ 4221 h 4824"/>
              <a:gd name="T58" fmla="*/ 427 w 6475"/>
              <a:gd name="T59" fmla="*/ 3618 h 4824"/>
              <a:gd name="T60" fmla="*/ 641 w 6475"/>
              <a:gd name="T61" fmla="*/ 3015 h 4824"/>
              <a:gd name="T62" fmla="*/ 856 w 6475"/>
              <a:gd name="T63" fmla="*/ 2412 h 4824"/>
              <a:gd name="T64" fmla="*/ 1070 w 6475"/>
              <a:gd name="T65" fmla="*/ 1809 h 4824"/>
              <a:gd name="T66" fmla="*/ 1285 w 6475"/>
              <a:gd name="T67" fmla="*/ 1206 h 4824"/>
              <a:gd name="T68" fmla="*/ 1499 w 6475"/>
              <a:gd name="T69" fmla="*/ 603 h 4824"/>
              <a:gd name="T70" fmla="*/ 1714 w 6475"/>
              <a:gd name="T71" fmla="*/ 0 h 4824"/>
              <a:gd name="T72" fmla="*/ 2443 w 6475"/>
              <a:gd name="T73" fmla="*/ 0 h 4824"/>
              <a:gd name="T74" fmla="*/ 3173 w 6475"/>
              <a:gd name="T75" fmla="*/ 0 h 4824"/>
              <a:gd name="T76" fmla="*/ 3387 w 6475"/>
              <a:gd name="T77" fmla="*/ 603 h 4824"/>
              <a:gd name="T78" fmla="*/ 3601 w 6475"/>
              <a:gd name="T79" fmla="*/ 1206 h 4824"/>
              <a:gd name="T80" fmla="*/ 3814 w 6475"/>
              <a:gd name="T81" fmla="*/ 1809 h 4824"/>
              <a:gd name="T82" fmla="*/ 4029 w 6475"/>
              <a:gd name="T83" fmla="*/ 2412 h 4824"/>
              <a:gd name="T84" fmla="*/ 4243 w 6475"/>
              <a:gd name="T85" fmla="*/ 3015 h 4824"/>
              <a:gd name="T86" fmla="*/ 4458 w 6475"/>
              <a:gd name="T87" fmla="*/ 3618 h 4824"/>
              <a:gd name="T88" fmla="*/ 4672 w 6475"/>
              <a:gd name="T89" fmla="*/ 4221 h 4824"/>
              <a:gd name="T90" fmla="*/ 4887 w 6475"/>
              <a:gd name="T91" fmla="*/ 4824 h 4824"/>
              <a:gd name="T92" fmla="*/ 5343 w 6475"/>
              <a:gd name="T93" fmla="*/ 4824 h 4824"/>
              <a:gd name="T94" fmla="*/ 5343 w 6475"/>
              <a:gd name="T95" fmla="*/ 4277 h 4824"/>
              <a:gd name="T96" fmla="*/ 5343 w 6475"/>
              <a:gd name="T97" fmla="*/ 3730 h 4824"/>
              <a:gd name="T98" fmla="*/ 5891 w 6475"/>
              <a:gd name="T99" fmla="*/ 3730 h 4824"/>
              <a:gd name="T100" fmla="*/ 6440 w 6475"/>
              <a:gd name="T101" fmla="*/ 3730 h 4824"/>
              <a:gd name="T102" fmla="*/ 6440 w 6475"/>
              <a:gd name="T103" fmla="*/ 4277 h 4824"/>
              <a:gd name="T104" fmla="*/ 6440 w 6475"/>
              <a:gd name="T105" fmla="*/ 4824 h 4824"/>
              <a:gd name="T106" fmla="*/ 5891 w 6475"/>
              <a:gd name="T107" fmla="*/ 4824 h 4824"/>
              <a:gd name="T108" fmla="*/ 5343 w 6475"/>
              <a:gd name="T109" fmla="*/ 4824 h 4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75" h="4824">
                <a:moveTo>
                  <a:pt x="6475" y="1671"/>
                </a:moveTo>
                <a:lnTo>
                  <a:pt x="6332" y="2506"/>
                </a:lnTo>
                <a:lnTo>
                  <a:pt x="6191" y="3343"/>
                </a:lnTo>
                <a:lnTo>
                  <a:pt x="5547" y="3343"/>
                </a:lnTo>
                <a:lnTo>
                  <a:pt x="5428" y="2506"/>
                </a:lnTo>
                <a:lnTo>
                  <a:pt x="5309" y="1671"/>
                </a:lnTo>
                <a:lnTo>
                  <a:pt x="5309" y="835"/>
                </a:lnTo>
                <a:lnTo>
                  <a:pt x="5309" y="0"/>
                </a:lnTo>
                <a:lnTo>
                  <a:pt x="5892" y="0"/>
                </a:lnTo>
                <a:lnTo>
                  <a:pt x="6475" y="0"/>
                </a:lnTo>
                <a:lnTo>
                  <a:pt x="6475" y="835"/>
                </a:lnTo>
                <a:lnTo>
                  <a:pt x="6475" y="1671"/>
                </a:lnTo>
                <a:close/>
                <a:moveTo>
                  <a:pt x="3041" y="3007"/>
                </a:moveTo>
                <a:lnTo>
                  <a:pt x="2742" y="2147"/>
                </a:lnTo>
                <a:lnTo>
                  <a:pt x="2444" y="1289"/>
                </a:lnTo>
                <a:lnTo>
                  <a:pt x="2145" y="2147"/>
                </a:lnTo>
                <a:lnTo>
                  <a:pt x="1847" y="3007"/>
                </a:lnTo>
                <a:lnTo>
                  <a:pt x="2444" y="3007"/>
                </a:lnTo>
                <a:lnTo>
                  <a:pt x="3041" y="3007"/>
                </a:lnTo>
                <a:close/>
                <a:moveTo>
                  <a:pt x="4887" y="4824"/>
                </a:moveTo>
                <a:lnTo>
                  <a:pt x="4278" y="4824"/>
                </a:lnTo>
                <a:lnTo>
                  <a:pt x="3671" y="4824"/>
                </a:lnTo>
                <a:lnTo>
                  <a:pt x="3375" y="3971"/>
                </a:lnTo>
                <a:lnTo>
                  <a:pt x="2444" y="3971"/>
                </a:lnTo>
                <a:lnTo>
                  <a:pt x="1513" y="3971"/>
                </a:lnTo>
                <a:lnTo>
                  <a:pt x="1216" y="4824"/>
                </a:lnTo>
                <a:lnTo>
                  <a:pt x="607" y="4824"/>
                </a:lnTo>
                <a:lnTo>
                  <a:pt x="0" y="4824"/>
                </a:lnTo>
                <a:lnTo>
                  <a:pt x="214" y="4221"/>
                </a:lnTo>
                <a:lnTo>
                  <a:pt x="427" y="3618"/>
                </a:lnTo>
                <a:lnTo>
                  <a:pt x="641" y="3015"/>
                </a:lnTo>
                <a:lnTo>
                  <a:pt x="856" y="2412"/>
                </a:lnTo>
                <a:lnTo>
                  <a:pt x="1070" y="1809"/>
                </a:lnTo>
                <a:lnTo>
                  <a:pt x="1285" y="1206"/>
                </a:lnTo>
                <a:lnTo>
                  <a:pt x="1499" y="603"/>
                </a:lnTo>
                <a:lnTo>
                  <a:pt x="1714" y="0"/>
                </a:lnTo>
                <a:lnTo>
                  <a:pt x="2443" y="0"/>
                </a:lnTo>
                <a:lnTo>
                  <a:pt x="3173" y="0"/>
                </a:lnTo>
                <a:lnTo>
                  <a:pt x="3387" y="603"/>
                </a:lnTo>
                <a:lnTo>
                  <a:pt x="3601" y="1206"/>
                </a:lnTo>
                <a:lnTo>
                  <a:pt x="3814" y="1809"/>
                </a:lnTo>
                <a:lnTo>
                  <a:pt x="4029" y="2412"/>
                </a:lnTo>
                <a:lnTo>
                  <a:pt x="4243" y="3015"/>
                </a:lnTo>
                <a:lnTo>
                  <a:pt x="4458" y="3618"/>
                </a:lnTo>
                <a:lnTo>
                  <a:pt x="4672" y="4221"/>
                </a:lnTo>
                <a:lnTo>
                  <a:pt x="4887" y="4824"/>
                </a:lnTo>
                <a:close/>
                <a:moveTo>
                  <a:pt x="5343" y="4824"/>
                </a:moveTo>
                <a:lnTo>
                  <a:pt x="5343" y="4277"/>
                </a:lnTo>
                <a:lnTo>
                  <a:pt x="5343" y="3730"/>
                </a:lnTo>
                <a:lnTo>
                  <a:pt x="5891" y="3730"/>
                </a:lnTo>
                <a:lnTo>
                  <a:pt x="6440" y="3730"/>
                </a:lnTo>
                <a:lnTo>
                  <a:pt x="6440" y="4277"/>
                </a:lnTo>
                <a:lnTo>
                  <a:pt x="6440" y="4824"/>
                </a:lnTo>
                <a:lnTo>
                  <a:pt x="5891" y="4824"/>
                </a:lnTo>
                <a:lnTo>
                  <a:pt x="5343" y="48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Date Placeholder 1">
            <a:extLst>
              <a:ext uri="{FF2B5EF4-FFF2-40B4-BE49-F238E27FC236}">
                <a16:creationId xmlns:a16="http://schemas.microsoft.com/office/drawing/2014/main" id="{2F31311B-B039-888D-706C-C02FE1F80175}"/>
              </a:ext>
            </a:extLst>
          </p:cNvPr>
          <p:cNvSpPr>
            <a:spLocks noGrp="1"/>
          </p:cNvSpPr>
          <p:nvPr>
            <p:ph type="dt" sz="half" idx="14"/>
          </p:nvPr>
        </p:nvSpPr>
        <p:spPr/>
        <p:txBody>
          <a:bodyPr/>
          <a:lstStyle/>
          <a:p>
            <a:r>
              <a:rPr lang="fi-FI"/>
              <a:t>28.04.2026</a:t>
            </a:r>
          </a:p>
        </p:txBody>
      </p:sp>
      <p:sp>
        <p:nvSpPr>
          <p:cNvPr id="3" name="Footer Placeholder 2">
            <a:extLst>
              <a:ext uri="{FF2B5EF4-FFF2-40B4-BE49-F238E27FC236}">
                <a16:creationId xmlns:a16="http://schemas.microsoft.com/office/drawing/2014/main" id="{17D5BFD0-08BF-877C-6A1F-C5951A8D2152}"/>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4" name="Slide Number Placeholder 3">
            <a:extLst>
              <a:ext uri="{FF2B5EF4-FFF2-40B4-BE49-F238E27FC236}">
                <a16:creationId xmlns:a16="http://schemas.microsoft.com/office/drawing/2014/main" id="{22ED29A7-39F7-6678-ED5C-1BFC1DE83DE3}"/>
              </a:ext>
            </a:extLst>
          </p:cNvPr>
          <p:cNvSpPr>
            <a:spLocks noGrp="1"/>
          </p:cNvSpPr>
          <p:nvPr>
            <p:ph type="sldNum" sz="quarter" idx="16"/>
          </p:nvPr>
        </p:nvSpPr>
        <p:spPr/>
        <p:txBody>
          <a:bodyPr/>
          <a:lstStyle/>
          <a:p>
            <a:fld id="{D701140D-C14F-41CA-99FC-0EF83E8DA40A}" type="slidenum">
              <a:rPr lang="fi-FI" smtClean="0"/>
              <a:pPr/>
              <a:t>‹#›</a:t>
            </a:fld>
            <a:endParaRPr lang="fi-FI"/>
          </a:p>
        </p:txBody>
      </p:sp>
      <p:sp>
        <p:nvSpPr>
          <p:cNvPr id="7" name="TextBox 6">
            <a:extLst>
              <a:ext uri="{FF2B5EF4-FFF2-40B4-BE49-F238E27FC236}">
                <a16:creationId xmlns:a16="http://schemas.microsoft.com/office/drawing/2014/main" id="{A2C0BA38-FC88-57DB-9D5F-17BBFA1AD9C4}"/>
              </a:ext>
            </a:extLst>
          </p:cNvPr>
          <p:cNvSpPr txBox="1"/>
          <p:nvPr/>
        </p:nvSpPr>
        <p:spPr>
          <a:xfrm>
            <a:off x="6456040" y="2249172"/>
            <a:ext cx="1512168" cy="504000"/>
          </a:xfrm>
          <a:prstGeom prst="rect">
            <a:avLst/>
          </a:prstGeom>
          <a:noFill/>
        </p:spPr>
        <p:txBody>
          <a:bodyPr wrap="none" lIns="0" tIns="0" rIns="0" bIns="0" rtlCol="0" anchor="b" anchorCtr="0">
            <a:noAutofit/>
          </a:bodyPr>
          <a:lstStyle/>
          <a:p>
            <a:pPr algn="l"/>
            <a:r>
              <a:rPr lang="en-US" sz="3200">
                <a:latin typeface="+mj-lt"/>
              </a:rPr>
              <a:t>Kiitos</a:t>
            </a:r>
          </a:p>
        </p:txBody>
      </p:sp>
      <p:sp>
        <p:nvSpPr>
          <p:cNvPr id="8" name="TextBox 7">
            <a:hlinkClick r:id="rId2"/>
            <a:extLst>
              <a:ext uri="{FF2B5EF4-FFF2-40B4-BE49-F238E27FC236}">
                <a16:creationId xmlns:a16="http://schemas.microsoft.com/office/drawing/2014/main" id="{ED4DAA49-5117-79E7-369F-3E00EDCAAED8}"/>
              </a:ext>
            </a:extLst>
          </p:cNvPr>
          <p:cNvSpPr txBox="1"/>
          <p:nvPr/>
        </p:nvSpPr>
        <p:spPr>
          <a:xfrm>
            <a:off x="6456040" y="2769778"/>
            <a:ext cx="1438214" cy="443198"/>
          </a:xfrm>
          <a:prstGeom prst="rect">
            <a:avLst/>
          </a:prstGeom>
        </p:spPr>
        <p:txBody>
          <a:bodyPr vert="horz" wrap="square" lIns="0" tIns="0" rIns="0" bIns="0" rtlCol="0" anchor="t" anchorCtr="0">
            <a:spAutoFit/>
          </a:bodyPr>
          <a:lstStyle>
            <a:lvl1pPr lvl="0" indent="0">
              <a:lnSpc>
                <a:spcPct val="90000"/>
              </a:lnSpc>
              <a:spcBef>
                <a:spcPts val="800"/>
              </a:spcBef>
              <a:buFontTx/>
              <a:buNone/>
              <a:defRPr sz="3000" b="1" spc="-50" baseline="0">
                <a:latin typeface="+mj-lt"/>
              </a:defRPr>
            </a:lvl1pPr>
            <a:lvl2pPr marL="266700" indent="-266700">
              <a:lnSpc>
                <a:spcPct val="100000"/>
              </a:lnSpc>
              <a:spcBef>
                <a:spcPts val="800"/>
              </a:spcBef>
              <a:buFont typeface="Arial" panose="020B0604020202020204" pitchFamily="34" charset="0"/>
              <a:buChar char="•"/>
              <a:defRPr sz="2000"/>
            </a:lvl2pPr>
            <a:lvl3pPr marL="542925" indent="-276225">
              <a:lnSpc>
                <a:spcPct val="100000"/>
              </a:lnSpc>
              <a:spcBef>
                <a:spcPts val="800"/>
              </a:spcBef>
              <a:buFont typeface="Arial" panose="020B0604020202020204" pitchFamily="34" charset="0"/>
              <a:buChar char="•"/>
            </a:lvl3pPr>
            <a:lvl4pPr marL="809625" indent="-266700">
              <a:lnSpc>
                <a:spcPct val="100000"/>
              </a:lnSpc>
              <a:spcBef>
                <a:spcPts val="800"/>
              </a:spcBef>
              <a:buFont typeface="Arial" panose="020B0604020202020204" pitchFamily="34" charset="0"/>
              <a:buChar char="•"/>
            </a:lvl4pPr>
            <a:lvl5pPr marL="1076325" indent="-266700">
              <a:lnSpc>
                <a:spcPct val="100000"/>
              </a:lnSpc>
              <a:spcBef>
                <a:spcPts val="800"/>
              </a:spcBef>
              <a:buFont typeface="Arial" panose="020B0604020202020204" pitchFamily="34" charset="0"/>
              <a:buChar char="•"/>
            </a:lvl5pPr>
            <a:lvl6pPr marL="1343025" indent="-266700">
              <a:lnSpc>
                <a:spcPct val="100000"/>
              </a:lnSpc>
              <a:spcBef>
                <a:spcPts val="800"/>
              </a:spcBef>
              <a:buFont typeface="Arial" panose="020B0604020202020204" pitchFamily="34" charset="0"/>
              <a:buChar char="•"/>
            </a:lvl6pPr>
            <a:lvl7pPr marL="1619250" indent="-276225">
              <a:lnSpc>
                <a:spcPct val="100000"/>
              </a:lnSpc>
              <a:spcBef>
                <a:spcPts val="800"/>
              </a:spcBef>
              <a:buFont typeface="Arial" panose="020B0604020202020204" pitchFamily="34" charset="0"/>
              <a:buChar char="•"/>
            </a:lvl7pPr>
            <a:lvl8pPr marL="1885950" indent="-266700">
              <a:lnSpc>
                <a:spcPct val="100000"/>
              </a:lnSpc>
              <a:spcBef>
                <a:spcPts val="800"/>
              </a:spcBef>
              <a:buFont typeface="Arial" panose="020B0604020202020204" pitchFamily="34" charset="0"/>
              <a:buChar char="•"/>
            </a:lvl8pPr>
            <a:lvl9pPr marL="2152650" indent="-266700">
              <a:lnSpc>
                <a:spcPct val="100000"/>
              </a:lnSpc>
              <a:spcBef>
                <a:spcPts val="800"/>
              </a:spcBef>
              <a:buFont typeface="Arial" panose="020B0604020202020204" pitchFamily="34" charset="0"/>
              <a:buChar char="•"/>
            </a:lvl9pPr>
          </a:lstStyle>
          <a:p>
            <a:pPr lvl="0"/>
            <a:r>
              <a:rPr lang="en-GB" sz="3200"/>
              <a:t>aalto.fi</a:t>
            </a:r>
          </a:p>
        </p:txBody>
      </p:sp>
      <p:cxnSp>
        <p:nvCxnSpPr>
          <p:cNvPr id="9" name="Straight Connector 8">
            <a:extLst>
              <a:ext uri="{FF2B5EF4-FFF2-40B4-BE49-F238E27FC236}">
                <a16:creationId xmlns:a16="http://schemas.microsoft.com/office/drawing/2014/main" id="{83DCA95A-EFB3-A3D7-88E6-2D13DAC91375}"/>
              </a:ext>
            </a:extLst>
          </p:cNvPr>
          <p:cNvCxnSpPr>
            <a:cxnSpLocks/>
          </p:cNvCxnSpPr>
          <p:nvPr/>
        </p:nvCxnSpPr>
        <p:spPr>
          <a:xfrm>
            <a:off x="6448576" y="200486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050793"/>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image" Target="../media/image1.png"/><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theme" Target="../theme/theme2.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Layout" Target="../slideLayouts/slideLayout63.xml"/><Relationship Id="rId3" Type="http://schemas.openxmlformats.org/officeDocument/2006/relationships/slideLayout" Target="../slideLayouts/slideLayout48.xml"/><Relationship Id="rId21" Type="http://schemas.openxmlformats.org/officeDocument/2006/relationships/slideLayout" Target="../slideLayouts/slideLayout66.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image" Target="../media/image1.png"/><Relationship Id="rId10" Type="http://schemas.openxmlformats.org/officeDocument/2006/relationships/slideLayout" Target="../slideLayouts/slideLayout55.xml"/><Relationship Id="rId19" Type="http://schemas.openxmlformats.org/officeDocument/2006/relationships/slideLayout" Target="../slideLayouts/slideLayout64.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image" Target="../media/image1.png"/><Relationship Id="rId5" Type="http://schemas.openxmlformats.org/officeDocument/2006/relationships/slideLayout" Target="../slideLayouts/slideLayout71.xml"/><Relationship Id="rId10" Type="http://schemas.openxmlformats.org/officeDocument/2006/relationships/theme" Target="../theme/theme4.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slideLayout" Target="../slideLayouts/slideLayout93.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0" Type="http://schemas.openxmlformats.org/officeDocument/2006/relationships/image" Target="../media/image1.png"/><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10" Type="http://schemas.openxmlformats.org/officeDocument/2006/relationships/slideLayout" Target="../slideLayouts/slideLayout85.xml"/><Relationship Id="rId19" Type="http://schemas.openxmlformats.org/officeDocument/2006/relationships/theme" Target="../theme/theme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1.xml"/><Relationship Id="rId13" Type="http://schemas.openxmlformats.org/officeDocument/2006/relationships/slideLayout" Target="../slideLayouts/slideLayout106.xml"/><Relationship Id="rId18" Type="http://schemas.openxmlformats.org/officeDocument/2006/relationships/slideLayout" Target="../slideLayouts/slideLayout111.xml"/><Relationship Id="rId3" Type="http://schemas.openxmlformats.org/officeDocument/2006/relationships/slideLayout" Target="../slideLayouts/slideLayout96.xml"/><Relationship Id="rId21" Type="http://schemas.openxmlformats.org/officeDocument/2006/relationships/slideLayout" Target="../slideLayouts/slideLayout114.xml"/><Relationship Id="rId7" Type="http://schemas.openxmlformats.org/officeDocument/2006/relationships/slideLayout" Target="../slideLayouts/slideLayout100.xml"/><Relationship Id="rId12" Type="http://schemas.openxmlformats.org/officeDocument/2006/relationships/slideLayout" Target="../slideLayouts/slideLayout105.xml"/><Relationship Id="rId17" Type="http://schemas.openxmlformats.org/officeDocument/2006/relationships/slideLayout" Target="../slideLayouts/slideLayout110.xml"/><Relationship Id="rId2" Type="http://schemas.openxmlformats.org/officeDocument/2006/relationships/slideLayout" Target="../slideLayouts/slideLayout95.xml"/><Relationship Id="rId16" Type="http://schemas.openxmlformats.org/officeDocument/2006/relationships/slideLayout" Target="../slideLayouts/slideLayout109.xml"/><Relationship Id="rId20" Type="http://schemas.openxmlformats.org/officeDocument/2006/relationships/slideLayout" Target="../slideLayouts/slideLayout113.xml"/><Relationship Id="rId1" Type="http://schemas.openxmlformats.org/officeDocument/2006/relationships/slideLayout" Target="../slideLayouts/slideLayout94.xml"/><Relationship Id="rId6" Type="http://schemas.openxmlformats.org/officeDocument/2006/relationships/slideLayout" Target="../slideLayouts/slideLayout99.xml"/><Relationship Id="rId11" Type="http://schemas.openxmlformats.org/officeDocument/2006/relationships/slideLayout" Target="../slideLayouts/slideLayout104.xml"/><Relationship Id="rId5" Type="http://schemas.openxmlformats.org/officeDocument/2006/relationships/slideLayout" Target="../slideLayouts/slideLayout98.xml"/><Relationship Id="rId15" Type="http://schemas.openxmlformats.org/officeDocument/2006/relationships/slideLayout" Target="../slideLayouts/slideLayout108.xml"/><Relationship Id="rId23" Type="http://schemas.openxmlformats.org/officeDocument/2006/relationships/image" Target="../media/image1.png"/><Relationship Id="rId10" Type="http://schemas.openxmlformats.org/officeDocument/2006/relationships/slideLayout" Target="../slideLayouts/slideLayout103.xml"/><Relationship Id="rId19" Type="http://schemas.openxmlformats.org/officeDocument/2006/relationships/slideLayout" Target="../slideLayouts/slideLayout112.xml"/><Relationship Id="rId4" Type="http://schemas.openxmlformats.org/officeDocument/2006/relationships/slideLayout" Target="../slideLayouts/slideLayout97.xml"/><Relationship Id="rId9" Type="http://schemas.openxmlformats.org/officeDocument/2006/relationships/slideLayout" Target="../slideLayouts/slideLayout102.xml"/><Relationship Id="rId14" Type="http://schemas.openxmlformats.org/officeDocument/2006/relationships/slideLayout" Target="../slideLayouts/slideLayout107.xml"/><Relationship Id="rId2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117.xml"/><Relationship Id="rId7" Type="http://schemas.openxmlformats.org/officeDocument/2006/relationships/image" Target="../media/image1.png"/><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theme" Target="../theme/theme7.xml"/><Relationship Id="rId5" Type="http://schemas.openxmlformats.org/officeDocument/2006/relationships/slideLayout" Target="../slideLayouts/slideLayout119.xml"/><Relationship Id="rId4" Type="http://schemas.openxmlformats.org/officeDocument/2006/relationships/slideLayout" Target="../slideLayouts/slideLayout11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27.xml"/><Relationship Id="rId13" Type="http://schemas.openxmlformats.org/officeDocument/2006/relationships/slideLayout" Target="../slideLayouts/slideLayout132.xml"/><Relationship Id="rId18" Type="http://schemas.openxmlformats.org/officeDocument/2006/relationships/slideLayout" Target="../slideLayouts/slideLayout137.xml"/><Relationship Id="rId3" Type="http://schemas.openxmlformats.org/officeDocument/2006/relationships/slideLayout" Target="../slideLayouts/slideLayout122.xml"/><Relationship Id="rId7" Type="http://schemas.openxmlformats.org/officeDocument/2006/relationships/slideLayout" Target="../slideLayouts/slideLayout126.xml"/><Relationship Id="rId12" Type="http://schemas.openxmlformats.org/officeDocument/2006/relationships/slideLayout" Target="../slideLayouts/slideLayout131.xml"/><Relationship Id="rId17" Type="http://schemas.openxmlformats.org/officeDocument/2006/relationships/slideLayout" Target="../slideLayouts/slideLayout136.xml"/><Relationship Id="rId2" Type="http://schemas.openxmlformats.org/officeDocument/2006/relationships/slideLayout" Target="../slideLayouts/slideLayout121.xml"/><Relationship Id="rId16" Type="http://schemas.openxmlformats.org/officeDocument/2006/relationships/slideLayout" Target="../slideLayouts/slideLayout135.xml"/><Relationship Id="rId20" Type="http://schemas.openxmlformats.org/officeDocument/2006/relationships/image" Target="../media/image1.png"/><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5" Type="http://schemas.openxmlformats.org/officeDocument/2006/relationships/slideLayout" Target="../slideLayouts/slideLayout124.xml"/><Relationship Id="rId15" Type="http://schemas.openxmlformats.org/officeDocument/2006/relationships/slideLayout" Target="../slideLayouts/slideLayout134.xml"/><Relationship Id="rId10" Type="http://schemas.openxmlformats.org/officeDocument/2006/relationships/slideLayout" Target="../slideLayouts/slideLayout129.xml"/><Relationship Id="rId19" Type="http://schemas.openxmlformats.org/officeDocument/2006/relationships/theme" Target="../theme/theme8.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14" Type="http://schemas.openxmlformats.org/officeDocument/2006/relationships/slideLayout" Target="../slideLayouts/slideLayout13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45.xml"/><Relationship Id="rId3" Type="http://schemas.openxmlformats.org/officeDocument/2006/relationships/slideLayout" Target="../slideLayouts/slideLayout140.xml"/><Relationship Id="rId7" Type="http://schemas.openxmlformats.org/officeDocument/2006/relationships/slideLayout" Target="../slideLayouts/slideLayout144.xml"/><Relationship Id="rId2" Type="http://schemas.openxmlformats.org/officeDocument/2006/relationships/slideLayout" Target="../slideLayouts/slideLayout139.xml"/><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image" Target="../media/image1.png"/><Relationship Id="rId5" Type="http://schemas.openxmlformats.org/officeDocument/2006/relationships/slideLayout" Target="../slideLayouts/slideLayout142.xml"/><Relationship Id="rId10" Type="http://schemas.openxmlformats.org/officeDocument/2006/relationships/theme" Target="../theme/theme9.xml"/><Relationship Id="rId4" Type="http://schemas.openxmlformats.org/officeDocument/2006/relationships/slideLayout" Target="../slideLayouts/slideLayout141.xml"/><Relationship Id="rId9" Type="http://schemas.openxmlformats.org/officeDocument/2006/relationships/slideLayout" Target="../slideLayouts/slideLayout146.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149.xml"/><Relationship Id="rId2" Type="http://schemas.openxmlformats.org/officeDocument/2006/relationships/slideLayout" Target="../slideLayouts/slideLayout148.xml"/><Relationship Id="rId1" Type="http://schemas.openxmlformats.org/officeDocument/2006/relationships/slideLayout" Target="../slideLayouts/slideLayout147.xml"/><Relationship Id="rId6" Type="http://schemas.openxmlformats.org/officeDocument/2006/relationships/image" Target="../media/image1.png"/><Relationship Id="rId5" Type="http://schemas.openxmlformats.org/officeDocument/2006/relationships/theme" Target="../theme/theme10.xml"/><Relationship Id="rId4" Type="http://schemas.openxmlformats.org/officeDocument/2006/relationships/slideLayout" Target="../slideLayouts/slideLayout1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28.04.2026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6562807"/>
      </p:ext>
    </p:extLst>
  </p:cSld>
  <p:clrMap bg1="lt1" tx1="dk1" bg2="lt2" tx2="dk2" accent1="accent1" accent2="accent2" accent3="accent3" accent4="accent4" accent5="accent5" accent6="accent6" hlink="hlink" folHlink="folHlink"/>
  <p:sldLayoutIdLst>
    <p:sldLayoutId id="2147484140" r:id="rId1"/>
    <p:sldLayoutId id="2147484141" r:id="rId2"/>
    <p:sldLayoutId id="2147484142" r:id="rId3"/>
    <p:sldLayoutId id="2147484143" r:id="rId4"/>
    <p:sldLayoutId id="2147484144" r:id="rId5"/>
    <p:sldLayoutId id="2147484145" r:id="rId6"/>
    <p:sldLayoutId id="2147484146" r:id="rId7"/>
    <p:sldLayoutId id="2147484147" r:id="rId8"/>
    <p:sldLayoutId id="2147484148" r:id="rId9"/>
    <p:sldLayoutId id="2147484149" r:id="rId10"/>
    <p:sldLayoutId id="2147484150" r:id="rId11"/>
    <p:sldLayoutId id="2147484151" r:id="rId12"/>
    <p:sldLayoutId id="2147484152" r:id="rId13"/>
    <p:sldLayoutId id="2147484153" r:id="rId14"/>
    <p:sldLayoutId id="2147484154" r:id="rId15"/>
    <p:sldLayoutId id="2147484155" r:id="rId16"/>
    <p:sldLayoutId id="2147484156" r:id="rId17"/>
    <p:sldLayoutId id="2147484157" r:id="rId18"/>
    <p:sldLayoutId id="2147484158" r:id="rId19"/>
    <p:sldLayoutId id="2147484159" r:id="rId20"/>
    <p:sldLayoutId id="2147484160" r:id="rId21"/>
    <p:sldLayoutId id="2147484161" r:id="rId22"/>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GB"/>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28.04.2026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131640"/>
      </p:ext>
    </p:extLst>
  </p:cSld>
  <p:clrMap bg1="lt1" tx1="dk1" bg2="lt2" tx2="dk2" accent1="accent1" accent2="accent2" accent3="accent3" accent4="accent4" accent5="accent5" accent6="accent6" hlink="hlink" folHlink="folHlink"/>
  <p:sldLayoutIdLst>
    <p:sldLayoutId id="2147484083" r:id="rId1"/>
    <p:sldLayoutId id="2147484084" r:id="rId2"/>
    <p:sldLayoutId id="2147484085" r:id="rId3"/>
    <p:sldLayoutId id="2147484086" r:id="rId4"/>
    <p:sldLayoutId id="2147484087" r:id="rId5"/>
    <p:sldLayoutId id="2147484088" r:id="rId6"/>
    <p:sldLayoutId id="2147484089" r:id="rId7"/>
    <p:sldLayoutId id="2147484090" r:id="rId8"/>
    <p:sldLayoutId id="2147484091" r:id="rId9"/>
    <p:sldLayoutId id="2147484092" r:id="rId10"/>
    <p:sldLayoutId id="2147484093" r:id="rId11"/>
    <p:sldLayoutId id="2147484094" r:id="rId12"/>
    <p:sldLayoutId id="2147484095" r:id="rId13"/>
    <p:sldLayoutId id="2147484096" r:id="rId14"/>
    <p:sldLayoutId id="2147484097" r:id="rId15"/>
    <p:sldLayoutId id="2147484098" r:id="rId16"/>
    <p:sldLayoutId id="2147484099" r:id="rId17"/>
    <p:sldLayoutId id="2147484100" r:id="rId18"/>
    <p:sldLayoutId id="2147484101" r:id="rId19"/>
    <p:sldLayoutId id="2147484102" r:id="rId20"/>
    <p:sldLayoutId id="2147484103" r:id="rId21"/>
    <p:sldLayoutId id="2147484104" r:id="rId22"/>
    <p:sldLayoutId id="2147484105" r:id="rId23"/>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28.04.2026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964341"/>
      </p:ext>
    </p:extLst>
  </p:cSld>
  <p:clrMap bg1="lt1" tx1="dk1" bg2="lt2" tx2="dk2" accent1="accent1" accent2="accent2" accent3="accent3" accent4="accent4" accent5="accent5" accent6="accent6" hlink="hlink" folHlink="folHlink"/>
  <p:sldLayoutIdLst>
    <p:sldLayoutId id="2147484107" r:id="rId1"/>
    <p:sldLayoutId id="2147484108" r:id="rId2"/>
    <p:sldLayoutId id="2147484109" r:id="rId3"/>
    <p:sldLayoutId id="2147484110" r:id="rId4"/>
    <p:sldLayoutId id="2147484111" r:id="rId5"/>
    <p:sldLayoutId id="2147484112" r:id="rId6"/>
    <p:sldLayoutId id="2147484113" r:id="rId7"/>
    <p:sldLayoutId id="2147484114" r:id="rId8"/>
    <p:sldLayoutId id="2147484115" r:id="rId9"/>
    <p:sldLayoutId id="2147484116" r:id="rId10"/>
    <p:sldLayoutId id="2147484117" r:id="rId11"/>
    <p:sldLayoutId id="2147484118" r:id="rId12"/>
    <p:sldLayoutId id="2147484119" r:id="rId13"/>
    <p:sldLayoutId id="2147484120" r:id="rId14"/>
    <p:sldLayoutId id="2147484121" r:id="rId15"/>
    <p:sldLayoutId id="2147484122" r:id="rId16"/>
    <p:sldLayoutId id="2147484123" r:id="rId17"/>
    <p:sldLayoutId id="2147484124" r:id="rId18"/>
    <p:sldLayoutId id="2147484125" r:id="rId19"/>
    <p:sldLayoutId id="2147484126" r:id="rId20"/>
    <p:sldLayoutId id="2147484134" r:id="rId21"/>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28.04.2026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 uri="{C183D7F6-B498-43B3-948B-1728B52AA6E4}">
                <adec:decorative xmlns:adec="http://schemas.microsoft.com/office/drawing/2017/decorative" val="1"/>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0256219"/>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5" r:id="rId6"/>
    <p:sldLayoutId id="2147484136" r:id="rId7"/>
    <p:sldLayoutId id="2147484137" r:id="rId8"/>
    <p:sldLayoutId id="2147484138" r:id="rId9"/>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28.04.2026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129922"/>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4068" r:id="rId7"/>
    <p:sldLayoutId id="2147484069" r:id="rId8"/>
    <p:sldLayoutId id="2147483898" r:id="rId9"/>
    <p:sldLayoutId id="2147483899" r:id="rId10"/>
    <p:sldLayoutId id="2147483900" r:id="rId11"/>
    <p:sldLayoutId id="2147483901" r:id="rId12"/>
    <p:sldLayoutId id="2147483902" r:id="rId13"/>
    <p:sldLayoutId id="2147483903" r:id="rId14"/>
    <p:sldLayoutId id="2147483904" r:id="rId15"/>
    <p:sldLayoutId id="2147483905" r:id="rId16"/>
    <p:sldLayoutId id="2147483906" r:id="rId17"/>
    <p:sldLayoutId id="2147483907" r:id="rId18"/>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28.04.2026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713417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5" r:id="rId11"/>
    <p:sldLayoutId id="2147483786" r:id="rId12"/>
    <p:sldLayoutId id="2147483787" r:id="rId13"/>
    <p:sldLayoutId id="2147483788" r:id="rId14"/>
    <p:sldLayoutId id="2147483789" r:id="rId15"/>
    <p:sldLayoutId id="2147483790" r:id="rId16"/>
    <p:sldLayoutId id="2147483791" r:id="rId17"/>
    <p:sldLayoutId id="2147483792" r:id="rId18"/>
    <p:sldLayoutId id="2147483793" r:id="rId19"/>
    <p:sldLayoutId id="2147484081" r:id="rId20"/>
    <p:sldLayoutId id="2147483794" r:id="rId21"/>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28.04.2026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709803"/>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28.04.2026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7195271"/>
      </p:ext>
    </p:extLst>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 id="2147483998" r:id="rId12"/>
    <p:sldLayoutId id="2147483999" r:id="rId13"/>
    <p:sldLayoutId id="2147484000" r:id="rId14"/>
    <p:sldLayoutId id="2147484001" r:id="rId15"/>
    <p:sldLayoutId id="2147484079" r:id="rId16"/>
    <p:sldLayoutId id="2147484080" r:id="rId17"/>
    <p:sldLayoutId id="2147484162" r:id="rId18"/>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28.04.2026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623492"/>
      </p:ext>
    </p:extLst>
  </p:cSld>
  <p:clrMap bg1="lt1" tx1="dk1" bg2="lt2" tx2="dk2" accent1="accent1" accent2="accent2" accent3="accent3" accent4="accent4" accent5="accent5" accent6="accent6" hlink="hlink" folHlink="folHlink"/>
  <p:sldLayoutIdLst>
    <p:sldLayoutId id="2147484044" r:id="rId1"/>
    <p:sldLayoutId id="2147484071" r:id="rId2"/>
    <p:sldLayoutId id="2147484072" r:id="rId3"/>
    <p:sldLayoutId id="2147484073" r:id="rId4"/>
    <p:sldLayoutId id="2147484074" r:id="rId5"/>
    <p:sldLayoutId id="2147484064" r:id="rId6"/>
    <p:sldLayoutId id="2147484065" r:id="rId7"/>
    <p:sldLayoutId id="2147484066" r:id="rId8"/>
    <p:sldLayoutId id="2147484067" r:id="rId9"/>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65E8D-F825-584D-D6FB-F8C43CA5290B}"/>
              </a:ext>
            </a:extLst>
          </p:cNvPr>
          <p:cNvSpPr>
            <a:spLocks noGrp="1"/>
          </p:cNvSpPr>
          <p:nvPr>
            <p:ph type="title"/>
          </p:nvPr>
        </p:nvSpPr>
        <p:spPr>
          <a:xfrm>
            <a:off x="407987" y="404813"/>
            <a:ext cx="11376026" cy="1079971"/>
          </a:xfrm>
          <a:prstGeom prst="rect">
            <a:avLst/>
          </a:prstGeom>
        </p:spPr>
        <p:txBody>
          <a:bodyPr vert="horz" lIns="0" tIns="0" rIns="0" bIns="0" rtlCol="0" anchor="t" anchorCtr="0">
            <a:noAutofit/>
          </a:bodyPr>
          <a:lstStyle/>
          <a:p>
            <a:r>
              <a:rPr lang="en-US"/>
              <a:t>Click to edit Master title style</a:t>
            </a:r>
            <a:endParaRPr lang="fi-FI"/>
          </a:p>
        </p:txBody>
      </p:sp>
      <p:sp>
        <p:nvSpPr>
          <p:cNvPr id="3" name="Text Placeholder 2">
            <a:extLst>
              <a:ext uri="{FF2B5EF4-FFF2-40B4-BE49-F238E27FC236}">
                <a16:creationId xmlns:a16="http://schemas.microsoft.com/office/drawing/2014/main" id="{E0D11FC7-EFA2-69A1-189F-7A86286A46CC}"/>
              </a:ext>
            </a:extLst>
          </p:cNvPr>
          <p:cNvSpPr>
            <a:spLocks noGrp="1"/>
          </p:cNvSpPr>
          <p:nvPr>
            <p:ph type="body" idx="1"/>
          </p:nvPr>
        </p:nvSpPr>
        <p:spPr>
          <a:xfrm>
            <a:off x="407988" y="1844675"/>
            <a:ext cx="11376025" cy="40322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fi-FI"/>
          </a:p>
        </p:txBody>
      </p:sp>
      <p:sp>
        <p:nvSpPr>
          <p:cNvPr id="4" name="Date Placeholder 3">
            <a:extLst>
              <a:ext uri="{FF2B5EF4-FFF2-40B4-BE49-F238E27FC236}">
                <a16:creationId xmlns:a16="http://schemas.microsoft.com/office/drawing/2014/main" id="{743F7BF6-AD90-C909-77AF-27B553EAE67B}"/>
              </a:ext>
            </a:extLst>
          </p:cNvPr>
          <p:cNvSpPr>
            <a:spLocks noGrp="1"/>
          </p:cNvSpPr>
          <p:nvPr>
            <p:ph type="dt" sz="half" idx="2"/>
          </p:nvPr>
        </p:nvSpPr>
        <p:spPr>
          <a:xfrm>
            <a:off x="10200456" y="6309320"/>
            <a:ext cx="1152128" cy="143868"/>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fi-FI"/>
              <a:t>28.04.2026</a:t>
            </a:r>
          </a:p>
        </p:txBody>
      </p:sp>
      <p:sp>
        <p:nvSpPr>
          <p:cNvPr id="5" name="Footer Placeholder 4">
            <a:extLst>
              <a:ext uri="{FF2B5EF4-FFF2-40B4-BE49-F238E27FC236}">
                <a16:creationId xmlns:a16="http://schemas.microsoft.com/office/drawing/2014/main" id="{0F3C740A-22EB-F160-0AF7-8861ADCEA482}"/>
              </a:ext>
            </a:extLst>
          </p:cNvPr>
          <p:cNvSpPr>
            <a:spLocks noGrp="1"/>
          </p:cNvSpPr>
          <p:nvPr>
            <p:ph type="ftr" sz="quarter" idx="3"/>
          </p:nvPr>
        </p:nvSpPr>
        <p:spPr>
          <a:xfrm>
            <a:off x="1271464" y="6309320"/>
            <a:ext cx="8928992" cy="143869"/>
          </a:xfrm>
          <a:prstGeom prst="rect">
            <a:avLst/>
          </a:prstGeom>
        </p:spPr>
        <p:txBody>
          <a:bodyPr vert="horz" lIns="0" tIns="0" rIns="0" bIns="0" rtlCol="0" anchor="ctr" anchorCtr="0">
            <a:noAutofit/>
          </a:bodyPr>
          <a:lstStyle>
            <a:lvl1pPr algn="r">
              <a:defRPr sz="800">
                <a:solidFill>
                  <a:schemeClr val="tx1"/>
                </a:solidFill>
                <a:latin typeface="+mj-lt"/>
              </a:defRPr>
            </a:lvl1p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AFE010D8-B221-F972-68C1-3E01629A88DB}"/>
              </a:ext>
            </a:extLst>
          </p:cNvPr>
          <p:cNvSpPr>
            <a:spLocks noGrp="1"/>
          </p:cNvSpPr>
          <p:nvPr>
            <p:ph type="sldNum" sz="quarter" idx="4"/>
          </p:nvPr>
        </p:nvSpPr>
        <p:spPr>
          <a:xfrm>
            <a:off x="11352584" y="6309320"/>
            <a:ext cx="431428" cy="143869"/>
          </a:xfrm>
          <a:prstGeom prst="rect">
            <a:avLst/>
          </a:prstGeom>
        </p:spPr>
        <p:txBody>
          <a:bodyPr vert="horz" lIns="0" tIns="0" rIns="0" bIns="0" rtlCol="0" anchor="ctr" anchorCtr="0">
            <a:noAutofit/>
          </a:bodyPr>
          <a:lstStyle>
            <a:lvl1pPr algn="r">
              <a:defRPr sz="800" b="1">
                <a:solidFill>
                  <a:schemeClr val="tx1"/>
                </a:solidFill>
                <a:latin typeface="+mj-lt"/>
              </a:defRPr>
            </a:lvl1pPr>
          </a:lstStyle>
          <a:p>
            <a:fld id="{D701140D-C14F-41CA-99FC-0EF83E8DA40A}" type="slidenum">
              <a:rPr lang="fi-FI" smtClean="0"/>
              <a:pPr/>
              <a:t>‹#›</a:t>
            </a:fld>
            <a:endParaRPr lang="fi-FI"/>
          </a:p>
        </p:txBody>
      </p:sp>
      <p:sp>
        <p:nvSpPr>
          <p:cNvPr id="13" name="Freeform 5">
            <a:extLst>
              <a:ext uri="{FF2B5EF4-FFF2-40B4-BE49-F238E27FC236}">
                <a16:creationId xmlns:a16="http://schemas.microsoft.com/office/drawing/2014/main" id="{5C5E2C33-AA03-78AB-8665-63E23F2C35E4}"/>
              </a:ext>
            </a:extLst>
          </p:cNvPr>
          <p:cNvSpPr>
            <a:spLocks noChangeAspect="1" noEditPoints="1"/>
          </p:cNvSpPr>
          <p:nvPr/>
        </p:nvSpPr>
        <p:spPr bwMode="auto">
          <a:xfrm>
            <a:off x="407988" y="6165304"/>
            <a:ext cx="385958" cy="288000"/>
          </a:xfrm>
          <a:custGeom>
            <a:avLst/>
            <a:gdLst>
              <a:gd name="T0" fmla="*/ 1576 w 1576"/>
              <a:gd name="T1" fmla="*/ 408 h 1176"/>
              <a:gd name="T2" fmla="*/ 1507 w 1576"/>
              <a:gd name="T3" fmla="*/ 815 h 1176"/>
              <a:gd name="T4" fmla="*/ 1350 w 1576"/>
              <a:gd name="T5" fmla="*/ 815 h 1176"/>
              <a:gd name="T6" fmla="*/ 1293 w 1576"/>
              <a:gd name="T7" fmla="*/ 408 h 1176"/>
              <a:gd name="T8" fmla="*/ 1293 w 1576"/>
              <a:gd name="T9" fmla="*/ 0 h 1176"/>
              <a:gd name="T10" fmla="*/ 1576 w 1576"/>
              <a:gd name="T11" fmla="*/ 0 h 1176"/>
              <a:gd name="T12" fmla="*/ 1576 w 1576"/>
              <a:gd name="T13" fmla="*/ 408 h 1176"/>
              <a:gd name="T14" fmla="*/ 740 w 1576"/>
              <a:gd name="T15" fmla="*/ 733 h 1176"/>
              <a:gd name="T16" fmla="*/ 595 w 1576"/>
              <a:gd name="T17" fmla="*/ 315 h 1176"/>
              <a:gd name="T18" fmla="*/ 450 w 1576"/>
              <a:gd name="T19" fmla="*/ 733 h 1176"/>
              <a:gd name="T20" fmla="*/ 740 w 1576"/>
              <a:gd name="T21" fmla="*/ 733 h 1176"/>
              <a:gd name="T22" fmla="*/ 1190 w 1576"/>
              <a:gd name="T23" fmla="*/ 1176 h 1176"/>
              <a:gd name="T24" fmla="*/ 893 w 1576"/>
              <a:gd name="T25" fmla="*/ 1176 h 1176"/>
              <a:gd name="T26" fmla="*/ 822 w 1576"/>
              <a:gd name="T27" fmla="*/ 968 h 1176"/>
              <a:gd name="T28" fmla="*/ 368 w 1576"/>
              <a:gd name="T29" fmla="*/ 968 h 1176"/>
              <a:gd name="T30" fmla="*/ 296 w 1576"/>
              <a:gd name="T31" fmla="*/ 1176 h 1176"/>
              <a:gd name="T32" fmla="*/ 0 w 1576"/>
              <a:gd name="T33" fmla="*/ 1176 h 1176"/>
              <a:gd name="T34" fmla="*/ 209 w 1576"/>
              <a:gd name="T35" fmla="*/ 588 h 1176"/>
              <a:gd name="T36" fmla="*/ 418 w 1576"/>
              <a:gd name="T37" fmla="*/ 0 h 1176"/>
              <a:gd name="T38" fmla="*/ 773 w 1576"/>
              <a:gd name="T39" fmla="*/ 0 h 1176"/>
              <a:gd name="T40" fmla="*/ 981 w 1576"/>
              <a:gd name="T41" fmla="*/ 588 h 1176"/>
              <a:gd name="T42" fmla="*/ 1190 w 1576"/>
              <a:gd name="T43" fmla="*/ 1176 h 1176"/>
              <a:gd name="T44" fmla="*/ 1301 w 1576"/>
              <a:gd name="T45" fmla="*/ 1176 h 1176"/>
              <a:gd name="T46" fmla="*/ 1301 w 1576"/>
              <a:gd name="T47" fmla="*/ 910 h 1176"/>
              <a:gd name="T48" fmla="*/ 1568 w 1576"/>
              <a:gd name="T49" fmla="*/ 910 h 1176"/>
              <a:gd name="T50" fmla="*/ 1568 w 1576"/>
              <a:gd name="T51" fmla="*/ 1176 h 1176"/>
              <a:gd name="T52" fmla="*/ 1301 w 1576"/>
              <a:gd name="T53" fmla="*/ 1176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6" h="1176">
                <a:moveTo>
                  <a:pt x="1576" y="408"/>
                </a:moveTo>
                <a:lnTo>
                  <a:pt x="1507" y="815"/>
                </a:lnTo>
                <a:lnTo>
                  <a:pt x="1350" y="815"/>
                </a:lnTo>
                <a:lnTo>
                  <a:pt x="1293" y="408"/>
                </a:lnTo>
                <a:lnTo>
                  <a:pt x="1293" y="0"/>
                </a:lnTo>
                <a:lnTo>
                  <a:pt x="1576" y="0"/>
                </a:lnTo>
                <a:lnTo>
                  <a:pt x="1576" y="408"/>
                </a:lnTo>
                <a:close/>
                <a:moveTo>
                  <a:pt x="740" y="733"/>
                </a:moveTo>
                <a:lnTo>
                  <a:pt x="595" y="315"/>
                </a:lnTo>
                <a:lnTo>
                  <a:pt x="450" y="733"/>
                </a:lnTo>
                <a:lnTo>
                  <a:pt x="740" y="733"/>
                </a:lnTo>
                <a:close/>
                <a:moveTo>
                  <a:pt x="1190" y="1176"/>
                </a:moveTo>
                <a:lnTo>
                  <a:pt x="893" y="1176"/>
                </a:lnTo>
                <a:lnTo>
                  <a:pt x="822" y="968"/>
                </a:lnTo>
                <a:lnTo>
                  <a:pt x="368" y="968"/>
                </a:lnTo>
                <a:lnTo>
                  <a:pt x="296" y="1176"/>
                </a:lnTo>
                <a:lnTo>
                  <a:pt x="0" y="1176"/>
                </a:lnTo>
                <a:lnTo>
                  <a:pt x="209" y="588"/>
                </a:lnTo>
                <a:lnTo>
                  <a:pt x="418" y="0"/>
                </a:lnTo>
                <a:lnTo>
                  <a:pt x="773" y="0"/>
                </a:lnTo>
                <a:lnTo>
                  <a:pt x="981" y="588"/>
                </a:lnTo>
                <a:lnTo>
                  <a:pt x="1190" y="1176"/>
                </a:lnTo>
                <a:close/>
                <a:moveTo>
                  <a:pt x="1301" y="1176"/>
                </a:moveTo>
                <a:lnTo>
                  <a:pt x="1301" y="910"/>
                </a:lnTo>
                <a:lnTo>
                  <a:pt x="1568" y="910"/>
                </a:lnTo>
                <a:lnTo>
                  <a:pt x="1568" y="1176"/>
                </a:lnTo>
                <a:lnTo>
                  <a:pt x="1301" y="1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i-FI"/>
          </a:p>
        </p:txBody>
      </p:sp>
      <p:sp>
        <p:nvSpPr>
          <p:cNvPr id="14" name="(c)" hidden="1">
            <a:extLst>
              <a:ext uri="{FF2B5EF4-FFF2-40B4-BE49-F238E27FC236}">
                <a16:creationId xmlns:a16="http://schemas.microsoft.com/office/drawing/2014/main" id="{8C5E7599-C4F7-9F42-0FC3-001CFA949BE0}"/>
              </a:ext>
            </a:extLst>
          </p:cNvPr>
          <p:cNvSpPr txBox="1">
            <a:spLocks noGrp="1" noRot="1" noMove="1" noResize="1" noEditPoints="1" noAdjustHandles="1" noChangeArrowheads="1" noChangeShapeType="1"/>
          </p:cNvSpPr>
          <p:nvPr/>
        </p:nvSpPr>
        <p:spPr>
          <a:xfrm>
            <a:off x="11992930" y="6891795"/>
            <a:ext cx="192360" cy="30778"/>
          </a:xfrm>
          <a:prstGeom prst="rect">
            <a:avLst/>
          </a:prstGeom>
          <a:noFill/>
        </p:spPr>
        <p:txBody>
          <a:bodyPr wrap="none" lIns="0" tIns="0" rIns="0" bIns="0" rtlCol="0">
            <a:spAutoFit/>
          </a:bodyPr>
          <a:lstStyle/>
          <a:p>
            <a:pPr algn="r"/>
            <a:r>
              <a:rPr lang="fi-FI" sz="200" noProof="1">
                <a:solidFill>
                  <a:schemeClr val="bg1"/>
                </a:solidFill>
                <a:latin typeface="+mn-lt"/>
              </a:rPr>
              <a:t>©grow. for</a:t>
            </a:r>
            <a:r>
              <a:rPr lang="fi-FI" sz="200" baseline="0" noProof="1">
                <a:solidFill>
                  <a:schemeClr val="bg1"/>
                </a:solidFill>
                <a:latin typeface="+mn-lt"/>
              </a:rPr>
              <a:t> aalto</a:t>
            </a:r>
            <a:endParaRPr lang="fi-FI" sz="200" noProof="1">
              <a:solidFill>
                <a:schemeClr val="bg1"/>
              </a:solidFill>
              <a:latin typeface="+mn-lt"/>
            </a:endParaRPr>
          </a:p>
        </p:txBody>
      </p:sp>
      <p:pic>
        <p:nvPicPr>
          <p:cNvPr id="15" name="(logo)" descr="Z:\GRW (grow)\logot\copyright_grow.png" hidden="1">
            <a:extLst>
              <a:ext uri="{FF2B5EF4-FFF2-40B4-BE49-F238E27FC236}">
                <a16:creationId xmlns:a16="http://schemas.microsoft.com/office/drawing/2014/main" id="{2253F43D-7AF1-7EB4-2D74-17D11A66FF4A}"/>
              </a:ext>
            </a:extLst>
          </p:cNvPr>
          <p:cNvPicPr>
            <a:picLocks noGrp="1" noRot="1" noChangeAspect="1" noMove="1" noResize="1" noEditPoints="1" noAdjustHandles="1" noChangeArrowheads="1" noChangeShapeType="1" noCrop="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130185"/>
      </p:ext>
    </p:extLst>
  </p:cSld>
  <p:clrMap bg1="lt1" tx1="dk1" bg2="lt2" tx2="dk2" accent1="accent1" accent2="accent2" accent3="accent3" accent4="accent4" accent5="accent5" accent6="accent6" hlink="hlink" folHlink="folHlink"/>
  <p:sldLayoutIdLst>
    <p:sldLayoutId id="2147484070" r:id="rId1"/>
    <p:sldLayoutId id="2147483888" r:id="rId2"/>
    <p:sldLayoutId id="2147483889" r:id="rId3"/>
    <p:sldLayoutId id="2147483890" r:id="rId4"/>
  </p:sldLayoutIdLst>
  <p:hf hdr="0"/>
  <p:txStyles>
    <p:titleStyle>
      <a:lvl1pPr algn="l" defTabSz="914400" rtl="0" eaLnBrk="1" latinLnBrk="0" hangingPunct="1">
        <a:lnSpc>
          <a:spcPct val="90000"/>
        </a:lnSpc>
        <a:spcBef>
          <a:spcPct val="0"/>
        </a:spcBef>
        <a:buNone/>
        <a:defRPr sz="30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57">
          <p15:clr>
            <a:srgbClr val="F26B43"/>
          </p15:clr>
        </p15:guide>
        <p15:guide id="4" pos="7423">
          <p15:clr>
            <a:srgbClr val="F26B43"/>
          </p15:clr>
        </p15:guide>
        <p15:guide id="5" orient="horz" pos="3702">
          <p15:clr>
            <a:srgbClr val="F26B43"/>
          </p15:clr>
        </p15:guide>
        <p15:guide id="6" orient="horz" pos="255">
          <p15:clr>
            <a:srgbClr val="F26B43"/>
          </p15:clr>
        </p15:guide>
        <p15:guide id="7" orient="horz" pos="1389">
          <p15:clr>
            <a:srgbClr val="F26B43"/>
          </p15:clr>
        </p15:guide>
        <p15:guide id="9" orient="horz" pos="1162">
          <p15:clr>
            <a:srgbClr val="F26B43"/>
          </p15:clr>
        </p15:guide>
        <p15:guide id="10" pos="665">
          <p15:clr>
            <a:srgbClr val="F26B43"/>
          </p15:clr>
        </p15:guide>
        <p15:guide id="11" pos="7015">
          <p15:clr>
            <a:srgbClr val="F26B43"/>
          </p15:clr>
        </p15:guide>
        <p15:guide id="13"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9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7.xml.rels><?xml version="1.0" encoding="UTF-8" standalone="yes"?>
<Relationships xmlns="http://schemas.openxmlformats.org/package/2006/relationships"><Relationship Id="rId3" Type="http://schemas.openxmlformats.org/officeDocument/2006/relationships/hyperlink" Target="https://www.europarl.europa.eu/doceo/document/TA-9-2024-0138_EN.html" TargetMode="External"/><Relationship Id="rId2" Type="http://schemas.openxmlformats.org/officeDocument/2006/relationships/notesSlide" Target="../notesSlides/notesSlide2.xml"/><Relationship Id="rId1" Type="http://schemas.openxmlformats.org/officeDocument/2006/relationships/slideLayout" Target="../slideLayouts/slideLayout94.xml"/><Relationship Id="rId6" Type="http://schemas.openxmlformats.org/officeDocument/2006/relationships/image" Target="../media/image9.png"/><Relationship Id="rId5" Type="http://schemas.openxmlformats.org/officeDocument/2006/relationships/hyperlink" Target="https://www.edpb.europa.eu/our-work-tools/our-documents/support-pool-experts-projects/fundamentals-secure-ai-systems-personal_en" TargetMode="External"/><Relationship Id="rId4" Type="http://schemas.openxmlformats.org/officeDocument/2006/relationships/hyperlink" Target="https://iapp.org/resources/article/international-definitions-of-ai/"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edpb.europa.eu/our-work-tools/our-documents/support-pool-experts-projects/fundamentals-secure-ai-systems-personal_en" TargetMode="External"/><Relationship Id="rId1" Type="http://schemas.openxmlformats.org/officeDocument/2006/relationships/slideLayout" Target="../slideLayouts/slideLayout94.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94.xml"/><Relationship Id="rId4" Type="http://schemas.openxmlformats.org/officeDocument/2006/relationships/hyperlink" Target="http://www-labs.iro.umontreal.ca/~liubang/files/DogCat_report.pdf"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josephmisiti/awesome-machine-learning/tree/master" TargetMode="External"/><Relationship Id="rId1" Type="http://schemas.openxmlformats.org/officeDocument/2006/relationships/slideLayout" Target="../slideLayouts/slideLayout9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13.xml.rels><?xml version="1.0" encoding="UTF-8" standalone="yes"?>
<Relationships xmlns="http://schemas.openxmlformats.org/package/2006/relationships"><Relationship Id="rId3" Type="http://schemas.openxmlformats.org/officeDocument/2006/relationships/hyperlink" Target="https://writings.stephenwolfram.com/2023/02/what-is-chatgpt-doing-and-why-does-it-work/" TargetMode="External"/><Relationship Id="rId2" Type="http://schemas.openxmlformats.org/officeDocument/2006/relationships/image" Target="../media/image13.png"/><Relationship Id="rId1" Type="http://schemas.openxmlformats.org/officeDocument/2006/relationships/slideLayout" Target="../slideLayouts/slideLayout104.xml"/></Relationships>
</file>

<file path=ppt/slides/_rels/slide14.xml.rels><?xml version="1.0" encoding="UTF-8" standalone="yes"?>
<Relationships xmlns="http://schemas.openxmlformats.org/package/2006/relationships"><Relationship Id="rId2" Type="http://schemas.openxmlformats.org/officeDocument/2006/relationships/hyperlink" Target="https://writings.stephenwolfram.com/2023/02/what-is-chatgpt-doing-and-why-does-it-work/" TargetMode="External"/><Relationship Id="rId1" Type="http://schemas.openxmlformats.org/officeDocument/2006/relationships/slideLayout" Target="../slideLayouts/slideLayout94.xml"/></Relationships>
</file>

<file path=ppt/slides/_rels/slide15.xml.rels><?xml version="1.0" encoding="UTF-8" standalone="yes"?>
<Relationships xmlns="http://schemas.openxmlformats.org/package/2006/relationships"><Relationship Id="rId2" Type="http://schemas.openxmlformats.org/officeDocument/2006/relationships/hyperlink" Target="https://writings.stephenwolfram.com/2023/02/what-is-chatgpt-doing-and-why-does-it-work/" TargetMode="External"/><Relationship Id="rId1" Type="http://schemas.openxmlformats.org/officeDocument/2006/relationships/slideLayout" Target="../slideLayouts/slideLayout94.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LPZh9BOjkQs" TargetMode="External"/><Relationship Id="rId1" Type="http://schemas.openxmlformats.org/officeDocument/2006/relationships/slideLayout" Target="../slideLayouts/slideLayout94.xml"/></Relationships>
</file>

<file path=ppt/slides/_rels/slide17.xml.rels><?xml version="1.0" encoding="UTF-8" standalone="yes"?>
<Relationships xmlns="http://schemas.openxmlformats.org/package/2006/relationships"><Relationship Id="rId8" Type="http://schemas.openxmlformats.org/officeDocument/2006/relationships/hyperlink" Target="https://huggingface.co/chat/" TargetMode="External"/><Relationship Id="rId3" Type="http://schemas.openxmlformats.org/officeDocument/2006/relationships/hyperlink" Target="https://chat.openai.com/" TargetMode="External"/><Relationship Id="rId7" Type="http://schemas.openxmlformats.org/officeDocument/2006/relationships/hyperlink" Target="https://chat.mistral.ai/chat" TargetMode="External"/><Relationship Id="rId2" Type="http://schemas.openxmlformats.org/officeDocument/2006/relationships/hyperlink" Target="https://www.nytimes.com/2023/02/03/technology/chatgpt-openai-artificial-intelligence.html" TargetMode="External"/><Relationship Id="rId1" Type="http://schemas.openxmlformats.org/officeDocument/2006/relationships/slideLayout" Target="../slideLayouts/slideLayout94.xml"/><Relationship Id="rId6" Type="http://schemas.openxmlformats.org/officeDocument/2006/relationships/hyperlink" Target="https://gemini.google.com/app" TargetMode="External"/><Relationship Id="rId11" Type="http://schemas.openxmlformats.org/officeDocument/2006/relationships/hyperlink" Target="https://duck.ai" TargetMode="External"/><Relationship Id="rId5" Type="http://schemas.openxmlformats.org/officeDocument/2006/relationships/hyperlink" Target="https://claude.ai/" TargetMode="External"/><Relationship Id="rId10" Type="http://schemas.openxmlformats.org/officeDocument/2006/relationships/hyperlink" Target="https://x.ai/" TargetMode="External"/><Relationship Id="rId4" Type="http://schemas.openxmlformats.org/officeDocument/2006/relationships/hyperlink" Target="https://copilot.microsoft.com/" TargetMode="External"/><Relationship Id="rId9" Type="http://schemas.openxmlformats.org/officeDocument/2006/relationships/hyperlink" Target="https://chat.deepseek.com/"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0.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2.xml.rels><?xml version="1.0" encoding="UTF-8" standalone="yes"?>
<Relationships xmlns="http://schemas.openxmlformats.org/package/2006/relationships"><Relationship Id="rId3" Type="http://schemas.openxmlformats.org/officeDocument/2006/relationships/hyperlink" Target="https://platform.openai.com/docs/guides/prompt-engineering#tactic-specify-the-desired-length-of-the-output" TargetMode="External"/><Relationship Id="rId2" Type="http://schemas.openxmlformats.org/officeDocument/2006/relationships/hyperlink" Target="https://doi.org/10.1016/j.acalib.2023.102720" TargetMode="External"/><Relationship Id="rId1" Type="http://schemas.openxmlformats.org/officeDocument/2006/relationships/slideLayout" Target="../slideLayouts/slideLayout94.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7.xml"/></Relationships>
</file>

<file path=ppt/slides/_rels/slide2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136.xml"/></Relationships>
</file>

<file path=ppt/slides/_rels/slide2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8.svg"/><Relationship Id="rId1" Type="http://schemas.openxmlformats.org/officeDocument/2006/relationships/slideLayout" Target="../slideLayouts/slideLayout135.xml"/></Relationships>
</file>

<file path=ppt/slides/_rels/slide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1.svg"/><Relationship Id="rId1" Type="http://schemas.openxmlformats.org/officeDocument/2006/relationships/slideLayout" Target="../slideLayouts/slideLayout135.xml"/></Relationships>
</file>

<file path=ppt/slides/_rels/slide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3.xml"/><Relationship Id="rId1" Type="http://schemas.openxmlformats.org/officeDocument/2006/relationships/slideLayout" Target="../slideLayouts/slideLayout135.xml"/><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35.xml"/><Relationship Id="rId5" Type="http://schemas.openxmlformats.org/officeDocument/2006/relationships/image" Target="../media/image8.svg"/><Relationship Id="rId4" Type="http://schemas.openxmlformats.org/officeDocument/2006/relationships/image" Target="../media/image21.svg"/></Relationships>
</file>

<file path=ppt/slides/_rels/slide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1.svg"/><Relationship Id="rId1" Type="http://schemas.openxmlformats.org/officeDocument/2006/relationships/slideLayout" Target="../slideLayouts/slideLayout135.xml"/></Relationships>
</file>

<file path=ppt/slides/_rels/slide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5.xml"/><Relationship Id="rId1" Type="http://schemas.openxmlformats.org/officeDocument/2006/relationships/slideLayout" Target="../slideLayouts/slideLayout135.xml"/><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135.xml"/><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7.xml"/><Relationship Id="rId1" Type="http://schemas.openxmlformats.org/officeDocument/2006/relationships/slideLayout" Target="../slideLayouts/slideLayout135.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8.svg"/></Relationships>
</file>

<file path=ppt/slides/_rels/slide3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135.xml"/><Relationship Id="rId5" Type="http://schemas.openxmlformats.org/officeDocument/2006/relationships/image" Target="../media/image25.png"/><Relationship Id="rId4" Type="http://schemas.openxmlformats.org/officeDocument/2006/relationships/image" Target="../media/image21.svg"/></Relationships>
</file>

<file path=ppt/slides/_rels/slide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9.xml"/><Relationship Id="rId1" Type="http://schemas.openxmlformats.org/officeDocument/2006/relationships/slideLayout" Target="../slideLayouts/slideLayout135.xml"/><Relationship Id="rId4" Type="http://schemas.openxmlformats.org/officeDocument/2006/relationships/image" Target="../media/image8.svg"/></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4.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4.xml"/></Relationships>
</file>

<file path=ppt/slides/_rels/slide38.xml.rels><?xml version="1.0" encoding="UTF-8" standalone="yes"?>
<Relationships xmlns="http://schemas.openxmlformats.org/package/2006/relationships"><Relationship Id="rId2" Type="http://schemas.openxmlformats.org/officeDocument/2006/relationships/hyperlink" Target="https://platform.openai.com/docs/guides/prompt-engineering#tactic-use-delimiters-to-clearly-indicate-distinct-parts-of-the-input" TargetMode="External"/><Relationship Id="rId1" Type="http://schemas.openxmlformats.org/officeDocument/2006/relationships/slideLayout" Target="../slideLayouts/slideLayout9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9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94.xml"/></Relationships>
</file>

<file path=ppt/slides/_rels/slide4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6.png"/><Relationship Id="rId1" Type="http://schemas.openxmlformats.org/officeDocument/2006/relationships/slideLayout" Target="../slideLayouts/slideLayout1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04.xml"/><Relationship Id="rId5" Type="http://schemas.openxmlformats.org/officeDocument/2006/relationships/image" Target="../media/image39.svg"/><Relationship Id="rId4" Type="http://schemas.openxmlformats.org/officeDocument/2006/relationships/hyperlink" Target="https://cookbook.openai.com/articles/what_is_new_with_dalle_3"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04.xml"/></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0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9.xml.rels><?xml version="1.0" encoding="UTF-8" standalone="yes"?>
<Relationships xmlns="http://schemas.openxmlformats.org/package/2006/relationships"><Relationship Id="rId3" Type="http://schemas.openxmlformats.org/officeDocument/2006/relationships/hyperlink" Target="https://youtu.be/zc5NTeJbk-k" TargetMode="External"/><Relationship Id="rId2" Type="http://schemas.openxmlformats.org/officeDocument/2006/relationships/hyperlink" Target="https://youtu.be/iv-5mZ_9CPY" TargetMode="External"/><Relationship Id="rId1" Type="http://schemas.openxmlformats.org/officeDocument/2006/relationships/slideLayout" Target="../slideLayouts/slideLayout104.xml"/><Relationship Id="rId5" Type="http://schemas.openxmlformats.org/officeDocument/2006/relationships/hyperlink" Target="https://poloclub.github.io/diffusion-explainer/" TargetMode="External"/><Relationship Id="rId4" Type="http://schemas.openxmlformats.org/officeDocument/2006/relationships/hyperlink" Target="https://youtu.be/QdRP9pO89MY" TargetMode="External"/></Relationships>
</file>

<file path=ppt/slides/_rels/slide50.xml.rels><?xml version="1.0" encoding="UTF-8" standalone="yes"?>
<Relationships xmlns="http://schemas.openxmlformats.org/package/2006/relationships"><Relationship Id="rId8" Type="http://schemas.openxmlformats.org/officeDocument/2006/relationships/hyperlink" Target="https://flux1.ai/" TargetMode="External"/><Relationship Id="rId3" Type="http://schemas.openxmlformats.org/officeDocument/2006/relationships/hyperlink" Target="https://openai.com/dall-e-3" TargetMode="External"/><Relationship Id="rId7" Type="http://schemas.openxmlformats.org/officeDocument/2006/relationships/hyperlink" Target="https://ideogram.ai/" TargetMode="External"/><Relationship Id="rId2" Type="http://schemas.openxmlformats.org/officeDocument/2006/relationships/hyperlink" Target="https://openai.com/index/introducing-4o-image-generation/" TargetMode="External"/><Relationship Id="rId1" Type="http://schemas.openxmlformats.org/officeDocument/2006/relationships/slideLayout" Target="../slideLayouts/slideLayout104.xml"/><Relationship Id="rId6" Type="http://schemas.openxmlformats.org/officeDocument/2006/relationships/hyperlink" Target="https://www.comfy.org/" TargetMode="External"/><Relationship Id="rId5" Type="http://schemas.openxmlformats.org/officeDocument/2006/relationships/hyperlink" Target="https://www.midjourney.com/home/" TargetMode="External"/><Relationship Id="rId4" Type="http://schemas.openxmlformats.org/officeDocument/2006/relationships/hyperlink" Target="https://firefly.adobe.com/"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lmarena.ai/leaderboard/text-to-image" TargetMode="External"/><Relationship Id="rId2" Type="http://schemas.openxmlformats.org/officeDocument/2006/relationships/image" Target="../media/image46.png"/><Relationship Id="rId1" Type="http://schemas.openxmlformats.org/officeDocument/2006/relationships/slideLayout" Target="../slideLayouts/slideLayout104.xml"/><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8.png"/><Relationship Id="rId1" Type="http://schemas.openxmlformats.org/officeDocument/2006/relationships/slideLayout" Target="../slideLayouts/slideLayout104.xml"/><Relationship Id="rId4" Type="http://schemas.openxmlformats.org/officeDocument/2006/relationships/hyperlink" Target="https://cookbook.openai.com/articles/what_is_new_with_dalle_3"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hyperlink" Target="https://docs.midjourney.com/hc/en-us/articles/32023408776205-Prompt-Basics" TargetMode="External"/><Relationship Id="rId1" Type="http://schemas.openxmlformats.org/officeDocument/2006/relationships/slideLayout" Target="../slideLayouts/slideLayout104.xml"/><Relationship Id="rId5" Type="http://schemas.openxmlformats.org/officeDocument/2006/relationships/image" Target="../media/image51.webp"/><Relationship Id="rId4" Type="http://schemas.openxmlformats.org/officeDocument/2006/relationships/image" Target="../media/image50.webp"/></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04.xml"/><Relationship Id="rId5" Type="http://schemas.openxmlformats.org/officeDocument/2006/relationships/image" Target="../media/image55.svg"/><Relationship Id="rId4" Type="http://schemas.openxmlformats.org/officeDocument/2006/relationships/image" Target="../media/image54.jpeg"/></Relationships>
</file>

<file path=ppt/slides/_rels/slide56.xml.rels><?xml version="1.0" encoding="UTF-8" standalone="yes"?>
<Relationships xmlns="http://schemas.openxmlformats.org/package/2006/relationships"><Relationship Id="rId3" Type="http://schemas.openxmlformats.org/officeDocument/2006/relationships/hyperlink" Target="https://openai.com/index/introducing-4o-image-generation/" TargetMode="External"/><Relationship Id="rId2" Type="http://schemas.openxmlformats.org/officeDocument/2006/relationships/image" Target="../media/image56.png"/><Relationship Id="rId1" Type="http://schemas.openxmlformats.org/officeDocument/2006/relationships/slideLayout" Target="../slideLayouts/slideLayout104.xml"/><Relationship Id="rId4" Type="http://schemas.openxmlformats.org/officeDocument/2006/relationships/image" Target="../media/image57.svg"/></Relationships>
</file>

<file path=ppt/slides/_rels/slide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jpeg"/><Relationship Id="rId1" Type="http://schemas.openxmlformats.org/officeDocument/2006/relationships/slideLayout" Target="../slideLayouts/slideLayout104.xml"/></Relationships>
</file>

<file path=ppt/slides/_rels/slide5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png"/><Relationship Id="rId1" Type="http://schemas.openxmlformats.org/officeDocument/2006/relationships/slideLayout" Target="../slideLayouts/slideLayout104.xml"/><Relationship Id="rId4" Type="http://schemas.openxmlformats.org/officeDocument/2006/relationships/hyperlink" Target="https://ai.google.dev/gemini-api/docs/image-generation"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png"/><Relationship Id="rId1" Type="http://schemas.openxmlformats.org/officeDocument/2006/relationships/slideLayout" Target="../slideLayouts/slideLayout104.xml"/><Relationship Id="rId4" Type="http://schemas.openxmlformats.org/officeDocument/2006/relationships/hyperlink" Target="https://www.aalto.fi/en/news/the-butterfly-effect-bending-and-turning-artificial-muscles-with-light"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104.xml"/></Relationships>
</file>

<file path=ppt/slides/_rels/slide6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hyperlink" Target="https://openai.com/index/introducing-4o-image-generation/" TargetMode="External"/><Relationship Id="rId1" Type="http://schemas.openxmlformats.org/officeDocument/2006/relationships/slideLayout" Target="../slideLayouts/slideLayout104.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6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04.xml"/></Relationships>
</file>

<file path=ppt/slides/_rels/slide6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svg"/><Relationship Id="rId1" Type="http://schemas.openxmlformats.org/officeDocument/2006/relationships/slideLayout" Target="../slideLayouts/slideLayout104.xml"/><Relationship Id="rId5" Type="http://schemas.openxmlformats.org/officeDocument/2006/relationships/image" Target="../media/image75.png"/><Relationship Id="rId4" Type="http://schemas.openxmlformats.org/officeDocument/2006/relationships/image" Target="../media/image74.png"/></Relationships>
</file>

<file path=ppt/slides/_rels/slide6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04.xml"/><Relationship Id="rId4" Type="http://schemas.openxmlformats.org/officeDocument/2006/relationships/image" Target="../media/image64.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66.xml.rels><?xml version="1.0" encoding="UTF-8" standalone="yes"?>
<Relationships xmlns="http://schemas.openxmlformats.org/package/2006/relationships"><Relationship Id="rId8" Type="http://schemas.openxmlformats.org/officeDocument/2006/relationships/hyperlink" Target="https://azure.microsoft.com/en-us/products/ai-services/openai-service" TargetMode="External"/><Relationship Id="rId13" Type="http://schemas.openxmlformats.org/officeDocument/2006/relationships/hyperlink" Target="https://aws.amazon.com/bedrock/" TargetMode="External"/><Relationship Id="rId18" Type="http://schemas.openxmlformats.org/officeDocument/2006/relationships/hyperlink" Target="https://huggingface.co/chat/" TargetMode="External"/><Relationship Id="rId3" Type="http://schemas.openxmlformats.org/officeDocument/2006/relationships/hyperlink" Target="https://lmsys.org/blog/2023-03-30-vicuna/" TargetMode="External"/><Relationship Id="rId21" Type="http://schemas.openxmlformats.org/officeDocument/2006/relationships/hyperlink" Target="https://huggingface.co/allenai/OLMo-7B" TargetMode="External"/><Relationship Id="rId7" Type="http://schemas.openxmlformats.org/officeDocument/2006/relationships/hyperlink" Target="https://www.apple.com/apple-intelligence/" TargetMode="External"/><Relationship Id="rId12" Type="http://schemas.openxmlformats.org/officeDocument/2006/relationships/hyperlink" Target="https://poe.com/login?utm_source=substack&amp;utm_medium=email" TargetMode="External"/><Relationship Id="rId17" Type="http://schemas.openxmlformats.org/officeDocument/2006/relationships/hyperlink" Target="https://gemini.google.com/?utm_source=google&amp;utm_medium=cpc&amp;utm_campaign=2024enUS_gemfeb&amp;gad_source=1&amp;gclid=CjwKCAiAloavBhBOEiwAbtAJO1VGDfVvv3jWBT04oMfp59oZ0z4g0reDvnwpiSIv3NftUee_YswL3RoCSVkQAvD_BwE" TargetMode="External"/><Relationship Id="rId25" Type="http://schemas.openxmlformats.org/officeDocument/2006/relationships/hyperlink" Target="https://sr.ithaka.org/our-work/generative-ai-product-tracker/" TargetMode="External"/><Relationship Id="rId2" Type="http://schemas.openxmlformats.org/officeDocument/2006/relationships/hyperlink" Target="https://openai.com/chatgpt" TargetMode="External"/><Relationship Id="rId16" Type="http://schemas.openxmlformats.org/officeDocument/2006/relationships/hyperlink" Target="https://www.getmerlin.in/" TargetMode="External"/><Relationship Id="rId20" Type="http://schemas.openxmlformats.org/officeDocument/2006/relationships/hyperlink" Target="https://claude.ai/login" TargetMode="External"/><Relationship Id="rId1" Type="http://schemas.openxmlformats.org/officeDocument/2006/relationships/slideLayout" Target="../slideLayouts/slideLayout94.xml"/><Relationship Id="rId6" Type="http://schemas.openxmlformats.org/officeDocument/2006/relationships/hyperlink" Target="https://polymathic-ai.org/" TargetMode="External"/><Relationship Id="rId11" Type="http://schemas.openxmlformats.org/officeDocument/2006/relationships/hyperlink" Target="https://copilot.microsoft.com/" TargetMode="External"/><Relationship Id="rId24" Type="http://schemas.openxmlformats.org/officeDocument/2006/relationships/hyperlink" Target="https://mistral.ai/" TargetMode="External"/><Relationship Id="rId5" Type="http://schemas.openxmlformats.org/officeDocument/2006/relationships/hyperlink" Target="https://openai.com/index/introducing-chatgpt-edu/" TargetMode="External"/><Relationship Id="rId15" Type="http://schemas.openxmlformats.org/officeDocument/2006/relationships/hyperlink" Target="https://starling.cs.berkeley.edu/" TargetMode="External"/><Relationship Id="rId23" Type="http://schemas.openxmlformats.org/officeDocument/2006/relationships/hyperlink" Target="https://www.meta.ai/?utm_source=llama_meta_site&amp;utm_medium=web&amp;utm_content=Llama_nav&amp;utm_campaign=July_moment" TargetMode="External"/><Relationship Id="rId10" Type="http://schemas.openxmlformats.org/officeDocument/2006/relationships/hyperlink" Target="https://aws.amazon.com/bedrock/titan/" TargetMode="External"/><Relationship Id="rId19" Type="http://schemas.openxmlformats.org/officeDocument/2006/relationships/hyperlink" Target="https://writer.com/#product" TargetMode="External"/><Relationship Id="rId4" Type="http://schemas.openxmlformats.org/officeDocument/2006/relationships/hyperlink" Target="https://pi.ai/talk" TargetMode="External"/><Relationship Id="rId9" Type="http://schemas.openxmlformats.org/officeDocument/2006/relationships/hyperlink" Target="https://goblin.tools/About" TargetMode="External"/><Relationship Id="rId14" Type="http://schemas.openxmlformats.org/officeDocument/2006/relationships/hyperlink" Target="https://www.microsoft.com/en-us/microsoft-365/enterprise/copilot-for-microsoft-365" TargetMode="External"/><Relationship Id="rId22" Type="http://schemas.openxmlformats.org/officeDocument/2006/relationships/hyperlink" Target="https://you.com/"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68.xml.rels><?xml version="1.0" encoding="UTF-8" standalone="yes"?>
<Relationships xmlns="http://schemas.openxmlformats.org/package/2006/relationships"><Relationship Id="rId8" Type="http://schemas.openxmlformats.org/officeDocument/2006/relationships/hyperlink" Target="https://elicit.org/" TargetMode="External"/><Relationship Id="rId13" Type="http://schemas.openxmlformats.org/officeDocument/2006/relationships/hyperlink" Target="https://www.researchrabbit.ai/" TargetMode="External"/><Relationship Id="rId18" Type="http://schemas.openxmlformats.org/officeDocument/2006/relationships/hyperlink" Target="https://undermind.ai/home/" TargetMode="External"/><Relationship Id="rId3" Type="http://schemas.openxmlformats.org/officeDocument/2006/relationships/hyperlink" Target="https://www.papersapp.com/highlights/beta-waitlist-get-ready-for-papers-ai/" TargetMode="External"/><Relationship Id="rId21" Type="http://schemas.openxmlformats.org/officeDocument/2006/relationships/hyperlink" Target="http://hasanyone.com/" TargetMode="External"/><Relationship Id="rId7" Type="http://schemas.openxmlformats.org/officeDocument/2006/relationships/hyperlink" Target="https://about.proquest.com/en/blog/2024/proquest-part-of-clarivate-launches-ai-powered-research-assistant/" TargetMode="External"/><Relationship Id="rId12" Type="http://schemas.openxmlformats.org/officeDocument/2006/relationships/hyperlink" Target="https://exlibrisgroup.com/blog/artificial-intelligence-blog-series-meet-primo-research-assistant/" TargetMode="External"/><Relationship Id="rId17" Type="http://schemas.openxmlformats.org/officeDocument/2006/relationships/hyperlink" Target="https://www.growkudos.com/" TargetMode="External"/><Relationship Id="rId25" Type="http://schemas.openxmlformats.org/officeDocument/2006/relationships/hyperlink" Target="https://sr.ithaka.org/our-work/generative-ai-product-tracker/" TargetMode="External"/><Relationship Id="rId2" Type="http://schemas.openxmlformats.org/officeDocument/2006/relationships/hyperlink" Target="https://consensus.app/" TargetMode="External"/><Relationship Id="rId16" Type="http://schemas.openxmlformats.org/officeDocument/2006/relationships/hyperlink" Target="https://www.elsevier.com/products/scopus/scopus-ai" TargetMode="External"/><Relationship Id="rId20" Type="http://schemas.openxmlformats.org/officeDocument/2006/relationships/hyperlink" Target="https://keenious.com/" TargetMode="External"/><Relationship Id="rId1" Type="http://schemas.openxmlformats.org/officeDocument/2006/relationships/slideLayout" Target="../slideLayouts/slideLayout94.xml"/><Relationship Id="rId6" Type="http://schemas.openxmlformats.org/officeDocument/2006/relationships/hyperlink" Target="https://www.talpa.ai/?ref=lorcandempsey.net" TargetMode="External"/><Relationship Id="rId11" Type="http://schemas.openxmlformats.org/officeDocument/2006/relationships/hyperlink" Target="https://www.jstor.org/generative-ai-faq" TargetMode="External"/><Relationship Id="rId24" Type="http://schemas.openxmlformats.org/officeDocument/2006/relationships/hyperlink" Target="https://www.litmaps.com/" TargetMode="External"/><Relationship Id="rId5" Type="http://schemas.openxmlformats.org/officeDocument/2006/relationships/hyperlink" Target="https://www.semanticscholar.org/" TargetMode="External"/><Relationship Id="rId15" Type="http://schemas.openxmlformats.org/officeDocument/2006/relationships/hyperlink" Target="https://openai.com/index/searchgpt-prototype/" TargetMode="External"/><Relationship Id="rId23" Type="http://schemas.openxmlformats.org/officeDocument/2006/relationships/hyperlink" Target="https://www.dimensions.ai/news/dimensions-launches-ai-driven-summarization/" TargetMode="External"/><Relationship Id="rId10" Type="http://schemas.openxmlformats.org/officeDocument/2006/relationships/hyperlink" Target="https://scite.ai/" TargetMode="External"/><Relationship Id="rId19" Type="http://schemas.openxmlformats.org/officeDocument/2006/relationships/hyperlink" Target="https://www.perplexity.ai/" TargetMode="External"/><Relationship Id="rId4" Type="http://schemas.openxmlformats.org/officeDocument/2006/relationships/hyperlink" Target="https://www.biorxiv.org/" TargetMode="External"/><Relationship Id="rId9" Type="http://schemas.openxmlformats.org/officeDocument/2006/relationships/hyperlink" Target="https://clarivate.com/products/scientific-and-academic-research/research-discovery-and-workflow-solutions/webofscience-platform/research-assistant/?campaignname=WoS_RA_LeadGen_AG_Global_2024&amp;campaignid=701QO00000Cid5BYAR&amp;utm_campaign=WoS_RA_LeadGen_AG_Global_2024&amp;utm_source=Press_Release&amp;utm_medium=Earned_Press" TargetMode="External"/><Relationship Id="rId14" Type="http://schemas.openxmlformats.org/officeDocument/2006/relationships/hyperlink" Target="https://scholarai.io/" TargetMode="External"/><Relationship Id="rId22" Type="http://schemas.openxmlformats.org/officeDocument/2006/relationships/hyperlink" Target="https://discovery.researcher.life/ask-rdiscovery?utm_source=contentmarketing&amp;utm_medium=r-blog&amp;utm_campaign=ask-discovery-launch&amp;_ga=2.52450474.343271099.1711130538-179512304.1711127352"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hyperlink" Target="https://help.keenious.com/en/articles/185109-how-to-use-keenious" TargetMode="External"/><Relationship Id="rId1" Type="http://schemas.openxmlformats.org/officeDocument/2006/relationships/slideLayout" Target="../slideLayouts/slideLayout94.xml"/></Relationships>
</file>

<file path=ppt/slides/_rels/slide70.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10.xml"/><Relationship Id="rId1" Type="http://schemas.openxmlformats.org/officeDocument/2006/relationships/slideLayout" Target="../slideLayouts/slideLayout94.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7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94.xml"/><Relationship Id="rId5" Type="http://schemas.openxmlformats.org/officeDocument/2006/relationships/image" Target="../media/image86.png"/><Relationship Id="rId4" Type="http://schemas.openxmlformats.org/officeDocument/2006/relationships/image" Target="../media/image85.png"/></Relationships>
</file>

<file path=ppt/slides/_rels/slide7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hyperlink" Target="https://primo.aalto.fi/" TargetMode="External"/><Relationship Id="rId1" Type="http://schemas.openxmlformats.org/officeDocument/2006/relationships/slideLayout" Target="../slideLayouts/slideLayout94.xml"/><Relationship Id="rId4" Type="http://schemas.openxmlformats.org/officeDocument/2006/relationships/image" Target="../media/image88.png"/></Relationships>
</file>

<file path=ppt/slides/_rels/slide73.xml.rels><?xml version="1.0" encoding="UTF-8" standalone="yes"?>
<Relationships xmlns="http://schemas.openxmlformats.org/package/2006/relationships"><Relationship Id="rId13" Type="http://schemas.openxmlformats.org/officeDocument/2006/relationships/hyperlink" Target="https://github.com/manubot/manubot-ai-editor" TargetMode="External"/><Relationship Id="rId18" Type="http://schemas.openxmlformats.org/officeDocument/2006/relationships/hyperlink" Target="https://powerdrill.ai/" TargetMode="External"/><Relationship Id="rId26" Type="http://schemas.openxmlformats.org/officeDocument/2006/relationships/hyperlink" Target="https://docalysis.com/" TargetMode="External"/><Relationship Id="rId21" Type="http://schemas.openxmlformats.org/officeDocument/2006/relationships/hyperlink" Target="https://julius.ai/" TargetMode="External"/><Relationship Id="rId34" Type="http://schemas.openxmlformats.org/officeDocument/2006/relationships/hyperlink" Target="https://pdf.ai/" TargetMode="External"/><Relationship Id="rId7" Type="http://schemas.openxmlformats.org/officeDocument/2006/relationships/hyperlink" Target="https://sakana.ai/ai-scientist/" TargetMode="External"/><Relationship Id="rId12" Type="http://schemas.openxmlformats.org/officeDocument/2006/relationships/hyperlink" Target="https://www.tldrthis.com/" TargetMode="External"/><Relationship Id="rId17" Type="http://schemas.openxmlformats.org/officeDocument/2006/relationships/hyperlink" Target="https://www.genei.io/" TargetMode="External"/><Relationship Id="rId25" Type="http://schemas.openxmlformats.org/officeDocument/2006/relationships/hyperlink" Target="https://www.readcube.com/en/solution/readcube-pro/" TargetMode="External"/><Relationship Id="rId33" Type="http://schemas.openxmlformats.org/officeDocument/2006/relationships/hyperlink" Target="https://www.powernotes.com/" TargetMode="External"/><Relationship Id="rId38" Type="http://schemas.openxmlformats.org/officeDocument/2006/relationships/hyperlink" Target="https://sr.ithaka.org/our-work/generative-ai-product-tracker/" TargetMode="External"/><Relationship Id="rId2" Type="http://schemas.openxmlformats.org/officeDocument/2006/relationships/hyperlink" Target="https://www.chatpdf.com/" TargetMode="External"/><Relationship Id="rId16" Type="http://schemas.openxmlformats.org/officeDocument/2006/relationships/hyperlink" Target="https://www.getcoralai.com/?referrer=https%3A%2F%2Fwww.getcoralai.com%2F" TargetMode="External"/><Relationship Id="rId20" Type="http://schemas.openxmlformats.org/officeDocument/2006/relationships/hyperlink" Target="https://www.anysummary.app/" TargetMode="External"/><Relationship Id="rId29" Type="http://schemas.openxmlformats.org/officeDocument/2006/relationships/hyperlink" Target="https://notebooklm.google/" TargetMode="External"/><Relationship Id="rId1" Type="http://schemas.openxmlformats.org/officeDocument/2006/relationships/slideLayout" Target="../slideLayouts/slideLayout94.xml"/><Relationship Id="rId6" Type="http://schemas.openxmlformats.org/officeDocument/2006/relationships/hyperlink" Target="https://help.openai.com/en/articles/8437071-advanced-data-analysis-chatgpt-enterprise-version" TargetMode="External"/><Relationship Id="rId11" Type="http://schemas.openxmlformats.org/officeDocument/2006/relationships/hyperlink" Target="https://www.explainpaper.com/" TargetMode="External"/><Relationship Id="rId24" Type="http://schemas.openxmlformats.org/officeDocument/2006/relationships/hyperlink" Target="https://www.adobe.com/acrobat/generative-ai-pdf.html" TargetMode="External"/><Relationship Id="rId32" Type="http://schemas.openxmlformats.org/officeDocument/2006/relationships/hyperlink" Target="https://www.notion.so/product" TargetMode="External"/><Relationship Id="rId37" Type="http://schemas.openxmlformats.org/officeDocument/2006/relationships/hyperlink" Target="https://github.com/Technion-Kishony-lab/data-to-paper?tab=readme-ov-file" TargetMode="External"/><Relationship Id="rId5" Type="http://schemas.openxmlformats.org/officeDocument/2006/relationships/hyperlink" Target="https://www.scholarcy.com/" TargetMode="External"/><Relationship Id="rId15" Type="http://schemas.openxmlformats.org/officeDocument/2006/relationships/hyperlink" Target="https://askyourpdf.com/" TargetMode="External"/><Relationship Id="rId23" Type="http://schemas.openxmlformats.org/officeDocument/2006/relationships/hyperlink" Target="https://iris.ai/" TargetMode="External"/><Relationship Id="rId28" Type="http://schemas.openxmlformats.org/officeDocument/2006/relationships/hyperlink" Target="https://illuminate.google.com/home?pli=1" TargetMode="External"/><Relationship Id="rId36" Type="http://schemas.openxmlformats.org/officeDocument/2006/relationships/hyperlink" Target="https://www.danswer.ai/" TargetMode="External"/><Relationship Id="rId10" Type="http://schemas.openxmlformats.org/officeDocument/2006/relationships/hyperlink" Target="https://arxiv.org/abs/2408.06941" TargetMode="External"/><Relationship Id="rId19" Type="http://schemas.openxmlformats.org/officeDocument/2006/relationships/hyperlink" Target="https://www.reliant.ai/" TargetMode="External"/><Relationship Id="rId31" Type="http://schemas.openxmlformats.org/officeDocument/2006/relationships/hyperlink" Target="https://answerthis.io/" TargetMode="External"/><Relationship Id="rId4" Type="http://schemas.openxmlformats.org/officeDocument/2006/relationships/hyperlink" Target="https://www.mheducation.com/news-insights/press-releases/mcgraw-hill-announces-two-new-generative-ai-tools-to-enhance-capabilities-of-its-k-12-and-higher-ed-learning-platforms.html" TargetMode="External"/><Relationship Id="rId9" Type="http://schemas.openxmlformats.org/officeDocument/2006/relationships/hyperlink" Target="https://www.heyscience.ai/" TargetMode="External"/><Relationship Id="rId14" Type="http://schemas.openxmlformats.org/officeDocument/2006/relationships/hyperlink" Target="https://typeset.io/" TargetMode="External"/><Relationship Id="rId22" Type="http://schemas.openxmlformats.org/officeDocument/2006/relationships/hyperlink" Target="https://www.futurehouse.org/research-announcements/wikicrow" TargetMode="External"/><Relationship Id="rId27" Type="http://schemas.openxmlformats.org/officeDocument/2006/relationships/hyperlink" Target="https://audemic.io/" TargetMode="External"/><Relationship Id="rId30" Type="http://schemas.openxmlformats.org/officeDocument/2006/relationships/hyperlink" Target="https://audemic.io/audemic-insights/" TargetMode="External"/><Relationship Id="rId35" Type="http://schemas.openxmlformats.org/officeDocument/2006/relationships/hyperlink" Target="https://github.com/lifan0127/ai-research-assistant?tab=readme-ov-file" TargetMode="External"/><Relationship Id="rId8" Type="http://schemas.openxmlformats.org/officeDocument/2006/relationships/hyperlink" Target="https://www.humata.ai/" TargetMode="External"/><Relationship Id="rId3" Type="http://schemas.openxmlformats.org/officeDocument/2006/relationships/hyperlink" Target="https://zapier.com/ai"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hyperlink" Target="https://notebooklm.google/" TargetMode="External"/><Relationship Id="rId1" Type="http://schemas.openxmlformats.org/officeDocument/2006/relationships/slideLayout" Target="../slideLayouts/slideLayout94.xml"/></Relationships>
</file>

<file path=ppt/slides/_rels/slide75.xml.rels><?xml version="1.0" encoding="UTF-8" standalone="yes"?>
<Relationships xmlns="http://schemas.openxmlformats.org/package/2006/relationships"><Relationship Id="rId3" Type="http://schemas.openxmlformats.org/officeDocument/2006/relationships/hyperlink" Target="https://huggingface.co/dslim/bert-base-NER" TargetMode="External"/><Relationship Id="rId2" Type="http://schemas.openxmlformats.org/officeDocument/2006/relationships/hyperlink" Target="https://scicomp.aalto.fi/triton/apps/whisper/#whisper" TargetMode="External"/><Relationship Id="rId1" Type="http://schemas.openxmlformats.org/officeDocument/2006/relationships/slideLayout" Target="../slideLayouts/slideLayout94.xml"/><Relationship Id="rId4" Type="http://schemas.openxmlformats.org/officeDocument/2006/relationships/hyperlink" Target="https://ai.meta.com/research/no-language-left-behind/"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7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94.xml"/></Relationships>
</file>

<file path=ppt/slides/_rels/slide78.xml.rels><?xml version="1.0" encoding="UTF-8" standalone="yes"?>
<Relationships xmlns="http://schemas.openxmlformats.org/package/2006/relationships"><Relationship Id="rId8" Type="http://schemas.openxmlformats.org/officeDocument/2006/relationships/hyperlink" Target="https://github.com/artidoro/qlora" TargetMode="External"/><Relationship Id="rId3" Type="http://schemas.openxmlformats.org/officeDocument/2006/relationships/hyperlink" Target="https://python.langchain.com/docs/get_started/introduction" TargetMode="External"/><Relationship Id="rId7" Type="http://schemas.openxmlformats.org/officeDocument/2006/relationships/hyperlink" Target="https://huggingface.co/datasets/timdettmers/openassistant-guanaco" TargetMode="External"/><Relationship Id="rId2" Type="http://schemas.openxmlformats.org/officeDocument/2006/relationships/hyperlink" Target="https://learn.microsoft.com/en-us/azure/ai-foundry/openai/reference" TargetMode="External"/><Relationship Id="rId1" Type="http://schemas.openxmlformats.org/officeDocument/2006/relationships/slideLayout" Target="../slideLayouts/slideLayout94.xml"/><Relationship Id="rId6" Type="http://schemas.openxmlformats.org/officeDocument/2006/relationships/hyperlink" Target="https://www.pinecone.io/" TargetMode="External"/><Relationship Id="rId5" Type="http://schemas.openxmlformats.org/officeDocument/2006/relationships/hyperlink" Target="https://www.trychroma.com/" TargetMode="External"/><Relationship Id="rId4" Type="http://schemas.openxmlformats.org/officeDocument/2006/relationships/hyperlink" Target="https://www.langchain.com/langsmith"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8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hyperlink" Target="https://coderefinery.github.io/coding-with-ai/" TargetMode="External"/><Relationship Id="rId1" Type="http://schemas.openxmlformats.org/officeDocument/2006/relationships/slideLayout" Target="../slideLayouts/slideLayout9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82.xml.rels><?xml version="1.0" encoding="UTF-8" standalone="yes"?>
<Relationships xmlns="http://schemas.openxmlformats.org/package/2006/relationships"><Relationship Id="rId2" Type="http://schemas.openxmlformats.org/officeDocument/2006/relationships/hyperlink" Target="https://www.promptingguide.ai/" TargetMode="External"/><Relationship Id="rId1" Type="http://schemas.openxmlformats.org/officeDocument/2006/relationships/slideLayout" Target="../slideLayouts/slideLayout94.xml"/></Relationships>
</file>

<file path=ppt/slides/_rels/slide83.xml.rels><?xml version="1.0" encoding="UTF-8" standalone="yes"?>
<Relationships xmlns="http://schemas.openxmlformats.org/package/2006/relationships"><Relationship Id="rId3" Type="http://schemas.openxmlformats.org/officeDocument/2006/relationships/hyperlink" Target="https://ludwig.ai/latest/user_guide/llms/in_context_learning/" TargetMode="External"/><Relationship Id="rId2" Type="http://schemas.openxmlformats.org/officeDocument/2006/relationships/image" Target="../media/image92.png"/><Relationship Id="rId1" Type="http://schemas.openxmlformats.org/officeDocument/2006/relationships/slideLayout" Target="../slideLayouts/slideLayout94.xml"/></Relationships>
</file>

<file path=ppt/slides/_rels/slide84.xml.rels><?xml version="1.0" encoding="UTF-8" standalone="yes"?>
<Relationships xmlns="http://schemas.openxmlformats.org/package/2006/relationships"><Relationship Id="rId3" Type="http://schemas.openxmlformats.org/officeDocument/2006/relationships/hyperlink" Target="https://notebooklm.google/" TargetMode="External"/><Relationship Id="rId2" Type="http://schemas.openxmlformats.org/officeDocument/2006/relationships/image" Target="../media/image93.png"/><Relationship Id="rId1" Type="http://schemas.openxmlformats.org/officeDocument/2006/relationships/slideLayout" Target="../slideLayouts/slideLayout94.xml"/><Relationship Id="rId5" Type="http://schemas.openxmlformats.org/officeDocument/2006/relationships/hyperlink" Target="https://deci.ai/blog/fine-tuning-peft-prompt-engineering-and-rag-which-one-is-right-for-you/" TargetMode="External"/><Relationship Id="rId4" Type="http://schemas.openxmlformats.org/officeDocument/2006/relationships/hyperlink" Target="https://blog.langchain.dev/espilla-x-langchain-retrieval-augmented-generation-rag-in-llm-powered-question-answering-pipelines/"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86.xml.rels><?xml version="1.0" encoding="UTF-8" standalone="yes"?>
<Relationships xmlns="http://schemas.openxmlformats.org/package/2006/relationships"><Relationship Id="rId3" Type="http://schemas.openxmlformats.org/officeDocument/2006/relationships/hyperlink" Target="https://arxiv.org/abs/2201.11903" TargetMode="External"/><Relationship Id="rId2" Type="http://schemas.openxmlformats.org/officeDocument/2006/relationships/image" Target="../media/image94.png"/><Relationship Id="rId1" Type="http://schemas.openxmlformats.org/officeDocument/2006/relationships/slideLayout" Target="../slideLayouts/slideLayout94.xml"/></Relationships>
</file>

<file path=ppt/slides/_rels/slide8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hyperlink" Target="https://arxiv.org/abs/2201.11903" TargetMode="External"/><Relationship Id="rId1" Type="http://schemas.openxmlformats.org/officeDocument/2006/relationships/slideLayout" Target="../slideLayouts/slideLayout94.xml"/></Relationships>
</file>

<file path=ppt/slides/_rels/slide8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hyperlink" Target="https://platform.openai.com/docs/guides/reasoning-best-practices" TargetMode="External"/><Relationship Id="rId1" Type="http://schemas.openxmlformats.org/officeDocument/2006/relationships/slideLayout" Target="../slideLayouts/slideLayout94.xml"/></Relationships>
</file>

<file path=ppt/slides/_rels/slide89.xml.rels><?xml version="1.0" encoding="UTF-8" standalone="yes"?>
<Relationships xmlns="http://schemas.openxmlformats.org/package/2006/relationships"><Relationship Id="rId3" Type="http://schemas.openxmlformats.org/officeDocument/2006/relationships/hyperlink" Target="https://www.dbreunig.com/2025/06/10/let-the-model-write-the-prompt.html" TargetMode="External"/><Relationship Id="rId2" Type="http://schemas.openxmlformats.org/officeDocument/2006/relationships/hyperlink" Target="https://cookbook.openai.com/examples/gpt-5/gpt-5_prompting_guide" TargetMode="External"/><Relationship Id="rId1" Type="http://schemas.openxmlformats.org/officeDocument/2006/relationships/slideLayout" Target="../slideLayouts/slideLayout94.xml"/><Relationship Id="rId4" Type="http://schemas.openxmlformats.org/officeDocument/2006/relationships/image" Target="../media/image97.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93.xml.rels><?xml version="1.0" encoding="UTF-8" standalone="yes"?>
<Relationships xmlns="http://schemas.openxmlformats.org/package/2006/relationships"><Relationship Id="rId8" Type="http://schemas.openxmlformats.org/officeDocument/2006/relationships/image" Target="../media/image103.svg"/><Relationship Id="rId13" Type="http://schemas.openxmlformats.org/officeDocument/2006/relationships/image" Target="../media/image108.png"/><Relationship Id="rId18" Type="http://schemas.openxmlformats.org/officeDocument/2006/relationships/image" Target="../media/image113.svg"/><Relationship Id="rId26" Type="http://schemas.openxmlformats.org/officeDocument/2006/relationships/image" Target="../media/image121.svg"/><Relationship Id="rId3" Type="http://schemas.openxmlformats.org/officeDocument/2006/relationships/image" Target="../media/image98.svg"/><Relationship Id="rId21" Type="http://schemas.openxmlformats.org/officeDocument/2006/relationships/image" Target="../media/image116.svg"/><Relationship Id="rId7" Type="http://schemas.openxmlformats.org/officeDocument/2006/relationships/image" Target="../media/image102.jpeg"/><Relationship Id="rId12" Type="http://schemas.openxmlformats.org/officeDocument/2006/relationships/image" Target="../media/image107.png"/><Relationship Id="rId17" Type="http://schemas.openxmlformats.org/officeDocument/2006/relationships/image" Target="../media/image112.svg"/><Relationship Id="rId25" Type="http://schemas.openxmlformats.org/officeDocument/2006/relationships/image" Target="../media/image120.svg"/><Relationship Id="rId2" Type="http://schemas.openxmlformats.org/officeDocument/2006/relationships/notesSlide" Target="../notesSlides/notesSlide11.xml"/><Relationship Id="rId16" Type="http://schemas.openxmlformats.org/officeDocument/2006/relationships/image" Target="../media/image111.svg"/><Relationship Id="rId20" Type="http://schemas.openxmlformats.org/officeDocument/2006/relationships/image" Target="../media/image115.svg"/><Relationship Id="rId1" Type="http://schemas.openxmlformats.org/officeDocument/2006/relationships/slideLayout" Target="../slideLayouts/slideLayout6.xml"/><Relationship Id="rId6" Type="http://schemas.openxmlformats.org/officeDocument/2006/relationships/image" Target="../media/image101.svg"/><Relationship Id="rId11" Type="http://schemas.openxmlformats.org/officeDocument/2006/relationships/image" Target="../media/image106.svg"/><Relationship Id="rId24" Type="http://schemas.openxmlformats.org/officeDocument/2006/relationships/image" Target="../media/image119.svg"/><Relationship Id="rId5" Type="http://schemas.openxmlformats.org/officeDocument/2006/relationships/image" Target="../media/image100.svg"/><Relationship Id="rId15" Type="http://schemas.openxmlformats.org/officeDocument/2006/relationships/image" Target="../media/image110.svg"/><Relationship Id="rId23" Type="http://schemas.openxmlformats.org/officeDocument/2006/relationships/image" Target="../media/image118.svg"/><Relationship Id="rId10" Type="http://schemas.openxmlformats.org/officeDocument/2006/relationships/image" Target="../media/image105.svg"/><Relationship Id="rId19" Type="http://schemas.openxmlformats.org/officeDocument/2006/relationships/image" Target="../media/image114.svg"/><Relationship Id="rId4" Type="http://schemas.openxmlformats.org/officeDocument/2006/relationships/image" Target="../media/image99.svg"/><Relationship Id="rId9" Type="http://schemas.openxmlformats.org/officeDocument/2006/relationships/image" Target="../media/image104.svg"/><Relationship Id="rId14" Type="http://schemas.openxmlformats.org/officeDocument/2006/relationships/image" Target="../media/image109.png"/><Relationship Id="rId22" Type="http://schemas.openxmlformats.org/officeDocument/2006/relationships/image" Target="../media/image117.svg"/></Relationships>
</file>

<file path=ppt/slides/_rels/slide94.xml.rels><?xml version="1.0" encoding="UTF-8" standalone="yes"?>
<Relationships xmlns="http://schemas.openxmlformats.org/package/2006/relationships"><Relationship Id="rId3" Type="http://schemas.openxmlformats.org/officeDocument/2006/relationships/hyperlink" Target="https://www.nature.com/articles/d41586-026-01100-y" TargetMode="External"/><Relationship Id="rId2" Type="http://schemas.openxmlformats.org/officeDocument/2006/relationships/hyperlink" Target="https://github.com/frankbria/ralph-claude-code" TargetMode="Externa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2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97.xml.rels><?xml version="1.0" encoding="UTF-8" standalone="yes"?>
<Relationships xmlns="http://schemas.openxmlformats.org/package/2006/relationships"><Relationship Id="rId3" Type="http://schemas.openxmlformats.org/officeDocument/2006/relationships/hyperlink" Target="https://sr.ithaka.org/our-work/generative-ai-product-tracker/" TargetMode="External"/><Relationship Id="rId2" Type="http://schemas.openxmlformats.org/officeDocument/2006/relationships/hyperlink" Target="https://github.com/josephmisiti/awesome-machine-learning/tree/master" TargetMode="External"/><Relationship Id="rId1" Type="http://schemas.openxmlformats.org/officeDocument/2006/relationships/slideLayout" Target="../slideLayouts/slideLayout94.xml"/><Relationship Id="rId4" Type="http://schemas.openxmlformats.org/officeDocument/2006/relationships/hyperlink" Target="https://coderefinery.org/" TargetMode="External"/></Relationships>
</file>

<file path=ppt/slides/_rels/slide98.xml.rels><?xml version="1.0" encoding="UTF-8" standalone="yes"?>
<Relationships xmlns="http://schemas.openxmlformats.org/package/2006/relationships"><Relationship Id="rId8" Type="http://schemas.openxmlformats.org/officeDocument/2006/relationships/hyperlink" Target="https://www.elementsofai.com/" TargetMode="External"/><Relationship Id="rId3" Type="http://schemas.openxmlformats.org/officeDocument/2006/relationships/hyperlink" Target="https://www.en.aub.aau.dk/students/generative-ai/introduction-and-overview" TargetMode="External"/><Relationship Id="rId7" Type="http://schemas.openxmlformats.org/officeDocument/2006/relationships/hyperlink" Target="https://gist.github.com/rain-1/eebd5e5eb2784feecf450324e3341c8d" TargetMode="External"/><Relationship Id="rId2" Type="http://schemas.openxmlformats.org/officeDocument/2006/relationships/hyperlink" Target="https://unesdoc.unesco.org/ark:/48223/pf0000386693" TargetMode="External"/><Relationship Id="rId1" Type="http://schemas.openxmlformats.org/officeDocument/2006/relationships/slideLayout" Target="../slideLayouts/slideLayout94.xml"/><Relationship Id="rId6" Type="http://schemas.openxmlformats.org/officeDocument/2006/relationships/hyperlink" Target="https://www.youtube.com/watch?v=zjkBMFhNj_g&amp;t=18s" TargetMode="External"/><Relationship Id="rId5" Type="http://schemas.openxmlformats.org/officeDocument/2006/relationships/hyperlink" Target="https://www.3blue1brown.com/topics/neural-networks" TargetMode="External"/><Relationship Id="rId4" Type="http://schemas.openxmlformats.org/officeDocument/2006/relationships/hyperlink" Target="https://www.youtube.com/watch?v=jkrNMKz9pWU&amp;t=2759s" TargetMode="External"/><Relationship Id="rId9" Type="http://schemas.openxmlformats.org/officeDocument/2006/relationships/hyperlink" Target="https://ethics-of-ai.mooc.fi/"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4.xml.rels><?xml version="1.0" encoding="UTF-8" standalone="yes"?>
<Relationships xmlns="http://schemas.openxmlformats.org/package/2006/relationships"><Relationship Id="rId3" Type="http://schemas.openxmlformats.org/officeDocument/2006/relationships/hyperlink" Target="https://www.merriam-webster.com/dictionary/moral" TargetMode="External"/><Relationship Id="rId2" Type="http://schemas.openxmlformats.org/officeDocument/2006/relationships/hyperlink" Target="https://www.merriam-webster.com/dictionary/ethics" TargetMode="External"/><Relationship Id="rId1" Type="http://schemas.openxmlformats.org/officeDocument/2006/relationships/slideLayout" Target="../slideLayouts/slideLayout56.xml"/><Relationship Id="rId4" Type="http://schemas.openxmlformats.org/officeDocument/2006/relationships/hyperlink" Target="https://www.merriam-webster.com/dictionary/law" TargetMode="External"/></Relationships>
</file>

<file path=ppt/slides/_rels/slide105.xml.rels><?xml version="1.0" encoding="UTF-8" standalone="yes"?>
<Relationships xmlns="http://schemas.openxmlformats.org/package/2006/relationships"><Relationship Id="rId3" Type="http://schemas.openxmlformats.org/officeDocument/2006/relationships/hyperlink" Target="https://en.wikipedia.org/wiki/Case_of_Hirsi_Jamaa_and_Others_v._Italy" TargetMode="External"/><Relationship Id="rId2" Type="http://schemas.openxmlformats.org/officeDocument/2006/relationships/hyperlink" Target="https://www.reuters.com/world/italian-activists-face-trial-migrant-sea-rescue-legal-first-2025-05-29/" TargetMode="External"/><Relationship Id="rId1" Type="http://schemas.openxmlformats.org/officeDocument/2006/relationships/slideLayout" Target="../slideLayouts/slideLayout4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11.xml.rels><?xml version="1.0" encoding="UTF-8" standalone="yes"?>
<Relationships xmlns="http://schemas.openxmlformats.org/package/2006/relationships"><Relationship Id="rId2" Type="http://schemas.openxmlformats.org/officeDocument/2006/relationships/hyperlink" Target="https://global.oup.com/ushe/product/principles-of-biomedical-ethics-9780190640873?cc=fi&amp;lang=en&amp;" TargetMode="External"/><Relationship Id="rId1" Type="http://schemas.openxmlformats.org/officeDocument/2006/relationships/slideLayout" Target="../slideLayouts/slideLayout56.xml"/></Relationships>
</file>

<file path=ppt/slides/_rels/slide112.xml.rels><?xml version="1.0" encoding="UTF-8" standalone="yes"?>
<Relationships xmlns="http://schemas.openxmlformats.org/package/2006/relationships"><Relationship Id="rId2" Type="http://schemas.openxmlformats.org/officeDocument/2006/relationships/hyperlink" Target="https://www.aalto.fi/en/aalto-community-hub/how-to-make-an-ethics-self-assessment-in-research-projects-aalto-support-and-guidelines" TargetMode="External"/><Relationship Id="rId1" Type="http://schemas.openxmlformats.org/officeDocument/2006/relationships/slideLayout" Target="../slideLayouts/slideLayout46.xml"/></Relationships>
</file>

<file path=ppt/slides/_rels/slide113.xml.rels><?xml version="1.0" encoding="UTF-8" standalone="yes"?>
<Relationships xmlns="http://schemas.openxmlformats.org/package/2006/relationships"><Relationship Id="rId2" Type="http://schemas.openxmlformats.org/officeDocument/2006/relationships/hyperlink" Target="https://www.tenk.fi/sites/tenk.fi/files/Ihmistieteiden_eettisen_ennakkoarvioinnin_ohje_2019.pdf" TargetMode="External"/><Relationship Id="rId1" Type="http://schemas.openxmlformats.org/officeDocument/2006/relationships/slideLayout" Target="../slideLayouts/slideLayout4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15.xml.rels><?xml version="1.0" encoding="UTF-8" standalone="yes"?>
<Relationships xmlns="http://schemas.openxmlformats.org/package/2006/relationships"><Relationship Id="rId3" Type="http://schemas.openxmlformats.org/officeDocument/2006/relationships/hyperlink" Target="https://tenk.fi/sites/default/files/2023-11/RI_Guidelines_2023.pdf" TargetMode="External"/><Relationship Id="rId2" Type="http://schemas.openxmlformats.org/officeDocument/2006/relationships/hyperlink" Target="https://allea.org/code-of-conduct/" TargetMode="External"/><Relationship Id="rId1" Type="http://schemas.openxmlformats.org/officeDocument/2006/relationships/slideLayout" Target="../slideLayouts/slideLayout72.xml"/></Relationships>
</file>

<file path=ppt/slides/_rels/slide116.xml.rels><?xml version="1.0" encoding="UTF-8" standalone="yes"?>
<Relationships xmlns="http://schemas.openxmlformats.org/package/2006/relationships"><Relationship Id="rId3" Type="http://schemas.openxmlformats.org/officeDocument/2006/relationships/hyperlink" Target="https://tenk.fi/sites/default/files/2023-11/RI_Guidelines_2023.pdf" TargetMode="External"/><Relationship Id="rId2" Type="http://schemas.openxmlformats.org/officeDocument/2006/relationships/hyperlink" Target="https://allea.org/code-of-conduct/" TargetMode="External"/><Relationship Id="rId1" Type="http://schemas.openxmlformats.org/officeDocument/2006/relationships/slideLayout" Target="../slideLayouts/slideLayout7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19.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7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9.xml"/></Relationships>
</file>

<file path=ppt/slides/_rels/slide123.xml.rels><?xml version="1.0" encoding="UTF-8" standalone="yes"?>
<Relationships xmlns="http://schemas.openxmlformats.org/package/2006/relationships"><Relationship Id="rId3" Type="http://schemas.openxmlformats.org/officeDocument/2006/relationships/hyperlink" Target="https://www.edpb.europa.eu/our-work-tools/our-documents/support-pool-experts-projects/fundamentals-secure-ai-systems-personal_en" TargetMode="External"/><Relationship Id="rId2" Type="http://schemas.openxmlformats.org/officeDocument/2006/relationships/notesSlide" Target="../notesSlides/notesSlide13.xml"/><Relationship Id="rId1" Type="http://schemas.openxmlformats.org/officeDocument/2006/relationships/slideLayout" Target="../slideLayouts/slideLayout74.xml"/><Relationship Id="rId4" Type="http://schemas.openxmlformats.org/officeDocument/2006/relationships/image" Target="../media/image124.png"/></Relationships>
</file>

<file path=ppt/slides/_rels/slide1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4.xml"/><Relationship Id="rId1" Type="http://schemas.openxmlformats.org/officeDocument/2006/relationships/slideLayout" Target="../slideLayouts/slideLayout7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26.xml.rels><?xml version="1.0" encoding="UTF-8" standalone="yes"?>
<Relationships xmlns="http://schemas.openxmlformats.org/package/2006/relationships"><Relationship Id="rId3" Type="http://schemas.openxmlformats.org/officeDocument/2006/relationships/hyperlink" Target="https://www.turing.ac.uk/research/research-projects/ai-ethics-and-governance-practice" TargetMode="External"/><Relationship Id="rId2" Type="http://schemas.openxmlformats.org/officeDocument/2006/relationships/hyperlink" Target="https://academic.oup.com/book/46748" TargetMode="External"/><Relationship Id="rId1" Type="http://schemas.openxmlformats.org/officeDocument/2006/relationships/slideLayout" Target="../slideLayouts/slideLayout74.xml"/><Relationship Id="rId4" Type="http://schemas.openxmlformats.org/officeDocument/2006/relationships/hyperlink" Target="https://eur-lex.europa.eu/eli/reg/2024/1689/oj/eng" TargetMode="Externa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28.xml.rels><?xml version="1.0" encoding="UTF-8" standalone="yes"?>
<Relationships xmlns="http://schemas.openxmlformats.org/package/2006/relationships"><Relationship Id="rId3" Type="http://schemas.openxmlformats.org/officeDocument/2006/relationships/hyperlink" Target="https://archive.org/details/principlesofbiom0000beau_k8c1" TargetMode="External"/><Relationship Id="rId2" Type="http://schemas.openxmlformats.org/officeDocument/2006/relationships/image" Target="../media/image125.png"/><Relationship Id="rId1" Type="http://schemas.openxmlformats.org/officeDocument/2006/relationships/slideLayout" Target="../slideLayouts/slideLayout72.xml"/><Relationship Id="rId4" Type="http://schemas.openxmlformats.org/officeDocument/2006/relationships/hyperlink" Target="https://academic.oup.com/book/46748" TargetMode="External"/></Relationships>
</file>

<file path=ppt/slides/_rels/slide129.xml.rels><?xml version="1.0" encoding="UTF-8" standalone="yes"?>
<Relationships xmlns="http://schemas.openxmlformats.org/package/2006/relationships"><Relationship Id="rId2" Type="http://schemas.openxmlformats.org/officeDocument/2006/relationships/hyperlink" Target="https://academic.oup.com/book/46748" TargetMode="External"/><Relationship Id="rId1" Type="http://schemas.openxmlformats.org/officeDocument/2006/relationships/slideLayout" Target="../slideLayouts/slideLayout74.xml"/></Relationships>
</file>

<file path=ppt/slides/_rels/slide130.xml.rels><?xml version="1.0" encoding="UTF-8" standalone="yes"?>
<Relationships xmlns="http://schemas.openxmlformats.org/package/2006/relationships"><Relationship Id="rId3" Type="http://schemas.openxmlformats.org/officeDocument/2006/relationships/hyperlink" Target="https://www.turing.ac.uk/research/research-projects/ai-ethics-and-governance-practice" TargetMode="External"/><Relationship Id="rId2" Type="http://schemas.openxmlformats.org/officeDocument/2006/relationships/image" Target="../media/image126.png"/><Relationship Id="rId1" Type="http://schemas.openxmlformats.org/officeDocument/2006/relationships/slideLayout" Target="../slideLayouts/slideLayout72.xml"/></Relationships>
</file>

<file path=ppt/slides/_rels/slide131.xml.rels><?xml version="1.0" encoding="UTF-8" standalone="yes"?>
<Relationships xmlns="http://schemas.openxmlformats.org/package/2006/relationships"><Relationship Id="rId8" Type="http://schemas.openxmlformats.org/officeDocument/2006/relationships/hyperlink" Target="https://akateeminen.com/tuote/bender_emily/the_ai_con/9781847928627" TargetMode="External"/><Relationship Id="rId3" Type="http://schemas.openxmlformats.org/officeDocument/2006/relationships/hyperlink" Target="https://www.reuters.com/investigates/special-report/meta-ai-chatbot-death/" TargetMode="External"/><Relationship Id="rId7" Type="http://schemas.openxmlformats.org/officeDocument/2006/relationships/hyperlink" Target="https://www.sciencedirect.com/science/article/pii/S0268401223000816" TargetMode="External"/><Relationship Id="rId2" Type="http://schemas.openxmlformats.org/officeDocument/2006/relationships/hyperlink" Target="https://solve.co.uk/ethical-business/environmental-impact-of-ai/" TargetMode="External"/><Relationship Id="rId1" Type="http://schemas.openxmlformats.org/officeDocument/2006/relationships/slideLayout" Target="../slideLayouts/slideLayout72.xml"/><Relationship Id="rId6" Type="http://schemas.openxmlformats.org/officeDocument/2006/relationships/hyperlink" Target="https://www.theguardian.com/technology/2024/mar/16/ai-racism-chatgpt-gemini-bias#:~:text=A%20team%20of%20technology%20and,and%20spoken%20by%20Black%20Americans." TargetMode="External"/><Relationship Id="rId5" Type="http://schemas.openxmlformats.org/officeDocument/2006/relationships/hyperlink" Target="https://www.vice.com/en/article/openai-used-kenyan-workers-making-dollar2-an-hour-to-filter-traumatic-content-from-chatgpt/" TargetMode="External"/><Relationship Id="rId4" Type="http://schemas.openxmlformats.org/officeDocument/2006/relationships/hyperlink" Target="https://www.theguardian.com/technology/2025/aug/27/chatgpt-scrutiny-family-teen-killed-himself-sue-open-ai" TargetMode="External"/><Relationship Id="rId9" Type="http://schemas.openxmlformats.org/officeDocument/2006/relationships/image" Target="../media/image127.png"/></Relationships>
</file>

<file path=ppt/slides/_rels/slide132.xml.rels><?xml version="1.0" encoding="UTF-8" standalone="yes"?>
<Relationships xmlns="http://schemas.openxmlformats.org/package/2006/relationships"><Relationship Id="rId3" Type="http://schemas.openxmlformats.org/officeDocument/2006/relationships/hyperlink" Target="https://www.turing.ac.uk/research/research-projects/ai-ethics-and-governance-practice" TargetMode="External"/><Relationship Id="rId2" Type="http://schemas.openxmlformats.org/officeDocument/2006/relationships/hyperlink" Target="https://academic.oup.com/book/46748" TargetMode="External"/><Relationship Id="rId1" Type="http://schemas.openxmlformats.org/officeDocument/2006/relationships/slideLayout" Target="../slideLayouts/slideLayout74.xml"/><Relationship Id="rId4" Type="http://schemas.openxmlformats.org/officeDocument/2006/relationships/hyperlink" Target="https://eur-lex.europa.eu/eli/reg/2024/1689/oj/eng" TargetMode="External"/></Relationships>
</file>

<file path=ppt/slides/_rels/slide133.xml.rels><?xml version="1.0" encoding="UTF-8" standalone="yes"?>
<Relationships xmlns="http://schemas.openxmlformats.org/package/2006/relationships"><Relationship Id="rId2" Type="http://schemas.openxmlformats.org/officeDocument/2006/relationships/hyperlink" Target="https://www.aalto.fi/en/services/artificial-intelligence-ai-the-ai-act-and-ai-literacy-at-aalto-university" TargetMode="External"/><Relationship Id="rId1" Type="http://schemas.openxmlformats.org/officeDocument/2006/relationships/slideLayout" Target="../slideLayouts/slideLayout7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hyperlink" Target="https://www.aalto.fi/en/services/artificial-intelligence-ai-the-ai-act-and-ai-literacy-at-aalto-university" TargetMode="External"/><Relationship Id="rId1" Type="http://schemas.openxmlformats.org/officeDocument/2006/relationships/slideLayout" Target="../slideLayouts/slideLayout72.xml"/></Relationships>
</file>

<file path=ppt/slides/_rels/slide135.xml.rels><?xml version="1.0" encoding="UTF-8" standalone="yes"?>
<Relationships xmlns="http://schemas.openxmlformats.org/package/2006/relationships"><Relationship Id="rId3" Type="http://schemas.openxmlformats.org/officeDocument/2006/relationships/hyperlink" Target="https://www.edpb.europa.eu/our-work-tools/our-documents/support-pool-experts-projects/fundamentals-secure-ai-systems-personal_en" TargetMode="External"/><Relationship Id="rId2" Type="http://schemas.openxmlformats.org/officeDocument/2006/relationships/image" Target="../media/image129.png"/><Relationship Id="rId1" Type="http://schemas.openxmlformats.org/officeDocument/2006/relationships/slideLayout" Target="../slideLayouts/slideLayout7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37.xml.rels><?xml version="1.0" encoding="UTF-8" standalone="yes"?>
<Relationships xmlns="http://schemas.openxmlformats.org/package/2006/relationships"><Relationship Id="rId3" Type="http://schemas.openxmlformats.org/officeDocument/2006/relationships/image" Target="../media/image131.svg"/><Relationship Id="rId2" Type="http://schemas.openxmlformats.org/officeDocument/2006/relationships/image" Target="../media/image130.svg"/><Relationship Id="rId1" Type="http://schemas.openxmlformats.org/officeDocument/2006/relationships/slideLayout" Target="../slideLayouts/slideLayout72.xml"/><Relationship Id="rId5" Type="http://schemas.openxmlformats.org/officeDocument/2006/relationships/image" Target="../media/image133.svg"/><Relationship Id="rId4" Type="http://schemas.openxmlformats.org/officeDocument/2006/relationships/image" Target="../media/image132.sv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39.xml.rels><?xml version="1.0" encoding="UTF-8" standalone="yes"?>
<Relationships xmlns="http://schemas.openxmlformats.org/package/2006/relationships"><Relationship Id="rId3" Type="http://schemas.openxmlformats.org/officeDocument/2006/relationships/hyperlink" Target="https://www.aalto.fi/en/services/responsible-use-of-artificial-intelligence-in-the-research-process" TargetMode="External"/><Relationship Id="rId2" Type="http://schemas.openxmlformats.org/officeDocument/2006/relationships/notesSlide" Target="../notesSlides/notesSlide15.xml"/><Relationship Id="rId1" Type="http://schemas.openxmlformats.org/officeDocument/2006/relationships/slideLayout" Target="../slideLayouts/slideLayout74.xml"/></Relationships>
</file>

<file path=ppt/slides/_rels/slide140.xml.rels><?xml version="1.0" encoding="UTF-8" standalone="yes"?>
<Relationships xmlns="http://schemas.openxmlformats.org/package/2006/relationships"><Relationship Id="rId3" Type="http://schemas.openxmlformats.org/officeDocument/2006/relationships/hyperlink" Target="https://arxiv.org/html/2604.15597v1" TargetMode="External"/><Relationship Id="rId2" Type="http://schemas.openxmlformats.org/officeDocument/2006/relationships/hyperlink" Target="https://machinelearning.apple.com/research/exploring-hallucinations" TargetMode="External"/><Relationship Id="rId1" Type="http://schemas.openxmlformats.org/officeDocument/2006/relationships/slideLayout" Target="../slideLayouts/slideLayout74.xml"/><Relationship Id="rId4" Type="http://schemas.openxmlformats.org/officeDocument/2006/relationships/hyperlink" Target="https://arxiv.org/pdf/2505.12546" TargetMode="External"/></Relationships>
</file>

<file path=ppt/slides/_rels/slide141.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3" Type="http://schemas.openxmlformats.org/officeDocument/2006/relationships/hyperlink" Target="https://www.aalto.fi/en/services/responsible-use-of-artificial-intelligence-in-the-research-process" TargetMode="External"/><Relationship Id="rId2" Type="http://schemas.openxmlformats.org/officeDocument/2006/relationships/notesSlide" Target="../notesSlides/notesSlide16.xml"/><Relationship Id="rId1" Type="http://schemas.openxmlformats.org/officeDocument/2006/relationships/slideLayout" Target="../slideLayouts/slideLayout74.xml"/><Relationship Id="rId6" Type="http://schemas.openxmlformats.org/officeDocument/2006/relationships/hyperlink" Target="https://www.sciencedirect.com/journal/artificial-intelligence/publish/guide-for-authors" TargetMode="External"/><Relationship Id="rId5" Type="http://schemas.openxmlformats.org/officeDocument/2006/relationships/hyperlink" Target="https://www.elsevier.com/about/policies-and-standards/generative-ai-policies-for-journals" TargetMode="External"/><Relationship Id="rId4" Type="http://schemas.openxmlformats.org/officeDocument/2006/relationships/hyperlink" Target="https://www.nature.com/nature-portfolio/editorial-policies/ai" TargetMode="External"/></Relationships>
</file>

<file path=ppt/slides/_rels/slide143.xml.rels><?xml version="1.0" encoding="UTF-8" standalone="yes"?>
<Relationships xmlns="http://schemas.openxmlformats.org/package/2006/relationships"><Relationship Id="rId8" Type="http://schemas.openxmlformats.org/officeDocument/2006/relationships/hyperlink" Target="https://www.sciencedirect.com/science/article/pii/S0749597825000172?via%3Dihub" TargetMode="External"/><Relationship Id="rId3" Type="http://schemas.openxmlformats.org/officeDocument/2006/relationships/hyperlink" Target="https://www.elsevier.com/about/policies-and-standards/generative-ai-policies-for-journals" TargetMode="External"/><Relationship Id="rId7" Type="http://schemas.openxmlformats.org/officeDocument/2006/relationships/hyperlink" Target="https://www.science.org/content/article/far-more-authors-use-ai-write-science-papers-admit-it-publisher-reports" TargetMode="External"/><Relationship Id="rId2" Type="http://schemas.openxmlformats.org/officeDocument/2006/relationships/notesSlide" Target="../notesSlides/notesSlide17.xml"/><Relationship Id="rId1" Type="http://schemas.openxmlformats.org/officeDocument/2006/relationships/slideLayout" Target="../slideLayouts/slideLayout74.xml"/><Relationship Id="rId6" Type="http://schemas.openxmlformats.org/officeDocument/2006/relationships/hyperlink" Target="https://www.nature.com/articles/d41586-025-00894-7" TargetMode="External"/><Relationship Id="rId5" Type="http://schemas.openxmlformats.org/officeDocument/2006/relationships/hyperlink" Target="https://www.veracode.com/blog/ai-generated-code-security-risks/" TargetMode="External"/><Relationship Id="rId4" Type="http://schemas.openxmlformats.org/officeDocument/2006/relationships/hyperlink" Target="https://royalsocietypublishing.org/doi/10.1098/rsos.241776" TargetMode="Externa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47.xml.rels><?xml version="1.0" encoding="UTF-8" standalone="yes"?>
<Relationships xmlns="http://schemas.openxmlformats.org/package/2006/relationships"><Relationship Id="rId3" Type="http://schemas.openxmlformats.org/officeDocument/2006/relationships/hyperlink" Target="https://ai.aalto.fi/" TargetMode="External"/><Relationship Id="rId7" Type="http://schemas.openxmlformats.org/officeDocument/2006/relationships/image" Target="../media/image135.png"/><Relationship Id="rId2" Type="http://schemas.openxmlformats.org/officeDocument/2006/relationships/notesSlide" Target="../notesSlides/notesSlide19.xml"/><Relationship Id="rId1" Type="http://schemas.openxmlformats.org/officeDocument/2006/relationships/slideLayout" Target="../slideLayouts/slideLayout75.xml"/><Relationship Id="rId6" Type="http://schemas.openxmlformats.org/officeDocument/2006/relationships/hyperlink" Target="mailto:researchdata@aalto.fi" TargetMode="External"/><Relationship Id="rId5" Type="http://schemas.openxmlformats.org/officeDocument/2006/relationships/hyperlink" Target="https://scicomp.aalto.fi/triton/apps/llms/" TargetMode="External"/><Relationship Id="rId4" Type="http://schemas.openxmlformats.org/officeDocument/2006/relationships/hyperlink" Target="https://scicomp.aalto.fi/triton/apps/speech2text/" TargetMode="External"/></Relationships>
</file>

<file path=ppt/slides/_rels/slide148.xml.rels><?xml version="1.0" encoding="UTF-8" standalone="yes"?>
<Relationships xmlns="http://schemas.openxmlformats.org/package/2006/relationships"><Relationship Id="rId3" Type="http://schemas.openxmlformats.org/officeDocument/2006/relationships/image" Target="../media/image136.svg"/><Relationship Id="rId2" Type="http://schemas.openxmlformats.org/officeDocument/2006/relationships/notesSlide" Target="../notesSlides/notesSlide20.xml"/><Relationship Id="rId1" Type="http://schemas.openxmlformats.org/officeDocument/2006/relationships/slideLayout" Target="../slideLayouts/slideLayout75.xml"/></Relationships>
</file>

<file path=ppt/slides/_rels/slide149.xml.rels><?xml version="1.0" encoding="UTF-8" standalone="yes"?>
<Relationships xmlns="http://schemas.openxmlformats.org/package/2006/relationships"><Relationship Id="rId3" Type="http://schemas.openxmlformats.org/officeDocument/2006/relationships/hyperlink" Target="https://tenk.fi/sites/default/files/2023-11/RI_Guidelines_2023.pdf" TargetMode="External"/><Relationship Id="rId2" Type="http://schemas.openxmlformats.org/officeDocument/2006/relationships/hyperlink" Target="https://allea.org/wp-content/uploads/2023/06/European-Code-of-Conduct-Revised-Edition-2023.pdf" TargetMode="External"/><Relationship Id="rId1" Type="http://schemas.openxmlformats.org/officeDocument/2006/relationships/slideLayout" Target="../slideLayouts/slideLayout74.xml"/><Relationship Id="rId5" Type="http://schemas.openxmlformats.org/officeDocument/2006/relationships/hyperlink" Target="https://www.tandfonline.com/doi/full/10.1080/17482631.2023.2295151" TargetMode="External"/><Relationship Id="rId4" Type="http://schemas.openxmlformats.org/officeDocument/2006/relationships/hyperlink" Target="https://zenodo.org/records/1403226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EE317-0762-8244-14F4-529F9F1DD7A8}"/>
              </a:ext>
            </a:extLst>
          </p:cNvPr>
          <p:cNvSpPr>
            <a:spLocks noGrp="1"/>
          </p:cNvSpPr>
          <p:nvPr>
            <p:ph type="ctrTitle"/>
          </p:nvPr>
        </p:nvSpPr>
        <p:spPr>
          <a:xfrm>
            <a:off x="407988" y="3132671"/>
            <a:ext cx="9792468" cy="984885"/>
          </a:xfrm>
        </p:spPr>
        <p:txBody>
          <a:bodyPr/>
          <a:lstStyle/>
          <a:p>
            <a:r>
              <a:rPr lang="en-US"/>
              <a:t>AI in Research Work</a:t>
            </a:r>
            <a:br>
              <a:rPr lang="en-US"/>
            </a:br>
            <a:r>
              <a:rPr lang="en-US" b="0"/>
              <a:t>Prompt engineering and advanced uses of generative AI for researchers </a:t>
            </a:r>
            <a:br>
              <a:rPr lang="en-US" b="0"/>
            </a:br>
            <a:br>
              <a:rPr lang="en-US" b="0"/>
            </a:br>
            <a:endParaRPr lang="en-US" b="0"/>
          </a:p>
        </p:txBody>
      </p:sp>
      <p:sp>
        <p:nvSpPr>
          <p:cNvPr id="3" name="Subtitle 2">
            <a:extLst>
              <a:ext uri="{FF2B5EF4-FFF2-40B4-BE49-F238E27FC236}">
                <a16:creationId xmlns:a16="http://schemas.microsoft.com/office/drawing/2014/main" id="{67277A81-7ECA-400C-C6A9-4C2E074305E6}"/>
              </a:ext>
            </a:extLst>
          </p:cNvPr>
          <p:cNvSpPr>
            <a:spLocks noGrp="1"/>
          </p:cNvSpPr>
          <p:nvPr>
            <p:ph type="subTitle" idx="1"/>
          </p:nvPr>
        </p:nvSpPr>
        <p:spPr>
          <a:xfrm>
            <a:off x="407988" y="4382310"/>
            <a:ext cx="9792468" cy="923330"/>
          </a:xfrm>
        </p:spPr>
        <p:txBody>
          <a:bodyPr/>
          <a:lstStyle/>
          <a:p>
            <a:endParaRPr lang="en-US" sz="2000"/>
          </a:p>
          <a:p>
            <a:r>
              <a:rPr lang="en-US" sz="2000"/>
              <a:t>Dr. Enrico Glerean, Staff Scientist at SCI and Data Agent</a:t>
            </a:r>
          </a:p>
          <a:p>
            <a:r>
              <a:rPr lang="en-US" sz="2000"/>
              <a:t>Dr. Pedro Silva, Postdoc at CHEM and Data Agent</a:t>
            </a:r>
          </a:p>
        </p:txBody>
      </p:sp>
      <p:sp>
        <p:nvSpPr>
          <p:cNvPr id="5" name="Slide Number Placeholder 4">
            <a:extLst>
              <a:ext uri="{FF2B5EF4-FFF2-40B4-BE49-F238E27FC236}">
                <a16:creationId xmlns:a16="http://schemas.microsoft.com/office/drawing/2014/main" id="{AC39B00A-91F0-3D86-2C02-4D437D62718D}"/>
              </a:ext>
              <a:ext uri="{C183D7F6-B498-43B3-948B-1728B52AA6E4}">
                <adec:decorative xmlns:adec="http://schemas.microsoft.com/office/drawing/2017/decorative" val="0"/>
              </a:ext>
            </a:extLst>
          </p:cNvPr>
          <p:cNvSpPr>
            <a:spLocks noGrp="1"/>
          </p:cNvSpPr>
          <p:nvPr>
            <p:ph type="sldNum" sz="quarter" idx="12"/>
          </p:nvPr>
        </p:nvSpPr>
        <p:spPr>
          <a:xfrm>
            <a:off x="11352584" y="6309320"/>
            <a:ext cx="431428" cy="143869"/>
          </a:xfrm>
        </p:spPr>
        <p:txBody>
          <a:bodyPr/>
          <a:lstStyle/>
          <a:p>
            <a:fld id="{D701140D-C14F-41CA-99FC-0EF83E8DA40A}" type="slidenum">
              <a:rPr lang="fi-FI" smtClean="0"/>
              <a:pPr/>
              <a:t>1</a:t>
            </a:fld>
            <a:endParaRPr lang="fi-FI"/>
          </a:p>
        </p:txBody>
      </p:sp>
      <p:sp>
        <p:nvSpPr>
          <p:cNvPr id="4" name="Date Placeholder 3">
            <a:extLst>
              <a:ext uri="{FF2B5EF4-FFF2-40B4-BE49-F238E27FC236}">
                <a16:creationId xmlns:a16="http://schemas.microsoft.com/office/drawing/2014/main" id="{20B727AA-8EC2-B4F6-FA08-49575B61DAAD}"/>
              </a:ext>
            </a:extLst>
          </p:cNvPr>
          <p:cNvSpPr>
            <a:spLocks noGrp="1"/>
          </p:cNvSpPr>
          <p:nvPr>
            <p:ph type="dt" sz="half" idx="10"/>
          </p:nvPr>
        </p:nvSpPr>
        <p:spPr/>
        <p:txBody>
          <a:bodyPr/>
          <a:lstStyle/>
          <a:p>
            <a:r>
              <a:rPr lang="fi-FI"/>
              <a:t>28.04.2026</a:t>
            </a:r>
          </a:p>
        </p:txBody>
      </p:sp>
      <p:sp>
        <p:nvSpPr>
          <p:cNvPr id="6" name="Footer Placeholder 5">
            <a:extLst>
              <a:ext uri="{FF2B5EF4-FFF2-40B4-BE49-F238E27FC236}">
                <a16:creationId xmlns:a16="http://schemas.microsoft.com/office/drawing/2014/main" id="{04919D80-8032-5CF9-4B44-81B2773DE7E8}"/>
              </a:ext>
            </a:extLst>
          </p:cNvPr>
          <p:cNvSpPr>
            <a:spLocks noGrp="1"/>
          </p:cNvSpPr>
          <p:nvPr>
            <p:ph type="ftr" sz="quarter" idx="11"/>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988163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89661-37DF-A26D-65B5-6358AD726087}"/>
              </a:ext>
            </a:extLst>
          </p:cNvPr>
          <p:cNvSpPr>
            <a:spLocks noGrp="1"/>
          </p:cNvSpPr>
          <p:nvPr>
            <p:ph type="title"/>
          </p:nvPr>
        </p:nvSpPr>
        <p:spPr/>
        <p:txBody>
          <a:bodyPr/>
          <a:lstStyle/>
          <a:p>
            <a:r>
              <a:rPr lang="en-US"/>
              <a:t>Outline: AI in research work I – prompt engineering and other tools</a:t>
            </a:r>
          </a:p>
        </p:txBody>
      </p:sp>
      <p:sp>
        <p:nvSpPr>
          <p:cNvPr id="6" name="Content Placeholder 5">
            <a:extLst>
              <a:ext uri="{FF2B5EF4-FFF2-40B4-BE49-F238E27FC236}">
                <a16:creationId xmlns:a16="http://schemas.microsoft.com/office/drawing/2014/main" id="{FCBCC10F-6A33-5094-0776-A5A6488F1FC6}"/>
              </a:ext>
            </a:extLst>
          </p:cNvPr>
          <p:cNvSpPr>
            <a:spLocks noGrp="1"/>
          </p:cNvSpPr>
          <p:nvPr>
            <p:ph sz="half" idx="1"/>
          </p:nvPr>
        </p:nvSpPr>
        <p:spPr/>
        <p:txBody>
          <a:bodyPr/>
          <a:lstStyle/>
          <a:p>
            <a:pPr marL="514350" indent="-514350">
              <a:buFont typeface="+mj-lt"/>
              <a:buAutoNum type="arabicPeriod"/>
            </a:pPr>
            <a:r>
              <a:rPr lang="en-US"/>
              <a:t>From AI to generative AI</a:t>
            </a:r>
          </a:p>
          <a:p>
            <a:pPr marL="514350" indent="-514350">
              <a:buFont typeface="+mj-lt"/>
              <a:buAutoNum type="arabicPeriod"/>
            </a:pPr>
            <a:r>
              <a:rPr lang="en-US"/>
              <a:t>Prompt engineering for research</a:t>
            </a:r>
          </a:p>
          <a:p>
            <a:pPr marL="514350" indent="-514350">
              <a:buFont typeface="+mj-lt"/>
              <a:buAutoNum type="arabicPeriod"/>
            </a:pPr>
            <a:r>
              <a:rPr lang="en-US"/>
              <a:t>Gen AI with LLMs in the academic workflow</a:t>
            </a:r>
          </a:p>
          <a:p>
            <a:pPr marL="514350" indent="-514350">
              <a:buFont typeface="+mj-lt"/>
              <a:buAutoNum type="arabicPeriod"/>
            </a:pPr>
            <a:r>
              <a:rPr lang="en-US"/>
              <a:t>Other tools and advanced topics</a:t>
            </a:r>
          </a:p>
          <a:p>
            <a:pPr marL="514350" indent="-514350">
              <a:buFont typeface="+mj-lt"/>
              <a:buAutoNum type="arabicPeriod"/>
            </a:pPr>
            <a:r>
              <a:rPr lang="en-US"/>
              <a:t>Conclusions</a:t>
            </a:r>
          </a:p>
          <a:p>
            <a:endParaRPr lang="en-US"/>
          </a:p>
          <a:p>
            <a:endParaRPr lang="en-US"/>
          </a:p>
        </p:txBody>
      </p:sp>
      <p:sp>
        <p:nvSpPr>
          <p:cNvPr id="7" name="Content Placeholder 6">
            <a:extLst>
              <a:ext uri="{FF2B5EF4-FFF2-40B4-BE49-F238E27FC236}">
                <a16:creationId xmlns:a16="http://schemas.microsoft.com/office/drawing/2014/main" id="{AAD82A26-9AA1-0E07-267A-2F61B3FA8240}"/>
              </a:ext>
            </a:extLst>
          </p:cNvPr>
          <p:cNvSpPr>
            <a:spLocks noGrp="1"/>
          </p:cNvSpPr>
          <p:nvPr>
            <p:ph sz="half" idx="2"/>
          </p:nvPr>
        </p:nvSpPr>
        <p:spPr/>
        <p:txBody>
          <a:bodyPr/>
          <a:lstStyle/>
          <a:p>
            <a:pPr marL="0" indent="0">
              <a:buNone/>
            </a:pPr>
            <a:r>
              <a:rPr lang="en-US"/>
              <a:t>Learning outcomes</a:t>
            </a:r>
          </a:p>
          <a:p>
            <a:pPr marL="456565" indent="-456565">
              <a:buFontTx/>
              <a:buChar char="-"/>
            </a:pPr>
            <a:r>
              <a:rPr lang="en-US"/>
              <a:t>How to use generative AI tools in your research work</a:t>
            </a:r>
            <a:endParaRPr lang="en-US">
              <a:cs typeface="Arial"/>
            </a:endParaRPr>
          </a:p>
          <a:p>
            <a:pPr marL="456565" indent="-456565">
              <a:buFontTx/>
              <a:buChar char="-"/>
            </a:pPr>
            <a:r>
              <a:rPr lang="en-US"/>
              <a:t>Evaluating the outputs and understanding limitations</a:t>
            </a:r>
          </a:p>
          <a:p>
            <a:pPr marL="456565" indent="-456565">
              <a:buFontTx/>
              <a:buChar char="-"/>
            </a:pPr>
            <a:r>
              <a:rPr lang="en-US">
                <a:cs typeface="Arial" panose="020B0604020202020204"/>
              </a:rPr>
              <a:t>Learn and explore more tools that are specifically made for researchers</a:t>
            </a:r>
          </a:p>
        </p:txBody>
      </p:sp>
      <p:sp>
        <p:nvSpPr>
          <p:cNvPr id="8" name="Slide Number Placeholder 7">
            <a:extLst>
              <a:ext uri="{FF2B5EF4-FFF2-40B4-BE49-F238E27FC236}">
                <a16:creationId xmlns:a16="http://schemas.microsoft.com/office/drawing/2014/main" id="{2D553989-8B3F-AF9B-254C-B180D799F8B9}"/>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lstStyle/>
          <a:p>
            <a:fld id="{D701140D-C14F-41CA-99FC-0EF83E8DA40A}" type="slidenum">
              <a:rPr lang="fi-FI" smtClean="0"/>
              <a:t>2</a:t>
            </a:fld>
            <a:endParaRPr lang="fi-FI"/>
          </a:p>
        </p:txBody>
      </p:sp>
      <p:sp>
        <p:nvSpPr>
          <p:cNvPr id="3" name="Date Placeholder 2">
            <a:extLst>
              <a:ext uri="{FF2B5EF4-FFF2-40B4-BE49-F238E27FC236}">
                <a16:creationId xmlns:a16="http://schemas.microsoft.com/office/drawing/2014/main" id="{3D636A54-C9D2-2659-AFA8-C1B34F601F4E}"/>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EF009AF8-7F67-3597-3FA2-3A9361D65EB0}"/>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5" name="TextBox 4">
            <a:extLst>
              <a:ext uri="{FF2B5EF4-FFF2-40B4-BE49-F238E27FC236}">
                <a16:creationId xmlns:a16="http://schemas.microsoft.com/office/drawing/2014/main" id="{D0D80B31-6F57-6265-28A9-651F0812FE7A}"/>
              </a:ext>
            </a:extLst>
          </p:cNvPr>
          <p:cNvSpPr txBox="1"/>
          <p:nvPr/>
        </p:nvSpPr>
        <p:spPr>
          <a:xfrm>
            <a:off x="778213" y="5087566"/>
            <a:ext cx="9873574" cy="584775"/>
          </a:xfrm>
          <a:prstGeom prst="rect">
            <a:avLst/>
          </a:prstGeom>
          <a:noFill/>
        </p:spPr>
        <p:txBody>
          <a:bodyPr wrap="square" rtlCol="0">
            <a:spAutoFit/>
          </a:bodyPr>
          <a:lstStyle/>
          <a:p>
            <a:pPr algn="l"/>
            <a:r>
              <a:rPr lang="en-US" sz="1600" b="1">
                <a:latin typeface="+mj-lt"/>
              </a:rPr>
              <a:t>NOTE: in this episode we don’t cover any cybersecurity or legal or ethical aspects. </a:t>
            </a:r>
            <a:br>
              <a:rPr lang="en-US" sz="1600" b="1">
                <a:latin typeface="+mj-lt"/>
              </a:rPr>
            </a:br>
            <a:r>
              <a:rPr lang="en-US" sz="1600" b="1">
                <a:latin typeface="+mj-lt"/>
              </a:rPr>
              <a:t>We are also skipping the basics of how LLMs work.</a:t>
            </a:r>
            <a:endParaRPr lang="en-FI" sz="1600" b="1" err="1">
              <a:latin typeface="+mj-lt"/>
            </a:endParaRPr>
          </a:p>
        </p:txBody>
      </p:sp>
    </p:spTree>
    <p:extLst>
      <p:ext uri="{BB962C8B-B14F-4D97-AF65-F5344CB8AC3E}">
        <p14:creationId xmlns:p14="http://schemas.microsoft.com/office/powerpoint/2010/main" val="697354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89661-37DF-A26D-65B5-6358AD726087}"/>
              </a:ext>
            </a:extLst>
          </p:cNvPr>
          <p:cNvSpPr>
            <a:spLocks noGrp="1"/>
          </p:cNvSpPr>
          <p:nvPr>
            <p:ph type="title"/>
          </p:nvPr>
        </p:nvSpPr>
        <p:spPr/>
        <p:txBody>
          <a:bodyPr/>
          <a:lstStyle/>
          <a:p>
            <a:r>
              <a:rPr lang="en-US"/>
              <a:t>Briefly about the speakers</a:t>
            </a:r>
          </a:p>
        </p:txBody>
      </p:sp>
      <p:sp>
        <p:nvSpPr>
          <p:cNvPr id="7" name="Content Placeholder 6">
            <a:extLst>
              <a:ext uri="{FF2B5EF4-FFF2-40B4-BE49-F238E27FC236}">
                <a16:creationId xmlns:a16="http://schemas.microsoft.com/office/drawing/2014/main" id="{AAD82A26-9AA1-0E07-267A-2F61B3FA8240}"/>
              </a:ext>
            </a:extLst>
          </p:cNvPr>
          <p:cNvSpPr>
            <a:spLocks noGrp="1"/>
          </p:cNvSpPr>
          <p:nvPr>
            <p:ph sz="half" idx="2"/>
          </p:nvPr>
        </p:nvSpPr>
        <p:spPr>
          <a:xfrm>
            <a:off x="407987" y="1138519"/>
            <a:ext cx="10728325" cy="4738406"/>
          </a:xfrm>
        </p:spPr>
        <p:txBody>
          <a:bodyPr/>
          <a:lstStyle/>
          <a:p>
            <a:pPr marL="0" indent="0">
              <a:buNone/>
            </a:pPr>
            <a:r>
              <a:rPr lang="en-US" b="1"/>
              <a:t>Enrico Glerean, DSc.</a:t>
            </a:r>
          </a:p>
          <a:p>
            <a:pPr marL="342900" indent="-342900">
              <a:buFont typeface="Arial" panose="020B0604020202020204" pitchFamily="34" charset="0"/>
              <a:buChar char="•"/>
            </a:pPr>
            <a:r>
              <a:rPr lang="en-US" sz="1600" b="1"/>
              <a:t>Staff scientist and data agent </a:t>
            </a:r>
            <a:r>
              <a:rPr lang="en-US" sz="1600"/>
              <a:t>(background in neuroimaging), training and supporting researchers with handling personal data (anonymization, secure computing), medical images, clinical trials, research ethics and research integrity (AI and new technologies), statistics, open science.</a:t>
            </a:r>
          </a:p>
          <a:p>
            <a:pPr marL="342900" indent="-342900">
              <a:buFont typeface="Arial" panose="020B0604020202020204" pitchFamily="34" charset="0"/>
              <a:buChar char="•"/>
            </a:pPr>
            <a:r>
              <a:rPr lang="en-US" sz="1600"/>
              <a:t>Other affiliations/COI: </a:t>
            </a:r>
            <a:r>
              <a:rPr lang="en-US" sz="1600" b="1" err="1"/>
              <a:t>CodeRefinery</a:t>
            </a:r>
            <a:r>
              <a:rPr lang="en-US" sz="1600"/>
              <a:t> (Nordic network to teach computational reproducibility), </a:t>
            </a:r>
            <a:r>
              <a:rPr lang="en-US" sz="1600" b="1"/>
              <a:t>Finnish Reproducibility Network</a:t>
            </a:r>
            <a:r>
              <a:rPr lang="en-US" sz="1600"/>
              <a:t> (National network to raise awareness in reproducibility), Support Pool of Experts at the </a:t>
            </a:r>
            <a:r>
              <a:rPr lang="en-US" sz="1600" b="1"/>
              <a:t>European Data Protection Board</a:t>
            </a:r>
            <a:r>
              <a:rPr lang="en-US" sz="1600"/>
              <a:t> (open training materials on personal data, AI, and cybersecurity), </a:t>
            </a:r>
            <a:r>
              <a:rPr lang="en-US" sz="1600" b="1"/>
              <a:t>Data Steward training program</a:t>
            </a:r>
            <a:r>
              <a:rPr lang="en-US" sz="1600"/>
              <a:t> for </a:t>
            </a:r>
            <a:r>
              <a:rPr lang="en-US" sz="1600" b="1"/>
              <a:t>Tampere University</a:t>
            </a:r>
            <a:endParaRPr lang="en-US" sz="1600">
              <a:cs typeface="Arial" panose="020B0604020202020204"/>
            </a:endParaRPr>
          </a:p>
          <a:p>
            <a:endParaRPr lang="en-US"/>
          </a:p>
          <a:p>
            <a:r>
              <a:rPr lang="en-US" b="1"/>
              <a:t>Pedro Silva, PhD</a:t>
            </a:r>
            <a:endParaRPr lang="en-US" b="1">
              <a:cs typeface="Arial"/>
            </a:endParaRPr>
          </a:p>
          <a:p>
            <a:pPr marL="342900" indent="-342900">
              <a:buFont typeface="Arial" panose="020B0604020202020204" pitchFamily="34" charset="0"/>
              <a:buChar char="•"/>
            </a:pPr>
            <a:r>
              <a:rPr lang="en-US" sz="1600" b="1"/>
              <a:t>Postdoctoral Researcher, </a:t>
            </a:r>
            <a:r>
              <a:rPr lang="en-US" sz="1600"/>
              <a:t>developing new textile functionalities by leveraging the material properties through innovative designs, </a:t>
            </a:r>
            <a:r>
              <a:rPr lang="en-US" sz="1600" b="1"/>
              <a:t>and data agent</a:t>
            </a:r>
            <a:r>
              <a:rPr lang="en-US" sz="1600"/>
              <a:t> at the Aalto School of Chemical Engineering (CHEM), promoting best practices in Research Data Management and Open Science, training and supporting researchers with documentation and research workflows.</a:t>
            </a:r>
            <a:endParaRPr lang="en-US">
              <a:cs typeface="Arial"/>
            </a:endParaRPr>
          </a:p>
        </p:txBody>
      </p:sp>
      <p:sp>
        <p:nvSpPr>
          <p:cNvPr id="8" name="Slide Number Placeholder 7">
            <a:extLst>
              <a:ext uri="{FF2B5EF4-FFF2-40B4-BE49-F238E27FC236}">
                <a16:creationId xmlns:a16="http://schemas.microsoft.com/office/drawing/2014/main" id="{2D553989-8B3F-AF9B-254C-B180D799F8B9}"/>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lstStyle/>
          <a:p>
            <a:fld id="{D701140D-C14F-41CA-99FC-0EF83E8DA40A}" type="slidenum">
              <a:rPr lang="fi-FI" smtClean="0"/>
              <a:t>3</a:t>
            </a:fld>
            <a:endParaRPr lang="fi-FI"/>
          </a:p>
        </p:txBody>
      </p:sp>
      <p:sp>
        <p:nvSpPr>
          <p:cNvPr id="3" name="Date Placeholder 2">
            <a:extLst>
              <a:ext uri="{FF2B5EF4-FFF2-40B4-BE49-F238E27FC236}">
                <a16:creationId xmlns:a16="http://schemas.microsoft.com/office/drawing/2014/main" id="{A0AE4676-B79E-AC27-E57B-B09B3193F5F1}"/>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4BF37C8D-9BDE-04CE-251B-BE359AD8D546}"/>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723931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92746-BA7F-F45F-97B6-F39567E92EAF}"/>
              </a:ext>
            </a:extLst>
          </p:cNvPr>
          <p:cNvSpPr>
            <a:spLocks noGrp="1"/>
          </p:cNvSpPr>
          <p:nvPr>
            <p:ph type="title"/>
          </p:nvPr>
        </p:nvSpPr>
        <p:spPr/>
        <p:txBody>
          <a:bodyPr/>
          <a:lstStyle/>
          <a:p>
            <a:pPr algn="ctr"/>
            <a:r>
              <a:rPr kumimoji="0" lang="en-GB" sz="3200" b="1" i="0" u="none" strike="noStrike" kern="1200" cap="none" spc="0" normalizeH="0" baseline="0" noProof="0">
                <a:ln>
                  <a:noFill/>
                </a:ln>
                <a:solidFill>
                  <a:srgbClr val="FF0000"/>
                </a:solidFill>
                <a:effectLst/>
                <a:uLnTx/>
                <a:uFillTx/>
                <a:ea typeface="+mn-ea"/>
                <a:cs typeface="Helvetica"/>
              </a:rPr>
              <a:t>DISCLAIMER</a:t>
            </a:r>
            <a:endParaRPr lang="en-US"/>
          </a:p>
        </p:txBody>
      </p:sp>
      <p:sp>
        <p:nvSpPr>
          <p:cNvPr id="6" name="Text Placeholder 5">
            <a:extLst>
              <a:ext uri="{FF2B5EF4-FFF2-40B4-BE49-F238E27FC236}">
                <a16:creationId xmlns:a16="http://schemas.microsoft.com/office/drawing/2014/main" id="{6B04EE80-E991-09E2-8D89-AC4A3D54185F}"/>
              </a:ext>
            </a:extLst>
          </p:cNvPr>
          <p:cNvSpPr>
            <a:spLocks noGrp="1"/>
          </p:cNvSpPr>
          <p:nvPr>
            <p:ph type="body" sz="quarter" idx="13"/>
          </p:nvPr>
        </p:nvSpPr>
        <p:spPr>
          <a:xfrm>
            <a:off x="1055688" y="1628800"/>
            <a:ext cx="10080625" cy="3671886"/>
          </a:xfrm>
        </p:spPr>
        <p:txBody>
          <a:bodyPr/>
          <a:lstStyle/>
          <a:p>
            <a:pPr algn="ctr"/>
            <a:r>
              <a:rPr lang="en-GB" sz="2400" cap="all">
                <a:solidFill>
                  <a:schemeClr val="bg1"/>
                </a:solidFill>
                <a:latin typeface="+mj-lt"/>
                <a:cs typeface="Helvetica"/>
              </a:rPr>
              <a:t>THIS IS NOT A COMPUTER SCIENCE COURSE ON Generative ARTIFICIAL INTELLIGENCE. The materials are tailored for researchers who MIGHT have never used these technologies</a:t>
            </a:r>
          </a:p>
          <a:p>
            <a:pPr algn="ctr"/>
            <a:endParaRPr lang="en-GB" sz="2400" cap="all">
              <a:solidFill>
                <a:schemeClr val="bg1"/>
              </a:solidFill>
              <a:latin typeface="+mj-lt"/>
              <a:cs typeface="Helvetica"/>
            </a:endParaRPr>
          </a:p>
          <a:p>
            <a:pPr algn="ctr"/>
            <a:r>
              <a:rPr lang="en-GB" sz="2400" cap="all">
                <a:solidFill>
                  <a:schemeClr val="bg1"/>
                </a:solidFill>
                <a:latin typeface="+mj-lt"/>
                <a:cs typeface="Helvetica"/>
              </a:rPr>
              <a:t>WE WILL FOCUS ON </a:t>
            </a:r>
            <a:r>
              <a:rPr lang="en-GB" sz="2400" b="1" cap="all">
                <a:solidFill>
                  <a:schemeClr val="bg1"/>
                </a:solidFill>
                <a:latin typeface="+mj-lt"/>
                <a:cs typeface="Helvetica"/>
              </a:rPr>
              <a:t>INTUITIVE EXPLANATIONS</a:t>
            </a:r>
            <a:r>
              <a:rPr lang="en-GB" sz="2400" cap="all">
                <a:solidFill>
                  <a:schemeClr val="bg1"/>
                </a:solidFill>
                <a:latin typeface="+mj-lt"/>
                <a:cs typeface="Helvetica"/>
              </a:rPr>
              <a:t> and </a:t>
            </a:r>
            <a:r>
              <a:rPr lang="en-GB" sz="2400" b="1" cap="all">
                <a:solidFill>
                  <a:schemeClr val="bg1"/>
                </a:solidFill>
                <a:latin typeface="+mj-lt"/>
                <a:cs typeface="Helvetica"/>
              </a:rPr>
              <a:t>practical</a:t>
            </a:r>
            <a:r>
              <a:rPr lang="en-GB" sz="2400" cap="all">
                <a:solidFill>
                  <a:schemeClr val="bg1"/>
                </a:solidFill>
                <a:latin typeface="+mj-lt"/>
                <a:cs typeface="Helvetica"/>
              </a:rPr>
              <a:t> hints on how to use the most popular tools and what to be aware of when using them</a:t>
            </a:r>
          </a:p>
          <a:p>
            <a:pPr algn="ctr"/>
            <a:endParaRPr lang="en-GB" sz="2400" cap="all">
              <a:solidFill>
                <a:schemeClr val="bg1"/>
              </a:solidFill>
              <a:latin typeface="+mj-lt"/>
              <a:cs typeface="Helvetica"/>
            </a:endParaRPr>
          </a:p>
          <a:p>
            <a:pPr algn="ctr"/>
            <a:r>
              <a:rPr lang="en-GB" sz="2400" cap="all">
                <a:solidFill>
                  <a:schemeClr val="bg1"/>
                </a:solidFill>
                <a:latin typeface="+mj-lt"/>
                <a:cs typeface="Helvetica"/>
              </a:rPr>
              <a:t>Share your experience so that we can IMPROVE OUR MATERIALS AND MADE THEM OPEN FOR EVERYONE</a:t>
            </a:r>
          </a:p>
          <a:p>
            <a:endParaRPr lang="en-US" sz="2400">
              <a:latin typeface="+mj-lt"/>
            </a:endParaRPr>
          </a:p>
        </p:txBody>
      </p:sp>
      <p:sp>
        <p:nvSpPr>
          <p:cNvPr id="7" name="Slide Number Placeholder 6">
            <a:extLst>
              <a:ext uri="{FF2B5EF4-FFF2-40B4-BE49-F238E27FC236}">
                <a16:creationId xmlns:a16="http://schemas.microsoft.com/office/drawing/2014/main" id="{ABEA387B-3D69-2A67-6273-DFABE5B5AFC6}"/>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pPr/>
              <a:t>4</a:t>
            </a:fld>
            <a:endParaRPr lang="fi-FI"/>
          </a:p>
        </p:txBody>
      </p:sp>
      <p:sp>
        <p:nvSpPr>
          <p:cNvPr id="3" name="Date Placeholder 2">
            <a:extLst>
              <a:ext uri="{FF2B5EF4-FFF2-40B4-BE49-F238E27FC236}">
                <a16:creationId xmlns:a16="http://schemas.microsoft.com/office/drawing/2014/main" id="{50D5F19E-92A2-8305-3B18-BBA446D229F2}"/>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6DAB67B9-8711-DE60-6137-94D981FE016B}"/>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373740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C658F-12B4-3178-178B-1B70C2A38692}"/>
              </a:ext>
            </a:extLst>
          </p:cNvPr>
          <p:cNvSpPr>
            <a:spLocks noGrp="1"/>
          </p:cNvSpPr>
          <p:nvPr>
            <p:ph type="title"/>
          </p:nvPr>
        </p:nvSpPr>
        <p:spPr/>
        <p:txBody>
          <a:bodyPr/>
          <a:lstStyle/>
          <a:p>
            <a:r>
              <a:rPr lang="en-US"/>
              <a:t>The Research Process aided by AI </a:t>
            </a:r>
            <a:br>
              <a:rPr lang="en-US"/>
            </a:br>
            <a:r>
              <a:rPr lang="en-US" sz="2000"/>
              <a:t>with Responsible Conduct of Research at its core and some examples</a:t>
            </a:r>
          </a:p>
        </p:txBody>
      </p:sp>
      <p:grpSp>
        <p:nvGrpSpPr>
          <p:cNvPr id="11" name="Group 10" descr="A circular diagram depicting the life cycle of research data in several connected steps: Plan, Collect, Process, Analyse, Preserve, Share, and Reuse. Each step is represented as a section of the wheel, illustrating the continuous and cyclical nature of the research data life cycle, highlighting how each stage is interconnected and sequential.">
            <a:extLst>
              <a:ext uri="{FF2B5EF4-FFF2-40B4-BE49-F238E27FC236}">
                <a16:creationId xmlns:a16="http://schemas.microsoft.com/office/drawing/2014/main" id="{D726A701-CADC-61BA-67A5-5725450FB2F3}"/>
              </a:ext>
            </a:extLst>
          </p:cNvPr>
          <p:cNvGrpSpPr/>
          <p:nvPr/>
        </p:nvGrpSpPr>
        <p:grpSpPr>
          <a:xfrm>
            <a:off x="3789997" y="1435034"/>
            <a:ext cx="4612006" cy="4612000"/>
            <a:chOff x="3480076" y="1435034"/>
            <a:chExt cx="4612006" cy="4612000"/>
          </a:xfrm>
        </p:grpSpPr>
        <p:pic>
          <p:nvPicPr>
            <p:cNvPr id="8" name="Graphic 7" descr="A circular diagram depicting the life cycle of research data in several connected steps: Plan, Collect, Process, Analyse, Preserve, Share, and Reuse. Each step is represented as a section of the wheel, illustrating the continuous and cyclical nature of the research data life cycle, highlighting how each stage is interconnected and sequential.">
              <a:extLst>
                <a:ext uri="{FF2B5EF4-FFF2-40B4-BE49-F238E27FC236}">
                  <a16:creationId xmlns:a16="http://schemas.microsoft.com/office/drawing/2014/main" id="{5F32BC87-5777-4C9F-61CC-212C754A53E8}"/>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80076" y="1435034"/>
              <a:ext cx="4612006" cy="4612000"/>
            </a:xfrm>
            <a:prstGeom prst="rect">
              <a:avLst/>
            </a:prstGeom>
          </p:spPr>
        </p:pic>
        <p:sp>
          <p:nvSpPr>
            <p:cNvPr id="9" name="Text Placeholder 3">
              <a:extLst>
                <a:ext uri="{FF2B5EF4-FFF2-40B4-BE49-F238E27FC236}">
                  <a16:creationId xmlns:a16="http://schemas.microsoft.com/office/drawing/2014/main" id="{CCDC71E3-CBA0-40C2-F9ED-2CCE98D69267}"/>
                </a:ext>
              </a:extLst>
            </p:cNvPr>
            <p:cNvSpPr txBox="1">
              <a:spLocks/>
            </p:cNvSpPr>
            <p:nvPr/>
          </p:nvSpPr>
          <p:spPr>
            <a:xfrm>
              <a:off x="4925743" y="3223164"/>
              <a:ext cx="1664629" cy="656605"/>
            </a:xfrm>
            <a:prstGeom prst="rect">
              <a:avLst/>
            </a:prstGeom>
          </p:spPr>
          <p:txBody>
            <a:bodyPr lIns="0" tIns="0" rIns="0" bIns="0"/>
            <a:lstStyle>
              <a:lvl1pPr marL="0" indent="0" algn="l" defTabSz="914377" rtl="0" eaLnBrk="1" latinLnBrk="0" hangingPunct="1">
                <a:lnSpc>
                  <a:spcPct val="100000"/>
                </a:lnSpc>
                <a:spcBef>
                  <a:spcPts val="1000"/>
                </a:spcBef>
                <a:buFont typeface="Arial"/>
                <a:buNone/>
                <a:defRPr sz="5333" b="1" kern="1200" baseline="0">
                  <a:solidFill>
                    <a:schemeClr val="tx1"/>
                  </a:solidFill>
                  <a:latin typeface="+mn-lt"/>
                  <a:ea typeface="+mn-ea"/>
                  <a:cs typeface="+mn-cs"/>
                </a:defRPr>
              </a:lvl1pPr>
              <a:lvl2pPr marL="457189" indent="0" algn="l" defTabSz="914377" rtl="0" eaLnBrk="1" latinLnBrk="0" hangingPunct="1">
                <a:lnSpc>
                  <a:spcPct val="90000"/>
                </a:lnSpc>
                <a:spcBef>
                  <a:spcPts val="500"/>
                </a:spcBef>
                <a:buFont typeface="Arial"/>
                <a:buNone/>
                <a:defRPr sz="1400" kern="1200">
                  <a:solidFill>
                    <a:schemeClr val="tx1"/>
                  </a:solidFill>
                  <a:latin typeface="+mn-lt"/>
                  <a:ea typeface="+mn-ea"/>
                  <a:cs typeface="+mn-cs"/>
                </a:defRPr>
              </a:lvl2pPr>
              <a:lvl3pPr marL="914377" indent="0" algn="l" defTabSz="914377" rtl="0" eaLnBrk="1" latinLnBrk="0" hangingPunct="1">
                <a:lnSpc>
                  <a:spcPct val="90000"/>
                </a:lnSpc>
                <a:spcBef>
                  <a:spcPts val="500"/>
                </a:spcBef>
                <a:buFont typeface="Arial"/>
                <a:buNone/>
                <a:defRPr sz="1200" kern="1200">
                  <a:solidFill>
                    <a:schemeClr val="tx1"/>
                  </a:solidFill>
                  <a:latin typeface="+mn-lt"/>
                  <a:ea typeface="+mn-ea"/>
                  <a:cs typeface="+mn-cs"/>
                </a:defRPr>
              </a:lvl3pPr>
              <a:lvl4pPr marL="1371566" indent="0" algn="l" defTabSz="914377" rtl="0" eaLnBrk="1" latinLnBrk="0" hangingPunct="1">
                <a:lnSpc>
                  <a:spcPct val="90000"/>
                </a:lnSpc>
                <a:spcBef>
                  <a:spcPts val="500"/>
                </a:spcBef>
                <a:buFont typeface="Arial"/>
                <a:buNone/>
                <a:defRPr sz="1000" kern="1200">
                  <a:solidFill>
                    <a:schemeClr val="tx1"/>
                  </a:solidFill>
                  <a:latin typeface="+mn-lt"/>
                  <a:ea typeface="+mn-ea"/>
                  <a:cs typeface="+mn-cs"/>
                </a:defRPr>
              </a:lvl4pPr>
              <a:lvl5pPr marL="1828754" indent="0" algn="l" defTabSz="914377" rtl="0" eaLnBrk="1" latinLnBrk="0" hangingPunct="1">
                <a:lnSpc>
                  <a:spcPct val="90000"/>
                </a:lnSpc>
                <a:spcBef>
                  <a:spcPts val="500"/>
                </a:spcBef>
                <a:buFont typeface="Arial"/>
                <a:buNone/>
                <a:defRPr sz="1000" kern="1200">
                  <a:solidFill>
                    <a:schemeClr val="tx1"/>
                  </a:solidFill>
                  <a:latin typeface="+mn-lt"/>
                  <a:ea typeface="+mn-ea"/>
                  <a:cs typeface="+mn-cs"/>
                </a:defRPr>
              </a:lvl5pPr>
              <a:lvl6pPr marL="2285943" indent="0" algn="l" defTabSz="914377" rtl="0" eaLnBrk="1" latinLnBrk="0" hangingPunct="1">
                <a:lnSpc>
                  <a:spcPct val="90000"/>
                </a:lnSpc>
                <a:spcBef>
                  <a:spcPts val="500"/>
                </a:spcBef>
                <a:buFont typeface="Arial"/>
                <a:buNone/>
                <a:defRPr sz="1000" kern="1200">
                  <a:solidFill>
                    <a:schemeClr val="tx1"/>
                  </a:solidFill>
                  <a:latin typeface="+mn-lt"/>
                  <a:ea typeface="+mn-ea"/>
                  <a:cs typeface="+mn-cs"/>
                </a:defRPr>
              </a:lvl6pPr>
              <a:lvl7pPr marL="2743131" indent="0" algn="l" defTabSz="914377" rtl="0" eaLnBrk="1" latinLnBrk="0" hangingPunct="1">
                <a:lnSpc>
                  <a:spcPct val="90000"/>
                </a:lnSpc>
                <a:spcBef>
                  <a:spcPts val="500"/>
                </a:spcBef>
                <a:buFont typeface="Arial"/>
                <a:buNone/>
                <a:defRPr sz="1000" kern="1200">
                  <a:solidFill>
                    <a:schemeClr val="tx1"/>
                  </a:solidFill>
                  <a:latin typeface="+mn-lt"/>
                  <a:ea typeface="+mn-ea"/>
                  <a:cs typeface="+mn-cs"/>
                </a:defRPr>
              </a:lvl7pPr>
              <a:lvl8pPr marL="3200320" indent="0" algn="l" defTabSz="914377" rtl="0" eaLnBrk="1" latinLnBrk="0" hangingPunct="1">
                <a:lnSpc>
                  <a:spcPct val="90000"/>
                </a:lnSpc>
                <a:spcBef>
                  <a:spcPts val="500"/>
                </a:spcBef>
                <a:buFont typeface="Arial"/>
                <a:buNone/>
                <a:defRPr sz="1000" kern="1200">
                  <a:solidFill>
                    <a:schemeClr val="tx1"/>
                  </a:solidFill>
                  <a:latin typeface="+mn-lt"/>
                  <a:ea typeface="+mn-ea"/>
                  <a:cs typeface="+mn-cs"/>
                </a:defRPr>
              </a:lvl8pPr>
              <a:lvl9pPr marL="3657509" indent="0" algn="l" defTabSz="914377" rtl="0" eaLnBrk="1" latinLnBrk="0" hangingPunct="1">
                <a:lnSpc>
                  <a:spcPct val="90000"/>
                </a:lnSpc>
                <a:spcBef>
                  <a:spcPts val="500"/>
                </a:spcBef>
                <a:buFont typeface="Arial"/>
                <a:buNone/>
                <a:defRPr sz="1000" kern="1200">
                  <a:solidFill>
                    <a:schemeClr val="tx1"/>
                  </a:solidFill>
                  <a:latin typeface="+mn-lt"/>
                  <a:ea typeface="+mn-ea"/>
                  <a:cs typeface="+mn-cs"/>
                </a:defRPr>
              </a:lvl9pPr>
            </a:lstStyle>
            <a:p>
              <a:pPr algn="ctr"/>
              <a:r>
                <a:rPr lang="en-US" sz="5400"/>
                <a:t>RCR</a:t>
              </a:r>
            </a:p>
            <a:p>
              <a:pPr algn="ctr"/>
              <a:r>
                <a:rPr lang="en-US" sz="1600" i="1"/>
                <a:t>Ethics &amp; Law</a:t>
              </a:r>
            </a:p>
          </p:txBody>
        </p:sp>
      </p:grpSp>
      <p:sp>
        <p:nvSpPr>
          <p:cNvPr id="10" name="TextBox 9">
            <a:extLst>
              <a:ext uri="{FF2B5EF4-FFF2-40B4-BE49-F238E27FC236}">
                <a16:creationId xmlns:a16="http://schemas.microsoft.com/office/drawing/2014/main" id="{337A560A-D68F-9DE5-1DA6-A9BB9BF686A4}"/>
              </a:ext>
            </a:extLst>
          </p:cNvPr>
          <p:cNvSpPr txBox="1"/>
          <p:nvPr/>
        </p:nvSpPr>
        <p:spPr>
          <a:xfrm>
            <a:off x="833246" y="6271473"/>
            <a:ext cx="4680520" cy="246221"/>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a:ea typeface="+mn-lt"/>
                <a:cs typeface="+mn-lt"/>
              </a:rPr>
              <a:t>Original image from https://rdmkit.elixir-europe.org/ “The data lifecycle”</a:t>
            </a:r>
          </a:p>
        </p:txBody>
      </p:sp>
      <p:sp>
        <p:nvSpPr>
          <p:cNvPr id="6" name="Slide Number Placeholder 5">
            <a:extLst>
              <a:ext uri="{FF2B5EF4-FFF2-40B4-BE49-F238E27FC236}">
                <a16:creationId xmlns:a16="http://schemas.microsoft.com/office/drawing/2014/main" id="{49FC68EF-D088-2394-FEA8-05FC9FBAEBE7}"/>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5</a:t>
            </a:fld>
            <a:endParaRPr lang="fi-FI"/>
          </a:p>
        </p:txBody>
      </p:sp>
      <p:sp>
        <p:nvSpPr>
          <p:cNvPr id="3" name="Date Placeholder 2">
            <a:extLst>
              <a:ext uri="{FF2B5EF4-FFF2-40B4-BE49-F238E27FC236}">
                <a16:creationId xmlns:a16="http://schemas.microsoft.com/office/drawing/2014/main" id="{5BADD3CB-A2E7-A44D-C1FE-D64EA52C5B96}"/>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DCFF2CEB-1670-DBEF-91F4-F462EA3D241B}"/>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480158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CD3B4-3D3C-9488-6FF1-F7667398809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126209-9885-76D2-418B-7C24303CB9D1}"/>
              </a:ext>
            </a:extLst>
          </p:cNvPr>
          <p:cNvSpPr>
            <a:spLocks noGrp="1"/>
          </p:cNvSpPr>
          <p:nvPr>
            <p:ph type="sldNum" sz="quarter" idx="12"/>
          </p:nvPr>
        </p:nvSpPr>
        <p:spPr/>
        <p:txBody>
          <a:bodyPr/>
          <a:lstStyle/>
          <a:p>
            <a:fld id="{D701140D-C14F-41CA-99FC-0EF83E8DA40A}" type="slidenum">
              <a:rPr lang="fi-FI" smtClean="0"/>
              <a:pPr/>
              <a:t>6</a:t>
            </a:fld>
            <a:endParaRPr lang="fi-FI"/>
          </a:p>
        </p:txBody>
      </p:sp>
      <p:sp>
        <p:nvSpPr>
          <p:cNvPr id="3" name="Title 2">
            <a:extLst>
              <a:ext uri="{FF2B5EF4-FFF2-40B4-BE49-F238E27FC236}">
                <a16:creationId xmlns:a16="http://schemas.microsoft.com/office/drawing/2014/main" id="{2F8F31C9-C1B7-B405-66C2-8BD36ACD7A37}"/>
              </a:ext>
            </a:extLst>
          </p:cNvPr>
          <p:cNvSpPr>
            <a:spLocks noGrp="1"/>
          </p:cNvSpPr>
          <p:nvPr>
            <p:ph type="ctrTitle"/>
          </p:nvPr>
        </p:nvSpPr>
        <p:spPr/>
        <p:txBody>
          <a:bodyPr/>
          <a:lstStyle/>
          <a:p>
            <a:r>
              <a:rPr lang="en-US"/>
              <a:t>What is (generative) AI?</a:t>
            </a:r>
          </a:p>
        </p:txBody>
      </p:sp>
      <p:sp>
        <p:nvSpPr>
          <p:cNvPr id="4" name="Date Placeholder 3">
            <a:extLst>
              <a:ext uri="{FF2B5EF4-FFF2-40B4-BE49-F238E27FC236}">
                <a16:creationId xmlns:a16="http://schemas.microsoft.com/office/drawing/2014/main" id="{D2E8D082-F30F-ACCA-A001-643A3360E419}"/>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F8DFEBB9-B023-C550-D5C6-555B13DF905D}"/>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020280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537BE-375A-9AD3-40B8-83883CE64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231A9-445C-6A33-95A5-3ACEC0BBB784}"/>
              </a:ext>
            </a:extLst>
          </p:cNvPr>
          <p:cNvSpPr>
            <a:spLocks noGrp="1"/>
          </p:cNvSpPr>
          <p:nvPr>
            <p:ph type="title"/>
          </p:nvPr>
        </p:nvSpPr>
        <p:spPr/>
        <p:txBody>
          <a:bodyPr/>
          <a:lstStyle/>
          <a:p>
            <a:r>
              <a:rPr lang="en-US"/>
              <a:t>What is Artificial Intelligence (AI)?</a:t>
            </a:r>
            <a:endParaRPr lang="en-FI"/>
          </a:p>
        </p:txBody>
      </p:sp>
      <p:sp>
        <p:nvSpPr>
          <p:cNvPr id="3" name="Date Placeholder 2">
            <a:extLst>
              <a:ext uri="{FF2B5EF4-FFF2-40B4-BE49-F238E27FC236}">
                <a16:creationId xmlns:a16="http://schemas.microsoft.com/office/drawing/2014/main" id="{D7BF436E-3D95-BA88-E7B7-11101CE7B17A}"/>
              </a:ext>
            </a:extLst>
          </p:cNvPr>
          <p:cNvSpPr>
            <a:spLocks noGrp="1"/>
          </p:cNvSpPr>
          <p:nvPr>
            <p:ph type="dt" sz="half" idx="10"/>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i-FI"/>
              <a:t>28.04.2026</a:t>
            </a:r>
          </a:p>
        </p:txBody>
      </p:sp>
      <p:sp>
        <p:nvSpPr>
          <p:cNvPr id="4" name="Slide Number Placeholder 3">
            <a:extLst>
              <a:ext uri="{FF2B5EF4-FFF2-40B4-BE49-F238E27FC236}">
                <a16:creationId xmlns:a16="http://schemas.microsoft.com/office/drawing/2014/main" id="{A3FA244B-A338-AAFB-14CA-9BD3675BF011}"/>
              </a:ext>
            </a:extLst>
          </p:cNvPr>
          <p:cNvSpPr>
            <a:spLocks noGrp="1"/>
          </p:cNvSpPr>
          <p:nvPr>
            <p:ph type="sldNum" sz="quarter" idx="12"/>
          </p:nvPr>
        </p:nvSpPr>
        <p:spPr>
          <a:xfrm>
            <a:off x="11352584" y="6309320"/>
            <a:ext cx="431428"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01140D-C14F-41CA-99FC-0EF83E8DA40A}" type="slidenum">
              <a:rPr lang="fi-FI" smtClean="0"/>
              <a:pPr/>
              <a:t>7</a:t>
            </a:fld>
            <a:endParaRPr lang="fi-FI"/>
          </a:p>
        </p:txBody>
      </p:sp>
      <p:sp>
        <p:nvSpPr>
          <p:cNvPr id="10" name="Text Placeholder 4">
            <a:extLst>
              <a:ext uri="{FF2B5EF4-FFF2-40B4-BE49-F238E27FC236}">
                <a16:creationId xmlns:a16="http://schemas.microsoft.com/office/drawing/2014/main" id="{3F9D5988-CDD1-630E-2FF0-58B47DC262EC}"/>
              </a:ext>
            </a:extLst>
          </p:cNvPr>
          <p:cNvSpPr>
            <a:spLocks noGrp="1"/>
          </p:cNvSpPr>
          <p:nvPr>
            <p:ph type="body" sz="quarter" idx="13"/>
          </p:nvPr>
        </p:nvSpPr>
        <p:spPr>
          <a:xfrm>
            <a:off x="7633427" y="1596595"/>
            <a:ext cx="3502886" cy="4193306"/>
          </a:xfrm>
        </p:spPr>
        <p:txBody>
          <a:bodyPr/>
          <a:lstStyle/>
          <a:p>
            <a:r>
              <a:rPr lang="en-GB" sz="1600" i="1"/>
              <a:t>‘AI system’ means a </a:t>
            </a:r>
            <a:r>
              <a:rPr lang="en-GB" sz="1600" b="1" i="1"/>
              <a:t>machine-based system</a:t>
            </a:r>
            <a:r>
              <a:rPr lang="en-GB" sz="1600" i="1"/>
              <a:t> that is designed to operate with varying levels of </a:t>
            </a:r>
            <a:r>
              <a:rPr lang="en-GB" sz="1600" b="1" i="1"/>
              <a:t>autonomy</a:t>
            </a:r>
            <a:r>
              <a:rPr lang="en-GB" sz="1600" i="1"/>
              <a:t> and that may exhibit </a:t>
            </a:r>
            <a:r>
              <a:rPr lang="en-GB" sz="1600" b="1" i="1"/>
              <a:t>adaptiveness</a:t>
            </a:r>
            <a:r>
              <a:rPr lang="en-GB" sz="1600" i="1"/>
              <a:t> after deployment, and that, for explicit or implicit objectives, </a:t>
            </a:r>
            <a:r>
              <a:rPr lang="en-GB" sz="1600" b="1" i="1"/>
              <a:t>infers, from the input it receives</a:t>
            </a:r>
            <a:r>
              <a:rPr lang="en-GB" sz="1600" i="1"/>
              <a:t>, how to </a:t>
            </a:r>
            <a:r>
              <a:rPr lang="en-GB" sz="1600" b="1" i="1"/>
              <a:t>generate</a:t>
            </a:r>
            <a:r>
              <a:rPr lang="en-GB" sz="1600" i="1"/>
              <a:t> outputs such as </a:t>
            </a:r>
            <a:r>
              <a:rPr lang="en-GB" sz="1600" b="1" i="1"/>
              <a:t>predictions</a:t>
            </a:r>
            <a:r>
              <a:rPr lang="en-GB" sz="1600" i="1"/>
              <a:t>, </a:t>
            </a:r>
            <a:r>
              <a:rPr lang="en-GB" sz="1600" b="1" i="1"/>
              <a:t>content</a:t>
            </a:r>
            <a:r>
              <a:rPr lang="en-GB" sz="1600" i="1"/>
              <a:t>, </a:t>
            </a:r>
            <a:r>
              <a:rPr lang="en-GB" sz="1600" b="1" i="1"/>
              <a:t>recommendations</a:t>
            </a:r>
            <a:r>
              <a:rPr lang="en-GB" sz="1600" i="1"/>
              <a:t>, or </a:t>
            </a:r>
            <a:r>
              <a:rPr lang="en-GB" sz="1600" b="1" i="1"/>
              <a:t>decisions</a:t>
            </a:r>
            <a:r>
              <a:rPr lang="en-GB" sz="1600" i="1"/>
              <a:t> that can influence physical or virtual environments;</a:t>
            </a:r>
            <a:br>
              <a:rPr lang="en-GB" sz="1600" i="1"/>
            </a:br>
            <a:r>
              <a:rPr lang="en-GB" sz="1600"/>
              <a:t>(Article 3(1), </a:t>
            </a:r>
            <a:r>
              <a:rPr lang="en-US" sz="1600">
                <a:hlinkClick r:id="rId3"/>
              </a:rPr>
              <a:t>Artificial Intelligence Act)</a:t>
            </a:r>
            <a:endParaRPr lang="en-US" sz="1600"/>
          </a:p>
          <a:p>
            <a:endParaRPr lang="en-US" sz="1600"/>
          </a:p>
          <a:p>
            <a:r>
              <a:rPr lang="en-US" sz="1600" u="sng">
                <a:hlinkClick r:id="rId4"/>
              </a:rPr>
              <a:t>Other AI legal definitions collected by IAPP.</a:t>
            </a:r>
            <a:endParaRPr lang="en-US" sz="1600" u="sng"/>
          </a:p>
          <a:p>
            <a:endParaRPr lang="en-US" sz="1600"/>
          </a:p>
        </p:txBody>
      </p:sp>
      <p:sp>
        <p:nvSpPr>
          <p:cNvPr id="13" name="TextBox 12">
            <a:extLst>
              <a:ext uri="{FF2B5EF4-FFF2-40B4-BE49-F238E27FC236}">
                <a16:creationId xmlns:a16="http://schemas.microsoft.com/office/drawing/2014/main" id="{9302B163-412D-280C-2A24-B6E860879345}"/>
              </a:ext>
            </a:extLst>
          </p:cNvPr>
          <p:cNvSpPr txBox="1"/>
          <p:nvPr/>
        </p:nvSpPr>
        <p:spPr>
          <a:xfrm>
            <a:off x="1055687" y="5876925"/>
            <a:ext cx="5489376" cy="523220"/>
          </a:xfrm>
          <a:prstGeom prst="rect">
            <a:avLst/>
          </a:prstGeom>
          <a:noFill/>
        </p:spPr>
        <p:txBody>
          <a:bodyPr wrap="square" rtlCol="0">
            <a:spAutoFit/>
          </a:bodyPr>
          <a:lstStyle/>
          <a:p>
            <a:pPr algn="l"/>
            <a:r>
              <a:rPr lang="en-FI" sz="1400" i="1">
                <a:latin typeface="+mj-lt"/>
              </a:rPr>
              <a:t>Figure from </a:t>
            </a:r>
            <a:r>
              <a:rPr lang="en-FI" sz="1400" i="1">
                <a:latin typeface="+mj-lt"/>
                <a:hlinkClick r:id="rId5"/>
              </a:rPr>
              <a:t>Glerean (2025) “Fundamentals of secure AI systems with personal data” European Data Protection Board</a:t>
            </a:r>
            <a:endParaRPr lang="en-FI" sz="1400" i="1">
              <a:latin typeface="+mj-lt"/>
            </a:endParaRPr>
          </a:p>
        </p:txBody>
      </p:sp>
      <p:sp>
        <p:nvSpPr>
          <p:cNvPr id="5" name="Footer Placeholder 4">
            <a:extLst>
              <a:ext uri="{FF2B5EF4-FFF2-40B4-BE49-F238E27FC236}">
                <a16:creationId xmlns:a16="http://schemas.microsoft.com/office/drawing/2014/main" id="{4968EDAB-1626-DAA9-8975-DEAD5A9FFEEE}"/>
              </a:ext>
            </a:extLst>
          </p:cNvPr>
          <p:cNvSpPr>
            <a:spLocks noGrp="1"/>
          </p:cNvSpPr>
          <p:nvPr>
            <p:ph type="ftr" sz="quarter" idx="15"/>
          </p:nvPr>
        </p:nvSpPr>
        <p:spPr/>
        <p:txBody>
          <a:bodyPr/>
          <a:lstStyle/>
          <a:p>
            <a:r>
              <a:rPr lang="pt-BR"/>
              <a:t>Enrico Glerean &amp; Pedro Silva (2026) Please cite DOI: 10.5281/zenodo.14032261 (CC-BY)</a:t>
            </a:r>
            <a:endParaRPr lang="fi-FI"/>
          </a:p>
        </p:txBody>
      </p:sp>
      <p:pic>
        <p:nvPicPr>
          <p:cNvPr id="20" name="Picture 19">
            <a:extLst>
              <a:ext uri="{FF2B5EF4-FFF2-40B4-BE49-F238E27FC236}">
                <a16:creationId xmlns:a16="http://schemas.microsoft.com/office/drawing/2014/main" id="{C3142DE2-AD5F-E03B-A9DB-56BA0940CA83}"/>
              </a:ext>
            </a:extLst>
          </p:cNvPr>
          <p:cNvPicPr>
            <a:picLocks noChangeAspect="1"/>
          </p:cNvPicPr>
          <p:nvPr/>
        </p:nvPicPr>
        <p:blipFill>
          <a:blip r:embed="rId6"/>
          <a:stretch>
            <a:fillRect/>
          </a:stretch>
        </p:blipFill>
        <p:spPr>
          <a:xfrm>
            <a:off x="1055687" y="1631132"/>
            <a:ext cx="6468398" cy="4193306"/>
          </a:xfrm>
          <a:prstGeom prst="rect">
            <a:avLst/>
          </a:prstGeom>
        </p:spPr>
      </p:pic>
    </p:spTree>
    <p:extLst>
      <p:ext uri="{BB962C8B-B14F-4D97-AF65-F5344CB8AC3E}">
        <p14:creationId xmlns:p14="http://schemas.microsoft.com/office/powerpoint/2010/main" val="3432779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CBBE3-706A-5E30-93A6-363855735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D4DAB-96D9-9D9B-5646-793A3A80718E}"/>
              </a:ext>
            </a:extLst>
          </p:cNvPr>
          <p:cNvSpPr>
            <a:spLocks noGrp="1"/>
          </p:cNvSpPr>
          <p:nvPr>
            <p:ph type="title"/>
          </p:nvPr>
        </p:nvSpPr>
        <p:spPr/>
        <p:txBody>
          <a:bodyPr/>
          <a:lstStyle/>
          <a:p>
            <a:r>
              <a:rPr lang="en-US"/>
              <a:t>AI systems vs AI models</a:t>
            </a:r>
            <a:endParaRPr lang="en-FI"/>
          </a:p>
        </p:txBody>
      </p:sp>
      <p:sp>
        <p:nvSpPr>
          <p:cNvPr id="3" name="Date Placeholder 2">
            <a:extLst>
              <a:ext uri="{FF2B5EF4-FFF2-40B4-BE49-F238E27FC236}">
                <a16:creationId xmlns:a16="http://schemas.microsoft.com/office/drawing/2014/main" id="{BBA878E6-D695-00BA-6524-DF82801EED68}"/>
              </a:ext>
            </a:extLst>
          </p:cNvPr>
          <p:cNvSpPr>
            <a:spLocks noGrp="1"/>
          </p:cNvSpPr>
          <p:nvPr>
            <p:ph type="dt" sz="half" idx="10"/>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i-FI"/>
              <a:t>28.04.2026</a:t>
            </a:r>
          </a:p>
        </p:txBody>
      </p:sp>
      <p:sp>
        <p:nvSpPr>
          <p:cNvPr id="4" name="Slide Number Placeholder 3">
            <a:extLst>
              <a:ext uri="{FF2B5EF4-FFF2-40B4-BE49-F238E27FC236}">
                <a16:creationId xmlns:a16="http://schemas.microsoft.com/office/drawing/2014/main" id="{9DDA187F-1E66-6FE6-B336-F47ACDDD8EBA}"/>
              </a:ext>
            </a:extLst>
          </p:cNvPr>
          <p:cNvSpPr>
            <a:spLocks noGrp="1"/>
          </p:cNvSpPr>
          <p:nvPr>
            <p:ph type="sldNum" sz="quarter" idx="12"/>
          </p:nvPr>
        </p:nvSpPr>
        <p:spPr>
          <a:xfrm>
            <a:off x="11352584" y="6309320"/>
            <a:ext cx="431428"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01140D-C14F-41CA-99FC-0EF83E8DA40A}" type="slidenum">
              <a:rPr lang="fi-FI" smtClean="0"/>
              <a:pPr/>
              <a:t>8</a:t>
            </a:fld>
            <a:endParaRPr lang="fi-FI"/>
          </a:p>
        </p:txBody>
      </p:sp>
      <p:sp>
        <p:nvSpPr>
          <p:cNvPr id="10" name="Text Placeholder 4">
            <a:extLst>
              <a:ext uri="{FF2B5EF4-FFF2-40B4-BE49-F238E27FC236}">
                <a16:creationId xmlns:a16="http://schemas.microsoft.com/office/drawing/2014/main" id="{027949B6-B6CF-9194-9EC2-10504AD28EA8}"/>
              </a:ext>
            </a:extLst>
          </p:cNvPr>
          <p:cNvSpPr>
            <a:spLocks noGrp="1"/>
          </p:cNvSpPr>
          <p:nvPr>
            <p:ph type="body" sz="quarter" idx="13"/>
          </p:nvPr>
        </p:nvSpPr>
        <p:spPr>
          <a:xfrm>
            <a:off x="7444168" y="1332924"/>
            <a:ext cx="2520033" cy="3671886"/>
          </a:xfrm>
        </p:spPr>
        <p:txBody>
          <a:bodyPr/>
          <a:lstStyle/>
          <a:p>
            <a:r>
              <a:rPr lang="en-GB" sz="1600" noProof="0"/>
              <a:t>The </a:t>
            </a:r>
            <a:r>
              <a:rPr lang="en-GB" sz="1600" b="1" noProof="0"/>
              <a:t>AI model</a:t>
            </a:r>
            <a:r>
              <a:rPr lang="en-GB" sz="1600" noProof="0"/>
              <a:t> is like the </a:t>
            </a:r>
            <a:r>
              <a:rPr lang="en-GB" sz="1600" b="1" noProof="0"/>
              <a:t>engine of the car</a:t>
            </a:r>
            <a:r>
              <a:rPr lang="en-GB" sz="1600" noProof="0"/>
              <a:t>: it can be very powerful and  even dangerous, but if it is not put into a system (the rest of the car) it cannot do anything.</a:t>
            </a:r>
          </a:p>
          <a:p>
            <a:r>
              <a:rPr lang="en-GB" sz="1600"/>
              <a:t>The </a:t>
            </a:r>
            <a:r>
              <a:rPr lang="en-GB" sz="1600" b="1"/>
              <a:t>AI system</a:t>
            </a:r>
            <a:r>
              <a:rPr lang="en-GB" sz="1600"/>
              <a:t> enables the use of the AI model: by feeding input to the model, it can produce recommendations, classifications, translations, synthetic text, synthetic images, code, … and </a:t>
            </a:r>
            <a:r>
              <a:rPr lang="en-GB" sz="1600" b="1"/>
              <a:t>influence</a:t>
            </a:r>
            <a:r>
              <a:rPr lang="en-GB" sz="1600"/>
              <a:t> the external physical/virtual environment</a:t>
            </a:r>
          </a:p>
        </p:txBody>
      </p:sp>
      <p:sp>
        <p:nvSpPr>
          <p:cNvPr id="13" name="TextBox 12">
            <a:extLst>
              <a:ext uri="{FF2B5EF4-FFF2-40B4-BE49-F238E27FC236}">
                <a16:creationId xmlns:a16="http://schemas.microsoft.com/office/drawing/2014/main" id="{5EC1D802-B2A9-0322-D6F3-372ACE30018E}"/>
              </a:ext>
            </a:extLst>
          </p:cNvPr>
          <p:cNvSpPr txBox="1"/>
          <p:nvPr/>
        </p:nvSpPr>
        <p:spPr>
          <a:xfrm>
            <a:off x="1055688" y="5885902"/>
            <a:ext cx="5272749" cy="523220"/>
          </a:xfrm>
          <a:prstGeom prst="rect">
            <a:avLst/>
          </a:prstGeom>
          <a:noFill/>
        </p:spPr>
        <p:txBody>
          <a:bodyPr wrap="square" rtlCol="0">
            <a:spAutoFit/>
          </a:bodyPr>
          <a:lstStyle/>
          <a:p>
            <a:pPr algn="l"/>
            <a:r>
              <a:rPr lang="en-FI" sz="1400" i="1">
                <a:latin typeface="+mj-lt"/>
              </a:rPr>
              <a:t>Figure from </a:t>
            </a:r>
            <a:r>
              <a:rPr lang="en-FI" sz="1400" i="1">
                <a:latin typeface="+mj-lt"/>
                <a:hlinkClick r:id="rId2"/>
              </a:rPr>
              <a:t>Glerean (2025) “Fundamentals of secure AI systems with personal data” European Data Protection Board</a:t>
            </a:r>
            <a:endParaRPr lang="en-FI" sz="1400" i="1">
              <a:latin typeface="+mj-lt"/>
            </a:endParaRPr>
          </a:p>
        </p:txBody>
      </p:sp>
      <p:sp>
        <p:nvSpPr>
          <p:cNvPr id="5" name="Footer Placeholder 4">
            <a:extLst>
              <a:ext uri="{FF2B5EF4-FFF2-40B4-BE49-F238E27FC236}">
                <a16:creationId xmlns:a16="http://schemas.microsoft.com/office/drawing/2014/main" id="{98BE18D7-F312-F0C6-3254-9A14B36EE5D9}"/>
              </a:ext>
            </a:extLst>
          </p:cNvPr>
          <p:cNvSpPr>
            <a:spLocks noGrp="1"/>
          </p:cNvSpPr>
          <p:nvPr>
            <p:ph type="ftr" sz="quarter" idx="15"/>
          </p:nvPr>
        </p:nvSpPr>
        <p:spPr/>
        <p:txBody>
          <a:bodyPr/>
          <a:lstStyle/>
          <a:p>
            <a:r>
              <a:rPr lang="pt-BR"/>
              <a:t>Enrico Glerean &amp; Pedro Silva (2026) Please cite DOI: 10.5281/zenodo.14032261 (CC-BY)</a:t>
            </a:r>
            <a:endParaRPr lang="fi-FI"/>
          </a:p>
        </p:txBody>
      </p:sp>
      <p:pic>
        <p:nvPicPr>
          <p:cNvPr id="8" name="Picture 7">
            <a:extLst>
              <a:ext uri="{FF2B5EF4-FFF2-40B4-BE49-F238E27FC236}">
                <a16:creationId xmlns:a16="http://schemas.microsoft.com/office/drawing/2014/main" id="{86A480DE-02D9-C96B-DB4D-3ECE3CC86E56}"/>
              </a:ext>
            </a:extLst>
          </p:cNvPr>
          <p:cNvPicPr>
            <a:picLocks noChangeAspect="1"/>
          </p:cNvPicPr>
          <p:nvPr/>
        </p:nvPicPr>
        <p:blipFill>
          <a:blip r:embed="rId3"/>
          <a:stretch>
            <a:fillRect/>
          </a:stretch>
        </p:blipFill>
        <p:spPr>
          <a:xfrm>
            <a:off x="1077320" y="1309105"/>
            <a:ext cx="5550880" cy="4437264"/>
          </a:xfrm>
          <a:prstGeom prst="rect">
            <a:avLst/>
          </a:prstGeom>
        </p:spPr>
      </p:pic>
    </p:spTree>
    <p:extLst>
      <p:ext uri="{BB962C8B-B14F-4D97-AF65-F5344CB8AC3E}">
        <p14:creationId xmlns:p14="http://schemas.microsoft.com/office/powerpoint/2010/main" val="3358914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A72BD-D786-3276-4227-0FA2454D5A7E}"/>
              </a:ext>
            </a:extLst>
          </p:cNvPr>
          <p:cNvSpPr>
            <a:spLocks noGrp="1"/>
          </p:cNvSpPr>
          <p:nvPr>
            <p:ph type="title"/>
          </p:nvPr>
        </p:nvSpPr>
        <p:spPr/>
        <p:txBody>
          <a:bodyPr/>
          <a:lstStyle/>
          <a:p>
            <a:r>
              <a:rPr lang="en-US"/>
              <a:t>Learning cats and dogs: how does machine learning work?</a:t>
            </a:r>
          </a:p>
        </p:txBody>
      </p:sp>
      <p:sp>
        <p:nvSpPr>
          <p:cNvPr id="7" name="Text Placeholder 2">
            <a:extLst>
              <a:ext uri="{FF2B5EF4-FFF2-40B4-BE49-F238E27FC236}">
                <a16:creationId xmlns:a16="http://schemas.microsoft.com/office/drawing/2014/main" id="{64859D9D-D477-C12B-CEB1-84516FBF0FA0}"/>
              </a:ext>
            </a:extLst>
          </p:cNvPr>
          <p:cNvSpPr txBox="1">
            <a:spLocks/>
          </p:cNvSpPr>
          <p:nvPr/>
        </p:nvSpPr>
        <p:spPr>
          <a:xfrm>
            <a:off x="383118" y="1125584"/>
            <a:ext cx="10745546" cy="3900617"/>
          </a:xfrm>
          <a:prstGeom prst="rect">
            <a:avLst/>
          </a:prstGeom>
        </p:spPr>
        <p:txBody>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r>
              <a:rPr lang="en-US"/>
              <a:t>Learning</a:t>
            </a:r>
            <a:br>
              <a:rPr lang="en-US"/>
            </a:br>
            <a:r>
              <a:rPr lang="en-US"/>
              <a:t>stage</a:t>
            </a:r>
            <a:br>
              <a:rPr lang="en-US"/>
            </a:br>
            <a:br>
              <a:rPr lang="en-US"/>
            </a:br>
            <a:br>
              <a:rPr lang="en-US"/>
            </a:br>
            <a:br>
              <a:rPr lang="en-US"/>
            </a:br>
            <a:endParaRPr lang="en-US"/>
          </a:p>
          <a:p>
            <a:br>
              <a:rPr lang="en-US"/>
            </a:br>
            <a:endParaRPr lang="en-US"/>
          </a:p>
          <a:p>
            <a:pPr marL="457200" indent="-457200">
              <a:buFont typeface="+mj-lt"/>
              <a:buAutoNum type="arabicPeriod" startAt="2"/>
            </a:pPr>
            <a:r>
              <a:rPr lang="en-US"/>
              <a:t>Testing</a:t>
            </a:r>
            <a:br>
              <a:rPr lang="en-US"/>
            </a:br>
            <a:r>
              <a:rPr lang="en-US"/>
              <a:t>stage</a:t>
            </a:r>
          </a:p>
        </p:txBody>
      </p:sp>
      <p:grpSp>
        <p:nvGrpSpPr>
          <p:cNvPr id="8" name="Group 7" descr="Diagram illustrating the basics of machine learning using cats and dogs examples through learning and testing stages.">
            <a:extLst>
              <a:ext uri="{FF2B5EF4-FFF2-40B4-BE49-F238E27FC236}">
                <a16:creationId xmlns:a16="http://schemas.microsoft.com/office/drawing/2014/main" id="{4BCDFCC2-458B-8F96-F91F-971445DDCCCC}"/>
              </a:ext>
            </a:extLst>
          </p:cNvPr>
          <p:cNvGrpSpPr/>
          <p:nvPr/>
        </p:nvGrpSpPr>
        <p:grpSpPr>
          <a:xfrm>
            <a:off x="2565467" y="1105482"/>
            <a:ext cx="8474236" cy="4949235"/>
            <a:chOff x="335227" y="1105483"/>
            <a:chExt cx="5215467" cy="3046006"/>
          </a:xfrm>
        </p:grpSpPr>
        <p:pic>
          <p:nvPicPr>
            <p:cNvPr id="9" name="Picture 8">
              <a:extLst>
                <a:ext uri="{FF2B5EF4-FFF2-40B4-BE49-F238E27FC236}">
                  <a16:creationId xmlns:a16="http://schemas.microsoft.com/office/drawing/2014/main" id="{DB0186D7-2737-B215-567B-76470362A64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3118" y="1105483"/>
              <a:ext cx="5119687" cy="1344186"/>
            </a:xfrm>
            <a:prstGeom prst="rect">
              <a:avLst/>
            </a:prstGeom>
          </p:spPr>
        </p:pic>
        <p:pic>
          <p:nvPicPr>
            <p:cNvPr id="10" name="Picture 9">
              <a:extLst>
                <a:ext uri="{FF2B5EF4-FFF2-40B4-BE49-F238E27FC236}">
                  <a16:creationId xmlns:a16="http://schemas.microsoft.com/office/drawing/2014/main" id="{168CBC50-03C4-BD3B-B0C8-4226448C9F2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35227" y="2706511"/>
              <a:ext cx="5215467" cy="1444978"/>
            </a:xfrm>
            <a:prstGeom prst="rect">
              <a:avLst/>
            </a:prstGeom>
          </p:spPr>
        </p:pic>
      </p:grpSp>
      <p:sp>
        <p:nvSpPr>
          <p:cNvPr id="11" name="TextBox 10">
            <a:extLst>
              <a:ext uri="{FF2B5EF4-FFF2-40B4-BE49-F238E27FC236}">
                <a16:creationId xmlns:a16="http://schemas.microsoft.com/office/drawing/2014/main" id="{7BEC63B4-8A15-97D9-7075-4B63A039D1D9}"/>
              </a:ext>
              <a:ext uri="{C183D7F6-B498-43B3-948B-1728B52AA6E4}">
                <adec:decorative xmlns:adec="http://schemas.microsoft.com/office/drawing/2017/decorative" val="1"/>
              </a:ext>
            </a:extLst>
          </p:cNvPr>
          <p:cNvSpPr txBox="1"/>
          <p:nvPr/>
        </p:nvSpPr>
        <p:spPr>
          <a:xfrm>
            <a:off x="2963652" y="5992943"/>
            <a:ext cx="6264696" cy="307777"/>
          </a:xfrm>
          <a:prstGeom prst="rect">
            <a:avLst/>
          </a:prstGeom>
          <a:noFill/>
        </p:spPr>
        <p:txBody>
          <a:bodyPr wrap="square" rtlCol="0">
            <a:spAutoFit/>
          </a:bodyPr>
          <a:lstStyle/>
          <a:p>
            <a:pPr algn="ctr"/>
            <a:r>
              <a:rPr lang="en-US" sz="1400"/>
              <a:t>From </a:t>
            </a:r>
            <a:r>
              <a:rPr lang="en-US" sz="1400">
                <a:hlinkClick r:id="rId4"/>
              </a:rPr>
              <a:t>http://www-labs.iro.umontreal.ca/~liubang/files/DogCat_report.pdf</a:t>
            </a:r>
            <a:r>
              <a:rPr lang="en-US" sz="1400"/>
              <a:t> </a:t>
            </a:r>
            <a:endParaRPr lang="fi-FI" sz="1400"/>
          </a:p>
        </p:txBody>
      </p:sp>
      <p:sp>
        <p:nvSpPr>
          <p:cNvPr id="6" name="Slide Number Placeholder 5">
            <a:extLst>
              <a:ext uri="{FF2B5EF4-FFF2-40B4-BE49-F238E27FC236}">
                <a16:creationId xmlns:a16="http://schemas.microsoft.com/office/drawing/2014/main" id="{A9EB0081-1846-7E2F-9BDF-5B0FE0BDD5E9}"/>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9</a:t>
            </a:fld>
            <a:endParaRPr lang="fi-FI"/>
          </a:p>
        </p:txBody>
      </p:sp>
      <p:sp>
        <p:nvSpPr>
          <p:cNvPr id="3" name="Date Placeholder 2">
            <a:extLst>
              <a:ext uri="{FF2B5EF4-FFF2-40B4-BE49-F238E27FC236}">
                <a16:creationId xmlns:a16="http://schemas.microsoft.com/office/drawing/2014/main" id="{23012C63-35BD-33AD-4A3E-6BCC94AC94C8}"/>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5173F790-5120-D58F-120D-1816D0BAD6F2}"/>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824668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0B41F-8D75-9EE9-F4B4-3D25A19FC8A6}"/>
              </a:ext>
            </a:extLst>
          </p:cNvPr>
          <p:cNvSpPr>
            <a:spLocks noGrp="1"/>
          </p:cNvSpPr>
          <p:nvPr>
            <p:ph type="title"/>
          </p:nvPr>
        </p:nvSpPr>
        <p:spPr/>
        <p:txBody>
          <a:bodyPr/>
          <a:lstStyle/>
          <a:p>
            <a:r>
              <a:rPr lang="en-US"/>
              <a:t>How does generative AI work? An intuitive explanation</a:t>
            </a:r>
          </a:p>
        </p:txBody>
      </p:sp>
      <p:sp>
        <p:nvSpPr>
          <p:cNvPr id="6" name="Text Placeholder 5">
            <a:extLst>
              <a:ext uri="{FF2B5EF4-FFF2-40B4-BE49-F238E27FC236}">
                <a16:creationId xmlns:a16="http://schemas.microsoft.com/office/drawing/2014/main" id="{116C81CA-3066-C976-A844-581412606D05}"/>
              </a:ext>
            </a:extLst>
          </p:cNvPr>
          <p:cNvSpPr>
            <a:spLocks noGrp="1"/>
          </p:cNvSpPr>
          <p:nvPr>
            <p:ph type="body" sz="quarter" idx="13"/>
          </p:nvPr>
        </p:nvSpPr>
        <p:spPr>
          <a:xfrm>
            <a:off x="1055688" y="1340768"/>
            <a:ext cx="10080625" cy="3671886"/>
          </a:xfrm>
        </p:spPr>
        <p:txBody>
          <a:bodyPr/>
          <a:lstStyle/>
          <a:p>
            <a:pPr marL="342900" indent="-342900">
              <a:buFont typeface="Arial" panose="020B0604020202020204" pitchFamily="34" charset="0"/>
              <a:buChar char="•"/>
            </a:pPr>
            <a:r>
              <a:rPr lang="en-US" sz="2400" b="0"/>
              <a:t>The key task in AI system is often trying to </a:t>
            </a:r>
            <a:r>
              <a:rPr lang="en-US" sz="2400" b="1"/>
              <a:t>predict</a:t>
            </a:r>
          </a:p>
          <a:p>
            <a:pPr marL="342900" indent="-342900">
              <a:buFont typeface="Arial" panose="020B0604020202020204" pitchFamily="34" charset="0"/>
              <a:buChar char="•"/>
            </a:pPr>
            <a:r>
              <a:rPr lang="en-US" sz="2400" b="0"/>
              <a:t>The </a:t>
            </a:r>
            <a:r>
              <a:rPr lang="en-US" sz="2400" b="1"/>
              <a:t>classifier</a:t>
            </a:r>
            <a:r>
              <a:rPr lang="en-US" sz="2400" b="0"/>
              <a:t> from the previous example is able to </a:t>
            </a:r>
            <a:r>
              <a:rPr lang="en-US" sz="2400" b="1"/>
              <a:t>predict labels</a:t>
            </a:r>
            <a:r>
              <a:rPr lang="en-US" sz="2400"/>
              <a:t> from new images</a:t>
            </a:r>
            <a:r>
              <a:rPr lang="en-US" sz="2400" b="0"/>
              <a:t>: given a new picture of a dog, it can tell if there’s a cat or a dog</a:t>
            </a:r>
          </a:p>
          <a:p>
            <a:pPr marL="342900" indent="-342900">
              <a:buFont typeface="Arial" panose="020B0604020202020204" pitchFamily="34" charset="0"/>
              <a:buChar char="•"/>
            </a:pPr>
            <a:r>
              <a:rPr lang="en-US" sz="2400" b="0"/>
              <a:t>There are other types in AI called “</a:t>
            </a:r>
            <a:r>
              <a:rPr lang="en-US" sz="2400" b="1"/>
              <a:t>generative</a:t>
            </a:r>
            <a:r>
              <a:rPr lang="en-US" sz="2400" b="0"/>
              <a:t>”: the program learns patterns from the training set and is able to generate a picture, or text, or sound following the rules of what it has learned</a:t>
            </a:r>
          </a:p>
          <a:p>
            <a:pPr marL="457200" indent="-457200">
              <a:buFontTx/>
              <a:buChar char="-"/>
            </a:pPr>
            <a:endParaRPr lang="en-US" sz="2000" b="0"/>
          </a:p>
          <a:p>
            <a:r>
              <a:rPr lang="en-US" sz="2000" b="0"/>
              <a:t>We are not even scratching the surface here, if you are interested to know more, ask in the chat and we can provide references. See </a:t>
            </a:r>
            <a:r>
              <a:rPr lang="en-US" sz="2000" b="0">
                <a:hlinkClick r:id="rId2"/>
              </a:rPr>
              <a:t>this link</a:t>
            </a:r>
            <a:r>
              <a:rPr lang="en-US" sz="2000" b="0"/>
              <a:t> for a great collection of references</a:t>
            </a:r>
          </a:p>
          <a:p>
            <a:endParaRPr lang="en-US" sz="2400"/>
          </a:p>
        </p:txBody>
      </p:sp>
      <p:sp>
        <p:nvSpPr>
          <p:cNvPr id="7" name="Slide Number Placeholder 6">
            <a:extLst>
              <a:ext uri="{FF2B5EF4-FFF2-40B4-BE49-F238E27FC236}">
                <a16:creationId xmlns:a16="http://schemas.microsoft.com/office/drawing/2014/main" id="{1D59B833-6350-7B9F-714F-4D08195ACCFD}"/>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10</a:t>
            </a:fld>
            <a:endParaRPr lang="fi-FI"/>
          </a:p>
        </p:txBody>
      </p:sp>
      <p:sp>
        <p:nvSpPr>
          <p:cNvPr id="3" name="Date Placeholder 2">
            <a:extLst>
              <a:ext uri="{FF2B5EF4-FFF2-40B4-BE49-F238E27FC236}">
                <a16:creationId xmlns:a16="http://schemas.microsoft.com/office/drawing/2014/main" id="{B9FD5479-6F16-B7C2-2D0E-60874E86D9C6}"/>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07A9E33C-07D5-B231-1AED-8F0B0C241978}"/>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529881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A89A4-922D-2B12-C402-56F58BCD7374}"/>
              </a:ext>
            </a:extLst>
          </p:cNvPr>
          <p:cNvSpPr>
            <a:spLocks noGrp="1"/>
          </p:cNvSpPr>
          <p:nvPr>
            <p:ph type="title"/>
          </p:nvPr>
        </p:nvSpPr>
        <p:spPr/>
        <p:txBody>
          <a:bodyPr/>
          <a:lstStyle/>
          <a:p>
            <a:r>
              <a:rPr lang="en-US"/>
              <a:t>Focus on text generation: </a:t>
            </a:r>
            <a:br>
              <a:rPr lang="en-US"/>
            </a:br>
            <a:r>
              <a:rPr lang="en-US"/>
              <a:t>large language models (LLMs)</a:t>
            </a:r>
          </a:p>
        </p:txBody>
      </p:sp>
      <p:sp>
        <p:nvSpPr>
          <p:cNvPr id="6" name="Text Placeholder 5">
            <a:extLst>
              <a:ext uri="{FF2B5EF4-FFF2-40B4-BE49-F238E27FC236}">
                <a16:creationId xmlns:a16="http://schemas.microsoft.com/office/drawing/2014/main" id="{93C9E317-C50D-EC51-1F23-A1AB68AC5A50}"/>
              </a:ext>
            </a:extLst>
          </p:cNvPr>
          <p:cNvSpPr>
            <a:spLocks noGrp="1"/>
          </p:cNvSpPr>
          <p:nvPr>
            <p:ph type="body" sz="quarter" idx="13"/>
          </p:nvPr>
        </p:nvSpPr>
        <p:spPr/>
        <p:txBody>
          <a:bodyPr/>
          <a:lstStyle/>
          <a:p>
            <a:r>
              <a:rPr lang="en-US" sz="2400"/>
              <a:t>Why focus on language?</a:t>
            </a:r>
          </a:p>
          <a:p>
            <a:pPr marL="342900" indent="-342900">
              <a:buFont typeface="Arial" panose="020B0604020202020204" pitchFamily="34" charset="0"/>
              <a:buChar char="•"/>
            </a:pPr>
            <a:r>
              <a:rPr lang="en-US" sz="2400"/>
              <a:t>Large amount of data for training these foundational models</a:t>
            </a:r>
          </a:p>
          <a:p>
            <a:pPr marL="342900" indent="-342900">
              <a:buFont typeface="Arial" panose="020B0604020202020204" pitchFamily="34" charset="0"/>
              <a:buChar char="•"/>
            </a:pPr>
            <a:r>
              <a:rPr lang="en-US" sz="2400"/>
              <a:t>Language is possibly the most versatile modality as it allows to describe (almost) anything: concepts, facts, relationships, processes, software code, …</a:t>
            </a:r>
          </a:p>
          <a:p>
            <a:pPr marL="342900" indent="-342900">
              <a:buFont typeface="Arial" panose="020B0604020202020204" pitchFamily="34" charset="0"/>
              <a:buChar char="•"/>
            </a:pPr>
            <a:r>
              <a:rPr lang="en-US" sz="2400"/>
              <a:t>Language (as text via a keyboard) is an efficient way to interact with a computer program via instructions </a:t>
            </a:r>
          </a:p>
          <a:p>
            <a:endParaRPr lang="en-US" sz="2400"/>
          </a:p>
        </p:txBody>
      </p:sp>
      <p:sp>
        <p:nvSpPr>
          <p:cNvPr id="7" name="Slide Number Placeholder 6">
            <a:extLst>
              <a:ext uri="{FF2B5EF4-FFF2-40B4-BE49-F238E27FC236}">
                <a16:creationId xmlns:a16="http://schemas.microsoft.com/office/drawing/2014/main" id="{57907A26-7599-177D-D1B7-59BB9F9E7FF1}"/>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11</a:t>
            </a:fld>
            <a:endParaRPr lang="fi-FI"/>
          </a:p>
        </p:txBody>
      </p:sp>
      <p:sp>
        <p:nvSpPr>
          <p:cNvPr id="3" name="Date Placeholder 2">
            <a:extLst>
              <a:ext uri="{FF2B5EF4-FFF2-40B4-BE49-F238E27FC236}">
                <a16:creationId xmlns:a16="http://schemas.microsoft.com/office/drawing/2014/main" id="{ED46CA3B-C591-DCE8-D72A-7AB86F565728}"/>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430D4779-2E25-25FE-6322-1044132D6CF1}"/>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380854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045830-F388-840D-170D-CED1D0AC1901}"/>
              </a:ext>
            </a:extLst>
          </p:cNvPr>
          <p:cNvSpPr>
            <a:spLocks noGrp="1"/>
          </p:cNvSpPr>
          <p:nvPr>
            <p:ph type="ctrTitle"/>
          </p:nvPr>
        </p:nvSpPr>
        <p:spPr>
          <a:xfrm>
            <a:off x="1852188" y="2628782"/>
            <a:ext cx="8492284" cy="1600438"/>
          </a:xfrm>
        </p:spPr>
        <p:txBody>
          <a:bodyPr/>
          <a:lstStyle/>
          <a:p>
            <a:pPr algn="l"/>
            <a:r>
              <a:rPr lang="en-US" sz="4000"/>
              <a:t>Guess the letter</a:t>
            </a:r>
            <a:br>
              <a:rPr lang="en-US"/>
            </a:br>
            <a:r>
              <a:rPr lang="en-US" b="0"/>
              <a:t>It is an English word starting with the letter 'q': which letter comes after that?</a:t>
            </a:r>
          </a:p>
        </p:txBody>
      </p:sp>
      <p:sp>
        <p:nvSpPr>
          <p:cNvPr id="6" name="Slide Number Placeholder 5">
            <a:extLst>
              <a:ext uri="{FF2B5EF4-FFF2-40B4-BE49-F238E27FC236}">
                <a16:creationId xmlns:a16="http://schemas.microsoft.com/office/drawing/2014/main" id="{78177EA4-6016-DA61-23BE-1F3FC3B99387}"/>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pPr/>
              <a:t>12</a:t>
            </a:fld>
            <a:endParaRPr lang="fi-FI"/>
          </a:p>
        </p:txBody>
      </p:sp>
      <p:sp>
        <p:nvSpPr>
          <p:cNvPr id="2" name="Date Placeholder 1">
            <a:extLst>
              <a:ext uri="{FF2B5EF4-FFF2-40B4-BE49-F238E27FC236}">
                <a16:creationId xmlns:a16="http://schemas.microsoft.com/office/drawing/2014/main" id="{2783602E-41AE-5649-3B3B-845957A4D19B}"/>
              </a:ext>
            </a:extLst>
          </p:cNvPr>
          <p:cNvSpPr>
            <a:spLocks noGrp="1"/>
          </p:cNvSpPr>
          <p:nvPr>
            <p:ph type="dt" sz="half" idx="13"/>
          </p:nvPr>
        </p:nvSpPr>
        <p:spPr/>
        <p:txBody>
          <a:bodyPr/>
          <a:lstStyle/>
          <a:p>
            <a:r>
              <a:rPr lang="fi-FI"/>
              <a:t>28.04.2026</a:t>
            </a:r>
          </a:p>
        </p:txBody>
      </p:sp>
      <p:sp>
        <p:nvSpPr>
          <p:cNvPr id="3" name="Footer Placeholder 2">
            <a:extLst>
              <a:ext uri="{FF2B5EF4-FFF2-40B4-BE49-F238E27FC236}">
                <a16:creationId xmlns:a16="http://schemas.microsoft.com/office/drawing/2014/main" id="{70935C4F-53A2-5F48-9D77-28C3A92A25D4}"/>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081870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801F-8DA4-8442-2651-5AEE802CAB6C}"/>
              </a:ext>
              <a:ext uri="{C183D7F6-B498-43B3-948B-1728B52AA6E4}">
                <adec:decorative xmlns:adec="http://schemas.microsoft.com/office/drawing/2017/decorative" val="0"/>
              </a:ext>
            </a:extLst>
          </p:cNvPr>
          <p:cNvSpPr>
            <a:spLocks noGrp="1"/>
          </p:cNvSpPr>
          <p:nvPr>
            <p:ph type="title"/>
          </p:nvPr>
        </p:nvSpPr>
        <p:spPr/>
        <p:txBody>
          <a:bodyPr/>
          <a:lstStyle/>
          <a:p>
            <a:r>
              <a:rPr lang="en-US"/>
              <a:t>Guess the next letter</a:t>
            </a:r>
          </a:p>
        </p:txBody>
      </p:sp>
      <p:sp>
        <p:nvSpPr>
          <p:cNvPr id="6" name="Content Placeholder 5">
            <a:extLst>
              <a:ext uri="{FF2B5EF4-FFF2-40B4-BE49-F238E27FC236}">
                <a16:creationId xmlns:a16="http://schemas.microsoft.com/office/drawing/2014/main" id="{5960C48E-8368-9802-11F1-FA86C7671913}"/>
              </a:ext>
            </a:extLst>
          </p:cNvPr>
          <p:cNvSpPr>
            <a:spLocks noGrp="1"/>
          </p:cNvSpPr>
          <p:nvPr>
            <p:ph sz="half" idx="1"/>
          </p:nvPr>
        </p:nvSpPr>
        <p:spPr>
          <a:xfrm>
            <a:off x="876380" y="1563253"/>
            <a:ext cx="4945300" cy="1782604"/>
          </a:xfrm>
        </p:spPr>
        <p:txBody>
          <a:bodyPr/>
          <a:lstStyle/>
          <a:p>
            <a:r>
              <a:rPr lang="en-US" b="0" i="1"/>
              <a:t>If I am thinking of an English word that starts with q and I ask you to guess the next letter, what is your most likely guess?</a:t>
            </a:r>
          </a:p>
          <a:p>
            <a:endParaRPr lang="en-US"/>
          </a:p>
        </p:txBody>
      </p:sp>
      <p:sp>
        <p:nvSpPr>
          <p:cNvPr id="11" name="TextBox 10">
            <a:extLst>
              <a:ext uri="{FF2B5EF4-FFF2-40B4-BE49-F238E27FC236}">
                <a16:creationId xmlns:a16="http://schemas.microsoft.com/office/drawing/2014/main" id="{49AEFFA7-2463-C616-899B-3AE1AE17F56A}"/>
              </a:ext>
            </a:extLst>
          </p:cNvPr>
          <p:cNvSpPr txBox="1"/>
          <p:nvPr/>
        </p:nvSpPr>
        <p:spPr>
          <a:xfrm>
            <a:off x="6980312" y="1613877"/>
            <a:ext cx="4160373" cy="923330"/>
          </a:xfrm>
          <a:prstGeom prst="rect">
            <a:avLst/>
          </a:prstGeom>
          <a:noFill/>
        </p:spPr>
        <p:txBody>
          <a:bodyPr wrap="square" rtlCol="0">
            <a:spAutoFit/>
          </a:bodyPr>
          <a:lstStyle/>
          <a:p>
            <a:pPr algn="just"/>
            <a:r>
              <a:rPr lang="en-US"/>
              <a:t>How often a letter from the columns is followed by a letter on the rows? Bright yellow = never, dark red = very often </a:t>
            </a:r>
            <a:endParaRPr lang="fi-FI"/>
          </a:p>
        </p:txBody>
      </p:sp>
      <p:pic>
        <p:nvPicPr>
          <p:cNvPr id="8" name="Content Placeholder 7" descr="Heatmap of the probability of letter sequences.">
            <a:extLst>
              <a:ext uri="{FF2B5EF4-FFF2-40B4-BE49-F238E27FC236}">
                <a16:creationId xmlns:a16="http://schemas.microsoft.com/office/drawing/2014/main" id="{76372339-EE43-8521-033F-1218529D3F9D}"/>
              </a:ext>
              <a:ext uri="{C183D7F6-B498-43B3-948B-1728B52AA6E4}">
                <adec:decorative xmlns:adec="http://schemas.microsoft.com/office/drawing/2017/decorative" val="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437836" y="2649643"/>
            <a:ext cx="3245324" cy="3282770"/>
          </a:xfrm>
          <a:prstGeom prst="rect">
            <a:avLst/>
          </a:prstGeom>
        </p:spPr>
      </p:pic>
      <p:sp>
        <p:nvSpPr>
          <p:cNvPr id="10" name="TextBox 9">
            <a:extLst>
              <a:ext uri="{FF2B5EF4-FFF2-40B4-BE49-F238E27FC236}">
                <a16:creationId xmlns:a16="http://schemas.microsoft.com/office/drawing/2014/main" id="{01B165C5-6654-402C-18D0-3ED187BF2756}"/>
              </a:ext>
              <a:ext uri="{C183D7F6-B498-43B3-948B-1728B52AA6E4}">
                <adec:decorative xmlns:adec="http://schemas.microsoft.com/office/drawing/2017/decorative" val="0"/>
              </a:ext>
            </a:extLst>
          </p:cNvPr>
          <p:cNvSpPr txBox="1"/>
          <p:nvPr/>
        </p:nvSpPr>
        <p:spPr>
          <a:xfrm>
            <a:off x="3700152" y="5009083"/>
            <a:ext cx="3569328" cy="923330"/>
          </a:xfrm>
          <a:prstGeom prst="rect">
            <a:avLst/>
          </a:prstGeom>
          <a:noFill/>
        </p:spPr>
        <p:txBody>
          <a:bodyPr wrap="square">
            <a:spAutoFit/>
          </a:bodyPr>
          <a:lstStyle/>
          <a:p>
            <a:r>
              <a:rPr lang="en-US"/>
              <a:t>Image from </a:t>
            </a:r>
            <a:r>
              <a:rPr lang="en-US" i="1">
                <a:hlinkClick r:id="rId3"/>
              </a:rPr>
              <a:t>What is ChatGPT doing, and why does it work?</a:t>
            </a:r>
            <a:r>
              <a:rPr lang="en-US">
                <a:hlinkClick r:id="rId3"/>
              </a:rPr>
              <a:t> </a:t>
            </a:r>
            <a:r>
              <a:rPr lang="en-US"/>
              <a:t>by Stephen Wolfram</a:t>
            </a:r>
          </a:p>
        </p:txBody>
      </p:sp>
      <p:sp>
        <p:nvSpPr>
          <p:cNvPr id="7" name="Slide Number Placeholder 6">
            <a:extLst>
              <a:ext uri="{FF2B5EF4-FFF2-40B4-BE49-F238E27FC236}">
                <a16:creationId xmlns:a16="http://schemas.microsoft.com/office/drawing/2014/main" id="{76A05994-3508-7ECB-8736-7A60624C3D05}"/>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lstStyle/>
          <a:p>
            <a:fld id="{D701140D-C14F-41CA-99FC-0EF83E8DA40A}" type="slidenum">
              <a:rPr lang="fi-FI" smtClean="0"/>
              <a:t>13</a:t>
            </a:fld>
            <a:endParaRPr lang="fi-FI"/>
          </a:p>
        </p:txBody>
      </p:sp>
      <p:sp>
        <p:nvSpPr>
          <p:cNvPr id="3" name="Date Placeholder 2">
            <a:extLst>
              <a:ext uri="{FF2B5EF4-FFF2-40B4-BE49-F238E27FC236}">
                <a16:creationId xmlns:a16="http://schemas.microsoft.com/office/drawing/2014/main" id="{8687D492-2F3B-33D8-413A-13FB0E70D2A3}"/>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89E74601-ACE9-B5A8-701E-266DB9DBE085}"/>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48865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3E5E2-BA76-DF3A-4B8D-B9E890715A03}"/>
              </a:ext>
            </a:extLst>
          </p:cNvPr>
          <p:cNvSpPr>
            <a:spLocks noGrp="1"/>
          </p:cNvSpPr>
          <p:nvPr>
            <p:ph type="title"/>
          </p:nvPr>
        </p:nvSpPr>
        <p:spPr>
          <a:xfrm>
            <a:off x="407987" y="412433"/>
            <a:ext cx="11376026" cy="1079971"/>
          </a:xfrm>
        </p:spPr>
        <p:txBody>
          <a:bodyPr/>
          <a:lstStyle/>
          <a:p>
            <a:r>
              <a:rPr lang="en-US"/>
              <a:t>Guess the next word, sentence, paragraph, chapter, book…</a:t>
            </a:r>
          </a:p>
        </p:txBody>
      </p:sp>
      <p:sp>
        <p:nvSpPr>
          <p:cNvPr id="6" name="Text Placeholder 5">
            <a:extLst>
              <a:ext uri="{FF2B5EF4-FFF2-40B4-BE49-F238E27FC236}">
                <a16:creationId xmlns:a16="http://schemas.microsoft.com/office/drawing/2014/main" id="{C4B3B60A-7FD2-F2B3-E952-01F93E6D782E}"/>
              </a:ext>
            </a:extLst>
          </p:cNvPr>
          <p:cNvSpPr>
            <a:spLocks noGrp="1"/>
          </p:cNvSpPr>
          <p:nvPr>
            <p:ph type="body" sz="quarter" idx="13"/>
          </p:nvPr>
        </p:nvSpPr>
        <p:spPr/>
        <p:txBody>
          <a:bodyPr/>
          <a:lstStyle/>
          <a:p>
            <a:pPr algn="just"/>
            <a:r>
              <a:rPr lang="en-US" sz="2000"/>
              <a:t>Large language models estimate the probability between </a:t>
            </a:r>
            <a:r>
              <a:rPr lang="en-US" sz="2000" b="1"/>
              <a:t>words in the context of sentences, paragraphs, chapters, books…</a:t>
            </a:r>
            <a:r>
              <a:rPr lang="en-US" sz="2000"/>
              <a:t> Given a </a:t>
            </a:r>
            <a:r>
              <a:rPr lang="en-US" sz="2000" b="1"/>
              <a:t>prompt</a:t>
            </a:r>
            <a:r>
              <a:rPr lang="en-US" sz="2000"/>
              <a:t> sentence, the language model can be asked to continue it based on the most likely expected following words, with a given randomness (</a:t>
            </a:r>
            <a:r>
              <a:rPr lang="en-US" sz="2000" b="1"/>
              <a:t>temperature</a:t>
            </a:r>
            <a:r>
              <a:rPr lang="en-US" sz="2000"/>
              <a:t>)</a:t>
            </a:r>
          </a:p>
          <a:p>
            <a:r>
              <a:rPr lang="en-US" sz="2000"/>
              <a:t>E.g. the sentence “</a:t>
            </a:r>
            <a:r>
              <a:rPr lang="en-US" sz="2000" b="1"/>
              <a:t>The best thing about AI is its ability to</a:t>
            </a:r>
            <a:r>
              <a:rPr lang="en-US" sz="2000"/>
              <a:t>” has these as the 5 most likely following words: “learn”(4.5%), “predict” (3.5%), “make”, (3.2%), “understand” (3.1%), “do” (2.9%)</a:t>
            </a:r>
          </a:p>
          <a:p>
            <a:endParaRPr lang="en-US" sz="2000"/>
          </a:p>
        </p:txBody>
      </p:sp>
      <p:sp>
        <p:nvSpPr>
          <p:cNvPr id="7" name="TextBox 6">
            <a:extLst>
              <a:ext uri="{FF2B5EF4-FFF2-40B4-BE49-F238E27FC236}">
                <a16:creationId xmlns:a16="http://schemas.microsoft.com/office/drawing/2014/main" id="{8350583E-304F-5B81-9C87-A561973464B0}"/>
              </a:ext>
            </a:extLst>
          </p:cNvPr>
          <p:cNvSpPr txBox="1"/>
          <p:nvPr/>
        </p:nvSpPr>
        <p:spPr>
          <a:xfrm>
            <a:off x="5051432" y="5085184"/>
            <a:ext cx="63011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cs typeface="Arial"/>
              </a:rPr>
              <a:t>From </a:t>
            </a:r>
            <a:r>
              <a:rPr lang="en-US" sz="1400" i="1">
                <a:cs typeface="Arial"/>
                <a:hlinkClick r:id="rId2"/>
              </a:rPr>
              <a:t>What is ChatGPT doing, and why does it work?</a:t>
            </a:r>
            <a:r>
              <a:rPr lang="en-US" sz="1400" i="1">
                <a:cs typeface="Arial"/>
              </a:rPr>
              <a:t> by Stephen Wolfram</a:t>
            </a:r>
            <a:endParaRPr lang="en-US" sz="1400">
              <a:cs typeface="Arial"/>
            </a:endParaRPr>
          </a:p>
          <a:p>
            <a:pPr algn="l"/>
            <a:endParaRPr lang="en-US">
              <a:cs typeface="Arial"/>
            </a:endParaRPr>
          </a:p>
        </p:txBody>
      </p:sp>
      <p:sp>
        <p:nvSpPr>
          <p:cNvPr id="8" name="Slide Number Placeholder 7">
            <a:extLst>
              <a:ext uri="{FF2B5EF4-FFF2-40B4-BE49-F238E27FC236}">
                <a16:creationId xmlns:a16="http://schemas.microsoft.com/office/drawing/2014/main" id="{9EFA00EF-8BE1-E990-8C45-8258CDEBC20B}"/>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14</a:t>
            </a:fld>
            <a:endParaRPr lang="fi-FI"/>
          </a:p>
        </p:txBody>
      </p:sp>
      <p:sp>
        <p:nvSpPr>
          <p:cNvPr id="3" name="Date Placeholder 2">
            <a:extLst>
              <a:ext uri="{FF2B5EF4-FFF2-40B4-BE49-F238E27FC236}">
                <a16:creationId xmlns:a16="http://schemas.microsoft.com/office/drawing/2014/main" id="{BE7D85E1-2DC5-BF5E-253D-81DC51041A46}"/>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3CD8F873-1CF1-3322-A612-72CCE4CE5D99}"/>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964486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2190D-F0CB-8D68-7CF9-0D89F7E35905}"/>
              </a:ext>
            </a:extLst>
          </p:cNvPr>
          <p:cNvSpPr>
            <a:spLocks noGrp="1"/>
          </p:cNvSpPr>
          <p:nvPr>
            <p:ph type="title"/>
          </p:nvPr>
        </p:nvSpPr>
        <p:spPr/>
        <p:txBody>
          <a:bodyPr/>
          <a:lstStyle/>
          <a:p>
            <a:r>
              <a:rPr lang="en-US"/>
              <a:t>Guess the next word, sentence, paragraph, chapter, book… (II)</a:t>
            </a:r>
          </a:p>
        </p:txBody>
      </p:sp>
      <p:sp>
        <p:nvSpPr>
          <p:cNvPr id="7" name="Text Placeholder 2">
            <a:extLst>
              <a:ext uri="{FF2B5EF4-FFF2-40B4-BE49-F238E27FC236}">
                <a16:creationId xmlns:a16="http://schemas.microsoft.com/office/drawing/2014/main" id="{39A91415-5268-E54E-BE02-D5459774CEEE}"/>
              </a:ext>
            </a:extLst>
          </p:cNvPr>
          <p:cNvSpPr txBox="1">
            <a:spLocks/>
          </p:cNvSpPr>
          <p:nvPr/>
        </p:nvSpPr>
        <p:spPr>
          <a:xfrm>
            <a:off x="7000050" y="1124744"/>
            <a:ext cx="4537328" cy="1626534"/>
          </a:xfrm>
          <a:prstGeom prst="rect">
            <a:avLst/>
          </a:prstGeom>
        </p:spPr>
        <p:txBody>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algn="just"/>
            <a:r>
              <a:rPr lang="en-US"/>
              <a:t>At each generated word, we re-ask the model to pick another one from the top N words that would follow from all the previous words seen so far.</a:t>
            </a:r>
            <a:br>
              <a:rPr lang="en-US"/>
            </a:br>
            <a:endParaRPr lang="en-US"/>
          </a:p>
        </p:txBody>
      </p:sp>
      <p:sp>
        <p:nvSpPr>
          <p:cNvPr id="6" name="Text Placeholder 5">
            <a:extLst>
              <a:ext uri="{FF2B5EF4-FFF2-40B4-BE49-F238E27FC236}">
                <a16:creationId xmlns:a16="http://schemas.microsoft.com/office/drawing/2014/main" id="{9BADD6E9-18A3-5E59-2E9A-B5887E337DA3}"/>
              </a:ext>
            </a:extLst>
          </p:cNvPr>
          <p:cNvSpPr>
            <a:spLocks noGrp="1"/>
          </p:cNvSpPr>
          <p:nvPr>
            <p:ph type="body" sz="quarter" idx="13"/>
          </p:nvPr>
        </p:nvSpPr>
        <p:spPr>
          <a:xfrm>
            <a:off x="1055687" y="1448325"/>
            <a:ext cx="7874953" cy="2701260"/>
          </a:xfrm>
        </p:spPr>
        <p:txBody>
          <a:bodyPr/>
          <a:lstStyle/>
          <a:p>
            <a:r>
              <a:rPr lang="en-US" sz="1800" b="0"/>
              <a:t>{The best thing about AI is its ability to,</a:t>
            </a:r>
          </a:p>
          <a:p>
            <a:r>
              <a:rPr lang="en-US" sz="1800" b="0"/>
              <a:t>The best thing about AI is its ability to create,</a:t>
            </a:r>
          </a:p>
          <a:p>
            <a:r>
              <a:rPr lang="en-US" sz="1800" b="0"/>
              <a:t>The best thing about AI is its ability to create worlds,</a:t>
            </a:r>
          </a:p>
          <a:p>
            <a:r>
              <a:rPr lang="en-US" sz="1800" b="0"/>
              <a:t>The best thing about AI is its ability to create worlds that,</a:t>
            </a:r>
          </a:p>
          <a:p>
            <a:r>
              <a:rPr lang="en-US" sz="1800" b="0"/>
              <a:t>The best thing about AI is its ability to create worlds that are,</a:t>
            </a:r>
          </a:p>
          <a:p>
            <a:r>
              <a:rPr lang="en-US" sz="1800" b="0"/>
              <a:t>The best thing about AI is its ability to create worlds that are both, </a:t>
            </a:r>
          </a:p>
          <a:p>
            <a:r>
              <a:rPr lang="en-US" sz="1800" b="0"/>
              <a:t>The best thing about AI is its ability to create worlds that are both exciting,}</a:t>
            </a:r>
          </a:p>
        </p:txBody>
      </p:sp>
      <p:sp>
        <p:nvSpPr>
          <p:cNvPr id="9" name="TextBox 8">
            <a:extLst>
              <a:ext uri="{FF2B5EF4-FFF2-40B4-BE49-F238E27FC236}">
                <a16:creationId xmlns:a16="http://schemas.microsoft.com/office/drawing/2014/main" id="{6C94E3E0-C374-D114-AD61-B458727D9C35}"/>
              </a:ext>
            </a:extLst>
          </p:cNvPr>
          <p:cNvSpPr txBox="1"/>
          <p:nvPr/>
        </p:nvSpPr>
        <p:spPr>
          <a:xfrm>
            <a:off x="8328558" y="4082792"/>
            <a:ext cx="3208820" cy="584775"/>
          </a:xfrm>
          <a:prstGeom prst="rect">
            <a:avLst/>
          </a:prstGeom>
          <a:noFill/>
        </p:spPr>
        <p:txBody>
          <a:bodyPr wrap="square">
            <a:spAutoFit/>
          </a:bodyPr>
          <a:lstStyle/>
          <a:p>
            <a:r>
              <a:rPr lang="en-US" sz="1600">
                <a:solidFill>
                  <a:schemeClr val="tx1">
                    <a:lumMod val="65000"/>
                    <a:lumOff val="35000"/>
                  </a:schemeClr>
                </a:solidFill>
              </a:rPr>
              <a:t>Different runs, produce different outputs (goodbye reproducibility!)</a:t>
            </a:r>
          </a:p>
        </p:txBody>
      </p:sp>
      <p:sp>
        <p:nvSpPr>
          <p:cNvPr id="11" name="Text Placeholder 5">
            <a:extLst>
              <a:ext uri="{FF2B5EF4-FFF2-40B4-BE49-F238E27FC236}">
                <a16:creationId xmlns:a16="http://schemas.microsoft.com/office/drawing/2014/main" id="{F9A11971-A25B-72A2-FD79-92DEEBD86E3D}"/>
              </a:ext>
            </a:extLst>
          </p:cNvPr>
          <p:cNvSpPr txBox="1">
            <a:spLocks/>
          </p:cNvSpPr>
          <p:nvPr/>
        </p:nvSpPr>
        <p:spPr>
          <a:xfrm>
            <a:off x="1055689" y="4223900"/>
            <a:ext cx="8019732" cy="179292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8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lumMod val="65000"/>
                    <a:lumOff val="35000"/>
                  </a:schemeClr>
                </a:solidFill>
              </a:rPr>
              <a:t>The best thing about AI is its ability to learn. I’ve always liked the</a:t>
            </a:r>
          </a:p>
          <a:p>
            <a:r>
              <a:rPr lang="en-US" sz="1600">
                <a:solidFill>
                  <a:schemeClr val="tx1">
                    <a:lumMod val="65000"/>
                    <a:lumOff val="35000"/>
                  </a:schemeClr>
                </a:solidFill>
              </a:rPr>
              <a:t>The best thing about AI is its ability to really come into your world and just</a:t>
            </a:r>
          </a:p>
          <a:p>
            <a:r>
              <a:rPr lang="en-US" sz="1600">
                <a:solidFill>
                  <a:schemeClr val="tx1">
                    <a:lumMod val="65000"/>
                    <a:lumOff val="35000"/>
                  </a:schemeClr>
                </a:solidFill>
              </a:rPr>
              <a:t>The best thing about AI is its ability to examine human behavior and the way it</a:t>
            </a:r>
          </a:p>
          <a:p>
            <a:r>
              <a:rPr lang="en-US" sz="1600">
                <a:solidFill>
                  <a:schemeClr val="tx1">
                    <a:lumMod val="65000"/>
                    <a:lumOff val="35000"/>
                  </a:schemeClr>
                </a:solidFill>
              </a:rPr>
              <a:t>The best thing about AI is its ability to do a great job of teaching us</a:t>
            </a:r>
          </a:p>
          <a:p>
            <a:r>
              <a:rPr lang="en-US" sz="1600">
                <a:solidFill>
                  <a:schemeClr val="tx1">
                    <a:lumMod val="65000"/>
                    <a:lumOff val="35000"/>
                  </a:schemeClr>
                </a:solidFill>
              </a:rPr>
              <a:t>The best thing about AI is its ability to create real tasks, buy you can</a:t>
            </a:r>
          </a:p>
          <a:p>
            <a:endParaRPr lang="en-US" sz="2000">
              <a:solidFill>
                <a:schemeClr val="tx1">
                  <a:lumMod val="65000"/>
                  <a:lumOff val="35000"/>
                </a:schemeClr>
              </a:solidFill>
            </a:endParaRPr>
          </a:p>
        </p:txBody>
      </p:sp>
      <p:sp>
        <p:nvSpPr>
          <p:cNvPr id="13" name="TextBox 12">
            <a:extLst>
              <a:ext uri="{FF2B5EF4-FFF2-40B4-BE49-F238E27FC236}">
                <a16:creationId xmlns:a16="http://schemas.microsoft.com/office/drawing/2014/main" id="{24AF334F-B63E-BD3C-1AC8-E2EA41099CFC}"/>
              </a:ext>
            </a:extLst>
          </p:cNvPr>
          <p:cNvSpPr txBox="1"/>
          <p:nvPr/>
        </p:nvSpPr>
        <p:spPr>
          <a:xfrm>
            <a:off x="8328558" y="5237359"/>
            <a:ext cx="3352800" cy="923330"/>
          </a:xfrm>
          <a:prstGeom prst="rect">
            <a:avLst/>
          </a:prstGeom>
          <a:noFill/>
        </p:spPr>
        <p:txBody>
          <a:bodyPr wrap="square">
            <a:spAutoFit/>
          </a:bodyPr>
          <a:lstStyle/>
          <a:p>
            <a:r>
              <a:rPr lang="en-US" sz="1800" i="1">
                <a:solidFill>
                  <a:schemeClr val="tx1">
                    <a:lumMod val="65000"/>
                    <a:lumOff val="35000"/>
                  </a:schemeClr>
                </a:solidFill>
              </a:rPr>
              <a:t>From </a:t>
            </a:r>
            <a:r>
              <a:rPr lang="en-US" sz="1800" i="1">
                <a:solidFill>
                  <a:schemeClr val="tx1">
                    <a:lumMod val="65000"/>
                    <a:lumOff val="35000"/>
                  </a:schemeClr>
                </a:solidFill>
                <a:hlinkClick r:id="rId2">
                  <a:extLst>
                    <a:ext uri="{A12FA001-AC4F-418D-AE19-62706E023703}">
                      <ahyp:hlinkClr xmlns:ahyp="http://schemas.microsoft.com/office/drawing/2018/hyperlinkcolor" val="tx"/>
                    </a:ext>
                  </a:extLst>
                </a:hlinkClick>
              </a:rPr>
              <a:t>What is ChatGPT doing, and why does it work?</a:t>
            </a:r>
            <a:r>
              <a:rPr lang="en-US" sz="1800" i="1">
                <a:solidFill>
                  <a:schemeClr val="tx1">
                    <a:lumMod val="65000"/>
                    <a:lumOff val="35000"/>
                  </a:schemeClr>
                </a:solidFill>
              </a:rPr>
              <a:t> by Stephen Wolfram</a:t>
            </a:r>
            <a:endParaRPr lang="en-US"/>
          </a:p>
        </p:txBody>
      </p:sp>
      <p:sp>
        <p:nvSpPr>
          <p:cNvPr id="8" name="Slide Number Placeholder 7">
            <a:extLst>
              <a:ext uri="{FF2B5EF4-FFF2-40B4-BE49-F238E27FC236}">
                <a16:creationId xmlns:a16="http://schemas.microsoft.com/office/drawing/2014/main" id="{3C65EC61-7F65-C1FB-5826-837AF1B06A3B}"/>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15</a:t>
            </a:fld>
            <a:endParaRPr lang="fi-FI"/>
          </a:p>
        </p:txBody>
      </p:sp>
      <p:sp>
        <p:nvSpPr>
          <p:cNvPr id="3" name="Date Placeholder 2">
            <a:extLst>
              <a:ext uri="{FF2B5EF4-FFF2-40B4-BE49-F238E27FC236}">
                <a16:creationId xmlns:a16="http://schemas.microsoft.com/office/drawing/2014/main" id="{D0411D58-4B71-88DF-F59F-FC6883ACEDE1}"/>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AA88183A-9009-391B-636D-B397449CA03A}"/>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351980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3E5E2-BA76-DF3A-4B8D-B9E890715A03}"/>
              </a:ext>
            </a:extLst>
          </p:cNvPr>
          <p:cNvSpPr>
            <a:spLocks noGrp="1"/>
          </p:cNvSpPr>
          <p:nvPr>
            <p:ph type="title"/>
          </p:nvPr>
        </p:nvSpPr>
        <p:spPr>
          <a:xfrm>
            <a:off x="407987" y="412433"/>
            <a:ext cx="11376026" cy="1079971"/>
          </a:xfrm>
        </p:spPr>
        <p:txBody>
          <a:bodyPr/>
          <a:lstStyle/>
          <a:p>
            <a:r>
              <a:rPr lang="en-US"/>
              <a:t>Actually… it’s a little bit more complicated than that</a:t>
            </a:r>
          </a:p>
        </p:txBody>
      </p:sp>
      <p:sp>
        <p:nvSpPr>
          <p:cNvPr id="6" name="Text Placeholder 5">
            <a:extLst>
              <a:ext uri="{FF2B5EF4-FFF2-40B4-BE49-F238E27FC236}">
                <a16:creationId xmlns:a16="http://schemas.microsoft.com/office/drawing/2014/main" id="{C4B3B60A-7FD2-F2B3-E952-01F93E6D782E}"/>
              </a:ext>
            </a:extLst>
          </p:cNvPr>
          <p:cNvSpPr>
            <a:spLocks noGrp="1"/>
          </p:cNvSpPr>
          <p:nvPr>
            <p:ph type="body" sz="quarter" idx="13"/>
          </p:nvPr>
        </p:nvSpPr>
        <p:spPr/>
        <p:txBody>
          <a:bodyPr/>
          <a:lstStyle/>
          <a:p>
            <a:pPr marL="342900" indent="-342900" algn="just">
              <a:buFont typeface="Arial" panose="020B0604020202020204" pitchFamily="34" charset="0"/>
              <a:buChar char="•"/>
            </a:pPr>
            <a:r>
              <a:rPr lang="en-US" sz="2000"/>
              <a:t>They don’t predict words, they predict “tokens”</a:t>
            </a:r>
          </a:p>
          <a:p>
            <a:pPr marL="342900" indent="-342900" algn="just">
              <a:buFont typeface="Arial" panose="020B0604020202020204" pitchFamily="34" charset="0"/>
              <a:buChar char="•"/>
            </a:pPr>
            <a:r>
              <a:rPr lang="en-US" sz="2000"/>
              <a:t>The deep neural network has “attention” layers which actually set the context already for many tokens ahead, so it is actually “planning ahead”</a:t>
            </a:r>
          </a:p>
          <a:p>
            <a:pPr marL="342900" indent="-342900" algn="just">
              <a:buFont typeface="Arial" panose="020B0604020202020204" pitchFamily="34" charset="0"/>
              <a:buChar char="•"/>
            </a:pPr>
            <a:r>
              <a:rPr lang="en-US" sz="2000"/>
              <a:t>We did not talk about how words are mapped into numbers (vector embeddings)</a:t>
            </a:r>
          </a:p>
          <a:p>
            <a:pPr marL="342900" indent="-342900" algn="just">
              <a:buFont typeface="Arial" panose="020B0604020202020204" pitchFamily="34" charset="0"/>
              <a:buChar char="•"/>
            </a:pPr>
            <a:r>
              <a:rPr lang="en-US" sz="2000"/>
              <a:t>We did not talk about how it is actually multiple models behind the scenes (architectures of LLMs) </a:t>
            </a:r>
          </a:p>
          <a:p>
            <a:pPr marL="342900" indent="-342900" algn="just">
              <a:buFont typeface="Arial" panose="020B0604020202020204" pitchFamily="34" charset="0"/>
              <a:buChar char="•"/>
            </a:pPr>
            <a:r>
              <a:rPr lang="en-US" sz="2000"/>
              <a:t>If you want to learn more about this, start from </a:t>
            </a:r>
            <a:r>
              <a:rPr lang="en-US" sz="2000" b="1">
                <a:hlinkClick r:id="rId2"/>
              </a:rPr>
              <a:t>3 blue 1 brown YouTube videos</a:t>
            </a:r>
            <a:endParaRPr lang="en-US" sz="2000"/>
          </a:p>
        </p:txBody>
      </p:sp>
      <p:sp>
        <p:nvSpPr>
          <p:cNvPr id="8" name="Slide Number Placeholder 7">
            <a:extLst>
              <a:ext uri="{FF2B5EF4-FFF2-40B4-BE49-F238E27FC236}">
                <a16:creationId xmlns:a16="http://schemas.microsoft.com/office/drawing/2014/main" id="{9EFA00EF-8BE1-E990-8C45-8258CDEBC20B}"/>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16</a:t>
            </a:fld>
            <a:endParaRPr lang="fi-FI"/>
          </a:p>
        </p:txBody>
      </p:sp>
      <p:sp>
        <p:nvSpPr>
          <p:cNvPr id="3" name="Date Placeholder 2">
            <a:extLst>
              <a:ext uri="{FF2B5EF4-FFF2-40B4-BE49-F238E27FC236}">
                <a16:creationId xmlns:a16="http://schemas.microsoft.com/office/drawing/2014/main" id="{BE7D85E1-2DC5-BF5E-253D-81DC51041A46}"/>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3CD8F873-1CF1-3322-A612-72CCE4CE5D99}"/>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4056833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3662D-ECAC-61C8-DDF7-0B95AACEB5E3}"/>
              </a:ext>
            </a:extLst>
          </p:cNvPr>
          <p:cNvSpPr>
            <a:spLocks noGrp="1"/>
          </p:cNvSpPr>
          <p:nvPr>
            <p:ph type="title"/>
          </p:nvPr>
        </p:nvSpPr>
        <p:spPr/>
        <p:txBody>
          <a:bodyPr/>
          <a:lstStyle/>
          <a:p>
            <a:r>
              <a:rPr lang="en-US"/>
              <a:t>How to use them?</a:t>
            </a:r>
            <a:br>
              <a:rPr lang="en-US"/>
            </a:br>
            <a:r>
              <a:rPr lang="en-US"/>
              <a:t>Platforms currently available (April 2026)</a:t>
            </a:r>
          </a:p>
        </p:txBody>
      </p:sp>
      <p:sp>
        <p:nvSpPr>
          <p:cNvPr id="6" name="Text Placeholder 5">
            <a:extLst>
              <a:ext uri="{FF2B5EF4-FFF2-40B4-BE49-F238E27FC236}">
                <a16:creationId xmlns:a16="http://schemas.microsoft.com/office/drawing/2014/main" id="{0CAF7282-5697-E630-99F1-FD68A01929C6}"/>
              </a:ext>
            </a:extLst>
          </p:cNvPr>
          <p:cNvSpPr>
            <a:spLocks noGrp="1"/>
          </p:cNvSpPr>
          <p:nvPr>
            <p:ph type="body" sz="quarter" idx="13"/>
          </p:nvPr>
        </p:nvSpPr>
        <p:spPr/>
        <p:txBody>
          <a:bodyPr/>
          <a:lstStyle/>
          <a:p>
            <a:r>
              <a:rPr lang="en-US" sz="2000"/>
              <a:t>Historically the way to query generative models was to ask “</a:t>
            </a:r>
            <a:r>
              <a:rPr lang="en-US" sz="2000" b="1"/>
              <a:t>continue the sentence</a:t>
            </a:r>
            <a:r>
              <a:rPr lang="en-US" sz="2000"/>
              <a:t>”. Later </a:t>
            </a:r>
            <a:r>
              <a:rPr lang="en-US" sz="2000" b="1"/>
              <a:t>OpenAI </a:t>
            </a:r>
            <a:r>
              <a:rPr lang="en-US" sz="2000"/>
              <a:t>made the </a:t>
            </a:r>
            <a:r>
              <a:rPr lang="en-US" sz="2000" b="1"/>
              <a:t>chat interface </a:t>
            </a:r>
            <a:r>
              <a:rPr lang="en-US" sz="2000"/>
              <a:t>successful, but they were not the first (</a:t>
            </a:r>
            <a:r>
              <a:rPr lang="en-US" sz="2000">
                <a:hlinkClick r:id="rId2"/>
              </a:rPr>
              <a:t>ref</a:t>
            </a:r>
            <a:r>
              <a:rPr lang="en-US" sz="2000"/>
              <a:t>)</a:t>
            </a:r>
          </a:p>
          <a:p>
            <a:r>
              <a:rPr lang="en-US" sz="2000"/>
              <a:t>Most current platform require you to </a:t>
            </a:r>
            <a:r>
              <a:rPr lang="en-US" sz="2000" b="1"/>
              <a:t>sign-up to a service </a:t>
            </a:r>
            <a:r>
              <a:rPr lang="en-US" sz="2000"/>
              <a:t>since the actual model and its inference software are </a:t>
            </a:r>
            <a:r>
              <a:rPr lang="en-US" sz="2000" b="1"/>
              <a:t>not running on your local computer</a:t>
            </a:r>
            <a:r>
              <a:rPr lang="en-US" sz="2000"/>
              <a:t>. </a:t>
            </a:r>
          </a:p>
          <a:p>
            <a:r>
              <a:rPr lang="en-US" sz="2000"/>
              <a:t>Current platforms and technologies: </a:t>
            </a:r>
            <a:r>
              <a:rPr lang="en-US" sz="2000">
                <a:hlinkClick r:id="rId3"/>
              </a:rPr>
              <a:t>OpenAI</a:t>
            </a:r>
            <a:r>
              <a:rPr lang="en-US" sz="2000"/>
              <a:t> with free </a:t>
            </a:r>
            <a:r>
              <a:rPr lang="en-US" sz="2000" b="1"/>
              <a:t>ChatGPT 5.* </a:t>
            </a:r>
            <a:r>
              <a:rPr lang="en-US" sz="2000"/>
              <a:t>(also </a:t>
            </a:r>
            <a:r>
              <a:rPr lang="en-US" sz="2000" b="1">
                <a:hlinkClick r:id="rId4"/>
              </a:rPr>
              <a:t>Microsoft Copilot</a:t>
            </a:r>
            <a:r>
              <a:rPr lang="en-US" sz="2000" b="1"/>
              <a:t> with same AI model</a:t>
            </a:r>
            <a:r>
              <a:rPr lang="en-US" sz="2000"/>
              <a:t>), </a:t>
            </a:r>
            <a:r>
              <a:rPr lang="en-US" sz="2000" b="1"/>
              <a:t>Anthropic </a:t>
            </a:r>
            <a:r>
              <a:rPr lang="en-US" sz="2000" b="1">
                <a:hlinkClick r:id="rId5"/>
              </a:rPr>
              <a:t>Claude</a:t>
            </a:r>
            <a:r>
              <a:rPr lang="en-US" sz="2000" b="1"/>
              <a:t>,</a:t>
            </a:r>
            <a:r>
              <a:rPr lang="en-US" sz="2000"/>
              <a:t> </a:t>
            </a:r>
            <a:r>
              <a:rPr lang="en-US" sz="2000" b="1"/>
              <a:t>Google </a:t>
            </a:r>
            <a:r>
              <a:rPr lang="en-US" sz="2000" b="1">
                <a:hlinkClick r:id="rId6"/>
              </a:rPr>
              <a:t>Gemini</a:t>
            </a:r>
            <a:r>
              <a:rPr lang="en-US" sz="2000"/>
              <a:t>, </a:t>
            </a:r>
            <a:r>
              <a:rPr lang="en-US" sz="2000" b="1">
                <a:hlinkClick r:id="rId7"/>
              </a:rPr>
              <a:t>LeChat by Mistral</a:t>
            </a:r>
            <a:r>
              <a:rPr lang="en-US" sz="2000" b="1"/>
              <a:t>,</a:t>
            </a:r>
            <a:r>
              <a:rPr lang="en-US" sz="2000"/>
              <a:t> </a:t>
            </a:r>
            <a:r>
              <a:rPr lang="en-US" sz="2000" b="1" err="1">
                <a:hlinkClick r:id="rId8"/>
              </a:rPr>
              <a:t>Huggingface</a:t>
            </a:r>
            <a:r>
              <a:rPr lang="en-US" sz="2000" b="1">
                <a:hlinkClick r:id="rId8"/>
              </a:rPr>
              <a:t> chat </a:t>
            </a:r>
            <a:r>
              <a:rPr lang="en-US" sz="2000"/>
              <a:t>(various open-source models available), </a:t>
            </a:r>
            <a:r>
              <a:rPr lang="en-US" sz="2000" b="1">
                <a:hlinkClick r:id="rId9"/>
              </a:rPr>
              <a:t>DeepSeek</a:t>
            </a:r>
            <a:r>
              <a:rPr lang="en-US" sz="2000" b="1"/>
              <a:t>, </a:t>
            </a:r>
            <a:r>
              <a:rPr lang="en-US" sz="2000" b="1">
                <a:hlinkClick r:id="rId10"/>
              </a:rPr>
              <a:t>Grok</a:t>
            </a:r>
            <a:r>
              <a:rPr lang="en-US" sz="2000" b="1"/>
              <a:t> </a:t>
            </a:r>
            <a:r>
              <a:rPr lang="en-US" sz="2000"/>
              <a:t>(x.ai), </a:t>
            </a:r>
            <a:r>
              <a:rPr lang="en-US" sz="2000" b="1">
                <a:hlinkClick r:id="rId11"/>
              </a:rPr>
              <a:t>Duck.AI</a:t>
            </a:r>
            <a:r>
              <a:rPr lang="en-US" sz="2000"/>
              <a:t> (free, no subscription needed, with a layer of privacy).</a:t>
            </a:r>
            <a:endParaRPr lang="en-US" sz="2000">
              <a:cs typeface="Arial"/>
            </a:endParaRPr>
          </a:p>
          <a:p>
            <a:r>
              <a:rPr lang="en-US" sz="2000"/>
              <a:t>If privacy and protection of your data is important, </a:t>
            </a:r>
            <a:r>
              <a:rPr lang="en-US" sz="2000" b="1"/>
              <a:t>open-source models can also be run locally. More at the end of this presentation.</a:t>
            </a:r>
          </a:p>
        </p:txBody>
      </p:sp>
      <p:sp>
        <p:nvSpPr>
          <p:cNvPr id="7" name="Slide Number Placeholder 6">
            <a:extLst>
              <a:ext uri="{FF2B5EF4-FFF2-40B4-BE49-F238E27FC236}">
                <a16:creationId xmlns:a16="http://schemas.microsoft.com/office/drawing/2014/main" id="{E854A90D-970C-46B2-48C9-CC1EB58455F5}"/>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01140D-C14F-41CA-99FC-0EF83E8DA40A}" type="slidenum">
              <a:rPr lang="fi-FI" smtClean="0"/>
              <a:pPr/>
              <a:t>17</a:t>
            </a:fld>
            <a:endParaRPr lang="fi-FI"/>
          </a:p>
        </p:txBody>
      </p:sp>
      <p:sp>
        <p:nvSpPr>
          <p:cNvPr id="3" name="Date Placeholder 2">
            <a:extLst>
              <a:ext uri="{FF2B5EF4-FFF2-40B4-BE49-F238E27FC236}">
                <a16:creationId xmlns:a16="http://schemas.microsoft.com/office/drawing/2014/main" id="{FE289D72-997B-BAC7-9C93-3E43809A0ED9}"/>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2163218A-EA70-947D-850B-196FAE5CE531}"/>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487034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5A9D47-2B59-DC5D-EB34-017E96A943D9}"/>
              </a:ext>
            </a:extLst>
          </p:cNvPr>
          <p:cNvSpPr>
            <a:spLocks noGrp="1"/>
          </p:cNvSpPr>
          <p:nvPr>
            <p:ph type="title"/>
          </p:nvPr>
        </p:nvSpPr>
        <p:spPr/>
        <p:txBody>
          <a:bodyPr/>
          <a:lstStyle/>
          <a:p>
            <a:r>
              <a:rPr lang="en-US"/>
              <a:t>2. Prompt engineering</a:t>
            </a:r>
          </a:p>
        </p:txBody>
      </p:sp>
      <p:sp>
        <p:nvSpPr>
          <p:cNvPr id="4" name="Content Placeholder 3">
            <a:extLst>
              <a:ext uri="{FF2B5EF4-FFF2-40B4-BE49-F238E27FC236}">
                <a16:creationId xmlns:a16="http://schemas.microsoft.com/office/drawing/2014/main" id="{211029FC-0A29-BEBF-9818-3B47A403DE36}"/>
              </a:ext>
            </a:extLst>
          </p:cNvPr>
          <p:cNvSpPr>
            <a:spLocks noGrp="1"/>
          </p:cNvSpPr>
          <p:nvPr>
            <p:ph sz="half" idx="1"/>
          </p:nvPr>
        </p:nvSpPr>
        <p:spPr/>
        <p:txBody>
          <a:bodyPr/>
          <a:lstStyle/>
          <a:p>
            <a:r>
              <a:rPr lang="en-US"/>
              <a:t>“Prompt engineering is the process of constructing queries or inputs for AI language models so as to elicit the most precise, coherent, and pertinent responses.”</a:t>
            </a:r>
          </a:p>
        </p:txBody>
      </p:sp>
      <p:pic>
        <p:nvPicPr>
          <p:cNvPr id="8" name="Picture Placeholder 10" descr="In a colorful cartoon style, a futuristic classroom is shown. The AI teacher, with sleek metallic features and a digital facial display, stands at the front, pointing to a chalkboard that reads, 'When humans say 'please'...'. Arrayed in front are smaller AI robots in the guise of students, equipped with little notebooks and pencils. An eager AI student raises a hand, its speech bubble proclaiming, 'We say 'Thank you'!' Fellow AI">
            <a:extLst>
              <a:ext uri="{FF2B5EF4-FFF2-40B4-BE49-F238E27FC236}">
                <a16:creationId xmlns:a16="http://schemas.microsoft.com/office/drawing/2014/main" id="{6F5216D7-80CC-483D-F564-68ADAC80E42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5556" r="5556"/>
          <a:stretch>
            <a:fillRect/>
          </a:stretch>
        </p:blipFill>
        <p:spPr>
          <a:xfrm>
            <a:off x="6096000" y="0"/>
            <a:ext cx="6096000" cy="6858000"/>
          </a:xfrm>
        </p:spPr>
      </p:pic>
      <p:sp>
        <p:nvSpPr>
          <p:cNvPr id="5" name="Slide Number Placeholder 4">
            <a:extLst>
              <a:ext uri="{FF2B5EF4-FFF2-40B4-BE49-F238E27FC236}">
                <a16:creationId xmlns:a16="http://schemas.microsoft.com/office/drawing/2014/main" id="{CA1FBCCB-E77B-D974-6863-90851BDB3DA4}"/>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pPr/>
              <a:t>18</a:t>
            </a:fld>
            <a:endParaRPr lang="fi-FI"/>
          </a:p>
        </p:txBody>
      </p:sp>
      <p:sp>
        <p:nvSpPr>
          <p:cNvPr id="2" name="Date Placeholder 1">
            <a:extLst>
              <a:ext uri="{FF2B5EF4-FFF2-40B4-BE49-F238E27FC236}">
                <a16:creationId xmlns:a16="http://schemas.microsoft.com/office/drawing/2014/main" id="{931C0A35-C32A-6938-2D1B-6C7A991CB11A}"/>
              </a:ext>
            </a:extLst>
          </p:cNvPr>
          <p:cNvSpPr>
            <a:spLocks noGrp="1"/>
          </p:cNvSpPr>
          <p:nvPr>
            <p:ph type="dt" sz="half" idx="17"/>
          </p:nvPr>
        </p:nvSpPr>
        <p:spPr/>
        <p:txBody>
          <a:bodyPr/>
          <a:lstStyle/>
          <a:p>
            <a:r>
              <a:rPr lang="fi-FI"/>
              <a:t>28.04.2026</a:t>
            </a:r>
          </a:p>
        </p:txBody>
      </p:sp>
      <p:sp>
        <p:nvSpPr>
          <p:cNvPr id="6" name="Footer Placeholder 5">
            <a:extLst>
              <a:ext uri="{FF2B5EF4-FFF2-40B4-BE49-F238E27FC236}">
                <a16:creationId xmlns:a16="http://schemas.microsoft.com/office/drawing/2014/main" id="{4371B7AF-1929-8B8E-896D-D5A3DA1851A5}"/>
              </a:ext>
            </a:extLst>
          </p:cNvPr>
          <p:cNvSpPr>
            <a:spLocks noGrp="1"/>
          </p:cNvSpPr>
          <p:nvPr>
            <p:ph type="ftr" sz="quarter" idx="18"/>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154908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3B6A3-3A5A-E93F-E2FB-74082ACC31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70BDD4-7D9B-616E-E28D-CA03303DEFBB}"/>
              </a:ext>
            </a:extLst>
          </p:cNvPr>
          <p:cNvSpPr>
            <a:spLocks noGrp="1"/>
          </p:cNvSpPr>
          <p:nvPr>
            <p:ph type="sldNum" sz="quarter" idx="12"/>
          </p:nvPr>
        </p:nvSpPr>
        <p:spPr/>
        <p:txBody>
          <a:bodyPr/>
          <a:lstStyle/>
          <a:p>
            <a:fld id="{D701140D-C14F-41CA-99FC-0EF83E8DA40A}" type="slidenum">
              <a:rPr lang="fi-FI" smtClean="0"/>
              <a:pPr/>
              <a:t>19</a:t>
            </a:fld>
            <a:endParaRPr lang="fi-FI"/>
          </a:p>
        </p:txBody>
      </p:sp>
      <p:sp>
        <p:nvSpPr>
          <p:cNvPr id="3" name="Title 2">
            <a:extLst>
              <a:ext uri="{FF2B5EF4-FFF2-40B4-BE49-F238E27FC236}">
                <a16:creationId xmlns:a16="http://schemas.microsoft.com/office/drawing/2014/main" id="{9FF04031-8EBE-C4C6-7EC6-F4FE6B194821}"/>
              </a:ext>
            </a:extLst>
          </p:cNvPr>
          <p:cNvSpPr>
            <a:spLocks noGrp="1"/>
          </p:cNvSpPr>
          <p:nvPr>
            <p:ph type="ctrTitle"/>
          </p:nvPr>
        </p:nvSpPr>
        <p:spPr/>
        <p:txBody>
          <a:bodyPr/>
          <a:lstStyle/>
          <a:p>
            <a:r>
              <a:rPr lang="en-US"/>
              <a:t>2. Prompt Engineering</a:t>
            </a:r>
          </a:p>
        </p:txBody>
      </p:sp>
      <p:sp>
        <p:nvSpPr>
          <p:cNvPr id="4" name="Date Placeholder 3">
            <a:extLst>
              <a:ext uri="{FF2B5EF4-FFF2-40B4-BE49-F238E27FC236}">
                <a16:creationId xmlns:a16="http://schemas.microsoft.com/office/drawing/2014/main" id="{4811D6D6-1109-0D8A-8045-4AD9477EB337}"/>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12BAD76B-2B7C-11D0-F39F-2B68A6B12386}"/>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6" name="TextBox 5">
            <a:extLst>
              <a:ext uri="{FF2B5EF4-FFF2-40B4-BE49-F238E27FC236}">
                <a16:creationId xmlns:a16="http://schemas.microsoft.com/office/drawing/2014/main" id="{AEB8B5C3-AC5C-2650-D7C8-242953417A5D}"/>
              </a:ext>
            </a:extLst>
          </p:cNvPr>
          <p:cNvSpPr txBox="1"/>
          <p:nvPr/>
        </p:nvSpPr>
        <p:spPr>
          <a:xfrm>
            <a:off x="2595924" y="4145886"/>
            <a:ext cx="7123290" cy="1077218"/>
          </a:xfrm>
          <a:prstGeom prst="rect">
            <a:avLst/>
          </a:prstGeom>
          <a:noFill/>
        </p:spPr>
        <p:txBody>
          <a:bodyPr wrap="square" rtlCol="0">
            <a:spAutoFit/>
          </a:bodyPr>
          <a:lstStyle/>
          <a:p>
            <a:r>
              <a:rPr lang="en-US" sz="1600">
                <a:solidFill>
                  <a:schemeClr val="bg1"/>
                </a:solidFill>
              </a:rPr>
              <a:t>“Prompt engineering is the process of constructing queries or inputs for AI language models so as to elicit the most precise, coherent, and pertinent responses.”</a:t>
            </a:r>
          </a:p>
          <a:p>
            <a:pPr algn="l"/>
            <a:endParaRPr lang="en-FI" sz="1600" err="1">
              <a:solidFill>
                <a:schemeClr val="bg1"/>
              </a:solidFill>
              <a:latin typeface="+mj-lt"/>
            </a:endParaRPr>
          </a:p>
        </p:txBody>
      </p:sp>
    </p:spTree>
    <p:extLst>
      <p:ext uri="{BB962C8B-B14F-4D97-AF65-F5344CB8AC3E}">
        <p14:creationId xmlns:p14="http://schemas.microsoft.com/office/powerpoint/2010/main" val="417270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7BA0EA-DA75-3E2C-3E43-0317F6DFB715}"/>
              </a:ext>
            </a:extLst>
          </p:cNvPr>
          <p:cNvSpPr>
            <a:spLocks noGrp="1"/>
          </p:cNvSpPr>
          <p:nvPr>
            <p:ph type="title"/>
          </p:nvPr>
        </p:nvSpPr>
        <p:spPr>
          <a:xfrm>
            <a:off x="407987" y="404811"/>
            <a:ext cx="5327973" cy="1079971"/>
          </a:xfrm>
        </p:spPr>
        <p:txBody>
          <a:bodyPr/>
          <a:lstStyle/>
          <a:p>
            <a:r>
              <a:rPr lang="en-US"/>
              <a:t>The art of asking</a:t>
            </a:r>
          </a:p>
        </p:txBody>
      </p:sp>
      <p:sp>
        <p:nvSpPr>
          <p:cNvPr id="33" name="TextBox 32">
            <a:extLst>
              <a:ext uri="{FF2B5EF4-FFF2-40B4-BE49-F238E27FC236}">
                <a16:creationId xmlns:a16="http://schemas.microsoft.com/office/drawing/2014/main" id="{17ADA73D-5262-7FAE-19DD-2793F115D701}"/>
              </a:ext>
            </a:extLst>
          </p:cNvPr>
          <p:cNvSpPr txBox="1"/>
          <p:nvPr/>
        </p:nvSpPr>
        <p:spPr>
          <a:xfrm>
            <a:off x="1225739" y="1405794"/>
            <a:ext cx="1063112" cy="338554"/>
          </a:xfrm>
          <a:prstGeom prst="rect">
            <a:avLst/>
          </a:prstGeom>
          <a:noFill/>
        </p:spPr>
        <p:txBody>
          <a:bodyPr wrap="none" rtlCol="0">
            <a:spAutoFit/>
          </a:bodyPr>
          <a:lstStyle/>
          <a:p>
            <a:pPr algn="l"/>
            <a:r>
              <a:rPr lang="en-US" sz="1600">
                <a:latin typeface="+mj-lt"/>
              </a:rPr>
              <a:t>Question:</a:t>
            </a:r>
          </a:p>
        </p:txBody>
      </p:sp>
      <p:sp>
        <p:nvSpPr>
          <p:cNvPr id="14" name="TextBox 13">
            <a:extLst>
              <a:ext uri="{FF2B5EF4-FFF2-40B4-BE49-F238E27FC236}">
                <a16:creationId xmlns:a16="http://schemas.microsoft.com/office/drawing/2014/main" id="{9EBF0350-5ACA-A12D-2419-8DA94C884D4D}"/>
              </a:ext>
            </a:extLst>
          </p:cNvPr>
          <p:cNvSpPr txBox="1"/>
          <p:nvPr/>
        </p:nvSpPr>
        <p:spPr>
          <a:xfrm>
            <a:off x="839416" y="3228945"/>
            <a:ext cx="1835759" cy="400110"/>
          </a:xfrm>
          <a:prstGeom prst="rect">
            <a:avLst/>
          </a:prstGeom>
          <a:noFill/>
        </p:spPr>
        <p:txBody>
          <a:bodyPr wrap="none" rtlCol="0">
            <a:spAutoFit/>
          </a:bodyPr>
          <a:lstStyle/>
          <a:p>
            <a:pPr algn="l"/>
            <a:r>
              <a:rPr lang="en-US" sz="2000" b="1">
                <a:latin typeface="+mj-lt"/>
              </a:rPr>
              <a:t>What is love?</a:t>
            </a:r>
          </a:p>
        </p:txBody>
      </p:sp>
      <p:sp>
        <p:nvSpPr>
          <p:cNvPr id="37" name="TextBox 36">
            <a:extLst>
              <a:ext uri="{FF2B5EF4-FFF2-40B4-BE49-F238E27FC236}">
                <a16:creationId xmlns:a16="http://schemas.microsoft.com/office/drawing/2014/main" id="{8E1C6312-722D-2B97-CC9D-0B9E5C892BE1}"/>
              </a:ext>
            </a:extLst>
          </p:cNvPr>
          <p:cNvSpPr txBox="1"/>
          <p:nvPr/>
        </p:nvSpPr>
        <p:spPr>
          <a:xfrm>
            <a:off x="7014324" y="1321446"/>
            <a:ext cx="1835759" cy="338554"/>
          </a:xfrm>
          <a:prstGeom prst="rect">
            <a:avLst/>
          </a:prstGeom>
          <a:noFill/>
        </p:spPr>
        <p:txBody>
          <a:bodyPr wrap="none" rtlCol="0">
            <a:spAutoFit/>
          </a:bodyPr>
          <a:lstStyle/>
          <a:p>
            <a:pPr algn="l"/>
            <a:r>
              <a:rPr lang="en-US" sz="1600">
                <a:latin typeface="+mj-lt"/>
              </a:rPr>
              <a:t>Possible answers:</a:t>
            </a:r>
          </a:p>
        </p:txBody>
      </p:sp>
      <p:cxnSp>
        <p:nvCxnSpPr>
          <p:cNvPr id="16" name="Straight Arrow Connector 15">
            <a:extLst>
              <a:ext uri="{FF2B5EF4-FFF2-40B4-BE49-F238E27FC236}">
                <a16:creationId xmlns:a16="http://schemas.microsoft.com/office/drawing/2014/main" id="{756B3B5F-65F5-F523-3BC6-992534356788}"/>
              </a:ext>
              <a:ext uri="{C183D7F6-B498-43B3-948B-1728B52AA6E4}">
                <adec:decorative xmlns:adec="http://schemas.microsoft.com/office/drawing/2017/decorative" val="1"/>
              </a:ext>
            </a:extLst>
          </p:cNvPr>
          <p:cNvCxnSpPr>
            <a:cxnSpLocks/>
            <a:endCxn id="18" idx="1"/>
          </p:cNvCxnSpPr>
          <p:nvPr/>
        </p:nvCxnSpPr>
        <p:spPr>
          <a:xfrm flipV="1">
            <a:off x="2700458" y="2632557"/>
            <a:ext cx="2531446" cy="796443"/>
          </a:xfrm>
          <a:prstGeom prst="straightConnector1">
            <a:avLst/>
          </a:prstGeom>
          <a:ln w="28575" cmpd="tri">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BDDA297B-05D6-2289-F959-EB29AE6E2FA7}"/>
              </a:ext>
            </a:extLst>
          </p:cNvPr>
          <p:cNvSpPr txBox="1"/>
          <p:nvPr/>
        </p:nvSpPr>
        <p:spPr>
          <a:xfrm rot="20590385">
            <a:off x="3442777" y="2745319"/>
            <a:ext cx="1071127" cy="338554"/>
          </a:xfrm>
          <a:prstGeom prst="rect">
            <a:avLst/>
          </a:prstGeom>
          <a:noFill/>
        </p:spPr>
        <p:txBody>
          <a:bodyPr wrap="none" rtlCol="0">
            <a:spAutoFit/>
          </a:bodyPr>
          <a:lstStyle/>
          <a:p>
            <a:pPr algn="l"/>
            <a:r>
              <a:rPr lang="en-US" sz="1600">
                <a:latin typeface="+mj-lt"/>
              </a:rPr>
              <a:t>Sociology</a:t>
            </a:r>
          </a:p>
        </p:txBody>
      </p:sp>
      <p:sp>
        <p:nvSpPr>
          <p:cNvPr id="18" name="TextBox 17">
            <a:extLst>
              <a:ext uri="{FF2B5EF4-FFF2-40B4-BE49-F238E27FC236}">
                <a16:creationId xmlns:a16="http://schemas.microsoft.com/office/drawing/2014/main" id="{12DD914D-F2F4-E0DE-805C-82D30BB0516B}"/>
              </a:ext>
            </a:extLst>
          </p:cNvPr>
          <p:cNvSpPr txBox="1"/>
          <p:nvPr/>
        </p:nvSpPr>
        <p:spPr>
          <a:xfrm>
            <a:off x="5231904" y="2340169"/>
            <a:ext cx="5400600" cy="584775"/>
          </a:xfrm>
          <a:prstGeom prst="rect">
            <a:avLst/>
          </a:prstGeom>
          <a:noFill/>
        </p:spPr>
        <p:txBody>
          <a:bodyPr wrap="square" rtlCol="0">
            <a:spAutoFit/>
          </a:bodyPr>
          <a:lstStyle/>
          <a:p>
            <a:pPr algn="l"/>
            <a:r>
              <a:rPr lang="en-US" sz="1600">
                <a:latin typeface="+mj-lt"/>
              </a:rPr>
              <a:t>Love shapes and is shaped by social interactions and cultural norms.</a:t>
            </a:r>
          </a:p>
        </p:txBody>
      </p:sp>
      <p:cxnSp>
        <p:nvCxnSpPr>
          <p:cNvPr id="19" name="Straight Arrow Connector 18">
            <a:extLst>
              <a:ext uri="{FF2B5EF4-FFF2-40B4-BE49-F238E27FC236}">
                <a16:creationId xmlns:a16="http://schemas.microsoft.com/office/drawing/2014/main" id="{A58FC3EA-46EE-05B6-955F-8CD389D933F1}"/>
              </a:ext>
              <a:ext uri="{C183D7F6-B498-43B3-948B-1728B52AA6E4}">
                <adec:decorative xmlns:adec="http://schemas.microsoft.com/office/drawing/2017/decorative" val="1"/>
              </a:ext>
            </a:extLst>
          </p:cNvPr>
          <p:cNvCxnSpPr>
            <a:cxnSpLocks/>
            <a:stCxn id="14" idx="3"/>
            <a:endCxn id="23" idx="1"/>
          </p:cNvCxnSpPr>
          <p:nvPr/>
        </p:nvCxnSpPr>
        <p:spPr>
          <a:xfrm>
            <a:off x="2675175" y="3429000"/>
            <a:ext cx="2558092" cy="176112"/>
          </a:xfrm>
          <a:prstGeom prst="straightConnector1">
            <a:avLst/>
          </a:prstGeom>
          <a:ln w="28575" cmpd="tri">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80699C2-E950-7BE4-3EDA-69279BFCD17B}"/>
              </a:ext>
            </a:extLst>
          </p:cNvPr>
          <p:cNvSpPr txBox="1"/>
          <p:nvPr/>
        </p:nvSpPr>
        <p:spPr>
          <a:xfrm rot="213069">
            <a:off x="3625978" y="3258903"/>
            <a:ext cx="1107996" cy="338554"/>
          </a:xfrm>
          <a:prstGeom prst="rect">
            <a:avLst/>
          </a:prstGeom>
          <a:noFill/>
        </p:spPr>
        <p:txBody>
          <a:bodyPr wrap="none" rtlCol="0">
            <a:spAutoFit/>
          </a:bodyPr>
          <a:lstStyle/>
          <a:p>
            <a:pPr algn="l"/>
            <a:r>
              <a:rPr lang="en-US" sz="1600">
                <a:latin typeface="+mj-lt"/>
              </a:rPr>
              <a:t>Chemistry</a:t>
            </a:r>
          </a:p>
        </p:txBody>
      </p:sp>
      <p:sp>
        <p:nvSpPr>
          <p:cNvPr id="23" name="TextBox 22">
            <a:extLst>
              <a:ext uri="{FF2B5EF4-FFF2-40B4-BE49-F238E27FC236}">
                <a16:creationId xmlns:a16="http://schemas.microsoft.com/office/drawing/2014/main" id="{DFBE7897-D4BA-2997-5EF1-D713F5835211}"/>
              </a:ext>
            </a:extLst>
          </p:cNvPr>
          <p:cNvSpPr txBox="1"/>
          <p:nvPr/>
        </p:nvSpPr>
        <p:spPr>
          <a:xfrm>
            <a:off x="5233267" y="3312724"/>
            <a:ext cx="5400600" cy="584775"/>
          </a:xfrm>
          <a:prstGeom prst="rect">
            <a:avLst/>
          </a:prstGeom>
          <a:noFill/>
        </p:spPr>
        <p:txBody>
          <a:bodyPr wrap="square" rtlCol="0">
            <a:spAutoFit/>
          </a:bodyPr>
          <a:lstStyle/>
          <a:p>
            <a:pPr algn="l"/>
            <a:r>
              <a:rPr lang="en-US" sz="1600">
                <a:latin typeface="+mj-lt"/>
              </a:rPr>
              <a:t>Love involves the release of high levels of dopamine and norepinephrine.</a:t>
            </a:r>
          </a:p>
        </p:txBody>
      </p:sp>
      <p:cxnSp>
        <p:nvCxnSpPr>
          <p:cNvPr id="27" name="Straight Arrow Connector 26">
            <a:extLst>
              <a:ext uri="{FF2B5EF4-FFF2-40B4-BE49-F238E27FC236}">
                <a16:creationId xmlns:a16="http://schemas.microsoft.com/office/drawing/2014/main" id="{DE7C53B7-629A-6BF9-94B1-A06D801BF8DD}"/>
              </a:ext>
              <a:ext uri="{C183D7F6-B498-43B3-948B-1728B52AA6E4}">
                <adec:decorative xmlns:adec="http://schemas.microsoft.com/office/drawing/2017/decorative" val="1"/>
              </a:ext>
            </a:extLst>
          </p:cNvPr>
          <p:cNvCxnSpPr>
            <a:cxnSpLocks/>
            <a:stCxn id="14" idx="3"/>
            <a:endCxn id="24" idx="1"/>
          </p:cNvCxnSpPr>
          <p:nvPr/>
        </p:nvCxnSpPr>
        <p:spPr>
          <a:xfrm>
            <a:off x="2675175" y="3429000"/>
            <a:ext cx="2556729" cy="1135604"/>
          </a:xfrm>
          <a:prstGeom prst="straightConnector1">
            <a:avLst/>
          </a:prstGeom>
          <a:ln w="28575" cmpd="tri">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4C12E9B8-3A80-E88D-9433-8C83D2A358AA}"/>
              </a:ext>
            </a:extLst>
          </p:cNvPr>
          <p:cNvSpPr txBox="1"/>
          <p:nvPr/>
        </p:nvSpPr>
        <p:spPr>
          <a:xfrm rot="1483683">
            <a:off x="3732182" y="3834054"/>
            <a:ext cx="1015021" cy="338554"/>
          </a:xfrm>
          <a:prstGeom prst="rect">
            <a:avLst/>
          </a:prstGeom>
          <a:noFill/>
        </p:spPr>
        <p:txBody>
          <a:bodyPr wrap="none" rtlCol="0">
            <a:spAutoFit/>
          </a:bodyPr>
          <a:lstStyle/>
          <a:p>
            <a:pPr algn="l"/>
            <a:r>
              <a:rPr lang="en-US" sz="1600">
                <a:latin typeface="+mj-lt"/>
              </a:rPr>
              <a:t>Business</a:t>
            </a:r>
          </a:p>
        </p:txBody>
      </p:sp>
      <p:sp>
        <p:nvSpPr>
          <p:cNvPr id="24" name="TextBox 23">
            <a:extLst>
              <a:ext uri="{FF2B5EF4-FFF2-40B4-BE49-F238E27FC236}">
                <a16:creationId xmlns:a16="http://schemas.microsoft.com/office/drawing/2014/main" id="{96E9A5EF-94F8-8178-A81B-BEACFFBB1A29}"/>
              </a:ext>
            </a:extLst>
          </p:cNvPr>
          <p:cNvSpPr txBox="1"/>
          <p:nvPr/>
        </p:nvSpPr>
        <p:spPr>
          <a:xfrm>
            <a:off x="5231904" y="4272216"/>
            <a:ext cx="5400600" cy="584775"/>
          </a:xfrm>
          <a:prstGeom prst="rect">
            <a:avLst/>
          </a:prstGeom>
          <a:noFill/>
        </p:spPr>
        <p:txBody>
          <a:bodyPr wrap="square" rtlCol="0">
            <a:spAutoFit/>
          </a:bodyPr>
          <a:lstStyle/>
          <a:p>
            <a:pPr algn="l"/>
            <a:r>
              <a:rPr lang="en-US" sz="1600">
                <a:latin typeface="+mj-lt"/>
              </a:rPr>
              <a:t>Love is the deep affection and attachment customers develop towards a brand or product.</a:t>
            </a:r>
          </a:p>
        </p:txBody>
      </p:sp>
      <p:cxnSp>
        <p:nvCxnSpPr>
          <p:cNvPr id="30" name="Straight Arrow Connector 29">
            <a:extLst>
              <a:ext uri="{FF2B5EF4-FFF2-40B4-BE49-F238E27FC236}">
                <a16:creationId xmlns:a16="http://schemas.microsoft.com/office/drawing/2014/main" id="{19D01779-5AC9-B8FC-1AF7-48BB9DEE8C4C}"/>
              </a:ext>
              <a:ext uri="{C183D7F6-B498-43B3-948B-1728B52AA6E4}">
                <adec:decorative xmlns:adec="http://schemas.microsoft.com/office/drawing/2017/decorative" val="1"/>
              </a:ext>
            </a:extLst>
          </p:cNvPr>
          <p:cNvCxnSpPr>
            <a:cxnSpLocks/>
            <a:stCxn id="14" idx="3"/>
            <a:endCxn id="25" idx="1"/>
          </p:cNvCxnSpPr>
          <p:nvPr/>
        </p:nvCxnSpPr>
        <p:spPr>
          <a:xfrm>
            <a:off x="2675175" y="3429000"/>
            <a:ext cx="2558092" cy="1998112"/>
          </a:xfrm>
          <a:prstGeom prst="straightConnector1">
            <a:avLst/>
          </a:prstGeom>
          <a:ln w="28575" cmpd="tri">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F9FE85BB-DE57-1DED-828B-E01B6ED3DA4A}"/>
              </a:ext>
            </a:extLst>
          </p:cNvPr>
          <p:cNvSpPr txBox="1"/>
          <p:nvPr/>
        </p:nvSpPr>
        <p:spPr>
          <a:xfrm rot="2367782">
            <a:off x="3698273" y="4185260"/>
            <a:ext cx="720069" cy="338554"/>
          </a:xfrm>
          <a:prstGeom prst="rect">
            <a:avLst/>
          </a:prstGeom>
          <a:noFill/>
        </p:spPr>
        <p:txBody>
          <a:bodyPr wrap="none" rtlCol="0">
            <a:spAutoFit/>
          </a:bodyPr>
          <a:lstStyle/>
          <a:p>
            <a:pPr algn="l"/>
            <a:r>
              <a:rPr lang="en-US" sz="1600">
                <a:latin typeface="+mj-lt"/>
              </a:rPr>
              <a:t>Music</a:t>
            </a:r>
          </a:p>
        </p:txBody>
      </p:sp>
      <p:sp>
        <p:nvSpPr>
          <p:cNvPr id="25" name="TextBox 24">
            <a:extLst>
              <a:ext uri="{FF2B5EF4-FFF2-40B4-BE49-F238E27FC236}">
                <a16:creationId xmlns:a16="http://schemas.microsoft.com/office/drawing/2014/main" id="{E687DB97-DD06-2F2C-083B-188E23B394C5}"/>
              </a:ext>
            </a:extLst>
          </p:cNvPr>
          <p:cNvSpPr txBox="1"/>
          <p:nvPr/>
        </p:nvSpPr>
        <p:spPr>
          <a:xfrm>
            <a:off x="5233267" y="5257835"/>
            <a:ext cx="5400600" cy="338554"/>
          </a:xfrm>
          <a:prstGeom prst="rect">
            <a:avLst/>
          </a:prstGeom>
          <a:noFill/>
        </p:spPr>
        <p:txBody>
          <a:bodyPr wrap="square" rtlCol="0">
            <a:spAutoFit/>
          </a:bodyPr>
          <a:lstStyle/>
          <a:p>
            <a:pPr algn="l"/>
            <a:r>
              <a:rPr lang="en-US" sz="1600" i="1">
                <a:latin typeface="+mj-lt"/>
              </a:rPr>
              <a:t>“Oh baby, don’t hurt me”</a:t>
            </a:r>
          </a:p>
        </p:txBody>
      </p:sp>
      <p:sp>
        <p:nvSpPr>
          <p:cNvPr id="2" name="Slide Number Placeholder 1">
            <a:extLst>
              <a:ext uri="{FF2B5EF4-FFF2-40B4-BE49-F238E27FC236}">
                <a16:creationId xmlns:a16="http://schemas.microsoft.com/office/drawing/2014/main" id="{B6D8E941-D2B3-838E-782F-0B3CBBBBA63A}"/>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pPr/>
              <a:t>20</a:t>
            </a:fld>
            <a:endParaRPr lang="fi-FI"/>
          </a:p>
        </p:txBody>
      </p:sp>
      <p:sp>
        <p:nvSpPr>
          <p:cNvPr id="4" name="Date Placeholder 3">
            <a:extLst>
              <a:ext uri="{FF2B5EF4-FFF2-40B4-BE49-F238E27FC236}">
                <a16:creationId xmlns:a16="http://schemas.microsoft.com/office/drawing/2014/main" id="{B84D7B16-F75C-9A47-BD73-6AD6E8ED6722}"/>
              </a:ext>
            </a:extLst>
          </p:cNvPr>
          <p:cNvSpPr>
            <a:spLocks noGrp="1"/>
          </p:cNvSpPr>
          <p:nvPr>
            <p:ph type="dt" sz="half" idx="17"/>
          </p:nvPr>
        </p:nvSpPr>
        <p:spPr/>
        <p:txBody>
          <a:bodyPr/>
          <a:lstStyle/>
          <a:p>
            <a:r>
              <a:rPr lang="fi-FI"/>
              <a:t>28.04.2026</a:t>
            </a:r>
          </a:p>
        </p:txBody>
      </p:sp>
      <p:sp>
        <p:nvSpPr>
          <p:cNvPr id="5" name="Footer Placeholder 4">
            <a:extLst>
              <a:ext uri="{FF2B5EF4-FFF2-40B4-BE49-F238E27FC236}">
                <a16:creationId xmlns:a16="http://schemas.microsoft.com/office/drawing/2014/main" id="{E25DF344-5518-09EF-266A-1971084884B8}"/>
              </a:ext>
            </a:extLst>
          </p:cNvPr>
          <p:cNvSpPr>
            <a:spLocks noGrp="1"/>
          </p:cNvSpPr>
          <p:nvPr>
            <p:ph type="ftr" sz="quarter" idx="18"/>
          </p:nvPr>
        </p:nvSpPr>
        <p:spPr/>
        <p:txBody>
          <a:bodyPr/>
          <a:lstStyle/>
          <a:p>
            <a:r>
              <a:rPr lang="pt-BR"/>
              <a:t>Enrico Glerean &amp; Pedro Silva (2026) Please cite DOI: 10.5281/zenodo.14032261 (CC-BY)</a:t>
            </a:r>
            <a:endParaRPr lang="fi-FI"/>
          </a:p>
        </p:txBody>
      </p:sp>
      <p:pic>
        <p:nvPicPr>
          <p:cNvPr id="6" name="Picture 5">
            <a:extLst>
              <a:ext uri="{FF2B5EF4-FFF2-40B4-BE49-F238E27FC236}">
                <a16:creationId xmlns:a16="http://schemas.microsoft.com/office/drawing/2014/main" id="{8E02E6A4-2B19-77A5-39EB-6117DEFEDE6E}"/>
              </a:ext>
            </a:extLst>
          </p:cNvPr>
          <p:cNvPicPr>
            <a:picLocks noChangeAspect="1"/>
          </p:cNvPicPr>
          <p:nvPr/>
        </p:nvPicPr>
        <p:blipFill>
          <a:blip r:embed="rId2"/>
          <a:stretch>
            <a:fillRect/>
          </a:stretch>
        </p:blipFill>
        <p:spPr>
          <a:xfrm>
            <a:off x="10366893" y="1439327"/>
            <a:ext cx="1296000" cy="1296000"/>
          </a:xfrm>
          <a:prstGeom prst="rect">
            <a:avLst/>
          </a:prstGeom>
        </p:spPr>
      </p:pic>
      <p:pic>
        <p:nvPicPr>
          <p:cNvPr id="1026" name="Picture 2">
            <a:extLst>
              <a:ext uri="{FF2B5EF4-FFF2-40B4-BE49-F238E27FC236}">
                <a16:creationId xmlns:a16="http://schemas.microsoft.com/office/drawing/2014/main" id="{C91ED121-38D0-A647-A2DB-7F6F42B60C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6966" y="2775794"/>
            <a:ext cx="129600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51ACDD9-3D4B-1ED7-3A8C-441097E755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0456" y="4131112"/>
            <a:ext cx="129600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81E4F341-4221-5E7E-580B-D303060481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1713" y="4948389"/>
            <a:ext cx="1296000" cy="12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36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18" grpId="0"/>
      <p:bldP spid="40" grpId="0"/>
      <p:bldP spid="23" grpId="0"/>
      <p:bldP spid="50" grpId="0"/>
      <p:bldP spid="24" grpId="0"/>
      <p:bldP spid="41"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DACFA-0BEF-2907-B775-FDDDBC20111E}"/>
              </a:ext>
            </a:extLst>
          </p:cNvPr>
          <p:cNvSpPr>
            <a:spLocks noGrp="1"/>
          </p:cNvSpPr>
          <p:nvPr>
            <p:ph type="title"/>
          </p:nvPr>
        </p:nvSpPr>
        <p:spPr/>
        <p:txBody>
          <a:bodyPr/>
          <a:lstStyle/>
          <a:p>
            <a:r>
              <a:rPr lang="en-US"/>
              <a:t>General principles of good prompts (I)</a:t>
            </a:r>
          </a:p>
        </p:txBody>
      </p:sp>
      <p:sp>
        <p:nvSpPr>
          <p:cNvPr id="6" name="Content Placeholder 5">
            <a:extLst>
              <a:ext uri="{FF2B5EF4-FFF2-40B4-BE49-F238E27FC236}">
                <a16:creationId xmlns:a16="http://schemas.microsoft.com/office/drawing/2014/main" id="{AA8ADAE8-AB7A-0F30-377C-A19E433153DE}"/>
              </a:ext>
            </a:extLst>
          </p:cNvPr>
          <p:cNvSpPr>
            <a:spLocks noGrp="1"/>
          </p:cNvSpPr>
          <p:nvPr>
            <p:ph type="body" sz="quarter" idx="13"/>
          </p:nvPr>
        </p:nvSpPr>
        <p:spPr>
          <a:xfrm>
            <a:off x="1055688" y="1819491"/>
            <a:ext cx="10080625" cy="4442983"/>
          </a:xfrm>
        </p:spPr>
        <p:txBody>
          <a:bodyPr/>
          <a:lstStyle/>
          <a:p>
            <a:pPr marL="457200" indent="-457200">
              <a:spcBef>
                <a:spcPts val="2400"/>
              </a:spcBef>
              <a:buAutoNum type="arabicPeriod"/>
            </a:pPr>
            <a:r>
              <a:rPr lang="en-US" sz="1600" b="1"/>
              <a:t>Clear and concise </a:t>
            </a:r>
            <a:r>
              <a:rPr lang="en-US" sz="1600"/>
              <a:t>(basic rules of how to make good questions)</a:t>
            </a:r>
          </a:p>
          <a:p>
            <a:pPr lvl="1" indent="0">
              <a:spcBef>
                <a:spcPts val="1200"/>
              </a:spcBef>
              <a:buNone/>
            </a:pPr>
            <a:r>
              <a:rPr lang="en-US" sz="1200">
                <a:solidFill>
                  <a:srgbClr val="FF0000"/>
                </a:solidFill>
              </a:rPr>
              <a:t>Prompt: </a:t>
            </a:r>
            <a:r>
              <a:rPr lang="en-US" sz="1200"/>
              <a:t>“Tell me about the climate”</a:t>
            </a:r>
          </a:p>
          <a:p>
            <a:pPr lvl="1" indent="0">
              <a:spcBef>
                <a:spcPts val="1200"/>
              </a:spcBef>
              <a:buNone/>
            </a:pPr>
            <a:r>
              <a:rPr lang="en-US" sz="1200">
                <a:solidFill>
                  <a:srgbClr val="00B050"/>
                </a:solidFill>
              </a:rPr>
              <a:t>Improved Prompt: </a:t>
            </a:r>
            <a:r>
              <a:rPr lang="en-US" sz="1200"/>
              <a:t>Summarize the key impacts of climate change observed globally between 2015 and 2025, highlighting effects on agriculture.</a:t>
            </a:r>
          </a:p>
          <a:p>
            <a:pPr marL="457200" indent="-457200">
              <a:spcBef>
                <a:spcPts val="2400"/>
              </a:spcBef>
              <a:buAutoNum type="arabicPeriod"/>
            </a:pPr>
            <a:r>
              <a:rPr lang="en-US" sz="1600" b="1"/>
              <a:t>Contextual </a:t>
            </a:r>
            <a:r>
              <a:rPr lang="en-US" sz="1600"/>
              <a:t>(add a context, examples are welcome)</a:t>
            </a:r>
            <a:endParaRPr lang="en-US" sz="1600" b="1"/>
          </a:p>
          <a:p>
            <a:pPr lvl="1" indent="0">
              <a:spcBef>
                <a:spcPts val="1200"/>
              </a:spcBef>
              <a:buNone/>
            </a:pPr>
            <a:r>
              <a:rPr lang="en-US" sz="1200">
                <a:solidFill>
                  <a:srgbClr val="FF0000"/>
                </a:solidFill>
              </a:rPr>
              <a:t>Prompt: </a:t>
            </a:r>
            <a:r>
              <a:rPr lang="en-US" sz="1200"/>
              <a:t>“What is PCE?”</a:t>
            </a:r>
          </a:p>
          <a:p>
            <a:pPr lvl="1" indent="0">
              <a:spcBef>
                <a:spcPts val="1200"/>
              </a:spcBef>
              <a:buNone/>
            </a:pPr>
            <a:r>
              <a:rPr lang="en-US" sz="1200">
                <a:solidFill>
                  <a:srgbClr val="00B050"/>
                </a:solidFill>
              </a:rPr>
              <a:t>Improved Prompt: </a:t>
            </a:r>
            <a:r>
              <a:rPr lang="en-US" sz="1200"/>
              <a:t>What is PCE in the context of photovoltaics?</a:t>
            </a:r>
          </a:p>
          <a:p>
            <a:pPr marL="457200" indent="-457200">
              <a:spcBef>
                <a:spcPts val="2400"/>
              </a:spcBef>
              <a:buAutoNum type="arabicPeriod"/>
            </a:pPr>
            <a:r>
              <a:rPr lang="en-US" sz="1600" b="1"/>
              <a:t>Instructive </a:t>
            </a:r>
            <a:r>
              <a:rPr lang="en-US" sz="1600"/>
              <a:t>(guide the type of answer you are looking for </a:t>
            </a:r>
            <a:r>
              <a:rPr lang="en-US" sz="1600">
                <a:solidFill>
                  <a:schemeClr val="accent2">
                    <a:lumMod val="75000"/>
                  </a:schemeClr>
                </a:solidFill>
              </a:rPr>
              <a:t>or exclude answers</a:t>
            </a:r>
            <a:r>
              <a:rPr lang="en-US" sz="1600"/>
              <a:t>)</a:t>
            </a:r>
          </a:p>
          <a:p>
            <a:pPr lvl="1" indent="0">
              <a:spcBef>
                <a:spcPts val="1200"/>
              </a:spcBef>
              <a:buNone/>
            </a:pPr>
            <a:r>
              <a:rPr lang="en-US" sz="1200">
                <a:solidFill>
                  <a:srgbClr val="FF0000"/>
                </a:solidFill>
              </a:rPr>
              <a:t>Prompt: </a:t>
            </a:r>
            <a:r>
              <a:rPr lang="en-US" sz="1200"/>
              <a:t>“Analyze the following text: (BLOCK OF TEXT)”</a:t>
            </a:r>
          </a:p>
          <a:p>
            <a:pPr lvl="1" indent="0">
              <a:spcBef>
                <a:spcPts val="1200"/>
              </a:spcBef>
              <a:buNone/>
            </a:pPr>
            <a:r>
              <a:rPr lang="en-US" sz="1200">
                <a:solidFill>
                  <a:srgbClr val="00B050"/>
                </a:solidFill>
              </a:rPr>
              <a:t>Improved Prompt: </a:t>
            </a:r>
            <a:r>
              <a:rPr lang="en-US" sz="1200"/>
              <a:t>Provide a short summary of the following text (50-70 words) explaining the reported key concepts. Provide a list with the main results, itemize the different methods, and explain the novelty. (BLOCK OF TEXT)</a:t>
            </a:r>
          </a:p>
          <a:p>
            <a:pPr lvl="1" indent="0">
              <a:spcBef>
                <a:spcPts val="1200"/>
              </a:spcBef>
              <a:buNone/>
            </a:pPr>
            <a:endParaRPr lang="en-US" sz="1200"/>
          </a:p>
        </p:txBody>
      </p:sp>
      <p:sp>
        <p:nvSpPr>
          <p:cNvPr id="3" name="Date Placeholder 2">
            <a:extLst>
              <a:ext uri="{FF2B5EF4-FFF2-40B4-BE49-F238E27FC236}">
                <a16:creationId xmlns:a16="http://schemas.microsoft.com/office/drawing/2014/main" id="{BFD11C2C-3021-5066-FB7E-D52888789025}"/>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E5FC01D1-509B-A070-22F7-B297EAB56F8B}"/>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9" name="Slide Number Placeholder 8">
            <a:extLst>
              <a:ext uri="{FF2B5EF4-FFF2-40B4-BE49-F238E27FC236}">
                <a16:creationId xmlns:a16="http://schemas.microsoft.com/office/drawing/2014/main" id="{99FBBE57-497D-CB20-609F-78557070336A}"/>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t>21</a:t>
            </a:fld>
            <a:endParaRPr lang="fi-FI"/>
          </a:p>
        </p:txBody>
      </p:sp>
    </p:spTree>
    <p:extLst>
      <p:ext uri="{BB962C8B-B14F-4D97-AF65-F5344CB8AC3E}">
        <p14:creationId xmlns:p14="http://schemas.microsoft.com/office/powerpoint/2010/main" val="214058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DACFA-0BEF-2907-B775-FDDDBC20111E}"/>
              </a:ext>
            </a:extLst>
          </p:cNvPr>
          <p:cNvSpPr>
            <a:spLocks noGrp="1"/>
          </p:cNvSpPr>
          <p:nvPr>
            <p:ph type="title"/>
          </p:nvPr>
        </p:nvSpPr>
        <p:spPr/>
        <p:txBody>
          <a:bodyPr/>
          <a:lstStyle/>
          <a:p>
            <a:r>
              <a:rPr lang="en-US"/>
              <a:t>General principles of good prompts (II)</a:t>
            </a:r>
          </a:p>
        </p:txBody>
      </p:sp>
      <p:sp>
        <p:nvSpPr>
          <p:cNvPr id="6" name="Content Placeholder 5">
            <a:extLst>
              <a:ext uri="{FF2B5EF4-FFF2-40B4-BE49-F238E27FC236}">
                <a16:creationId xmlns:a16="http://schemas.microsoft.com/office/drawing/2014/main" id="{AA8ADAE8-AB7A-0F30-377C-A19E433153DE}"/>
              </a:ext>
            </a:extLst>
          </p:cNvPr>
          <p:cNvSpPr>
            <a:spLocks noGrp="1"/>
          </p:cNvSpPr>
          <p:nvPr>
            <p:ph type="body" sz="quarter" idx="13"/>
          </p:nvPr>
        </p:nvSpPr>
        <p:spPr>
          <a:xfrm>
            <a:off x="1055688" y="1819491"/>
            <a:ext cx="10080625" cy="4442983"/>
          </a:xfrm>
        </p:spPr>
        <p:txBody>
          <a:bodyPr/>
          <a:lstStyle/>
          <a:p>
            <a:pPr marL="457200" indent="-457200">
              <a:spcBef>
                <a:spcPts val="2400"/>
              </a:spcBef>
              <a:buFont typeface="+mj-lt"/>
              <a:buAutoNum type="arabicPeriod" startAt="4"/>
            </a:pPr>
            <a:r>
              <a:rPr lang="en-US" sz="1600" b="1"/>
              <a:t>Iterative </a:t>
            </a:r>
            <a:r>
              <a:rPr lang="en-US" sz="1600"/>
              <a:t>(split complex tasks into simpler subtasks)</a:t>
            </a:r>
          </a:p>
          <a:p>
            <a:pPr lvl="1" indent="0">
              <a:spcBef>
                <a:spcPts val="1200"/>
              </a:spcBef>
              <a:buNone/>
            </a:pPr>
            <a:r>
              <a:rPr lang="en-US" sz="1200">
                <a:solidFill>
                  <a:srgbClr val="FF0000"/>
                </a:solidFill>
              </a:rPr>
              <a:t>Prompt: </a:t>
            </a:r>
            <a:r>
              <a:rPr lang="en-US" sz="1200"/>
              <a:t>“Write about renewable energies”</a:t>
            </a:r>
          </a:p>
          <a:p>
            <a:pPr lvl="1" indent="0">
              <a:spcBef>
                <a:spcPts val="1200"/>
              </a:spcBef>
              <a:buNone/>
            </a:pPr>
            <a:r>
              <a:rPr lang="en-US" sz="1200">
                <a:solidFill>
                  <a:srgbClr val="00B050"/>
                </a:solidFill>
              </a:rPr>
              <a:t>Improved Prompt 1: </a:t>
            </a:r>
            <a:r>
              <a:rPr lang="en-US" sz="1200"/>
              <a:t>List four types of renewable energy currently popular globally.</a:t>
            </a:r>
            <a:br>
              <a:rPr lang="en-US" sz="1200"/>
            </a:br>
            <a:r>
              <a:rPr lang="en-US" sz="1200">
                <a:solidFill>
                  <a:srgbClr val="00B050"/>
                </a:solidFill>
              </a:rPr>
              <a:t>Improved Prompt 2: </a:t>
            </a:r>
            <a:r>
              <a:rPr lang="en-US" sz="1200"/>
              <a:t>From that list, briefly describe the advantages and drawbacks of solar power.</a:t>
            </a:r>
            <a:br>
              <a:rPr lang="en-US" sz="1200"/>
            </a:br>
            <a:r>
              <a:rPr lang="en-US" sz="1200">
                <a:solidFill>
                  <a:srgbClr val="00B050"/>
                </a:solidFill>
              </a:rPr>
              <a:t>Improved Prompt 3: </a:t>
            </a:r>
            <a:r>
              <a:rPr lang="en-US" sz="1200"/>
              <a:t>Expand on the environmental impacts of large-scale solar installations.</a:t>
            </a:r>
          </a:p>
          <a:p>
            <a:pPr marL="457200" indent="-457200">
              <a:spcBef>
                <a:spcPts val="2400"/>
              </a:spcBef>
              <a:buAutoNum type="arabicPeriod" startAt="4"/>
            </a:pPr>
            <a:r>
              <a:rPr lang="en-US" sz="1600" b="1"/>
              <a:t>Roleplay </a:t>
            </a:r>
            <a:r>
              <a:rPr lang="en-US" sz="1600"/>
              <a:t>(ask the model to adopt a persona)</a:t>
            </a:r>
          </a:p>
          <a:p>
            <a:pPr lvl="1" indent="0">
              <a:spcBef>
                <a:spcPts val="1200"/>
              </a:spcBef>
              <a:buNone/>
            </a:pPr>
            <a:r>
              <a:rPr lang="en-US" sz="1200">
                <a:solidFill>
                  <a:srgbClr val="FF0000"/>
                </a:solidFill>
              </a:rPr>
              <a:t>Prompt: </a:t>
            </a:r>
            <a:r>
              <a:rPr lang="en-US" sz="1200"/>
              <a:t>“Explain to me the basics of antibiotics.”</a:t>
            </a:r>
          </a:p>
          <a:p>
            <a:pPr lvl="1" indent="0">
              <a:spcBef>
                <a:spcPts val="1200"/>
              </a:spcBef>
              <a:buNone/>
            </a:pPr>
            <a:r>
              <a:rPr lang="en-US" sz="1200">
                <a:solidFill>
                  <a:srgbClr val="00B050"/>
                </a:solidFill>
              </a:rPr>
              <a:t>Improved Prompt: </a:t>
            </a:r>
            <a:r>
              <a:rPr lang="en-US" sz="1200"/>
              <a:t>You are an experienced microbiologist teacher at the university level, who has the passion on making explanations accessible and fun for students. Explain how misuse of antibiotics contributes to antibiotic resistance.</a:t>
            </a:r>
          </a:p>
          <a:p>
            <a:pPr marL="457200" indent="-457200">
              <a:spcBef>
                <a:spcPts val="2400"/>
              </a:spcBef>
              <a:buAutoNum type="arabicPeriod" startAt="4"/>
            </a:pPr>
            <a:r>
              <a:rPr lang="en-US" sz="1600" b="1"/>
              <a:t>Tone</a:t>
            </a:r>
            <a:r>
              <a:rPr lang="en-US" sz="1600"/>
              <a:t> </a:t>
            </a:r>
            <a:r>
              <a:rPr lang="en-US" sz="1600" b="1"/>
              <a:t>and format setting </a:t>
            </a:r>
            <a:r>
              <a:rPr lang="en-US" sz="1600"/>
              <a:t>(specify the style of the output)</a:t>
            </a:r>
          </a:p>
          <a:p>
            <a:pPr lvl="1" indent="0">
              <a:spcBef>
                <a:spcPts val="1200"/>
              </a:spcBef>
              <a:buNone/>
            </a:pPr>
            <a:r>
              <a:rPr lang="en-US" sz="1200">
                <a:solidFill>
                  <a:srgbClr val="FF0000"/>
                </a:solidFill>
              </a:rPr>
              <a:t>Prompt: </a:t>
            </a:r>
            <a:r>
              <a:rPr lang="en-US" sz="1200"/>
              <a:t>“Tell me about black holes.”</a:t>
            </a:r>
          </a:p>
          <a:p>
            <a:pPr lvl="1" indent="0">
              <a:spcBef>
                <a:spcPts val="1200"/>
              </a:spcBef>
              <a:buNone/>
            </a:pPr>
            <a:r>
              <a:rPr lang="en-US" sz="1200">
                <a:solidFill>
                  <a:srgbClr val="00B050"/>
                </a:solidFill>
              </a:rPr>
              <a:t>Improved Prompt: </a:t>
            </a:r>
            <a:r>
              <a:rPr lang="en-US" sz="1200"/>
              <a:t>Explain black holes in a friendly, engaging tone suitable for toddlers, providing simple analogies, in bullet-point format, and briefly explain how the analogy works.</a:t>
            </a:r>
          </a:p>
          <a:p>
            <a:pPr lvl="1" indent="0">
              <a:spcBef>
                <a:spcPts val="1200"/>
              </a:spcBef>
              <a:buNone/>
            </a:pPr>
            <a:endParaRPr lang="en-US" sz="1200"/>
          </a:p>
        </p:txBody>
      </p:sp>
      <p:sp>
        <p:nvSpPr>
          <p:cNvPr id="3" name="Date Placeholder 2">
            <a:extLst>
              <a:ext uri="{FF2B5EF4-FFF2-40B4-BE49-F238E27FC236}">
                <a16:creationId xmlns:a16="http://schemas.microsoft.com/office/drawing/2014/main" id="{BFD11C2C-3021-5066-FB7E-D52888789025}"/>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E5FC01D1-509B-A070-22F7-B297EAB56F8B}"/>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9" name="Slide Number Placeholder 8">
            <a:extLst>
              <a:ext uri="{FF2B5EF4-FFF2-40B4-BE49-F238E27FC236}">
                <a16:creationId xmlns:a16="http://schemas.microsoft.com/office/drawing/2014/main" id="{99FBBE57-497D-CB20-609F-78557070336A}"/>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t>22</a:t>
            </a:fld>
            <a:endParaRPr lang="fi-FI"/>
          </a:p>
        </p:txBody>
      </p:sp>
      <p:sp>
        <p:nvSpPr>
          <p:cNvPr id="5" name="TextBox 4">
            <a:extLst>
              <a:ext uri="{FF2B5EF4-FFF2-40B4-BE49-F238E27FC236}">
                <a16:creationId xmlns:a16="http://schemas.microsoft.com/office/drawing/2014/main" id="{203C3734-C0AC-D58D-4B65-13BF314B54FD}"/>
              </a:ext>
            </a:extLst>
          </p:cNvPr>
          <p:cNvSpPr txBox="1"/>
          <p:nvPr/>
        </p:nvSpPr>
        <p:spPr>
          <a:xfrm>
            <a:off x="8633509" y="1201783"/>
            <a:ext cx="2934789" cy="1015663"/>
          </a:xfrm>
          <a:prstGeom prst="rect">
            <a:avLst/>
          </a:prstGeom>
          <a:noFill/>
        </p:spPr>
        <p:txBody>
          <a:bodyPr wrap="square" rtlCol="0">
            <a:spAutoFit/>
          </a:bodyPr>
          <a:lstStyle/>
          <a:p>
            <a:pPr algn="l"/>
            <a:r>
              <a:rPr lang="en-US" sz="1200">
                <a:latin typeface="+mj-lt"/>
              </a:rPr>
              <a:t>Read more:</a:t>
            </a:r>
          </a:p>
          <a:p>
            <a:pPr marL="285750" indent="-285750" algn="l">
              <a:buFont typeface="Arial" panose="020B0604020202020204" pitchFamily="34" charset="0"/>
              <a:buChar char="•"/>
            </a:pPr>
            <a:r>
              <a:rPr lang="en-US" sz="1200" b="0" i="0" u="none" strike="noStrike">
                <a:effectLst/>
                <a:latin typeface="+mj-lt"/>
                <a:hlinkClick r:id="rId2" tooltip="Persistent link using digital object identifier">
                  <a:extLst>
                    <a:ext uri="{A12FA001-AC4F-418D-AE19-62706E023703}">
                      <ahyp:hlinkClr xmlns:ahyp="http://schemas.microsoft.com/office/drawing/2018/hyperlinkcolor" val="tx"/>
                    </a:ext>
                  </a:extLst>
                </a:hlinkClick>
              </a:rPr>
              <a:t>CLEAR Principles https://doi.org/10.1016/j.acalib.2023.102720</a:t>
            </a:r>
            <a:endParaRPr lang="en-US" sz="1200" b="0" i="0" u="none" strike="noStrike">
              <a:effectLst/>
              <a:latin typeface="+mj-lt"/>
            </a:endParaRPr>
          </a:p>
          <a:p>
            <a:pPr marL="285750" indent="-285750" algn="l">
              <a:buFont typeface="Arial" panose="020B0604020202020204" pitchFamily="34" charset="0"/>
              <a:buChar char="•"/>
            </a:pPr>
            <a:r>
              <a:rPr lang="en-US" sz="1200">
                <a:latin typeface="+mj-lt"/>
                <a:hlinkClick r:id="rId3">
                  <a:extLst>
                    <a:ext uri="{A12FA001-AC4F-418D-AE19-62706E023703}">
                      <ahyp:hlinkClr xmlns:ahyp="http://schemas.microsoft.com/office/drawing/2018/hyperlinkcolor" val="tx"/>
                    </a:ext>
                  </a:extLst>
                </a:hlinkClick>
              </a:rPr>
              <a:t>Prompt engineering - OpenAI API</a:t>
            </a:r>
            <a:endParaRPr lang="en-US" sz="1200">
              <a:latin typeface="+mj-lt"/>
            </a:endParaRPr>
          </a:p>
        </p:txBody>
      </p:sp>
      <p:pic>
        <p:nvPicPr>
          <p:cNvPr id="7" name="Picture 6" descr="A digital art of two people&#10;&#10;Description automatically generated">
            <a:extLst>
              <a:ext uri="{FF2B5EF4-FFF2-40B4-BE49-F238E27FC236}">
                <a16:creationId xmlns:a16="http://schemas.microsoft.com/office/drawing/2014/main" id="{0141015D-2DC5-71D2-A301-66E4BEE130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84754" y="2624837"/>
            <a:ext cx="2451558" cy="1470934"/>
          </a:xfrm>
          <a:prstGeom prst="rect">
            <a:avLst/>
          </a:prstGeom>
        </p:spPr>
      </p:pic>
    </p:spTree>
    <p:extLst>
      <p:ext uri="{BB962C8B-B14F-4D97-AF65-F5344CB8AC3E}">
        <p14:creationId xmlns:p14="http://schemas.microsoft.com/office/powerpoint/2010/main" val="351304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F75C6CB-9D22-6BD3-E81E-67F667FE7A29}"/>
              </a:ext>
            </a:extLst>
          </p:cNvPr>
          <p:cNvSpPr>
            <a:spLocks noGrp="1"/>
          </p:cNvSpPr>
          <p:nvPr>
            <p:ph type="title"/>
          </p:nvPr>
        </p:nvSpPr>
        <p:spPr/>
        <p:txBody>
          <a:bodyPr/>
          <a:lstStyle/>
          <a:p>
            <a:r>
              <a:rPr lang="en-US"/>
              <a:t>3. Use of LLMs in the academic workflow</a:t>
            </a:r>
          </a:p>
        </p:txBody>
      </p:sp>
      <p:pic>
        <p:nvPicPr>
          <p:cNvPr id="8" name="Picture Placeholder 18" descr="A realistic, detailed upper-half view of a softly lit study room. A woman, wearing glasses and a relaxed outfit featuring a cozy sweater and scarf, sits focused at a polished wooden desk, engrossed in her work on an open laptop. Only her upper body and arms are visible. The laptop's screen showcases an LLM application, divided into sections such as 'Research,' 'Drafting,' 'Citations,' and 'Peer Review Feedback.' Adjacent to her, various papers with printed drafts and annotations are spread out. A digital tablet next to these displays a split-screen: one side with a document in progress, and the other side offering real-time LLM suggestions. An advanced robotic arm, with a friendly AI facial display, extends from the side, actively organizing, and sorting documents, placing a few on the desk and pinning some onto a corkboard behind her. This board is adorned with notes and flowcharts that map out an academic project's timeline. In the backdrop, a bookshelf holds academic journals and books, with some labeled 'AI Innovations' and 'LLM in Research.' A warm desk lamp and a potted plant complement the serene environment.">
            <a:extLst>
              <a:ext uri="{FF2B5EF4-FFF2-40B4-BE49-F238E27FC236}">
                <a16:creationId xmlns:a16="http://schemas.microsoft.com/office/drawing/2014/main" id="{FCA8DB77-B9C9-5F02-A005-402E369032F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5556" r="5556"/>
          <a:stretch>
            <a:fillRect/>
          </a:stretch>
        </p:blipFill>
        <p:spPr>
          <a:xfrm>
            <a:off x="6096000" y="0"/>
            <a:ext cx="6096000" cy="6858000"/>
          </a:xfrm>
        </p:spPr>
      </p:pic>
      <p:sp>
        <p:nvSpPr>
          <p:cNvPr id="4" name="Slide Number Placeholder 3">
            <a:extLst>
              <a:ext uri="{FF2B5EF4-FFF2-40B4-BE49-F238E27FC236}">
                <a16:creationId xmlns:a16="http://schemas.microsoft.com/office/drawing/2014/main" id="{1B6ABDA9-9398-AC20-A5BB-DC12E415903B}"/>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pPr/>
              <a:t>23</a:t>
            </a:fld>
            <a:endParaRPr lang="fi-FI"/>
          </a:p>
        </p:txBody>
      </p:sp>
      <p:sp>
        <p:nvSpPr>
          <p:cNvPr id="2" name="Date Placeholder 1">
            <a:extLst>
              <a:ext uri="{FF2B5EF4-FFF2-40B4-BE49-F238E27FC236}">
                <a16:creationId xmlns:a16="http://schemas.microsoft.com/office/drawing/2014/main" id="{98293704-46AE-7AF2-14CF-080AF05CF0D4}"/>
              </a:ext>
            </a:extLst>
          </p:cNvPr>
          <p:cNvSpPr>
            <a:spLocks noGrp="1"/>
          </p:cNvSpPr>
          <p:nvPr>
            <p:ph type="dt" sz="half" idx="17"/>
          </p:nvPr>
        </p:nvSpPr>
        <p:spPr/>
        <p:txBody>
          <a:bodyPr/>
          <a:lstStyle/>
          <a:p>
            <a:r>
              <a:rPr lang="fi-FI"/>
              <a:t>28.04.2026</a:t>
            </a:r>
          </a:p>
        </p:txBody>
      </p:sp>
      <p:sp>
        <p:nvSpPr>
          <p:cNvPr id="5" name="Footer Placeholder 4">
            <a:extLst>
              <a:ext uri="{FF2B5EF4-FFF2-40B4-BE49-F238E27FC236}">
                <a16:creationId xmlns:a16="http://schemas.microsoft.com/office/drawing/2014/main" id="{EA354B50-EB08-1867-CD78-77008ECE2072}"/>
              </a:ext>
            </a:extLst>
          </p:cNvPr>
          <p:cNvSpPr>
            <a:spLocks noGrp="1"/>
          </p:cNvSpPr>
          <p:nvPr>
            <p:ph type="ftr" sz="quarter" idx="18"/>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497772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6253E-9EF5-E632-964F-0C16CADA61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B30913-F170-F460-C7FD-AC1D07CF18FF}"/>
              </a:ext>
            </a:extLst>
          </p:cNvPr>
          <p:cNvSpPr>
            <a:spLocks noGrp="1"/>
          </p:cNvSpPr>
          <p:nvPr>
            <p:ph type="sldNum" sz="quarter" idx="12"/>
          </p:nvPr>
        </p:nvSpPr>
        <p:spPr/>
        <p:txBody>
          <a:bodyPr/>
          <a:lstStyle/>
          <a:p>
            <a:fld id="{D701140D-C14F-41CA-99FC-0EF83E8DA40A}" type="slidenum">
              <a:rPr lang="fi-FI" smtClean="0"/>
              <a:pPr/>
              <a:t>24</a:t>
            </a:fld>
            <a:endParaRPr lang="fi-FI"/>
          </a:p>
        </p:txBody>
      </p:sp>
      <p:sp>
        <p:nvSpPr>
          <p:cNvPr id="3" name="Title 2">
            <a:extLst>
              <a:ext uri="{FF2B5EF4-FFF2-40B4-BE49-F238E27FC236}">
                <a16:creationId xmlns:a16="http://schemas.microsoft.com/office/drawing/2014/main" id="{D71AFC8C-AAE6-7089-C34B-334A35A0DCD6}"/>
              </a:ext>
            </a:extLst>
          </p:cNvPr>
          <p:cNvSpPr>
            <a:spLocks noGrp="1"/>
          </p:cNvSpPr>
          <p:nvPr>
            <p:ph type="ctrTitle"/>
          </p:nvPr>
        </p:nvSpPr>
        <p:spPr/>
        <p:txBody>
          <a:bodyPr/>
          <a:lstStyle/>
          <a:p>
            <a:r>
              <a:rPr lang="en-US"/>
              <a:t>3. Use of gen AI in the academic workflow</a:t>
            </a:r>
          </a:p>
        </p:txBody>
      </p:sp>
      <p:sp>
        <p:nvSpPr>
          <p:cNvPr id="4" name="Date Placeholder 3">
            <a:extLst>
              <a:ext uri="{FF2B5EF4-FFF2-40B4-BE49-F238E27FC236}">
                <a16:creationId xmlns:a16="http://schemas.microsoft.com/office/drawing/2014/main" id="{84C52E0E-2AC7-36CB-1D0B-CBC13710607B}"/>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6875F5EB-90F3-AECD-A5FA-F65E11E6C7D3}"/>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421933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9302-1099-3179-5116-97354D453091}"/>
              </a:ext>
            </a:extLst>
          </p:cNvPr>
          <p:cNvSpPr>
            <a:spLocks noGrp="1"/>
          </p:cNvSpPr>
          <p:nvPr>
            <p:ph type="title"/>
          </p:nvPr>
        </p:nvSpPr>
        <p:spPr/>
        <p:txBody>
          <a:bodyPr/>
          <a:lstStyle/>
          <a:p>
            <a:r>
              <a:rPr lang="en-US"/>
              <a:t>The Research Process aided by AI</a:t>
            </a:r>
            <a:br>
              <a:rPr lang="en-US"/>
            </a:br>
            <a:r>
              <a:rPr lang="en-US" sz="1400"/>
              <a:t>with Responsible Conduct of Research at its core</a:t>
            </a:r>
          </a:p>
        </p:txBody>
      </p:sp>
      <p:pic>
        <p:nvPicPr>
          <p:cNvPr id="7" name="Graphic 4" descr="A circular diagram depicting the life cycle of research data in several connected steps: Plan, Collect, Process, Analyse, Preserve, Share, and Reuse. Each step is represented as a section of the wheel, illustrating the continuous and cyclical nature of the research data life cycle, highlighting how each stage is interconnected and sequential.">
            <a:extLst>
              <a:ext uri="{FF2B5EF4-FFF2-40B4-BE49-F238E27FC236}">
                <a16:creationId xmlns:a16="http://schemas.microsoft.com/office/drawing/2014/main" id="{9BBD2C4D-2D1C-F357-F039-E42413A70A60}"/>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40341" y="1439085"/>
            <a:ext cx="4612006" cy="4612000"/>
          </a:xfrm>
          <a:prstGeom prst="rect">
            <a:avLst/>
          </a:prstGeom>
        </p:spPr>
      </p:pic>
      <p:sp>
        <p:nvSpPr>
          <p:cNvPr id="8" name="Text Placeholder 3">
            <a:extLst>
              <a:ext uri="{FF2B5EF4-FFF2-40B4-BE49-F238E27FC236}">
                <a16:creationId xmlns:a16="http://schemas.microsoft.com/office/drawing/2014/main" id="{4FDA8CB0-5E96-5850-F14F-C465FAD6C7FC}"/>
              </a:ext>
              <a:ext uri="{C183D7F6-B498-43B3-948B-1728B52AA6E4}">
                <adec:decorative xmlns:adec="http://schemas.microsoft.com/office/drawing/2017/decorative" val="1"/>
              </a:ext>
            </a:extLst>
          </p:cNvPr>
          <p:cNvSpPr txBox="1">
            <a:spLocks/>
          </p:cNvSpPr>
          <p:nvPr/>
        </p:nvSpPr>
        <p:spPr>
          <a:xfrm>
            <a:off x="5186008" y="3236464"/>
            <a:ext cx="1664629" cy="656605"/>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400"/>
              <a:t>RCR</a:t>
            </a:r>
          </a:p>
          <a:p>
            <a:pPr algn="ctr"/>
            <a:r>
              <a:rPr lang="en-US" sz="1600" i="1"/>
              <a:t>Ethics &amp; Law</a:t>
            </a:r>
          </a:p>
        </p:txBody>
      </p:sp>
      <p:sp>
        <p:nvSpPr>
          <p:cNvPr id="9" name="TextBox 2">
            <a:extLst>
              <a:ext uri="{FF2B5EF4-FFF2-40B4-BE49-F238E27FC236}">
                <a16:creationId xmlns:a16="http://schemas.microsoft.com/office/drawing/2014/main" id="{B6454DE7-298D-3F7B-CBC4-7DC3B9144758}"/>
              </a:ext>
              <a:ext uri="{C183D7F6-B498-43B3-948B-1728B52AA6E4}">
                <adec:decorative xmlns:adec="http://schemas.microsoft.com/office/drawing/2017/decorative" val="0"/>
              </a:ext>
            </a:extLst>
          </p:cNvPr>
          <p:cNvSpPr txBox="1"/>
          <p:nvPr/>
        </p:nvSpPr>
        <p:spPr>
          <a:xfrm>
            <a:off x="7536160" y="1268760"/>
            <a:ext cx="3816424" cy="954107"/>
          </a:xfrm>
          <a:prstGeom prst="rect">
            <a:avLst/>
          </a:prstGeom>
          <a:noFill/>
          <a:ln>
            <a:solidFill>
              <a:srgbClr val="F67028"/>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400"/>
              <a:t>Grant writing</a:t>
            </a:r>
          </a:p>
          <a:p>
            <a:pPr marL="285750" indent="-285750">
              <a:buFont typeface="Arial" panose="020B0604020202020204" pitchFamily="34" charset="0"/>
              <a:buChar char="•"/>
            </a:pPr>
            <a:r>
              <a:rPr lang="en-US" sz="1400"/>
              <a:t>Research planning</a:t>
            </a:r>
          </a:p>
          <a:p>
            <a:pPr marL="285750" indent="-285750">
              <a:buFont typeface="Arial" panose="020B0604020202020204" pitchFamily="34" charset="0"/>
              <a:buChar char="•"/>
            </a:pPr>
            <a:r>
              <a:rPr lang="en-US" sz="1400"/>
              <a:t>Study design</a:t>
            </a:r>
          </a:p>
          <a:p>
            <a:pPr marL="285750" indent="-285750">
              <a:buFont typeface="Arial" panose="020B0604020202020204" pitchFamily="34" charset="0"/>
              <a:buChar char="•"/>
            </a:pPr>
            <a:r>
              <a:rPr lang="en-US" sz="1400"/>
              <a:t>Browsing and summarizing the literature</a:t>
            </a:r>
          </a:p>
        </p:txBody>
      </p:sp>
      <p:sp>
        <p:nvSpPr>
          <p:cNvPr id="10" name="TextBox 6">
            <a:extLst>
              <a:ext uri="{FF2B5EF4-FFF2-40B4-BE49-F238E27FC236}">
                <a16:creationId xmlns:a16="http://schemas.microsoft.com/office/drawing/2014/main" id="{594C9FB2-E1FE-CF23-438C-B54BD34C1065}"/>
              </a:ext>
              <a:ext uri="{C183D7F6-B498-43B3-948B-1728B52AA6E4}">
                <adec:decorative xmlns:adec="http://schemas.microsoft.com/office/drawing/2017/decorative" val="0"/>
              </a:ext>
            </a:extLst>
          </p:cNvPr>
          <p:cNvSpPr txBox="1"/>
          <p:nvPr/>
        </p:nvSpPr>
        <p:spPr>
          <a:xfrm>
            <a:off x="8315204" y="3373832"/>
            <a:ext cx="3037380" cy="523220"/>
          </a:xfrm>
          <a:prstGeom prst="rect">
            <a:avLst/>
          </a:prstGeom>
          <a:noFill/>
          <a:ln>
            <a:solidFill>
              <a:srgbClr val="FAC54B"/>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400"/>
              <a:t>Interfaces for data collection</a:t>
            </a:r>
          </a:p>
          <a:p>
            <a:pPr marL="285750" indent="-285750">
              <a:buFont typeface="Arial" panose="020B0604020202020204" pitchFamily="34" charset="0"/>
              <a:buChar char="•"/>
            </a:pPr>
            <a:r>
              <a:rPr lang="en-US" sz="1400"/>
              <a:t>Code and automation help</a:t>
            </a:r>
          </a:p>
        </p:txBody>
      </p:sp>
      <p:sp>
        <p:nvSpPr>
          <p:cNvPr id="11" name="TextBox 7">
            <a:extLst>
              <a:ext uri="{FF2B5EF4-FFF2-40B4-BE49-F238E27FC236}">
                <a16:creationId xmlns:a16="http://schemas.microsoft.com/office/drawing/2014/main" id="{EB26BE0E-E034-B4E7-8E06-A6728A757613}"/>
              </a:ext>
              <a:ext uri="{C183D7F6-B498-43B3-948B-1728B52AA6E4}">
                <adec:decorative xmlns:adec="http://schemas.microsoft.com/office/drawing/2017/decorative" val="0"/>
              </a:ext>
            </a:extLst>
          </p:cNvPr>
          <p:cNvSpPr txBox="1"/>
          <p:nvPr/>
        </p:nvSpPr>
        <p:spPr>
          <a:xfrm>
            <a:off x="8083908" y="4464808"/>
            <a:ext cx="3268676" cy="1600438"/>
          </a:xfrm>
          <a:prstGeom prst="rect">
            <a:avLst/>
          </a:prstGeom>
          <a:noFill/>
          <a:ln>
            <a:solidFill>
              <a:srgbClr val="8ABA56"/>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400"/>
              <a:t>Brainstorming on approaches for data preprocessing</a:t>
            </a:r>
          </a:p>
          <a:p>
            <a:pPr marL="285750" indent="-285750">
              <a:buFont typeface="Arial" panose="020B0604020202020204" pitchFamily="34" charset="0"/>
              <a:buChar char="•"/>
            </a:pPr>
            <a:r>
              <a:rPr lang="en-US" sz="1400"/>
              <a:t>Code and automation</a:t>
            </a:r>
          </a:p>
          <a:p>
            <a:pPr marL="285750" indent="-285750">
              <a:buFont typeface="Arial" panose="020B0604020202020204" pitchFamily="34" charset="0"/>
              <a:buChar char="•"/>
            </a:pPr>
            <a:r>
              <a:rPr lang="en-US" sz="1400"/>
              <a:t>Data minimization (pseudo- and anonymization)</a:t>
            </a:r>
          </a:p>
          <a:p>
            <a:pPr marL="285750" indent="-285750">
              <a:buFont typeface="Arial" panose="020B0604020202020204" pitchFamily="34" charset="0"/>
              <a:buChar char="•"/>
            </a:pPr>
            <a:r>
              <a:rPr lang="en-US" sz="1400"/>
              <a:t>Data annotation (e.g. deductive coding)</a:t>
            </a:r>
          </a:p>
        </p:txBody>
      </p:sp>
      <p:sp>
        <p:nvSpPr>
          <p:cNvPr id="12" name="TextBox 8">
            <a:extLst>
              <a:ext uri="{FF2B5EF4-FFF2-40B4-BE49-F238E27FC236}">
                <a16:creationId xmlns:a16="http://schemas.microsoft.com/office/drawing/2014/main" id="{7D1C6FEB-E477-E336-B61E-DD0700F7F99A}"/>
              </a:ext>
              <a:ext uri="{C183D7F6-B498-43B3-948B-1728B52AA6E4}">
                <adec:decorative xmlns:adec="http://schemas.microsoft.com/office/drawing/2017/decorative" val="0"/>
              </a:ext>
            </a:extLst>
          </p:cNvPr>
          <p:cNvSpPr txBox="1"/>
          <p:nvPr/>
        </p:nvSpPr>
        <p:spPr>
          <a:xfrm>
            <a:off x="2063552" y="5832266"/>
            <a:ext cx="3641576" cy="738664"/>
          </a:xfrm>
          <a:prstGeom prst="rect">
            <a:avLst/>
          </a:prstGeom>
          <a:noFill/>
          <a:ln>
            <a:solidFill>
              <a:srgbClr val="32B890"/>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400"/>
              <a:t>Annotations</a:t>
            </a:r>
          </a:p>
          <a:p>
            <a:pPr marL="285750" indent="-285750">
              <a:buFont typeface="Arial" panose="020B0604020202020204" pitchFamily="34" charset="0"/>
              <a:buChar char="•"/>
            </a:pPr>
            <a:r>
              <a:rPr lang="en-US" sz="1400"/>
              <a:t>Methodological considerations</a:t>
            </a:r>
          </a:p>
          <a:p>
            <a:pPr marL="285750" indent="-285750">
              <a:buFont typeface="Arial" panose="020B0604020202020204" pitchFamily="34" charset="0"/>
              <a:buChar char="•"/>
            </a:pPr>
            <a:r>
              <a:rPr lang="en-US" sz="1400"/>
              <a:t>Data analysis (Code and automation)</a:t>
            </a:r>
            <a:endParaRPr lang="en-US" sz="1400">
              <a:cs typeface="Arial"/>
            </a:endParaRPr>
          </a:p>
        </p:txBody>
      </p:sp>
      <p:sp>
        <p:nvSpPr>
          <p:cNvPr id="13" name="TextBox 9">
            <a:extLst>
              <a:ext uri="{FF2B5EF4-FFF2-40B4-BE49-F238E27FC236}">
                <a16:creationId xmlns:a16="http://schemas.microsoft.com/office/drawing/2014/main" id="{EBED939A-B03C-71AE-B19F-46C83B6D8BB6}"/>
              </a:ext>
              <a:ext uri="{C183D7F6-B498-43B3-948B-1728B52AA6E4}">
                <adec:decorative xmlns:adec="http://schemas.microsoft.com/office/drawing/2017/decorative" val="0"/>
              </a:ext>
            </a:extLst>
          </p:cNvPr>
          <p:cNvSpPr txBox="1"/>
          <p:nvPr/>
        </p:nvSpPr>
        <p:spPr>
          <a:xfrm>
            <a:off x="1199456" y="4326072"/>
            <a:ext cx="2908638" cy="738664"/>
          </a:xfrm>
          <a:prstGeom prst="rect">
            <a:avLst/>
          </a:prstGeom>
          <a:noFill/>
          <a:ln>
            <a:solidFill>
              <a:srgbClr val="4176A5"/>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400"/>
              <a:t>Metadata preparation</a:t>
            </a:r>
          </a:p>
          <a:p>
            <a:pPr marL="285750" indent="-285750">
              <a:buFont typeface="Arial" panose="020B0604020202020204" pitchFamily="34" charset="0"/>
              <a:buChar char="•"/>
            </a:pPr>
            <a:r>
              <a:rPr lang="en-US" sz="1400"/>
              <a:t>Summarising</a:t>
            </a:r>
          </a:p>
          <a:p>
            <a:pPr marL="285750" indent="-285750">
              <a:buFont typeface="Arial" panose="020B0604020202020204" pitchFamily="34" charset="0"/>
              <a:buChar char="•"/>
            </a:pPr>
            <a:r>
              <a:rPr lang="en-US" sz="1400"/>
              <a:t>Organise and store (meta)data</a:t>
            </a:r>
          </a:p>
        </p:txBody>
      </p:sp>
      <p:sp>
        <p:nvSpPr>
          <p:cNvPr id="14" name="TextBox 10">
            <a:extLst>
              <a:ext uri="{FF2B5EF4-FFF2-40B4-BE49-F238E27FC236}">
                <a16:creationId xmlns:a16="http://schemas.microsoft.com/office/drawing/2014/main" id="{CD9F088F-AAA6-3E08-317A-28DBED02ED2A}"/>
              </a:ext>
              <a:ext uri="{C183D7F6-B498-43B3-948B-1728B52AA6E4}">
                <adec:decorative xmlns:adec="http://schemas.microsoft.com/office/drawing/2017/decorative" val="0"/>
              </a:ext>
            </a:extLst>
          </p:cNvPr>
          <p:cNvSpPr txBox="1"/>
          <p:nvPr/>
        </p:nvSpPr>
        <p:spPr>
          <a:xfrm>
            <a:off x="1199456" y="2560136"/>
            <a:ext cx="2880320" cy="1384995"/>
          </a:xfrm>
          <a:prstGeom prst="rect">
            <a:avLst/>
          </a:prstGeom>
          <a:noFill/>
          <a:ln>
            <a:solidFill>
              <a:srgbClr val="9E51AD"/>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400"/>
              <a:t>Write and editing</a:t>
            </a:r>
          </a:p>
          <a:p>
            <a:pPr marL="285750" indent="-285750">
              <a:buFont typeface="Arial" panose="020B0604020202020204" pitchFamily="34" charset="0"/>
              <a:buChar char="•"/>
            </a:pPr>
            <a:r>
              <a:rPr lang="en-US" sz="1400"/>
              <a:t>Improve research outputs (tables, figures)</a:t>
            </a:r>
          </a:p>
          <a:p>
            <a:pPr marL="285750" indent="-285750">
              <a:buFont typeface="Arial" panose="020B0604020202020204" pitchFamily="34" charset="0"/>
              <a:buChar char="•"/>
            </a:pPr>
            <a:r>
              <a:rPr lang="en-US" sz="1400"/>
              <a:t>Peer review suggestions</a:t>
            </a:r>
          </a:p>
          <a:p>
            <a:pPr marL="285750" indent="-285750">
              <a:buFont typeface="Arial" panose="020B0604020202020204" pitchFamily="34" charset="0"/>
              <a:buChar char="•"/>
            </a:pPr>
            <a:r>
              <a:rPr lang="en-US" sz="1400"/>
              <a:t>Summarizing for public</a:t>
            </a:r>
          </a:p>
          <a:p>
            <a:pPr marL="285750" indent="-285750">
              <a:buFont typeface="Arial" panose="020B0604020202020204" pitchFamily="34" charset="0"/>
              <a:buChar char="•"/>
            </a:pPr>
            <a:r>
              <a:rPr lang="en-US" sz="1400"/>
              <a:t>Media reach out </a:t>
            </a:r>
          </a:p>
        </p:txBody>
      </p:sp>
      <p:sp>
        <p:nvSpPr>
          <p:cNvPr id="15" name="TextBox 11">
            <a:extLst>
              <a:ext uri="{FF2B5EF4-FFF2-40B4-BE49-F238E27FC236}">
                <a16:creationId xmlns:a16="http://schemas.microsoft.com/office/drawing/2014/main" id="{80122BD6-1D5E-0A20-DC7C-1114C298F32E}"/>
              </a:ext>
              <a:ext uri="{C183D7F6-B498-43B3-948B-1728B52AA6E4}">
                <adec:decorative xmlns:adec="http://schemas.microsoft.com/office/drawing/2017/decorative" val="0"/>
              </a:ext>
            </a:extLst>
          </p:cNvPr>
          <p:cNvSpPr txBox="1"/>
          <p:nvPr/>
        </p:nvSpPr>
        <p:spPr>
          <a:xfrm>
            <a:off x="1198222" y="1496393"/>
            <a:ext cx="4752527" cy="738664"/>
          </a:xfrm>
          <a:prstGeom prst="rect">
            <a:avLst/>
          </a:prstGeom>
          <a:noFill/>
          <a:ln>
            <a:solidFill>
              <a:srgbClr val="FA484B"/>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400"/>
              <a:t>Facilitate discovery and FAIR-ness</a:t>
            </a:r>
          </a:p>
          <a:p>
            <a:pPr marL="285750" indent="-285750">
              <a:buFont typeface="Arial" panose="020B0604020202020204" pitchFamily="34" charset="0"/>
              <a:buChar char="•"/>
            </a:pPr>
            <a:r>
              <a:rPr lang="en-US" sz="1400"/>
              <a:t>Explore open datasets</a:t>
            </a:r>
          </a:p>
          <a:p>
            <a:pPr marL="285750" indent="-285750">
              <a:buFont typeface="Arial" panose="020B0604020202020204" pitchFamily="34" charset="0"/>
              <a:buChar char="•"/>
            </a:pPr>
            <a:r>
              <a:rPr lang="en-US" sz="1400"/>
              <a:t>Identify research gaps</a:t>
            </a:r>
          </a:p>
        </p:txBody>
      </p:sp>
      <p:sp>
        <p:nvSpPr>
          <p:cNvPr id="16" name="TextBox 5">
            <a:extLst>
              <a:ext uri="{FF2B5EF4-FFF2-40B4-BE49-F238E27FC236}">
                <a16:creationId xmlns:a16="http://schemas.microsoft.com/office/drawing/2014/main" id="{BC6C16CA-D00B-CD33-7EEA-898E339057CA}"/>
              </a:ext>
              <a:ext uri="{C183D7F6-B498-43B3-948B-1728B52AA6E4}">
                <adec:decorative xmlns:adec="http://schemas.microsoft.com/office/drawing/2017/decorative" val="0"/>
              </a:ext>
            </a:extLst>
          </p:cNvPr>
          <p:cNvSpPr txBox="1"/>
          <p:nvPr/>
        </p:nvSpPr>
        <p:spPr>
          <a:xfrm>
            <a:off x="1724121" y="6582944"/>
            <a:ext cx="799412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00">
                <a:ea typeface="+mn-lt"/>
                <a:cs typeface="+mn-lt"/>
              </a:rPr>
              <a:t>Original image from https://rdmkit.elixir-europe.org/ “The data lifecycle”</a:t>
            </a:r>
          </a:p>
        </p:txBody>
      </p:sp>
      <p:sp>
        <p:nvSpPr>
          <p:cNvPr id="6" name="Slide Number Placeholder 5">
            <a:extLst>
              <a:ext uri="{FF2B5EF4-FFF2-40B4-BE49-F238E27FC236}">
                <a16:creationId xmlns:a16="http://schemas.microsoft.com/office/drawing/2014/main" id="{1EB806D6-F283-ECB8-4F2A-ECB1865547A8}"/>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t>25</a:t>
            </a:fld>
            <a:endParaRPr lang="fi-FI"/>
          </a:p>
        </p:txBody>
      </p:sp>
      <p:sp>
        <p:nvSpPr>
          <p:cNvPr id="3" name="Date Placeholder 2">
            <a:extLst>
              <a:ext uri="{FF2B5EF4-FFF2-40B4-BE49-F238E27FC236}">
                <a16:creationId xmlns:a16="http://schemas.microsoft.com/office/drawing/2014/main" id="{8FDDBE69-D0A6-DEB8-4F07-14A52EBEE973}"/>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5217EB1F-19E4-035D-4838-1D36963668E8}"/>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145445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48E0C-8BE3-B5BF-CA38-D0845B00EE5A}"/>
              </a:ext>
            </a:extLst>
          </p:cNvPr>
          <p:cNvSpPr>
            <a:spLocks noGrp="1"/>
          </p:cNvSpPr>
          <p:nvPr>
            <p:ph type="title"/>
          </p:nvPr>
        </p:nvSpPr>
        <p:spPr/>
        <p:txBody>
          <a:bodyPr/>
          <a:lstStyle/>
          <a:p>
            <a:r>
              <a:rPr lang="en-US" b="0"/>
              <a:t>Example 1: </a:t>
            </a:r>
            <a:r>
              <a:rPr lang="en-US"/>
              <a:t>Prompt a prompt</a:t>
            </a:r>
          </a:p>
        </p:txBody>
      </p:sp>
      <p:sp>
        <p:nvSpPr>
          <p:cNvPr id="16" name="Rectangle 15">
            <a:extLst>
              <a:ext uri="{FF2B5EF4-FFF2-40B4-BE49-F238E27FC236}">
                <a16:creationId xmlns:a16="http://schemas.microsoft.com/office/drawing/2014/main" id="{55F3F52E-DBCE-A820-2000-24AA1F685C26}"/>
              </a:ext>
              <a:ext uri="{C183D7F6-B498-43B3-948B-1728B52AA6E4}">
                <adec:decorative xmlns:adec="http://schemas.microsoft.com/office/drawing/2017/decorative" val="1"/>
              </a:ext>
            </a:extLst>
          </p:cNvPr>
          <p:cNvSpPr/>
          <p:nvPr/>
        </p:nvSpPr>
        <p:spPr>
          <a:xfrm>
            <a:off x="0" y="3048611"/>
            <a:ext cx="12192000" cy="9882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grpSp>
        <p:nvGrpSpPr>
          <p:cNvPr id="7" name="Group 6">
            <a:extLst>
              <a:ext uri="{FF2B5EF4-FFF2-40B4-BE49-F238E27FC236}">
                <a16:creationId xmlns:a16="http://schemas.microsoft.com/office/drawing/2014/main" id="{1DC0BD99-8436-5A84-D1F0-31DCD98214BF}"/>
              </a:ext>
              <a:ext uri="{C183D7F6-B498-43B3-948B-1728B52AA6E4}">
                <adec:decorative xmlns:adec="http://schemas.microsoft.com/office/drawing/2017/decorative" val="1"/>
              </a:ext>
            </a:extLst>
          </p:cNvPr>
          <p:cNvGrpSpPr/>
          <p:nvPr/>
        </p:nvGrpSpPr>
        <p:grpSpPr>
          <a:xfrm>
            <a:off x="10090745" y="149467"/>
            <a:ext cx="1947614" cy="1839372"/>
            <a:chOff x="3615902" y="4793661"/>
            <a:chExt cx="2228850" cy="2104979"/>
          </a:xfrm>
        </p:grpSpPr>
        <p:pic>
          <p:nvPicPr>
            <p:cNvPr id="9" name="Graphic 18">
              <a:extLst>
                <a:ext uri="{FF2B5EF4-FFF2-40B4-BE49-F238E27FC236}">
                  <a16:creationId xmlns:a16="http://schemas.microsoft.com/office/drawing/2014/main" id="{ECC0F686-B1C0-6647-7485-3C25A4B575C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85042" y="4909132"/>
              <a:ext cx="1882046" cy="1882044"/>
            </a:xfrm>
            <a:prstGeom prst="rect">
              <a:avLst/>
            </a:prstGeom>
          </p:spPr>
        </p:pic>
        <p:sp>
          <p:nvSpPr>
            <p:cNvPr id="10" name="Freeform: Shape 9">
              <a:extLst>
                <a:ext uri="{FF2B5EF4-FFF2-40B4-BE49-F238E27FC236}">
                  <a16:creationId xmlns:a16="http://schemas.microsoft.com/office/drawing/2014/main" id="{23D23152-0264-9F19-7B5C-DB963069240D}"/>
                </a:ext>
              </a:extLst>
            </p:cNvPr>
            <p:cNvSpPr/>
            <p:nvPr/>
          </p:nvSpPr>
          <p:spPr>
            <a:xfrm>
              <a:off x="3615902" y="4793661"/>
              <a:ext cx="2228850" cy="2104979"/>
            </a:xfrm>
            <a:custGeom>
              <a:avLst/>
              <a:gdLst>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524000 w 2170176"/>
                <a:gd name="connsiteY11" fmla="*/ 1987296 h 2194560"/>
                <a:gd name="connsiteX12" fmla="*/ 1298448 w 2170176"/>
                <a:gd name="connsiteY12" fmla="*/ 1792224 h 2194560"/>
                <a:gd name="connsiteX13" fmla="*/ 1298448 w 2170176"/>
                <a:gd name="connsiteY13" fmla="*/ 1353312 h 2194560"/>
                <a:gd name="connsiteX14" fmla="*/ 944880 w 2170176"/>
                <a:gd name="connsiteY14" fmla="*/ 1505712 h 2194560"/>
                <a:gd name="connsiteX15" fmla="*/ 701040 w 2170176"/>
                <a:gd name="connsiteY15"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701040 w 2170176"/>
                <a:gd name="connsiteY14" fmla="*/ 171907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1325880 w 2170176"/>
                <a:gd name="connsiteY14" fmla="*/ 183591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325880 w 2170176"/>
                <a:gd name="connsiteY14" fmla="*/ 1835912 h 2194560"/>
                <a:gd name="connsiteX0" fmla="*/ 1295400 w 2170176"/>
                <a:gd name="connsiteY0" fmla="*/ 184099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295400 w 2170176"/>
                <a:gd name="connsiteY14" fmla="*/ 1840992 h 2194560"/>
                <a:gd name="connsiteX0" fmla="*/ 1295400 w 2170176"/>
                <a:gd name="connsiteY0" fmla="*/ 1840992 h 2133600"/>
                <a:gd name="connsiteX1" fmla="*/ 1706880 w 2170176"/>
                <a:gd name="connsiteY1" fmla="*/ 2133600 h 2133600"/>
                <a:gd name="connsiteX2" fmla="*/ 298704 w 2170176"/>
                <a:gd name="connsiteY2" fmla="*/ 1944624 h 2133600"/>
                <a:gd name="connsiteX3" fmla="*/ 0 w 2170176"/>
                <a:gd name="connsiteY3" fmla="*/ 1127760 h 2133600"/>
                <a:gd name="connsiteX4" fmla="*/ 323088 w 2170176"/>
                <a:gd name="connsiteY4" fmla="*/ 188976 h 2133600"/>
                <a:gd name="connsiteX5" fmla="*/ 1267968 w 2170176"/>
                <a:gd name="connsiteY5" fmla="*/ 0 h 2133600"/>
                <a:gd name="connsiteX6" fmla="*/ 2066544 w 2170176"/>
                <a:gd name="connsiteY6" fmla="*/ 140208 h 2133600"/>
                <a:gd name="connsiteX7" fmla="*/ 2170176 w 2170176"/>
                <a:gd name="connsiteY7" fmla="*/ 1213104 h 2133600"/>
                <a:gd name="connsiteX8" fmla="*/ 2115312 w 2170176"/>
                <a:gd name="connsiteY8" fmla="*/ 1406144 h 2133600"/>
                <a:gd name="connsiteX9" fmla="*/ 2051304 w 2170176"/>
                <a:gd name="connsiteY9" fmla="*/ 1321816 h 2133600"/>
                <a:gd name="connsiteX10" fmla="*/ 1793240 w 2170176"/>
                <a:gd name="connsiteY10" fmla="*/ 1400048 h 2133600"/>
                <a:gd name="connsiteX11" fmla="*/ 1547368 w 2170176"/>
                <a:gd name="connsiteY11" fmla="*/ 1223264 h 2133600"/>
                <a:gd name="connsiteX12" fmla="*/ 1476248 w 2170176"/>
                <a:gd name="connsiteY12" fmla="*/ 1129792 h 2133600"/>
                <a:gd name="connsiteX13" fmla="*/ 1325880 w 2170176"/>
                <a:gd name="connsiteY13" fmla="*/ 1505712 h 2133600"/>
                <a:gd name="connsiteX14" fmla="*/ 1295400 w 2170176"/>
                <a:gd name="connsiteY14" fmla="*/ 1840992 h 2133600"/>
                <a:gd name="connsiteX0" fmla="*/ 1295400 w 2170176"/>
                <a:gd name="connsiteY0" fmla="*/ 1840992 h 2133600"/>
                <a:gd name="connsiteX1" fmla="*/ 1706880 w 2170176"/>
                <a:gd name="connsiteY1" fmla="*/ 2133600 h 2133600"/>
                <a:gd name="connsiteX2" fmla="*/ 544618 w 2170176"/>
                <a:gd name="connsiteY2" fmla="*/ 1980519 h 2133600"/>
                <a:gd name="connsiteX3" fmla="*/ 298704 w 2170176"/>
                <a:gd name="connsiteY3" fmla="*/ 1944624 h 2133600"/>
                <a:gd name="connsiteX4" fmla="*/ 0 w 2170176"/>
                <a:gd name="connsiteY4" fmla="*/ 1127760 h 2133600"/>
                <a:gd name="connsiteX5" fmla="*/ 323088 w 2170176"/>
                <a:gd name="connsiteY5" fmla="*/ 188976 h 2133600"/>
                <a:gd name="connsiteX6" fmla="*/ 1267968 w 2170176"/>
                <a:gd name="connsiteY6" fmla="*/ 0 h 2133600"/>
                <a:gd name="connsiteX7" fmla="*/ 2066544 w 2170176"/>
                <a:gd name="connsiteY7" fmla="*/ 140208 h 2133600"/>
                <a:gd name="connsiteX8" fmla="*/ 2170176 w 2170176"/>
                <a:gd name="connsiteY8" fmla="*/ 1213104 h 2133600"/>
                <a:gd name="connsiteX9" fmla="*/ 2115312 w 2170176"/>
                <a:gd name="connsiteY9" fmla="*/ 1406144 h 2133600"/>
                <a:gd name="connsiteX10" fmla="*/ 2051304 w 2170176"/>
                <a:gd name="connsiteY10" fmla="*/ 1321816 h 2133600"/>
                <a:gd name="connsiteX11" fmla="*/ 1793240 w 2170176"/>
                <a:gd name="connsiteY11" fmla="*/ 1400048 h 2133600"/>
                <a:gd name="connsiteX12" fmla="*/ 1547368 w 2170176"/>
                <a:gd name="connsiteY12" fmla="*/ 1223264 h 2133600"/>
                <a:gd name="connsiteX13" fmla="*/ 1476248 w 2170176"/>
                <a:gd name="connsiteY13" fmla="*/ 1129792 h 2133600"/>
                <a:gd name="connsiteX14" fmla="*/ 1325880 w 2170176"/>
                <a:gd name="connsiteY14" fmla="*/ 1505712 h 2133600"/>
                <a:gd name="connsiteX15" fmla="*/ 1295400 w 2170176"/>
                <a:gd name="connsiteY15" fmla="*/ 1840992 h 2133600"/>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476248 w 2170176"/>
                <a:gd name="connsiteY13" fmla="*/ 1129792 h 2188799"/>
                <a:gd name="connsiteX14" fmla="*/ 1325880 w 2170176"/>
                <a:gd name="connsiteY14" fmla="*/ 1505712 h 2188799"/>
                <a:gd name="connsiteX15" fmla="*/ 1295400 w 2170176"/>
                <a:gd name="connsiteY15"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81784 w 2170176"/>
                <a:gd name="connsiteY10" fmla="*/ 13472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4752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8308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2066544 w 2081784"/>
                <a:gd name="connsiteY7" fmla="*/ 14020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1308354 w 2081784"/>
                <a:gd name="connsiteY7" fmla="*/ 12115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308354 w 2081784"/>
                <a:gd name="connsiteY7" fmla="*/ 3733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232916 w 2081784"/>
                <a:gd name="connsiteY8" fmla="*/ 34823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1783080"/>
                <a:gd name="connsiteY0" fmla="*/ 1757172 h 2104979"/>
                <a:gd name="connsiteX1" fmla="*/ 1706880 w 1783080"/>
                <a:gd name="connsiteY1" fmla="*/ 2049780 h 2104979"/>
                <a:gd name="connsiteX2" fmla="*/ 839258 w 1783080"/>
                <a:gd name="connsiteY2" fmla="*/ 2104979 h 2104979"/>
                <a:gd name="connsiteX3" fmla="*/ 298704 w 1783080"/>
                <a:gd name="connsiteY3" fmla="*/ 1860804 h 2104979"/>
                <a:gd name="connsiteX4" fmla="*/ 0 w 1783080"/>
                <a:gd name="connsiteY4" fmla="*/ 1043940 h 2104979"/>
                <a:gd name="connsiteX5" fmla="*/ 323088 w 1783080"/>
                <a:gd name="connsiteY5" fmla="*/ 105156 h 2104979"/>
                <a:gd name="connsiteX6" fmla="*/ 803148 w 1783080"/>
                <a:gd name="connsiteY6" fmla="*/ 0 h 2104979"/>
                <a:gd name="connsiteX7" fmla="*/ 1079754 w 1783080"/>
                <a:gd name="connsiteY7" fmla="*/ 44958 h 2104979"/>
                <a:gd name="connsiteX8" fmla="*/ 1232916 w 1783080"/>
                <a:gd name="connsiteY8" fmla="*/ 348234 h 2104979"/>
                <a:gd name="connsiteX9" fmla="*/ 1068324 w 1783080"/>
                <a:gd name="connsiteY9" fmla="*/ 661416 h 2104979"/>
                <a:gd name="connsiteX10" fmla="*/ 1783080 w 1783080"/>
                <a:gd name="connsiteY10" fmla="*/ 1316228 h 2104979"/>
                <a:gd name="connsiteX11" fmla="*/ 1547368 w 1783080"/>
                <a:gd name="connsiteY11" fmla="*/ 1139444 h 2104979"/>
                <a:gd name="connsiteX12" fmla="*/ 1325880 w 1783080"/>
                <a:gd name="connsiteY12" fmla="*/ 1421892 h 2104979"/>
                <a:gd name="connsiteX13" fmla="*/ 1295400 w 1783080"/>
                <a:gd name="connsiteY13" fmla="*/ 1757172 h 2104979"/>
                <a:gd name="connsiteX0" fmla="*/ 1295400 w 1706880"/>
                <a:gd name="connsiteY0" fmla="*/ 1757172 h 2104979"/>
                <a:gd name="connsiteX1" fmla="*/ 1706880 w 1706880"/>
                <a:gd name="connsiteY1" fmla="*/ 2049780 h 2104979"/>
                <a:gd name="connsiteX2" fmla="*/ 839258 w 1706880"/>
                <a:gd name="connsiteY2" fmla="*/ 2104979 h 2104979"/>
                <a:gd name="connsiteX3" fmla="*/ 298704 w 1706880"/>
                <a:gd name="connsiteY3" fmla="*/ 1860804 h 2104979"/>
                <a:gd name="connsiteX4" fmla="*/ 0 w 1706880"/>
                <a:gd name="connsiteY4" fmla="*/ 1043940 h 2104979"/>
                <a:gd name="connsiteX5" fmla="*/ 323088 w 1706880"/>
                <a:gd name="connsiteY5" fmla="*/ 105156 h 2104979"/>
                <a:gd name="connsiteX6" fmla="*/ 803148 w 1706880"/>
                <a:gd name="connsiteY6" fmla="*/ 0 h 2104979"/>
                <a:gd name="connsiteX7" fmla="*/ 1079754 w 1706880"/>
                <a:gd name="connsiteY7" fmla="*/ 44958 h 2104979"/>
                <a:gd name="connsiteX8" fmla="*/ 1232916 w 1706880"/>
                <a:gd name="connsiteY8" fmla="*/ 348234 h 2104979"/>
                <a:gd name="connsiteX9" fmla="*/ 1068324 w 1706880"/>
                <a:gd name="connsiteY9" fmla="*/ 661416 h 2104979"/>
                <a:gd name="connsiteX10" fmla="*/ 1451610 w 1706880"/>
                <a:gd name="connsiteY10" fmla="*/ 779018 h 2104979"/>
                <a:gd name="connsiteX11" fmla="*/ 1547368 w 1706880"/>
                <a:gd name="connsiteY11" fmla="*/ 1139444 h 2104979"/>
                <a:gd name="connsiteX12" fmla="*/ 1325880 w 1706880"/>
                <a:gd name="connsiteY12" fmla="*/ 1421892 h 2104979"/>
                <a:gd name="connsiteX13" fmla="*/ 1295400 w 1706880"/>
                <a:gd name="connsiteY13" fmla="*/ 1757172 h 2104979"/>
                <a:gd name="connsiteX0" fmla="*/ 1295400 w 1734058"/>
                <a:gd name="connsiteY0" fmla="*/ 1757172 h 2104979"/>
                <a:gd name="connsiteX1" fmla="*/ 1706880 w 1734058"/>
                <a:gd name="connsiteY1" fmla="*/ 2049780 h 2104979"/>
                <a:gd name="connsiteX2" fmla="*/ 839258 w 1734058"/>
                <a:gd name="connsiteY2" fmla="*/ 2104979 h 2104979"/>
                <a:gd name="connsiteX3" fmla="*/ 298704 w 1734058"/>
                <a:gd name="connsiteY3" fmla="*/ 1860804 h 2104979"/>
                <a:gd name="connsiteX4" fmla="*/ 0 w 1734058"/>
                <a:gd name="connsiteY4" fmla="*/ 1043940 h 2104979"/>
                <a:gd name="connsiteX5" fmla="*/ 323088 w 1734058"/>
                <a:gd name="connsiteY5" fmla="*/ 105156 h 2104979"/>
                <a:gd name="connsiteX6" fmla="*/ 803148 w 1734058"/>
                <a:gd name="connsiteY6" fmla="*/ 0 h 2104979"/>
                <a:gd name="connsiteX7" fmla="*/ 1079754 w 1734058"/>
                <a:gd name="connsiteY7" fmla="*/ 44958 h 2104979"/>
                <a:gd name="connsiteX8" fmla="*/ 1232916 w 1734058"/>
                <a:gd name="connsiteY8" fmla="*/ 348234 h 2104979"/>
                <a:gd name="connsiteX9" fmla="*/ 1068324 w 1734058"/>
                <a:gd name="connsiteY9" fmla="*/ 661416 h 2104979"/>
                <a:gd name="connsiteX10" fmla="*/ 1451610 w 1734058"/>
                <a:gd name="connsiteY10" fmla="*/ 779018 h 2104979"/>
                <a:gd name="connsiteX11" fmla="*/ 1734058 w 1734058"/>
                <a:gd name="connsiteY11" fmla="*/ 720344 h 2104979"/>
                <a:gd name="connsiteX12" fmla="*/ 1325880 w 1734058"/>
                <a:gd name="connsiteY12" fmla="*/ 1421892 h 2104979"/>
                <a:gd name="connsiteX13" fmla="*/ 1295400 w 1734058"/>
                <a:gd name="connsiteY13" fmla="*/ 1757172 h 2104979"/>
                <a:gd name="connsiteX0" fmla="*/ 1295400 w 1996440"/>
                <a:gd name="connsiteY0" fmla="*/ 1757172 h 2104979"/>
                <a:gd name="connsiteX1" fmla="*/ 1706880 w 1996440"/>
                <a:gd name="connsiteY1" fmla="*/ 2049780 h 2104979"/>
                <a:gd name="connsiteX2" fmla="*/ 839258 w 1996440"/>
                <a:gd name="connsiteY2" fmla="*/ 2104979 h 2104979"/>
                <a:gd name="connsiteX3" fmla="*/ 298704 w 1996440"/>
                <a:gd name="connsiteY3" fmla="*/ 1860804 h 2104979"/>
                <a:gd name="connsiteX4" fmla="*/ 0 w 1996440"/>
                <a:gd name="connsiteY4" fmla="*/ 1043940 h 2104979"/>
                <a:gd name="connsiteX5" fmla="*/ 323088 w 1996440"/>
                <a:gd name="connsiteY5" fmla="*/ 105156 h 2104979"/>
                <a:gd name="connsiteX6" fmla="*/ 803148 w 1996440"/>
                <a:gd name="connsiteY6" fmla="*/ 0 h 2104979"/>
                <a:gd name="connsiteX7" fmla="*/ 1079754 w 1996440"/>
                <a:gd name="connsiteY7" fmla="*/ 44958 h 2104979"/>
                <a:gd name="connsiteX8" fmla="*/ 1232916 w 1996440"/>
                <a:gd name="connsiteY8" fmla="*/ 348234 h 2104979"/>
                <a:gd name="connsiteX9" fmla="*/ 1068324 w 1996440"/>
                <a:gd name="connsiteY9" fmla="*/ 661416 h 2104979"/>
                <a:gd name="connsiteX10" fmla="*/ 1451610 w 1996440"/>
                <a:gd name="connsiteY10" fmla="*/ 779018 h 2104979"/>
                <a:gd name="connsiteX11" fmla="*/ 1734058 w 1996440"/>
                <a:gd name="connsiteY11" fmla="*/ 720344 h 2104979"/>
                <a:gd name="connsiteX12" fmla="*/ 1996440 w 1996440"/>
                <a:gd name="connsiteY12" fmla="*/ 23622 h 2104979"/>
                <a:gd name="connsiteX13" fmla="*/ 1295400 w 1996440"/>
                <a:gd name="connsiteY13" fmla="*/ 1757172 h 2104979"/>
                <a:gd name="connsiteX0" fmla="*/ 2228850 w 2228850"/>
                <a:gd name="connsiteY0" fmla="*/ 1341882 h 2104979"/>
                <a:gd name="connsiteX1" fmla="*/ 1706880 w 2228850"/>
                <a:gd name="connsiteY1" fmla="*/ 204978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2228850 w 2228850"/>
                <a:gd name="connsiteY11" fmla="*/ 2104979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094447 w 2228850"/>
                <a:gd name="connsiteY8" fmla="*/ 81840 h 2104979"/>
                <a:gd name="connsiteX9" fmla="*/ 1748472 w 2228850"/>
                <a:gd name="connsiteY9" fmla="*/ 703163 h 2104979"/>
                <a:gd name="connsiteX10" fmla="*/ 1451981 w 2228850"/>
                <a:gd name="connsiteY10" fmla="*/ 783827 h 2104979"/>
                <a:gd name="connsiteX11" fmla="*/ 1495582 w 2228850"/>
                <a:gd name="connsiteY11" fmla="*/ 1095578 h 2104979"/>
                <a:gd name="connsiteX12" fmla="*/ 1755012 w 2228850"/>
                <a:gd name="connsiteY12" fmla="*/ 1317947 h 2104979"/>
                <a:gd name="connsiteX13" fmla="*/ 2092925 w 2228850"/>
                <a:gd name="connsiteY13" fmla="*/ 1252545 h 2104979"/>
                <a:gd name="connsiteX14" fmla="*/ 2228850 w 2228850"/>
                <a:gd name="connsiteY14"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094447 w 2228850"/>
                <a:gd name="connsiteY8" fmla="*/ 81840 h 2104979"/>
                <a:gd name="connsiteX9" fmla="*/ 1225252 w 2228850"/>
                <a:gd name="connsiteY9" fmla="*/ 349990 h 2104979"/>
                <a:gd name="connsiteX10" fmla="*/ 1451981 w 2228850"/>
                <a:gd name="connsiteY10" fmla="*/ 783827 h 2104979"/>
                <a:gd name="connsiteX11" fmla="*/ 1495582 w 2228850"/>
                <a:gd name="connsiteY11" fmla="*/ 1095578 h 2104979"/>
                <a:gd name="connsiteX12" fmla="*/ 1755012 w 2228850"/>
                <a:gd name="connsiteY12" fmla="*/ 1317947 h 2104979"/>
                <a:gd name="connsiteX13" fmla="*/ 2092925 w 2228850"/>
                <a:gd name="connsiteY13" fmla="*/ 1252545 h 2104979"/>
                <a:gd name="connsiteX14" fmla="*/ 2228850 w 2228850"/>
                <a:gd name="connsiteY14"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094447 w 2228850"/>
                <a:gd name="connsiteY8" fmla="*/ 81840 h 2104979"/>
                <a:gd name="connsiteX9" fmla="*/ 1225252 w 2228850"/>
                <a:gd name="connsiteY9" fmla="*/ 349990 h 2104979"/>
                <a:gd name="connsiteX10" fmla="*/ 1116248 w 2228850"/>
                <a:gd name="connsiteY10" fmla="*/ 600699 h 2104979"/>
                <a:gd name="connsiteX11" fmla="*/ 1495582 w 2228850"/>
                <a:gd name="connsiteY11" fmla="*/ 1095578 h 2104979"/>
                <a:gd name="connsiteX12" fmla="*/ 1755012 w 2228850"/>
                <a:gd name="connsiteY12" fmla="*/ 1317947 h 2104979"/>
                <a:gd name="connsiteX13" fmla="*/ 2092925 w 2228850"/>
                <a:gd name="connsiteY13" fmla="*/ 1252545 h 2104979"/>
                <a:gd name="connsiteX14" fmla="*/ 2228850 w 2228850"/>
                <a:gd name="connsiteY14"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094447 w 2228850"/>
                <a:gd name="connsiteY8" fmla="*/ 81840 h 2104979"/>
                <a:gd name="connsiteX9" fmla="*/ 1225252 w 2228850"/>
                <a:gd name="connsiteY9" fmla="*/ 349990 h 2104979"/>
                <a:gd name="connsiteX10" fmla="*/ 1116248 w 2228850"/>
                <a:gd name="connsiteY10" fmla="*/ 600699 h 2104979"/>
                <a:gd name="connsiteX11" fmla="*/ 1449801 w 2228850"/>
                <a:gd name="connsiteY11" fmla="*/ 768566 h 2104979"/>
                <a:gd name="connsiteX12" fmla="*/ 1755012 w 2228850"/>
                <a:gd name="connsiteY12" fmla="*/ 1317947 h 2104979"/>
                <a:gd name="connsiteX13" fmla="*/ 2092925 w 2228850"/>
                <a:gd name="connsiteY13" fmla="*/ 1252545 h 2104979"/>
                <a:gd name="connsiteX14" fmla="*/ 2228850 w 2228850"/>
                <a:gd name="connsiteY14"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094447 w 2228850"/>
                <a:gd name="connsiteY8" fmla="*/ 81840 h 2104979"/>
                <a:gd name="connsiteX9" fmla="*/ 1225252 w 2228850"/>
                <a:gd name="connsiteY9" fmla="*/ 349990 h 2104979"/>
                <a:gd name="connsiteX10" fmla="*/ 1116248 w 2228850"/>
                <a:gd name="connsiteY10" fmla="*/ 600699 h 2104979"/>
                <a:gd name="connsiteX11" fmla="*/ 1449801 w 2228850"/>
                <a:gd name="connsiteY11" fmla="*/ 768566 h 2104979"/>
                <a:gd name="connsiteX12" fmla="*/ 1750652 w 2228850"/>
                <a:gd name="connsiteY12" fmla="*/ 716244 h 2104979"/>
                <a:gd name="connsiteX13" fmla="*/ 1755012 w 2228850"/>
                <a:gd name="connsiteY13" fmla="*/ 1317947 h 2104979"/>
                <a:gd name="connsiteX14" fmla="*/ 2092925 w 2228850"/>
                <a:gd name="connsiteY14" fmla="*/ 1252545 h 2104979"/>
                <a:gd name="connsiteX15" fmla="*/ 2228850 w 2228850"/>
                <a:gd name="connsiteY15"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094447 w 2228850"/>
                <a:gd name="connsiteY8" fmla="*/ 81840 h 2104979"/>
                <a:gd name="connsiteX9" fmla="*/ 1225252 w 2228850"/>
                <a:gd name="connsiteY9" fmla="*/ 349990 h 2104979"/>
                <a:gd name="connsiteX10" fmla="*/ 1116248 w 2228850"/>
                <a:gd name="connsiteY10" fmla="*/ 600699 h 2104979"/>
                <a:gd name="connsiteX11" fmla="*/ 1449801 w 2228850"/>
                <a:gd name="connsiteY11" fmla="*/ 768566 h 2104979"/>
                <a:gd name="connsiteX12" fmla="*/ 1750652 w 2228850"/>
                <a:gd name="connsiteY12" fmla="*/ 716244 h 2104979"/>
                <a:gd name="connsiteX13" fmla="*/ 1887997 w 2228850"/>
                <a:gd name="connsiteY13" fmla="*/ 426293 h 2104979"/>
                <a:gd name="connsiteX14" fmla="*/ 2092925 w 2228850"/>
                <a:gd name="connsiteY14" fmla="*/ 1252545 h 2104979"/>
                <a:gd name="connsiteX15" fmla="*/ 2228850 w 2228850"/>
                <a:gd name="connsiteY15"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094447 w 2228850"/>
                <a:gd name="connsiteY8" fmla="*/ 81840 h 2104979"/>
                <a:gd name="connsiteX9" fmla="*/ 1225252 w 2228850"/>
                <a:gd name="connsiteY9" fmla="*/ 349990 h 2104979"/>
                <a:gd name="connsiteX10" fmla="*/ 1116248 w 2228850"/>
                <a:gd name="connsiteY10" fmla="*/ 600699 h 2104979"/>
                <a:gd name="connsiteX11" fmla="*/ 1449801 w 2228850"/>
                <a:gd name="connsiteY11" fmla="*/ 768566 h 2104979"/>
                <a:gd name="connsiteX12" fmla="*/ 1750652 w 2228850"/>
                <a:gd name="connsiteY12" fmla="*/ 716244 h 2104979"/>
                <a:gd name="connsiteX13" fmla="*/ 1887997 w 2228850"/>
                <a:gd name="connsiteY13" fmla="*/ 426293 h 2104979"/>
                <a:gd name="connsiteX14" fmla="*/ 2103825 w 2228850"/>
                <a:gd name="connsiteY14" fmla="*/ 591979 h 2104979"/>
                <a:gd name="connsiteX15" fmla="*/ 2228850 w 2228850"/>
                <a:gd name="connsiteY15"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094447 w 2228850"/>
                <a:gd name="connsiteY8" fmla="*/ 81840 h 2104979"/>
                <a:gd name="connsiteX9" fmla="*/ 1225252 w 2228850"/>
                <a:gd name="connsiteY9" fmla="*/ 349990 h 2104979"/>
                <a:gd name="connsiteX10" fmla="*/ 1116248 w 2228850"/>
                <a:gd name="connsiteY10" fmla="*/ 600699 h 2104979"/>
                <a:gd name="connsiteX11" fmla="*/ 1449801 w 2228850"/>
                <a:gd name="connsiteY11" fmla="*/ 768566 h 2104979"/>
                <a:gd name="connsiteX12" fmla="*/ 1750652 w 2228850"/>
                <a:gd name="connsiteY12" fmla="*/ 716244 h 2104979"/>
                <a:gd name="connsiteX13" fmla="*/ 1887997 w 2228850"/>
                <a:gd name="connsiteY13" fmla="*/ 426293 h 2104979"/>
                <a:gd name="connsiteX14" fmla="*/ 2103825 w 2228850"/>
                <a:gd name="connsiteY14" fmla="*/ 591979 h 2104979"/>
                <a:gd name="connsiteX15" fmla="*/ 2228850 w 2228850"/>
                <a:gd name="connsiteY15"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094447 w 2228850"/>
                <a:gd name="connsiteY8" fmla="*/ 81840 h 2104979"/>
                <a:gd name="connsiteX9" fmla="*/ 1225252 w 2228850"/>
                <a:gd name="connsiteY9" fmla="*/ 349990 h 2104979"/>
                <a:gd name="connsiteX10" fmla="*/ 1116248 w 2228850"/>
                <a:gd name="connsiteY10" fmla="*/ 600699 h 2104979"/>
                <a:gd name="connsiteX11" fmla="*/ 1449801 w 2228850"/>
                <a:gd name="connsiteY11" fmla="*/ 768566 h 2104979"/>
                <a:gd name="connsiteX12" fmla="*/ 1750652 w 2228850"/>
                <a:gd name="connsiteY12" fmla="*/ 716244 h 2104979"/>
                <a:gd name="connsiteX13" fmla="*/ 1887997 w 2228850"/>
                <a:gd name="connsiteY13" fmla="*/ 426293 h 2104979"/>
                <a:gd name="connsiteX14" fmla="*/ 2103825 w 2228850"/>
                <a:gd name="connsiteY14" fmla="*/ 591979 h 2104979"/>
                <a:gd name="connsiteX15" fmla="*/ 2228850 w 2228850"/>
                <a:gd name="connsiteY15"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094447 w 2228850"/>
                <a:gd name="connsiteY8" fmla="*/ 81840 h 2104979"/>
                <a:gd name="connsiteX9" fmla="*/ 1225252 w 2228850"/>
                <a:gd name="connsiteY9" fmla="*/ 349990 h 2104979"/>
                <a:gd name="connsiteX10" fmla="*/ 1116248 w 2228850"/>
                <a:gd name="connsiteY10" fmla="*/ 600699 h 2104979"/>
                <a:gd name="connsiteX11" fmla="*/ 1449801 w 2228850"/>
                <a:gd name="connsiteY11" fmla="*/ 768566 h 2104979"/>
                <a:gd name="connsiteX12" fmla="*/ 1750652 w 2228850"/>
                <a:gd name="connsiteY12" fmla="*/ 716244 h 2104979"/>
                <a:gd name="connsiteX13" fmla="*/ 1887997 w 2228850"/>
                <a:gd name="connsiteY13" fmla="*/ 426293 h 2104979"/>
                <a:gd name="connsiteX14" fmla="*/ 2103825 w 2228850"/>
                <a:gd name="connsiteY14" fmla="*/ 591979 h 2104979"/>
                <a:gd name="connsiteX15" fmla="*/ 2228850 w 2228850"/>
                <a:gd name="connsiteY15"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094447 w 2228850"/>
                <a:gd name="connsiteY8" fmla="*/ 81840 h 2104979"/>
                <a:gd name="connsiteX9" fmla="*/ 1225252 w 2228850"/>
                <a:gd name="connsiteY9" fmla="*/ 349990 h 2104979"/>
                <a:gd name="connsiteX10" fmla="*/ 1116248 w 2228850"/>
                <a:gd name="connsiteY10" fmla="*/ 600699 h 2104979"/>
                <a:gd name="connsiteX11" fmla="*/ 1449801 w 2228850"/>
                <a:gd name="connsiteY11" fmla="*/ 768566 h 2104979"/>
                <a:gd name="connsiteX12" fmla="*/ 1750652 w 2228850"/>
                <a:gd name="connsiteY12" fmla="*/ 716244 h 2104979"/>
                <a:gd name="connsiteX13" fmla="*/ 1887997 w 2228850"/>
                <a:gd name="connsiteY13" fmla="*/ 426293 h 2104979"/>
                <a:gd name="connsiteX14" fmla="*/ 2103825 w 2228850"/>
                <a:gd name="connsiteY14" fmla="*/ 591979 h 2104979"/>
                <a:gd name="connsiteX15" fmla="*/ 2228850 w 2228850"/>
                <a:gd name="connsiteY15" fmla="*/ 1341882 h 2104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28850" h="2104979">
                  <a:moveTo>
                    <a:pt x="2228850" y="1341882"/>
                  </a:moveTo>
                  <a:lnTo>
                    <a:pt x="1604010" y="1962150"/>
                  </a:lnTo>
                  <a:lnTo>
                    <a:pt x="839258" y="2104979"/>
                  </a:lnTo>
                  <a:lnTo>
                    <a:pt x="298704" y="1860804"/>
                  </a:lnTo>
                  <a:lnTo>
                    <a:pt x="0" y="1043940"/>
                  </a:lnTo>
                  <a:lnTo>
                    <a:pt x="323088" y="105156"/>
                  </a:lnTo>
                  <a:lnTo>
                    <a:pt x="803148" y="0"/>
                  </a:lnTo>
                  <a:lnTo>
                    <a:pt x="2010082" y="112361"/>
                  </a:lnTo>
                  <a:cubicBezTo>
                    <a:pt x="2007902" y="117448"/>
                    <a:pt x="1096627" y="76753"/>
                    <a:pt x="1094447" y="81840"/>
                  </a:cubicBezTo>
                  <a:lnTo>
                    <a:pt x="1225252" y="349990"/>
                  </a:lnTo>
                  <a:lnTo>
                    <a:pt x="1116248" y="600699"/>
                  </a:lnTo>
                  <a:lnTo>
                    <a:pt x="1449801" y="768566"/>
                  </a:lnTo>
                  <a:cubicBezTo>
                    <a:pt x="1650369" y="732231"/>
                    <a:pt x="1443260" y="772201"/>
                    <a:pt x="1750652" y="716244"/>
                  </a:cubicBezTo>
                  <a:cubicBezTo>
                    <a:pt x="1800067" y="544017"/>
                    <a:pt x="1856023" y="437193"/>
                    <a:pt x="1887997" y="426293"/>
                  </a:cubicBezTo>
                  <a:lnTo>
                    <a:pt x="2103825" y="591979"/>
                  </a:lnTo>
                  <a:lnTo>
                    <a:pt x="2228850" y="1341882"/>
                  </a:lnTo>
                  <a:close/>
                </a:path>
              </a:pathLst>
            </a:cu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6" name="Content Placeholder 5">
            <a:extLst>
              <a:ext uri="{FF2B5EF4-FFF2-40B4-BE49-F238E27FC236}">
                <a16:creationId xmlns:a16="http://schemas.microsoft.com/office/drawing/2014/main" id="{F91DE047-191A-E53B-2289-5AC4DB777E1F}"/>
              </a:ext>
            </a:extLst>
          </p:cNvPr>
          <p:cNvSpPr>
            <a:spLocks noGrp="1"/>
          </p:cNvSpPr>
          <p:nvPr>
            <p:ph sz="half" idx="1"/>
          </p:nvPr>
        </p:nvSpPr>
        <p:spPr>
          <a:xfrm>
            <a:off x="1055688" y="2439552"/>
            <a:ext cx="10008864" cy="433992"/>
          </a:xfrm>
        </p:spPr>
        <p:txBody>
          <a:bodyPr/>
          <a:lstStyle/>
          <a:p>
            <a:r>
              <a:rPr lang="en-US" sz="1600"/>
              <a:t>Make a prompt for a Google Scholar search to find articles about azobenzene and spinning.</a:t>
            </a:r>
          </a:p>
        </p:txBody>
      </p:sp>
      <p:sp>
        <p:nvSpPr>
          <p:cNvPr id="8" name="Oval 7">
            <a:extLst>
              <a:ext uri="{FF2B5EF4-FFF2-40B4-BE49-F238E27FC236}">
                <a16:creationId xmlns:a16="http://schemas.microsoft.com/office/drawing/2014/main" id="{3CB15C92-CB82-82D4-C5B9-7CE6DD6772C3}"/>
              </a:ext>
              <a:ext uri="{C183D7F6-B498-43B3-948B-1728B52AA6E4}">
                <adec:decorative xmlns:adec="http://schemas.microsoft.com/office/drawing/2017/decorative" val="1"/>
              </a:ext>
            </a:extLst>
          </p:cNvPr>
          <p:cNvSpPr/>
          <p:nvPr/>
        </p:nvSpPr>
        <p:spPr>
          <a:xfrm>
            <a:off x="191344" y="3176972"/>
            <a:ext cx="720080" cy="72008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1400">
                <a:solidFill>
                  <a:schemeClr val="tx1"/>
                </a:solidFill>
              </a:rPr>
              <a:t>AI</a:t>
            </a:r>
            <a:endParaRPr lang="en-US" sz="1400">
              <a:solidFill>
                <a:schemeClr val="tx1"/>
              </a:solidFill>
              <a:latin typeface="+mj-lt"/>
            </a:endParaRPr>
          </a:p>
        </p:txBody>
      </p:sp>
      <p:grpSp>
        <p:nvGrpSpPr>
          <p:cNvPr id="14" name="Group 13">
            <a:extLst>
              <a:ext uri="{FF2B5EF4-FFF2-40B4-BE49-F238E27FC236}">
                <a16:creationId xmlns:a16="http://schemas.microsoft.com/office/drawing/2014/main" id="{20AD82B3-7C6B-B1C2-A809-254F3A78787A}"/>
              </a:ext>
              <a:ext uri="{C183D7F6-B498-43B3-948B-1728B52AA6E4}">
                <adec:decorative xmlns:adec="http://schemas.microsoft.com/office/drawing/2017/decorative" val="1"/>
              </a:ext>
            </a:extLst>
          </p:cNvPr>
          <p:cNvGrpSpPr/>
          <p:nvPr/>
        </p:nvGrpSpPr>
        <p:grpSpPr>
          <a:xfrm>
            <a:off x="191344" y="2204864"/>
            <a:ext cx="720080" cy="720080"/>
            <a:chOff x="3359696" y="4149080"/>
            <a:chExt cx="720080" cy="720080"/>
          </a:xfrm>
        </p:grpSpPr>
        <p:sp>
          <p:nvSpPr>
            <p:cNvPr id="11" name="Oval 10">
              <a:extLst>
                <a:ext uri="{FF2B5EF4-FFF2-40B4-BE49-F238E27FC236}">
                  <a16:creationId xmlns:a16="http://schemas.microsoft.com/office/drawing/2014/main" id="{30C0B911-02E6-524E-5767-37E30A6E9267}"/>
                </a:ext>
              </a:extLst>
            </p:cNvPr>
            <p:cNvSpPr/>
            <p:nvPr/>
          </p:nvSpPr>
          <p:spPr>
            <a:xfrm>
              <a:off x="3359696" y="4149080"/>
              <a:ext cx="720080" cy="72008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endParaRPr lang="en-US" sz="1400">
                <a:solidFill>
                  <a:schemeClr val="tx1"/>
                </a:solidFill>
                <a:latin typeface="+mj-lt"/>
              </a:endParaRPr>
            </a:p>
          </p:txBody>
        </p:sp>
        <p:pic>
          <p:nvPicPr>
            <p:cNvPr id="13" name="Graphic 12" descr="User outline">
              <a:extLst>
                <a:ext uri="{FF2B5EF4-FFF2-40B4-BE49-F238E27FC236}">
                  <a16:creationId xmlns:a16="http://schemas.microsoft.com/office/drawing/2014/main" id="{B8A09F4D-0AD3-E089-7BC7-FC2AD687F2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03712" y="4272746"/>
              <a:ext cx="432048" cy="432048"/>
            </a:xfrm>
            <a:prstGeom prst="rect">
              <a:avLst/>
            </a:prstGeom>
          </p:spPr>
        </p:pic>
      </p:grpSp>
      <p:sp>
        <p:nvSpPr>
          <p:cNvPr id="15" name="Content Placeholder 5">
            <a:extLst>
              <a:ext uri="{FF2B5EF4-FFF2-40B4-BE49-F238E27FC236}">
                <a16:creationId xmlns:a16="http://schemas.microsoft.com/office/drawing/2014/main" id="{2D87B0BA-7A68-8D3C-7560-DE6D3EB8E47E}"/>
              </a:ext>
            </a:extLst>
          </p:cNvPr>
          <p:cNvSpPr txBox="1">
            <a:spLocks/>
          </p:cNvSpPr>
          <p:nvPr/>
        </p:nvSpPr>
        <p:spPr>
          <a:xfrm>
            <a:off x="1055688" y="3274287"/>
            <a:ext cx="10008864" cy="760544"/>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r>
              <a:rPr lang="en-US" sz="1600"/>
              <a:t>"Spinning properties of azobenzene in scholarly articles"</a:t>
            </a:r>
          </a:p>
        </p:txBody>
      </p:sp>
      <p:sp>
        <p:nvSpPr>
          <p:cNvPr id="32" name="TextBox 31">
            <a:extLst>
              <a:ext uri="{FF2B5EF4-FFF2-40B4-BE49-F238E27FC236}">
                <a16:creationId xmlns:a16="http://schemas.microsoft.com/office/drawing/2014/main" id="{345394C6-42F0-7C08-9D6E-9B04053C9D39}"/>
              </a:ext>
            </a:extLst>
          </p:cNvPr>
          <p:cNvSpPr txBox="1"/>
          <p:nvPr/>
        </p:nvSpPr>
        <p:spPr>
          <a:xfrm>
            <a:off x="6825324" y="3631719"/>
            <a:ext cx="2214068" cy="276999"/>
          </a:xfrm>
          <a:prstGeom prst="rect">
            <a:avLst/>
          </a:prstGeom>
          <a:noFill/>
        </p:spPr>
        <p:txBody>
          <a:bodyPr wrap="none" rtlCol="0">
            <a:spAutoFit/>
          </a:bodyPr>
          <a:lstStyle/>
          <a:p>
            <a:r>
              <a:rPr lang="en-US" sz="1200">
                <a:solidFill>
                  <a:schemeClr val="accent1">
                    <a:lumMod val="50000"/>
                  </a:schemeClr>
                </a:solidFill>
                <a:latin typeface="+mj-lt"/>
              </a:rPr>
              <a:t>The answer needs refinement</a:t>
            </a:r>
          </a:p>
        </p:txBody>
      </p:sp>
      <p:sp>
        <p:nvSpPr>
          <p:cNvPr id="18" name="Content Placeholder 5">
            <a:extLst>
              <a:ext uri="{FF2B5EF4-FFF2-40B4-BE49-F238E27FC236}">
                <a16:creationId xmlns:a16="http://schemas.microsoft.com/office/drawing/2014/main" id="{8D6C62DC-B501-875C-AEAC-DD15C5770A69}"/>
              </a:ext>
            </a:extLst>
          </p:cNvPr>
          <p:cNvSpPr txBox="1">
            <a:spLocks/>
          </p:cNvSpPr>
          <p:nvPr/>
        </p:nvSpPr>
        <p:spPr>
          <a:xfrm>
            <a:off x="1055688" y="4324405"/>
            <a:ext cx="10008864" cy="77195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r>
              <a:rPr lang="en-US" sz="1600"/>
              <a:t>No, the prompt is to be used in Google Scholar website. Create it so it can efficiently search for articles that contain both "azobenzene" and "spinning" terms. Consider all variations of those terms used on scientific articles.</a:t>
            </a:r>
          </a:p>
        </p:txBody>
      </p:sp>
      <p:grpSp>
        <p:nvGrpSpPr>
          <p:cNvPr id="19" name="Group 18">
            <a:extLst>
              <a:ext uri="{FF2B5EF4-FFF2-40B4-BE49-F238E27FC236}">
                <a16:creationId xmlns:a16="http://schemas.microsoft.com/office/drawing/2014/main" id="{583838CD-6D7D-BDF4-733A-DB95A31CA48C}"/>
              </a:ext>
              <a:ext uri="{C183D7F6-B498-43B3-948B-1728B52AA6E4}">
                <adec:decorative xmlns:adec="http://schemas.microsoft.com/office/drawing/2017/decorative" val="1"/>
              </a:ext>
            </a:extLst>
          </p:cNvPr>
          <p:cNvGrpSpPr/>
          <p:nvPr/>
        </p:nvGrpSpPr>
        <p:grpSpPr>
          <a:xfrm>
            <a:off x="191344" y="4324231"/>
            <a:ext cx="720080" cy="720080"/>
            <a:chOff x="3359696" y="4149080"/>
            <a:chExt cx="720080" cy="720080"/>
          </a:xfrm>
        </p:grpSpPr>
        <p:sp>
          <p:nvSpPr>
            <p:cNvPr id="20" name="Oval 19">
              <a:extLst>
                <a:ext uri="{FF2B5EF4-FFF2-40B4-BE49-F238E27FC236}">
                  <a16:creationId xmlns:a16="http://schemas.microsoft.com/office/drawing/2014/main" id="{20261E47-1FE6-6A8B-E086-0036F35EAEA9}"/>
                </a:ext>
              </a:extLst>
            </p:cNvPr>
            <p:cNvSpPr/>
            <p:nvPr/>
          </p:nvSpPr>
          <p:spPr>
            <a:xfrm>
              <a:off x="3359696" y="4149080"/>
              <a:ext cx="720080" cy="72008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endParaRPr lang="en-US" sz="1400">
                <a:solidFill>
                  <a:schemeClr val="tx1"/>
                </a:solidFill>
                <a:latin typeface="+mj-lt"/>
              </a:endParaRPr>
            </a:p>
          </p:txBody>
        </p:sp>
        <p:pic>
          <p:nvPicPr>
            <p:cNvPr id="21" name="Graphic 20" descr="User outline">
              <a:extLst>
                <a:ext uri="{FF2B5EF4-FFF2-40B4-BE49-F238E27FC236}">
                  <a16:creationId xmlns:a16="http://schemas.microsoft.com/office/drawing/2014/main" id="{B68AB159-EB09-CAEA-D64A-D3CDA2E80EC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03712" y="4272746"/>
              <a:ext cx="432048" cy="432048"/>
            </a:xfrm>
            <a:prstGeom prst="rect">
              <a:avLst/>
            </a:prstGeom>
          </p:spPr>
        </p:pic>
      </p:grpSp>
      <p:sp>
        <p:nvSpPr>
          <p:cNvPr id="26" name="Rectangle 25">
            <a:extLst>
              <a:ext uri="{FF2B5EF4-FFF2-40B4-BE49-F238E27FC236}">
                <a16:creationId xmlns:a16="http://schemas.microsoft.com/office/drawing/2014/main" id="{76383451-CCBF-BD4C-8E42-412873F40B2D}"/>
              </a:ext>
              <a:ext uri="{C183D7F6-B498-43B3-948B-1728B52AA6E4}">
                <adec:decorative xmlns:adec="http://schemas.microsoft.com/office/drawing/2017/decorative" val="1"/>
              </a:ext>
            </a:extLst>
          </p:cNvPr>
          <p:cNvSpPr/>
          <p:nvPr/>
        </p:nvSpPr>
        <p:spPr>
          <a:xfrm>
            <a:off x="0" y="5146022"/>
            <a:ext cx="12192000" cy="9882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mj-lt"/>
            </a:endParaRPr>
          </a:p>
        </p:txBody>
      </p:sp>
      <p:sp>
        <p:nvSpPr>
          <p:cNvPr id="27" name="Oval 26">
            <a:extLst>
              <a:ext uri="{FF2B5EF4-FFF2-40B4-BE49-F238E27FC236}">
                <a16:creationId xmlns:a16="http://schemas.microsoft.com/office/drawing/2014/main" id="{3A7C699C-37D7-2489-8B08-BB7373152B43}"/>
              </a:ext>
              <a:ext uri="{C183D7F6-B498-43B3-948B-1728B52AA6E4}">
                <adec:decorative xmlns:adec="http://schemas.microsoft.com/office/drawing/2017/decorative" val="1"/>
              </a:ext>
            </a:extLst>
          </p:cNvPr>
          <p:cNvSpPr/>
          <p:nvPr/>
        </p:nvSpPr>
        <p:spPr>
          <a:xfrm>
            <a:off x="191344" y="5274383"/>
            <a:ext cx="720080" cy="72008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1400">
                <a:solidFill>
                  <a:schemeClr val="tx1"/>
                </a:solidFill>
              </a:rPr>
              <a:t>AI</a:t>
            </a:r>
            <a:endParaRPr lang="en-US" sz="1400">
              <a:solidFill>
                <a:schemeClr val="tx1"/>
              </a:solidFill>
              <a:latin typeface="+mj-lt"/>
            </a:endParaRPr>
          </a:p>
        </p:txBody>
      </p:sp>
      <p:sp>
        <p:nvSpPr>
          <p:cNvPr id="28" name="Content Placeholder 5">
            <a:extLst>
              <a:ext uri="{FF2B5EF4-FFF2-40B4-BE49-F238E27FC236}">
                <a16:creationId xmlns:a16="http://schemas.microsoft.com/office/drawing/2014/main" id="{D9284EEB-1D78-D7A4-D9AD-559AC2A40677}"/>
              </a:ext>
            </a:extLst>
          </p:cNvPr>
          <p:cNvSpPr txBox="1">
            <a:spLocks/>
          </p:cNvSpPr>
          <p:nvPr/>
        </p:nvSpPr>
        <p:spPr>
          <a:xfrm>
            <a:off x="1055688" y="5396559"/>
            <a:ext cx="10008864" cy="760544"/>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r>
              <a:rPr lang="en-US" sz="1600"/>
              <a:t>("Azobenzene" OR "Azo-benzene" OR "Azo benzene") AND ("Spinning" OR "Spin" OR "Rotation" OR "Rotatory")</a:t>
            </a:r>
          </a:p>
        </p:txBody>
      </p:sp>
      <p:sp>
        <p:nvSpPr>
          <p:cNvPr id="33" name="Freeform: Shape 32">
            <a:extLst>
              <a:ext uri="{FF2B5EF4-FFF2-40B4-BE49-F238E27FC236}">
                <a16:creationId xmlns:a16="http://schemas.microsoft.com/office/drawing/2014/main" id="{BAA16036-10E4-58B1-9DBC-010219723875}"/>
              </a:ext>
              <a:ext uri="{C183D7F6-B498-43B3-948B-1728B52AA6E4}">
                <adec:decorative xmlns:adec="http://schemas.microsoft.com/office/drawing/2017/decorative" val="1"/>
              </a:ext>
            </a:extLst>
          </p:cNvPr>
          <p:cNvSpPr/>
          <p:nvPr/>
        </p:nvSpPr>
        <p:spPr>
          <a:xfrm rot="5400000">
            <a:off x="6383700" y="3323400"/>
            <a:ext cx="336024" cy="547224"/>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 name="connsiteX0" fmla="*/ 400519 w 400519"/>
              <a:gd name="connsiteY0" fmla="*/ 0 h 547224"/>
              <a:gd name="connsiteX1" fmla="*/ 64495 w 400519"/>
              <a:gd name="connsiteY1" fmla="*/ 547224 h 547224"/>
              <a:gd name="connsiteX0" fmla="*/ 336024 w 336024"/>
              <a:gd name="connsiteY0" fmla="*/ 0 h 547224"/>
              <a:gd name="connsiteX1" fmla="*/ 0 w 336024"/>
              <a:gd name="connsiteY1" fmla="*/ 547224 h 547224"/>
            </a:gdLst>
            <a:ahLst/>
            <a:cxnLst>
              <a:cxn ang="0">
                <a:pos x="connsiteX0" y="connsiteY0"/>
              </a:cxn>
              <a:cxn ang="0">
                <a:pos x="connsiteX1" y="connsiteY1"/>
              </a:cxn>
            </a:cxnLst>
            <a:rect l="l" t="t" r="r" b="b"/>
            <a:pathLst>
              <a:path w="336024" h="547224">
                <a:moveTo>
                  <a:pt x="336024" y="0"/>
                </a:moveTo>
                <a:cubicBezTo>
                  <a:pt x="314937" y="238179"/>
                  <a:pt x="13547" y="325397"/>
                  <a:pt x="0" y="547224"/>
                </a:cubicBezTo>
              </a:path>
            </a:pathLst>
          </a:custGeom>
          <a:noFill/>
          <a:ln>
            <a:solidFill>
              <a:schemeClr val="accent1">
                <a:lumMod val="5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50000"/>
                </a:schemeClr>
              </a:solidFill>
            </a:endParaRPr>
          </a:p>
        </p:txBody>
      </p:sp>
      <p:sp>
        <p:nvSpPr>
          <p:cNvPr id="22" name="Slide Number Placeholder 21">
            <a:extLst>
              <a:ext uri="{FF2B5EF4-FFF2-40B4-BE49-F238E27FC236}">
                <a16:creationId xmlns:a16="http://schemas.microsoft.com/office/drawing/2014/main" id="{905BC9D6-FEA3-4FEE-9D3C-FA949B3493DE}"/>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t>26</a:t>
            </a:fld>
            <a:endParaRPr lang="fi-FI"/>
          </a:p>
        </p:txBody>
      </p:sp>
      <p:sp>
        <p:nvSpPr>
          <p:cNvPr id="3" name="Date Placeholder 2">
            <a:extLst>
              <a:ext uri="{FF2B5EF4-FFF2-40B4-BE49-F238E27FC236}">
                <a16:creationId xmlns:a16="http://schemas.microsoft.com/office/drawing/2014/main" id="{9EC14444-3138-AF85-EDAD-84905C03E2FF}"/>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50484F68-F151-0BA1-C025-8EE948999227}"/>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172241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iterate type="lt">
                                    <p:tmAbs val="10"/>
                                  </p:iterate>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iterate type="lt">
                                    <p:tmAbs val="10"/>
                                  </p:iterate>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8" grpId="0" animBg="1"/>
      <p:bldP spid="15" grpId="0"/>
      <p:bldP spid="32" grpId="0"/>
      <p:bldP spid="18" grpId="0"/>
      <p:bldP spid="26" grpId="0" animBg="1"/>
      <p:bldP spid="27" grpId="0" animBg="1"/>
      <p:bldP spid="28" grpId="0"/>
      <p:bldP spid="3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48E0C-8BE3-B5BF-CA38-D0845B00EE5A}"/>
              </a:ext>
            </a:extLst>
          </p:cNvPr>
          <p:cNvSpPr>
            <a:spLocks noGrp="1"/>
          </p:cNvSpPr>
          <p:nvPr>
            <p:ph type="title"/>
          </p:nvPr>
        </p:nvSpPr>
        <p:spPr/>
        <p:txBody>
          <a:bodyPr/>
          <a:lstStyle/>
          <a:p>
            <a:r>
              <a:rPr lang="en-US" b="0"/>
              <a:t>Example 2: </a:t>
            </a:r>
            <a:r>
              <a:rPr lang="en-US"/>
              <a:t>Create readme files for experiments</a:t>
            </a:r>
          </a:p>
        </p:txBody>
      </p:sp>
      <p:sp>
        <p:nvSpPr>
          <p:cNvPr id="16" name="Rectangle 15">
            <a:extLst>
              <a:ext uri="{FF2B5EF4-FFF2-40B4-BE49-F238E27FC236}">
                <a16:creationId xmlns:a16="http://schemas.microsoft.com/office/drawing/2014/main" id="{55F3F52E-DBCE-A820-2000-24AA1F685C26}"/>
              </a:ext>
              <a:ext uri="{C183D7F6-B498-43B3-948B-1728B52AA6E4}">
                <adec:decorative xmlns:adec="http://schemas.microsoft.com/office/drawing/2017/decorative" val="1"/>
              </a:ext>
            </a:extLst>
          </p:cNvPr>
          <p:cNvSpPr/>
          <p:nvPr/>
        </p:nvSpPr>
        <p:spPr>
          <a:xfrm>
            <a:off x="0" y="3048610"/>
            <a:ext cx="12192000" cy="30445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Content Placeholder 5">
            <a:extLst>
              <a:ext uri="{FF2B5EF4-FFF2-40B4-BE49-F238E27FC236}">
                <a16:creationId xmlns:a16="http://schemas.microsoft.com/office/drawing/2014/main" id="{F91DE047-191A-E53B-2289-5AC4DB777E1F}"/>
              </a:ext>
            </a:extLst>
          </p:cNvPr>
          <p:cNvSpPr>
            <a:spLocks noGrp="1"/>
          </p:cNvSpPr>
          <p:nvPr>
            <p:ph sz="half" idx="1"/>
          </p:nvPr>
        </p:nvSpPr>
        <p:spPr>
          <a:xfrm>
            <a:off x="1055688" y="2205037"/>
            <a:ext cx="10008864" cy="967475"/>
          </a:xfrm>
        </p:spPr>
        <p:txBody>
          <a:bodyPr/>
          <a:lstStyle/>
          <a:p>
            <a:r>
              <a:rPr lang="en-US" sz="1600"/>
              <a:t>Create a markdown readme for an experiment in the equipment with the following description: "Dynamic mechanical analysis (…) this approach can be used to locate the glass transition temperature of the material, as well as to identify transitions corresponding to other molecular motions."</a:t>
            </a:r>
          </a:p>
        </p:txBody>
      </p:sp>
      <p:sp>
        <p:nvSpPr>
          <p:cNvPr id="8" name="Oval 7">
            <a:extLst>
              <a:ext uri="{FF2B5EF4-FFF2-40B4-BE49-F238E27FC236}">
                <a16:creationId xmlns:a16="http://schemas.microsoft.com/office/drawing/2014/main" id="{3CB15C92-CB82-82D4-C5B9-7CE6DD6772C3}"/>
              </a:ext>
              <a:ext uri="{C183D7F6-B498-43B3-948B-1728B52AA6E4}">
                <adec:decorative xmlns:adec="http://schemas.microsoft.com/office/drawing/2017/decorative" val="1"/>
              </a:ext>
            </a:extLst>
          </p:cNvPr>
          <p:cNvSpPr/>
          <p:nvPr/>
        </p:nvSpPr>
        <p:spPr>
          <a:xfrm>
            <a:off x="191344" y="3176972"/>
            <a:ext cx="720080" cy="72008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1400">
                <a:solidFill>
                  <a:schemeClr val="tx1"/>
                </a:solidFill>
              </a:rPr>
              <a:t>AI</a:t>
            </a:r>
            <a:endParaRPr lang="en-US" sz="1400">
              <a:solidFill>
                <a:schemeClr val="tx1"/>
              </a:solidFill>
              <a:latin typeface="+mj-lt"/>
            </a:endParaRPr>
          </a:p>
        </p:txBody>
      </p:sp>
      <p:grpSp>
        <p:nvGrpSpPr>
          <p:cNvPr id="14" name="Group 13">
            <a:extLst>
              <a:ext uri="{FF2B5EF4-FFF2-40B4-BE49-F238E27FC236}">
                <a16:creationId xmlns:a16="http://schemas.microsoft.com/office/drawing/2014/main" id="{20AD82B3-7C6B-B1C2-A809-254F3A78787A}"/>
              </a:ext>
              <a:ext uri="{C183D7F6-B498-43B3-948B-1728B52AA6E4}">
                <adec:decorative xmlns:adec="http://schemas.microsoft.com/office/drawing/2017/decorative" val="1"/>
              </a:ext>
            </a:extLst>
          </p:cNvPr>
          <p:cNvGrpSpPr/>
          <p:nvPr/>
        </p:nvGrpSpPr>
        <p:grpSpPr>
          <a:xfrm>
            <a:off x="191344" y="2204864"/>
            <a:ext cx="720080" cy="720080"/>
            <a:chOff x="3359696" y="4149080"/>
            <a:chExt cx="720080" cy="720080"/>
          </a:xfrm>
        </p:grpSpPr>
        <p:sp>
          <p:nvSpPr>
            <p:cNvPr id="11" name="Oval 10">
              <a:extLst>
                <a:ext uri="{FF2B5EF4-FFF2-40B4-BE49-F238E27FC236}">
                  <a16:creationId xmlns:a16="http://schemas.microsoft.com/office/drawing/2014/main" id="{30C0B911-02E6-524E-5767-37E30A6E9267}"/>
                </a:ext>
              </a:extLst>
            </p:cNvPr>
            <p:cNvSpPr/>
            <p:nvPr/>
          </p:nvSpPr>
          <p:spPr>
            <a:xfrm>
              <a:off x="3359696" y="4149080"/>
              <a:ext cx="720080" cy="72008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endParaRPr lang="en-US" sz="1400">
                <a:solidFill>
                  <a:schemeClr val="tx1"/>
                </a:solidFill>
                <a:latin typeface="+mj-lt"/>
              </a:endParaRPr>
            </a:p>
          </p:txBody>
        </p:sp>
        <p:pic>
          <p:nvPicPr>
            <p:cNvPr id="13" name="Graphic 12" descr="User outline">
              <a:extLst>
                <a:ext uri="{FF2B5EF4-FFF2-40B4-BE49-F238E27FC236}">
                  <a16:creationId xmlns:a16="http://schemas.microsoft.com/office/drawing/2014/main" id="{B8A09F4D-0AD3-E089-7BC7-FC2AD687F2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503712" y="4272746"/>
              <a:ext cx="432048" cy="432048"/>
            </a:xfrm>
            <a:prstGeom prst="rect">
              <a:avLst/>
            </a:prstGeom>
          </p:spPr>
        </p:pic>
      </p:grpSp>
      <p:sp>
        <p:nvSpPr>
          <p:cNvPr id="15" name="Content Placeholder 5">
            <a:extLst>
              <a:ext uri="{FF2B5EF4-FFF2-40B4-BE49-F238E27FC236}">
                <a16:creationId xmlns:a16="http://schemas.microsoft.com/office/drawing/2014/main" id="{2D87B0BA-7A68-8D3C-7560-DE6D3EB8E47E}"/>
              </a:ext>
            </a:extLst>
          </p:cNvPr>
          <p:cNvSpPr txBox="1">
            <a:spLocks/>
          </p:cNvSpPr>
          <p:nvPr/>
        </p:nvSpPr>
        <p:spPr>
          <a:xfrm>
            <a:off x="1055688" y="3172513"/>
            <a:ext cx="10008864" cy="292061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r>
              <a:rPr lang="en-US" sz="1200"/>
              <a:t># Dynamic Mechanical Analysis Experiment README</a:t>
            </a:r>
          </a:p>
          <a:p>
            <a:r>
              <a:rPr lang="en-US" sz="1200"/>
              <a:t>## Experiment Name</a:t>
            </a:r>
          </a:p>
          <a:p>
            <a:r>
              <a:rPr lang="en-US" sz="1200"/>
              <a:t>Dynamic Mechanical Analysis (DMA)</a:t>
            </a:r>
          </a:p>
          <a:p>
            <a:r>
              <a:rPr lang="en-US" sz="1200"/>
              <a:t>## Introduction</a:t>
            </a:r>
          </a:p>
          <a:p>
            <a:r>
              <a:rPr lang="en-US" sz="1200"/>
              <a:t>Dynamic Mechanical Analysis, also known as dynamic mechanical spectroscopy, is employed to study and characterize materials, in particular, understanding the viscoelastic behavior of polymers. </a:t>
            </a:r>
          </a:p>
          <a:p>
            <a:r>
              <a:rPr lang="en-US" sz="1200"/>
              <a:t>## Equipment and Materials</a:t>
            </a:r>
          </a:p>
          <a:p>
            <a:r>
              <a:rPr lang="en-US" sz="1200"/>
              <a:t>Add a detailed list of all the equipment and materials required for this experiment.</a:t>
            </a:r>
          </a:p>
          <a:p>
            <a:r>
              <a:rPr lang="en-US" sz="1200"/>
              <a:t>## Objective</a:t>
            </a:r>
          </a:p>
          <a:p>
            <a:r>
              <a:rPr lang="en-US" sz="1200"/>
              <a:t>1. Determine the complex modulus of the material.</a:t>
            </a:r>
          </a:p>
          <a:p>
            <a:r>
              <a:rPr lang="en-US" sz="1200"/>
              <a:t>(…)</a:t>
            </a:r>
          </a:p>
        </p:txBody>
      </p:sp>
      <p:grpSp>
        <p:nvGrpSpPr>
          <p:cNvPr id="17" name="Group 16">
            <a:extLst>
              <a:ext uri="{FF2B5EF4-FFF2-40B4-BE49-F238E27FC236}">
                <a16:creationId xmlns:a16="http://schemas.microsoft.com/office/drawing/2014/main" id="{580852BD-0610-0D4D-59CD-AF259ADAEB25}"/>
              </a:ext>
              <a:ext uri="{C183D7F6-B498-43B3-948B-1728B52AA6E4}">
                <adec:decorative xmlns:adec="http://schemas.microsoft.com/office/drawing/2017/decorative" val="1"/>
              </a:ext>
            </a:extLst>
          </p:cNvPr>
          <p:cNvGrpSpPr/>
          <p:nvPr/>
        </p:nvGrpSpPr>
        <p:grpSpPr>
          <a:xfrm>
            <a:off x="10090745" y="149467"/>
            <a:ext cx="1947614" cy="1839372"/>
            <a:chOff x="3615902" y="4793661"/>
            <a:chExt cx="2228850" cy="2104979"/>
          </a:xfrm>
        </p:grpSpPr>
        <p:pic>
          <p:nvPicPr>
            <p:cNvPr id="18" name="Graphic 18">
              <a:extLst>
                <a:ext uri="{FF2B5EF4-FFF2-40B4-BE49-F238E27FC236}">
                  <a16:creationId xmlns:a16="http://schemas.microsoft.com/office/drawing/2014/main" id="{B3532158-5E51-9C7C-4BB1-74202FA5E5B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5042" y="4909132"/>
              <a:ext cx="1882046" cy="1882044"/>
            </a:xfrm>
            <a:prstGeom prst="rect">
              <a:avLst/>
            </a:prstGeom>
          </p:spPr>
        </p:pic>
        <p:sp>
          <p:nvSpPr>
            <p:cNvPr id="19" name="Freeform: Shape 18">
              <a:extLst>
                <a:ext uri="{FF2B5EF4-FFF2-40B4-BE49-F238E27FC236}">
                  <a16:creationId xmlns:a16="http://schemas.microsoft.com/office/drawing/2014/main" id="{FBA8F023-CEE2-AFD4-F917-8C3C378F23AF}"/>
                </a:ext>
              </a:extLst>
            </p:cNvPr>
            <p:cNvSpPr/>
            <p:nvPr/>
          </p:nvSpPr>
          <p:spPr>
            <a:xfrm>
              <a:off x="3615902" y="4793661"/>
              <a:ext cx="2228850" cy="2104979"/>
            </a:xfrm>
            <a:custGeom>
              <a:avLst/>
              <a:gdLst>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524000 w 2170176"/>
                <a:gd name="connsiteY11" fmla="*/ 1987296 h 2194560"/>
                <a:gd name="connsiteX12" fmla="*/ 1298448 w 2170176"/>
                <a:gd name="connsiteY12" fmla="*/ 1792224 h 2194560"/>
                <a:gd name="connsiteX13" fmla="*/ 1298448 w 2170176"/>
                <a:gd name="connsiteY13" fmla="*/ 1353312 h 2194560"/>
                <a:gd name="connsiteX14" fmla="*/ 944880 w 2170176"/>
                <a:gd name="connsiteY14" fmla="*/ 1505712 h 2194560"/>
                <a:gd name="connsiteX15" fmla="*/ 701040 w 2170176"/>
                <a:gd name="connsiteY15"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701040 w 2170176"/>
                <a:gd name="connsiteY14" fmla="*/ 171907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1325880 w 2170176"/>
                <a:gd name="connsiteY14" fmla="*/ 183591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325880 w 2170176"/>
                <a:gd name="connsiteY14" fmla="*/ 1835912 h 2194560"/>
                <a:gd name="connsiteX0" fmla="*/ 1295400 w 2170176"/>
                <a:gd name="connsiteY0" fmla="*/ 184099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295400 w 2170176"/>
                <a:gd name="connsiteY14" fmla="*/ 1840992 h 2194560"/>
                <a:gd name="connsiteX0" fmla="*/ 1295400 w 2170176"/>
                <a:gd name="connsiteY0" fmla="*/ 1840992 h 2133600"/>
                <a:gd name="connsiteX1" fmla="*/ 1706880 w 2170176"/>
                <a:gd name="connsiteY1" fmla="*/ 2133600 h 2133600"/>
                <a:gd name="connsiteX2" fmla="*/ 298704 w 2170176"/>
                <a:gd name="connsiteY2" fmla="*/ 1944624 h 2133600"/>
                <a:gd name="connsiteX3" fmla="*/ 0 w 2170176"/>
                <a:gd name="connsiteY3" fmla="*/ 1127760 h 2133600"/>
                <a:gd name="connsiteX4" fmla="*/ 323088 w 2170176"/>
                <a:gd name="connsiteY4" fmla="*/ 188976 h 2133600"/>
                <a:gd name="connsiteX5" fmla="*/ 1267968 w 2170176"/>
                <a:gd name="connsiteY5" fmla="*/ 0 h 2133600"/>
                <a:gd name="connsiteX6" fmla="*/ 2066544 w 2170176"/>
                <a:gd name="connsiteY6" fmla="*/ 140208 h 2133600"/>
                <a:gd name="connsiteX7" fmla="*/ 2170176 w 2170176"/>
                <a:gd name="connsiteY7" fmla="*/ 1213104 h 2133600"/>
                <a:gd name="connsiteX8" fmla="*/ 2115312 w 2170176"/>
                <a:gd name="connsiteY8" fmla="*/ 1406144 h 2133600"/>
                <a:gd name="connsiteX9" fmla="*/ 2051304 w 2170176"/>
                <a:gd name="connsiteY9" fmla="*/ 1321816 h 2133600"/>
                <a:gd name="connsiteX10" fmla="*/ 1793240 w 2170176"/>
                <a:gd name="connsiteY10" fmla="*/ 1400048 h 2133600"/>
                <a:gd name="connsiteX11" fmla="*/ 1547368 w 2170176"/>
                <a:gd name="connsiteY11" fmla="*/ 1223264 h 2133600"/>
                <a:gd name="connsiteX12" fmla="*/ 1476248 w 2170176"/>
                <a:gd name="connsiteY12" fmla="*/ 1129792 h 2133600"/>
                <a:gd name="connsiteX13" fmla="*/ 1325880 w 2170176"/>
                <a:gd name="connsiteY13" fmla="*/ 1505712 h 2133600"/>
                <a:gd name="connsiteX14" fmla="*/ 1295400 w 2170176"/>
                <a:gd name="connsiteY14" fmla="*/ 1840992 h 2133600"/>
                <a:gd name="connsiteX0" fmla="*/ 1295400 w 2170176"/>
                <a:gd name="connsiteY0" fmla="*/ 1840992 h 2133600"/>
                <a:gd name="connsiteX1" fmla="*/ 1706880 w 2170176"/>
                <a:gd name="connsiteY1" fmla="*/ 2133600 h 2133600"/>
                <a:gd name="connsiteX2" fmla="*/ 544618 w 2170176"/>
                <a:gd name="connsiteY2" fmla="*/ 1980519 h 2133600"/>
                <a:gd name="connsiteX3" fmla="*/ 298704 w 2170176"/>
                <a:gd name="connsiteY3" fmla="*/ 1944624 h 2133600"/>
                <a:gd name="connsiteX4" fmla="*/ 0 w 2170176"/>
                <a:gd name="connsiteY4" fmla="*/ 1127760 h 2133600"/>
                <a:gd name="connsiteX5" fmla="*/ 323088 w 2170176"/>
                <a:gd name="connsiteY5" fmla="*/ 188976 h 2133600"/>
                <a:gd name="connsiteX6" fmla="*/ 1267968 w 2170176"/>
                <a:gd name="connsiteY6" fmla="*/ 0 h 2133600"/>
                <a:gd name="connsiteX7" fmla="*/ 2066544 w 2170176"/>
                <a:gd name="connsiteY7" fmla="*/ 140208 h 2133600"/>
                <a:gd name="connsiteX8" fmla="*/ 2170176 w 2170176"/>
                <a:gd name="connsiteY8" fmla="*/ 1213104 h 2133600"/>
                <a:gd name="connsiteX9" fmla="*/ 2115312 w 2170176"/>
                <a:gd name="connsiteY9" fmla="*/ 1406144 h 2133600"/>
                <a:gd name="connsiteX10" fmla="*/ 2051304 w 2170176"/>
                <a:gd name="connsiteY10" fmla="*/ 1321816 h 2133600"/>
                <a:gd name="connsiteX11" fmla="*/ 1793240 w 2170176"/>
                <a:gd name="connsiteY11" fmla="*/ 1400048 h 2133600"/>
                <a:gd name="connsiteX12" fmla="*/ 1547368 w 2170176"/>
                <a:gd name="connsiteY12" fmla="*/ 1223264 h 2133600"/>
                <a:gd name="connsiteX13" fmla="*/ 1476248 w 2170176"/>
                <a:gd name="connsiteY13" fmla="*/ 1129792 h 2133600"/>
                <a:gd name="connsiteX14" fmla="*/ 1325880 w 2170176"/>
                <a:gd name="connsiteY14" fmla="*/ 1505712 h 2133600"/>
                <a:gd name="connsiteX15" fmla="*/ 1295400 w 2170176"/>
                <a:gd name="connsiteY15" fmla="*/ 1840992 h 2133600"/>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476248 w 2170176"/>
                <a:gd name="connsiteY13" fmla="*/ 1129792 h 2188799"/>
                <a:gd name="connsiteX14" fmla="*/ 1325880 w 2170176"/>
                <a:gd name="connsiteY14" fmla="*/ 1505712 h 2188799"/>
                <a:gd name="connsiteX15" fmla="*/ 1295400 w 2170176"/>
                <a:gd name="connsiteY15"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81784 w 2170176"/>
                <a:gd name="connsiteY10" fmla="*/ 13472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4752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8308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2066544 w 2081784"/>
                <a:gd name="connsiteY7" fmla="*/ 14020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1308354 w 2081784"/>
                <a:gd name="connsiteY7" fmla="*/ 12115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308354 w 2081784"/>
                <a:gd name="connsiteY7" fmla="*/ 3733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232916 w 2081784"/>
                <a:gd name="connsiteY8" fmla="*/ 34823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1783080"/>
                <a:gd name="connsiteY0" fmla="*/ 1757172 h 2104979"/>
                <a:gd name="connsiteX1" fmla="*/ 1706880 w 1783080"/>
                <a:gd name="connsiteY1" fmla="*/ 2049780 h 2104979"/>
                <a:gd name="connsiteX2" fmla="*/ 839258 w 1783080"/>
                <a:gd name="connsiteY2" fmla="*/ 2104979 h 2104979"/>
                <a:gd name="connsiteX3" fmla="*/ 298704 w 1783080"/>
                <a:gd name="connsiteY3" fmla="*/ 1860804 h 2104979"/>
                <a:gd name="connsiteX4" fmla="*/ 0 w 1783080"/>
                <a:gd name="connsiteY4" fmla="*/ 1043940 h 2104979"/>
                <a:gd name="connsiteX5" fmla="*/ 323088 w 1783080"/>
                <a:gd name="connsiteY5" fmla="*/ 105156 h 2104979"/>
                <a:gd name="connsiteX6" fmla="*/ 803148 w 1783080"/>
                <a:gd name="connsiteY6" fmla="*/ 0 h 2104979"/>
                <a:gd name="connsiteX7" fmla="*/ 1079754 w 1783080"/>
                <a:gd name="connsiteY7" fmla="*/ 44958 h 2104979"/>
                <a:gd name="connsiteX8" fmla="*/ 1232916 w 1783080"/>
                <a:gd name="connsiteY8" fmla="*/ 348234 h 2104979"/>
                <a:gd name="connsiteX9" fmla="*/ 1068324 w 1783080"/>
                <a:gd name="connsiteY9" fmla="*/ 661416 h 2104979"/>
                <a:gd name="connsiteX10" fmla="*/ 1783080 w 1783080"/>
                <a:gd name="connsiteY10" fmla="*/ 1316228 h 2104979"/>
                <a:gd name="connsiteX11" fmla="*/ 1547368 w 1783080"/>
                <a:gd name="connsiteY11" fmla="*/ 1139444 h 2104979"/>
                <a:gd name="connsiteX12" fmla="*/ 1325880 w 1783080"/>
                <a:gd name="connsiteY12" fmla="*/ 1421892 h 2104979"/>
                <a:gd name="connsiteX13" fmla="*/ 1295400 w 1783080"/>
                <a:gd name="connsiteY13" fmla="*/ 1757172 h 2104979"/>
                <a:gd name="connsiteX0" fmla="*/ 1295400 w 1706880"/>
                <a:gd name="connsiteY0" fmla="*/ 1757172 h 2104979"/>
                <a:gd name="connsiteX1" fmla="*/ 1706880 w 1706880"/>
                <a:gd name="connsiteY1" fmla="*/ 2049780 h 2104979"/>
                <a:gd name="connsiteX2" fmla="*/ 839258 w 1706880"/>
                <a:gd name="connsiteY2" fmla="*/ 2104979 h 2104979"/>
                <a:gd name="connsiteX3" fmla="*/ 298704 w 1706880"/>
                <a:gd name="connsiteY3" fmla="*/ 1860804 h 2104979"/>
                <a:gd name="connsiteX4" fmla="*/ 0 w 1706880"/>
                <a:gd name="connsiteY4" fmla="*/ 1043940 h 2104979"/>
                <a:gd name="connsiteX5" fmla="*/ 323088 w 1706880"/>
                <a:gd name="connsiteY5" fmla="*/ 105156 h 2104979"/>
                <a:gd name="connsiteX6" fmla="*/ 803148 w 1706880"/>
                <a:gd name="connsiteY6" fmla="*/ 0 h 2104979"/>
                <a:gd name="connsiteX7" fmla="*/ 1079754 w 1706880"/>
                <a:gd name="connsiteY7" fmla="*/ 44958 h 2104979"/>
                <a:gd name="connsiteX8" fmla="*/ 1232916 w 1706880"/>
                <a:gd name="connsiteY8" fmla="*/ 348234 h 2104979"/>
                <a:gd name="connsiteX9" fmla="*/ 1068324 w 1706880"/>
                <a:gd name="connsiteY9" fmla="*/ 661416 h 2104979"/>
                <a:gd name="connsiteX10" fmla="*/ 1451610 w 1706880"/>
                <a:gd name="connsiteY10" fmla="*/ 779018 h 2104979"/>
                <a:gd name="connsiteX11" fmla="*/ 1547368 w 1706880"/>
                <a:gd name="connsiteY11" fmla="*/ 1139444 h 2104979"/>
                <a:gd name="connsiteX12" fmla="*/ 1325880 w 1706880"/>
                <a:gd name="connsiteY12" fmla="*/ 1421892 h 2104979"/>
                <a:gd name="connsiteX13" fmla="*/ 1295400 w 1706880"/>
                <a:gd name="connsiteY13" fmla="*/ 1757172 h 2104979"/>
                <a:gd name="connsiteX0" fmla="*/ 1295400 w 1734058"/>
                <a:gd name="connsiteY0" fmla="*/ 1757172 h 2104979"/>
                <a:gd name="connsiteX1" fmla="*/ 1706880 w 1734058"/>
                <a:gd name="connsiteY1" fmla="*/ 2049780 h 2104979"/>
                <a:gd name="connsiteX2" fmla="*/ 839258 w 1734058"/>
                <a:gd name="connsiteY2" fmla="*/ 2104979 h 2104979"/>
                <a:gd name="connsiteX3" fmla="*/ 298704 w 1734058"/>
                <a:gd name="connsiteY3" fmla="*/ 1860804 h 2104979"/>
                <a:gd name="connsiteX4" fmla="*/ 0 w 1734058"/>
                <a:gd name="connsiteY4" fmla="*/ 1043940 h 2104979"/>
                <a:gd name="connsiteX5" fmla="*/ 323088 w 1734058"/>
                <a:gd name="connsiteY5" fmla="*/ 105156 h 2104979"/>
                <a:gd name="connsiteX6" fmla="*/ 803148 w 1734058"/>
                <a:gd name="connsiteY6" fmla="*/ 0 h 2104979"/>
                <a:gd name="connsiteX7" fmla="*/ 1079754 w 1734058"/>
                <a:gd name="connsiteY7" fmla="*/ 44958 h 2104979"/>
                <a:gd name="connsiteX8" fmla="*/ 1232916 w 1734058"/>
                <a:gd name="connsiteY8" fmla="*/ 348234 h 2104979"/>
                <a:gd name="connsiteX9" fmla="*/ 1068324 w 1734058"/>
                <a:gd name="connsiteY9" fmla="*/ 661416 h 2104979"/>
                <a:gd name="connsiteX10" fmla="*/ 1451610 w 1734058"/>
                <a:gd name="connsiteY10" fmla="*/ 779018 h 2104979"/>
                <a:gd name="connsiteX11" fmla="*/ 1734058 w 1734058"/>
                <a:gd name="connsiteY11" fmla="*/ 720344 h 2104979"/>
                <a:gd name="connsiteX12" fmla="*/ 1325880 w 1734058"/>
                <a:gd name="connsiteY12" fmla="*/ 1421892 h 2104979"/>
                <a:gd name="connsiteX13" fmla="*/ 1295400 w 1734058"/>
                <a:gd name="connsiteY13" fmla="*/ 1757172 h 2104979"/>
                <a:gd name="connsiteX0" fmla="*/ 1295400 w 1996440"/>
                <a:gd name="connsiteY0" fmla="*/ 1757172 h 2104979"/>
                <a:gd name="connsiteX1" fmla="*/ 1706880 w 1996440"/>
                <a:gd name="connsiteY1" fmla="*/ 2049780 h 2104979"/>
                <a:gd name="connsiteX2" fmla="*/ 839258 w 1996440"/>
                <a:gd name="connsiteY2" fmla="*/ 2104979 h 2104979"/>
                <a:gd name="connsiteX3" fmla="*/ 298704 w 1996440"/>
                <a:gd name="connsiteY3" fmla="*/ 1860804 h 2104979"/>
                <a:gd name="connsiteX4" fmla="*/ 0 w 1996440"/>
                <a:gd name="connsiteY4" fmla="*/ 1043940 h 2104979"/>
                <a:gd name="connsiteX5" fmla="*/ 323088 w 1996440"/>
                <a:gd name="connsiteY5" fmla="*/ 105156 h 2104979"/>
                <a:gd name="connsiteX6" fmla="*/ 803148 w 1996440"/>
                <a:gd name="connsiteY6" fmla="*/ 0 h 2104979"/>
                <a:gd name="connsiteX7" fmla="*/ 1079754 w 1996440"/>
                <a:gd name="connsiteY7" fmla="*/ 44958 h 2104979"/>
                <a:gd name="connsiteX8" fmla="*/ 1232916 w 1996440"/>
                <a:gd name="connsiteY8" fmla="*/ 348234 h 2104979"/>
                <a:gd name="connsiteX9" fmla="*/ 1068324 w 1996440"/>
                <a:gd name="connsiteY9" fmla="*/ 661416 h 2104979"/>
                <a:gd name="connsiteX10" fmla="*/ 1451610 w 1996440"/>
                <a:gd name="connsiteY10" fmla="*/ 779018 h 2104979"/>
                <a:gd name="connsiteX11" fmla="*/ 1734058 w 1996440"/>
                <a:gd name="connsiteY11" fmla="*/ 720344 h 2104979"/>
                <a:gd name="connsiteX12" fmla="*/ 1996440 w 1996440"/>
                <a:gd name="connsiteY12" fmla="*/ 23622 h 2104979"/>
                <a:gd name="connsiteX13" fmla="*/ 1295400 w 1996440"/>
                <a:gd name="connsiteY13" fmla="*/ 1757172 h 2104979"/>
                <a:gd name="connsiteX0" fmla="*/ 2228850 w 2228850"/>
                <a:gd name="connsiteY0" fmla="*/ 1341882 h 2104979"/>
                <a:gd name="connsiteX1" fmla="*/ 1706880 w 2228850"/>
                <a:gd name="connsiteY1" fmla="*/ 204978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2228850 w 2228850"/>
                <a:gd name="connsiteY11" fmla="*/ 2104979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28850" h="2104979">
                  <a:moveTo>
                    <a:pt x="2228850" y="1341882"/>
                  </a:moveTo>
                  <a:lnTo>
                    <a:pt x="1604010" y="1962150"/>
                  </a:lnTo>
                  <a:lnTo>
                    <a:pt x="839258" y="2104979"/>
                  </a:lnTo>
                  <a:lnTo>
                    <a:pt x="298704" y="1860804"/>
                  </a:lnTo>
                  <a:lnTo>
                    <a:pt x="0" y="1043940"/>
                  </a:lnTo>
                  <a:lnTo>
                    <a:pt x="323088" y="105156"/>
                  </a:lnTo>
                  <a:lnTo>
                    <a:pt x="803148" y="0"/>
                  </a:lnTo>
                  <a:lnTo>
                    <a:pt x="2010082" y="112361"/>
                  </a:lnTo>
                  <a:lnTo>
                    <a:pt x="1748472" y="703163"/>
                  </a:lnTo>
                  <a:lnTo>
                    <a:pt x="1451981" y="783827"/>
                  </a:lnTo>
                  <a:lnTo>
                    <a:pt x="1495582" y="1095578"/>
                  </a:lnTo>
                  <a:lnTo>
                    <a:pt x="1755012" y="1317947"/>
                  </a:lnTo>
                  <a:lnTo>
                    <a:pt x="2092925" y="1252545"/>
                  </a:lnTo>
                  <a:lnTo>
                    <a:pt x="2228850" y="1341882"/>
                  </a:lnTo>
                  <a:close/>
                </a:path>
              </a:pathLst>
            </a:cu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21" name="Freeform: Shape 20">
            <a:extLst>
              <a:ext uri="{FF2B5EF4-FFF2-40B4-BE49-F238E27FC236}">
                <a16:creationId xmlns:a16="http://schemas.microsoft.com/office/drawing/2014/main" id="{7930F327-17E6-BB36-E478-028B42CAFC9D}"/>
              </a:ext>
              <a:ext uri="{C183D7F6-B498-43B3-948B-1728B52AA6E4}">
                <adec:decorative xmlns:adec="http://schemas.microsoft.com/office/drawing/2017/decorative" val="1"/>
              </a:ext>
            </a:extLst>
          </p:cNvPr>
          <p:cNvSpPr/>
          <p:nvPr/>
        </p:nvSpPr>
        <p:spPr>
          <a:xfrm>
            <a:off x="2403755" y="1737256"/>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D381288-33CE-4312-7A1C-4C480C6DED59}"/>
              </a:ext>
              <a:ext uri="{C183D7F6-B498-43B3-948B-1728B52AA6E4}">
                <adec:decorative xmlns:adec="http://schemas.microsoft.com/office/drawing/2017/decorative" val="1"/>
              </a:ext>
            </a:extLst>
          </p:cNvPr>
          <p:cNvSpPr txBox="1"/>
          <p:nvPr/>
        </p:nvSpPr>
        <p:spPr>
          <a:xfrm>
            <a:off x="2913926" y="1599714"/>
            <a:ext cx="1422184" cy="276999"/>
          </a:xfrm>
          <a:prstGeom prst="rect">
            <a:avLst/>
          </a:prstGeom>
          <a:noFill/>
        </p:spPr>
        <p:txBody>
          <a:bodyPr wrap="none" rtlCol="0">
            <a:spAutoFit/>
          </a:bodyPr>
          <a:lstStyle/>
          <a:p>
            <a:r>
              <a:rPr lang="en-US" sz="1200">
                <a:solidFill>
                  <a:schemeClr val="bg1">
                    <a:lumMod val="50000"/>
                  </a:schemeClr>
                </a:solidFill>
                <a:latin typeface="+mj-lt"/>
              </a:rPr>
              <a:t>Enhanced *.txt file</a:t>
            </a:r>
          </a:p>
        </p:txBody>
      </p:sp>
      <p:sp>
        <p:nvSpPr>
          <p:cNvPr id="25" name="Freeform: Shape 24">
            <a:extLst>
              <a:ext uri="{FF2B5EF4-FFF2-40B4-BE49-F238E27FC236}">
                <a16:creationId xmlns:a16="http://schemas.microsoft.com/office/drawing/2014/main" id="{F37A8912-B745-77EB-C39A-34E2026CA5A4}"/>
              </a:ext>
              <a:ext uri="{C183D7F6-B498-43B3-948B-1728B52AA6E4}">
                <adec:decorative xmlns:adec="http://schemas.microsoft.com/office/drawing/2017/decorative" val="1"/>
              </a:ext>
            </a:extLst>
          </p:cNvPr>
          <p:cNvSpPr/>
          <p:nvPr/>
        </p:nvSpPr>
        <p:spPr>
          <a:xfrm flipH="1">
            <a:off x="9523654" y="1737256"/>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E6DF02D-0E98-D357-7355-F1837C60D742}"/>
              </a:ext>
              <a:ext uri="{C183D7F6-B498-43B3-948B-1728B52AA6E4}">
                <adec:decorative xmlns:adec="http://schemas.microsoft.com/office/drawing/2017/decorative" val="1"/>
              </a:ext>
            </a:extLst>
          </p:cNvPr>
          <p:cNvSpPr txBox="1"/>
          <p:nvPr/>
        </p:nvSpPr>
        <p:spPr>
          <a:xfrm>
            <a:off x="7676674" y="1583423"/>
            <a:ext cx="1846980" cy="276999"/>
          </a:xfrm>
          <a:prstGeom prst="rect">
            <a:avLst/>
          </a:prstGeom>
          <a:noFill/>
        </p:spPr>
        <p:txBody>
          <a:bodyPr wrap="none" rtlCol="0">
            <a:spAutoFit/>
          </a:bodyPr>
          <a:lstStyle/>
          <a:p>
            <a:r>
              <a:rPr lang="en-US" sz="1200">
                <a:solidFill>
                  <a:schemeClr val="bg1">
                    <a:lumMod val="50000"/>
                  </a:schemeClr>
                </a:solidFill>
                <a:latin typeface="+mj-lt"/>
              </a:rPr>
              <a:t>Description from manual</a:t>
            </a:r>
          </a:p>
        </p:txBody>
      </p:sp>
      <p:sp>
        <p:nvSpPr>
          <p:cNvPr id="27" name="TextBox 26">
            <a:extLst>
              <a:ext uri="{FF2B5EF4-FFF2-40B4-BE49-F238E27FC236}">
                <a16:creationId xmlns:a16="http://schemas.microsoft.com/office/drawing/2014/main" id="{CF22C9A3-E119-5594-53C5-93E6217A41C8}"/>
              </a:ext>
              <a:ext uri="{C183D7F6-B498-43B3-948B-1728B52AA6E4}">
                <adec:decorative xmlns:adec="http://schemas.microsoft.com/office/drawing/2017/decorative" val="1"/>
              </a:ext>
            </a:extLst>
          </p:cNvPr>
          <p:cNvSpPr txBox="1"/>
          <p:nvPr/>
        </p:nvSpPr>
        <p:spPr>
          <a:xfrm>
            <a:off x="19833" y="4607948"/>
            <a:ext cx="891591" cy="461665"/>
          </a:xfrm>
          <a:prstGeom prst="rect">
            <a:avLst/>
          </a:prstGeom>
          <a:noFill/>
        </p:spPr>
        <p:txBody>
          <a:bodyPr wrap="none" rtlCol="0">
            <a:spAutoFit/>
          </a:bodyPr>
          <a:lstStyle/>
          <a:p>
            <a:r>
              <a:rPr lang="en-US" sz="1200">
                <a:solidFill>
                  <a:schemeClr val="accent1">
                    <a:lumMod val="50000"/>
                  </a:schemeClr>
                </a:solidFill>
                <a:latin typeface="+mj-lt"/>
              </a:rPr>
              <a:t>Markdown</a:t>
            </a:r>
          </a:p>
          <a:p>
            <a:r>
              <a:rPr lang="en-US" sz="1200">
                <a:solidFill>
                  <a:schemeClr val="accent1">
                    <a:lumMod val="50000"/>
                  </a:schemeClr>
                </a:solidFill>
                <a:latin typeface="+mj-lt"/>
              </a:rPr>
              <a:t>syntax</a:t>
            </a:r>
          </a:p>
        </p:txBody>
      </p:sp>
      <p:sp>
        <p:nvSpPr>
          <p:cNvPr id="28" name="Freeform: Shape 27">
            <a:extLst>
              <a:ext uri="{FF2B5EF4-FFF2-40B4-BE49-F238E27FC236}">
                <a16:creationId xmlns:a16="http://schemas.microsoft.com/office/drawing/2014/main" id="{E413379F-18C5-AB9E-76DF-AD2872E16869}"/>
              </a:ext>
              <a:ext uri="{C183D7F6-B498-43B3-948B-1728B52AA6E4}">
                <adec:decorative xmlns:adec="http://schemas.microsoft.com/office/drawing/2017/decorative" val="1"/>
              </a:ext>
            </a:extLst>
          </p:cNvPr>
          <p:cNvSpPr/>
          <p:nvPr/>
        </p:nvSpPr>
        <p:spPr>
          <a:xfrm rot="16200000" flipH="1">
            <a:off x="497613" y="4177725"/>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accent1">
                <a:lumMod val="5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50000"/>
                </a:schemeClr>
              </a:solidFill>
            </a:endParaRPr>
          </a:p>
        </p:txBody>
      </p:sp>
      <p:sp>
        <p:nvSpPr>
          <p:cNvPr id="7" name="Slide Number Placeholder 6">
            <a:extLst>
              <a:ext uri="{FF2B5EF4-FFF2-40B4-BE49-F238E27FC236}">
                <a16:creationId xmlns:a16="http://schemas.microsoft.com/office/drawing/2014/main" id="{057E39DF-631F-93B9-7373-40A5C90FDD28}"/>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t>27</a:t>
            </a:fld>
            <a:endParaRPr lang="fi-FI"/>
          </a:p>
        </p:txBody>
      </p:sp>
      <p:sp>
        <p:nvSpPr>
          <p:cNvPr id="3" name="Date Placeholder 2">
            <a:extLst>
              <a:ext uri="{FF2B5EF4-FFF2-40B4-BE49-F238E27FC236}">
                <a16:creationId xmlns:a16="http://schemas.microsoft.com/office/drawing/2014/main" id="{54AC2884-94B4-7B0F-5A09-B509F9130658}"/>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3DEC15E5-2592-8976-3A86-7BDD7E9227FB}"/>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1366808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48E0C-8BE3-B5BF-CA38-D0845B00EE5A}"/>
              </a:ext>
            </a:extLst>
          </p:cNvPr>
          <p:cNvSpPr>
            <a:spLocks noGrp="1"/>
          </p:cNvSpPr>
          <p:nvPr>
            <p:ph type="title"/>
          </p:nvPr>
        </p:nvSpPr>
        <p:spPr/>
        <p:txBody>
          <a:bodyPr/>
          <a:lstStyle/>
          <a:p>
            <a:r>
              <a:rPr lang="en-US" b="0"/>
              <a:t>Example 3: </a:t>
            </a:r>
            <a:r>
              <a:rPr lang="en-US"/>
              <a:t>Software assistance</a:t>
            </a:r>
          </a:p>
        </p:txBody>
      </p:sp>
      <p:sp>
        <p:nvSpPr>
          <p:cNvPr id="16" name="Rectangle 15">
            <a:extLst>
              <a:ext uri="{FF2B5EF4-FFF2-40B4-BE49-F238E27FC236}">
                <a16:creationId xmlns:a16="http://schemas.microsoft.com/office/drawing/2014/main" id="{55F3F52E-DBCE-A820-2000-24AA1F685C26}"/>
              </a:ext>
              <a:ext uri="{C183D7F6-B498-43B3-948B-1728B52AA6E4}">
                <adec:decorative xmlns:adec="http://schemas.microsoft.com/office/drawing/2017/decorative" val="1"/>
              </a:ext>
            </a:extLst>
          </p:cNvPr>
          <p:cNvSpPr/>
          <p:nvPr/>
        </p:nvSpPr>
        <p:spPr>
          <a:xfrm>
            <a:off x="0" y="3048610"/>
            <a:ext cx="12192000" cy="30445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mj-lt"/>
            </a:endParaRPr>
          </a:p>
        </p:txBody>
      </p:sp>
      <p:sp>
        <p:nvSpPr>
          <p:cNvPr id="6" name="Content Placeholder 5">
            <a:extLst>
              <a:ext uri="{FF2B5EF4-FFF2-40B4-BE49-F238E27FC236}">
                <a16:creationId xmlns:a16="http://schemas.microsoft.com/office/drawing/2014/main" id="{F91DE047-191A-E53B-2289-5AC4DB777E1F}"/>
              </a:ext>
            </a:extLst>
          </p:cNvPr>
          <p:cNvSpPr>
            <a:spLocks noGrp="1"/>
          </p:cNvSpPr>
          <p:nvPr>
            <p:ph sz="half" idx="1"/>
          </p:nvPr>
        </p:nvSpPr>
        <p:spPr>
          <a:xfrm>
            <a:off x="1055688" y="2205037"/>
            <a:ext cx="10008864" cy="719907"/>
          </a:xfrm>
        </p:spPr>
        <p:txBody>
          <a:bodyPr/>
          <a:lstStyle/>
          <a:p>
            <a:r>
              <a:rPr lang="en-US" sz="1600"/>
              <a:t>In LAMMPS, what pair-wise potential can I use for simulating the interaction between hard-like sphere particles? Give an example of the command.</a:t>
            </a:r>
          </a:p>
        </p:txBody>
      </p:sp>
      <p:sp>
        <p:nvSpPr>
          <p:cNvPr id="8" name="Oval 7">
            <a:extLst>
              <a:ext uri="{FF2B5EF4-FFF2-40B4-BE49-F238E27FC236}">
                <a16:creationId xmlns:a16="http://schemas.microsoft.com/office/drawing/2014/main" id="{3CB15C92-CB82-82D4-C5B9-7CE6DD6772C3}"/>
              </a:ext>
              <a:ext uri="{C183D7F6-B498-43B3-948B-1728B52AA6E4}">
                <adec:decorative xmlns:adec="http://schemas.microsoft.com/office/drawing/2017/decorative" val="1"/>
              </a:ext>
            </a:extLst>
          </p:cNvPr>
          <p:cNvSpPr/>
          <p:nvPr/>
        </p:nvSpPr>
        <p:spPr>
          <a:xfrm>
            <a:off x="191344" y="3176972"/>
            <a:ext cx="720080" cy="72008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1400">
                <a:solidFill>
                  <a:schemeClr val="tx1"/>
                </a:solidFill>
              </a:rPr>
              <a:t>AI</a:t>
            </a:r>
            <a:endParaRPr lang="en-US" sz="1400">
              <a:solidFill>
                <a:schemeClr val="tx1"/>
              </a:solidFill>
              <a:latin typeface="+mj-lt"/>
            </a:endParaRPr>
          </a:p>
        </p:txBody>
      </p:sp>
      <p:sp>
        <p:nvSpPr>
          <p:cNvPr id="21" name="Rectangle 20">
            <a:extLst>
              <a:ext uri="{FF2B5EF4-FFF2-40B4-BE49-F238E27FC236}">
                <a16:creationId xmlns:a16="http://schemas.microsoft.com/office/drawing/2014/main" id="{8EB08091-A49D-C37A-2ECB-226A8CDF24AA}"/>
              </a:ext>
              <a:ext uri="{C183D7F6-B498-43B3-948B-1728B52AA6E4}">
                <adec:decorative xmlns:adec="http://schemas.microsoft.com/office/drawing/2017/decorative" val="1"/>
              </a:ext>
            </a:extLst>
          </p:cNvPr>
          <p:cNvSpPr/>
          <p:nvPr/>
        </p:nvSpPr>
        <p:spPr>
          <a:xfrm>
            <a:off x="1055688" y="4509120"/>
            <a:ext cx="5112320" cy="6480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mj-lt"/>
            </a:endParaRPr>
          </a:p>
        </p:txBody>
      </p:sp>
      <p:grpSp>
        <p:nvGrpSpPr>
          <p:cNvPr id="14" name="Group 13">
            <a:extLst>
              <a:ext uri="{FF2B5EF4-FFF2-40B4-BE49-F238E27FC236}">
                <a16:creationId xmlns:a16="http://schemas.microsoft.com/office/drawing/2014/main" id="{20AD82B3-7C6B-B1C2-A809-254F3A78787A}"/>
              </a:ext>
              <a:ext uri="{C183D7F6-B498-43B3-948B-1728B52AA6E4}">
                <adec:decorative xmlns:adec="http://schemas.microsoft.com/office/drawing/2017/decorative" val="1"/>
              </a:ext>
            </a:extLst>
          </p:cNvPr>
          <p:cNvGrpSpPr/>
          <p:nvPr/>
        </p:nvGrpSpPr>
        <p:grpSpPr>
          <a:xfrm>
            <a:off x="191344" y="2204864"/>
            <a:ext cx="720080" cy="720080"/>
            <a:chOff x="3359696" y="4149080"/>
            <a:chExt cx="720080" cy="720080"/>
          </a:xfrm>
        </p:grpSpPr>
        <p:sp>
          <p:nvSpPr>
            <p:cNvPr id="11" name="Oval 10">
              <a:extLst>
                <a:ext uri="{FF2B5EF4-FFF2-40B4-BE49-F238E27FC236}">
                  <a16:creationId xmlns:a16="http://schemas.microsoft.com/office/drawing/2014/main" id="{30C0B911-02E6-524E-5767-37E30A6E9267}"/>
                </a:ext>
              </a:extLst>
            </p:cNvPr>
            <p:cNvSpPr/>
            <p:nvPr/>
          </p:nvSpPr>
          <p:spPr>
            <a:xfrm>
              <a:off x="3359696" y="4149080"/>
              <a:ext cx="720080" cy="72008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endParaRPr lang="en-US" sz="1400">
                <a:solidFill>
                  <a:schemeClr val="tx1"/>
                </a:solidFill>
                <a:latin typeface="+mj-lt"/>
              </a:endParaRPr>
            </a:p>
          </p:txBody>
        </p:sp>
        <p:pic>
          <p:nvPicPr>
            <p:cNvPr id="13" name="Graphic 12" descr="User outline">
              <a:extLst>
                <a:ext uri="{FF2B5EF4-FFF2-40B4-BE49-F238E27FC236}">
                  <a16:creationId xmlns:a16="http://schemas.microsoft.com/office/drawing/2014/main" id="{B8A09F4D-0AD3-E089-7BC7-FC2AD687F2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03712" y="4272746"/>
              <a:ext cx="432048" cy="432048"/>
            </a:xfrm>
            <a:prstGeom prst="rect">
              <a:avLst/>
            </a:prstGeom>
          </p:spPr>
        </p:pic>
      </p:grpSp>
      <p:sp>
        <p:nvSpPr>
          <p:cNvPr id="15" name="Content Placeholder 5">
            <a:extLst>
              <a:ext uri="{FF2B5EF4-FFF2-40B4-BE49-F238E27FC236}">
                <a16:creationId xmlns:a16="http://schemas.microsoft.com/office/drawing/2014/main" id="{2D87B0BA-7A68-8D3C-7560-DE6D3EB8E47E}"/>
              </a:ext>
            </a:extLst>
          </p:cNvPr>
          <p:cNvSpPr txBox="1">
            <a:spLocks/>
          </p:cNvSpPr>
          <p:nvPr/>
        </p:nvSpPr>
        <p:spPr>
          <a:xfrm>
            <a:off x="1055688" y="3172513"/>
            <a:ext cx="10008864" cy="2704412"/>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r>
              <a:rPr lang="en-US" sz="1200"/>
              <a:t>If you want to simulate hard-like sphere particles in LAMMPS, you can use the Week-Chandler-Andersen (WCA) potential, which is basically the Lennard-Jones (LJ) potential truncated and shifted at the potential minimum.</a:t>
            </a:r>
          </a:p>
          <a:p>
            <a:r>
              <a:rPr lang="en-US" sz="1200"/>
              <a:t>In LAMMPS, you would define this potential with a combination of "pair_style lj/cut" and "pair_modify shift yes" commands, where "lj/cut" specifies the Lennard-Jones potential to be used and "shift yes" applies a constant energy shift to the potential so that it is zero at the cutoff. You will also need to specify sigma and epsilon parameters for the potential.</a:t>
            </a:r>
          </a:p>
          <a:p>
            <a:pPr>
              <a:spcAft>
                <a:spcPts val="600"/>
              </a:spcAft>
            </a:pPr>
            <a:r>
              <a:rPr lang="en-US" sz="1200"/>
              <a:t>Here's an example of how to specify this potential and assign it to all atom pairs in your system:</a:t>
            </a:r>
          </a:p>
          <a:p>
            <a:pPr>
              <a:spcBef>
                <a:spcPts val="0"/>
              </a:spcBef>
            </a:pPr>
            <a:r>
              <a:rPr lang="en-US" sz="1200">
                <a:solidFill>
                  <a:schemeClr val="bg1"/>
                </a:solidFill>
                <a:latin typeface="Consolas" panose="020B0609020204030204" pitchFamily="49" charset="0"/>
              </a:rPr>
              <a:t>pair_style lj/cut 1.122462048309373</a:t>
            </a:r>
          </a:p>
          <a:p>
            <a:pPr>
              <a:spcBef>
                <a:spcPts val="0"/>
              </a:spcBef>
            </a:pPr>
            <a:r>
              <a:rPr lang="en-US" sz="1200">
                <a:solidFill>
                  <a:schemeClr val="bg1"/>
                </a:solidFill>
                <a:latin typeface="Consolas" panose="020B0609020204030204" pitchFamily="49" charset="0"/>
              </a:rPr>
              <a:t>pair_coeff * * 1.0 1.0 </a:t>
            </a:r>
          </a:p>
          <a:p>
            <a:pPr>
              <a:spcBef>
                <a:spcPts val="0"/>
              </a:spcBef>
            </a:pPr>
            <a:r>
              <a:rPr lang="en-US" sz="1200">
                <a:solidFill>
                  <a:schemeClr val="bg1"/>
                </a:solidFill>
                <a:latin typeface="Consolas" panose="020B0609020204030204" pitchFamily="49" charset="0"/>
              </a:rPr>
              <a:t>pair_modify shift yes</a:t>
            </a:r>
            <a:endParaRPr lang="en-US" sz="1200">
              <a:solidFill>
                <a:schemeClr val="bg1"/>
              </a:solidFill>
            </a:endParaRPr>
          </a:p>
          <a:p>
            <a:r>
              <a:rPr lang="en-US" sz="1200"/>
              <a:t>In this example, the cutoff is at 1.12246 which is where the Lennard-Jones potential reaches its minimum. The parameters for pair_coeff are set such that epsilon equals 1.0 and sigma equals 1.0. This is the typical WCA potential. You might need to tweak these parameters based on your specific system or model.</a:t>
            </a:r>
          </a:p>
        </p:txBody>
      </p:sp>
      <p:grpSp>
        <p:nvGrpSpPr>
          <p:cNvPr id="17" name="Group 16">
            <a:extLst>
              <a:ext uri="{FF2B5EF4-FFF2-40B4-BE49-F238E27FC236}">
                <a16:creationId xmlns:a16="http://schemas.microsoft.com/office/drawing/2014/main" id="{580852BD-0610-0D4D-59CD-AF259ADAEB25}"/>
              </a:ext>
              <a:ext uri="{C183D7F6-B498-43B3-948B-1728B52AA6E4}">
                <adec:decorative xmlns:adec="http://schemas.microsoft.com/office/drawing/2017/decorative" val="1"/>
              </a:ext>
            </a:extLst>
          </p:cNvPr>
          <p:cNvGrpSpPr/>
          <p:nvPr/>
        </p:nvGrpSpPr>
        <p:grpSpPr>
          <a:xfrm>
            <a:off x="10090745" y="149467"/>
            <a:ext cx="1947614" cy="1839372"/>
            <a:chOff x="3615902" y="4793661"/>
            <a:chExt cx="2228850" cy="2104979"/>
          </a:xfrm>
        </p:grpSpPr>
        <p:pic>
          <p:nvPicPr>
            <p:cNvPr id="18" name="Graphic 18">
              <a:extLst>
                <a:ext uri="{FF2B5EF4-FFF2-40B4-BE49-F238E27FC236}">
                  <a16:creationId xmlns:a16="http://schemas.microsoft.com/office/drawing/2014/main" id="{B3532158-5E51-9C7C-4BB1-74202FA5E5B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85042" y="4909132"/>
              <a:ext cx="1882046" cy="1882044"/>
            </a:xfrm>
            <a:prstGeom prst="rect">
              <a:avLst/>
            </a:prstGeom>
          </p:spPr>
        </p:pic>
        <p:sp>
          <p:nvSpPr>
            <p:cNvPr id="19" name="Freeform: Shape 18">
              <a:extLst>
                <a:ext uri="{FF2B5EF4-FFF2-40B4-BE49-F238E27FC236}">
                  <a16:creationId xmlns:a16="http://schemas.microsoft.com/office/drawing/2014/main" id="{FBA8F023-CEE2-AFD4-F917-8C3C378F23AF}"/>
                </a:ext>
              </a:extLst>
            </p:cNvPr>
            <p:cNvSpPr/>
            <p:nvPr/>
          </p:nvSpPr>
          <p:spPr>
            <a:xfrm>
              <a:off x="3615902" y="4793661"/>
              <a:ext cx="2228850" cy="2104979"/>
            </a:xfrm>
            <a:custGeom>
              <a:avLst/>
              <a:gdLst>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524000 w 2170176"/>
                <a:gd name="connsiteY11" fmla="*/ 1987296 h 2194560"/>
                <a:gd name="connsiteX12" fmla="*/ 1298448 w 2170176"/>
                <a:gd name="connsiteY12" fmla="*/ 1792224 h 2194560"/>
                <a:gd name="connsiteX13" fmla="*/ 1298448 w 2170176"/>
                <a:gd name="connsiteY13" fmla="*/ 1353312 h 2194560"/>
                <a:gd name="connsiteX14" fmla="*/ 944880 w 2170176"/>
                <a:gd name="connsiteY14" fmla="*/ 1505712 h 2194560"/>
                <a:gd name="connsiteX15" fmla="*/ 701040 w 2170176"/>
                <a:gd name="connsiteY15"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701040 w 2170176"/>
                <a:gd name="connsiteY14" fmla="*/ 171907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1325880 w 2170176"/>
                <a:gd name="connsiteY14" fmla="*/ 183591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325880 w 2170176"/>
                <a:gd name="connsiteY14" fmla="*/ 1835912 h 2194560"/>
                <a:gd name="connsiteX0" fmla="*/ 1295400 w 2170176"/>
                <a:gd name="connsiteY0" fmla="*/ 184099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295400 w 2170176"/>
                <a:gd name="connsiteY14" fmla="*/ 1840992 h 2194560"/>
                <a:gd name="connsiteX0" fmla="*/ 1295400 w 2170176"/>
                <a:gd name="connsiteY0" fmla="*/ 1840992 h 2133600"/>
                <a:gd name="connsiteX1" fmla="*/ 1706880 w 2170176"/>
                <a:gd name="connsiteY1" fmla="*/ 2133600 h 2133600"/>
                <a:gd name="connsiteX2" fmla="*/ 298704 w 2170176"/>
                <a:gd name="connsiteY2" fmla="*/ 1944624 h 2133600"/>
                <a:gd name="connsiteX3" fmla="*/ 0 w 2170176"/>
                <a:gd name="connsiteY3" fmla="*/ 1127760 h 2133600"/>
                <a:gd name="connsiteX4" fmla="*/ 323088 w 2170176"/>
                <a:gd name="connsiteY4" fmla="*/ 188976 h 2133600"/>
                <a:gd name="connsiteX5" fmla="*/ 1267968 w 2170176"/>
                <a:gd name="connsiteY5" fmla="*/ 0 h 2133600"/>
                <a:gd name="connsiteX6" fmla="*/ 2066544 w 2170176"/>
                <a:gd name="connsiteY6" fmla="*/ 140208 h 2133600"/>
                <a:gd name="connsiteX7" fmla="*/ 2170176 w 2170176"/>
                <a:gd name="connsiteY7" fmla="*/ 1213104 h 2133600"/>
                <a:gd name="connsiteX8" fmla="*/ 2115312 w 2170176"/>
                <a:gd name="connsiteY8" fmla="*/ 1406144 h 2133600"/>
                <a:gd name="connsiteX9" fmla="*/ 2051304 w 2170176"/>
                <a:gd name="connsiteY9" fmla="*/ 1321816 h 2133600"/>
                <a:gd name="connsiteX10" fmla="*/ 1793240 w 2170176"/>
                <a:gd name="connsiteY10" fmla="*/ 1400048 h 2133600"/>
                <a:gd name="connsiteX11" fmla="*/ 1547368 w 2170176"/>
                <a:gd name="connsiteY11" fmla="*/ 1223264 h 2133600"/>
                <a:gd name="connsiteX12" fmla="*/ 1476248 w 2170176"/>
                <a:gd name="connsiteY12" fmla="*/ 1129792 h 2133600"/>
                <a:gd name="connsiteX13" fmla="*/ 1325880 w 2170176"/>
                <a:gd name="connsiteY13" fmla="*/ 1505712 h 2133600"/>
                <a:gd name="connsiteX14" fmla="*/ 1295400 w 2170176"/>
                <a:gd name="connsiteY14" fmla="*/ 1840992 h 2133600"/>
                <a:gd name="connsiteX0" fmla="*/ 1295400 w 2170176"/>
                <a:gd name="connsiteY0" fmla="*/ 1840992 h 2133600"/>
                <a:gd name="connsiteX1" fmla="*/ 1706880 w 2170176"/>
                <a:gd name="connsiteY1" fmla="*/ 2133600 h 2133600"/>
                <a:gd name="connsiteX2" fmla="*/ 544618 w 2170176"/>
                <a:gd name="connsiteY2" fmla="*/ 1980519 h 2133600"/>
                <a:gd name="connsiteX3" fmla="*/ 298704 w 2170176"/>
                <a:gd name="connsiteY3" fmla="*/ 1944624 h 2133600"/>
                <a:gd name="connsiteX4" fmla="*/ 0 w 2170176"/>
                <a:gd name="connsiteY4" fmla="*/ 1127760 h 2133600"/>
                <a:gd name="connsiteX5" fmla="*/ 323088 w 2170176"/>
                <a:gd name="connsiteY5" fmla="*/ 188976 h 2133600"/>
                <a:gd name="connsiteX6" fmla="*/ 1267968 w 2170176"/>
                <a:gd name="connsiteY6" fmla="*/ 0 h 2133600"/>
                <a:gd name="connsiteX7" fmla="*/ 2066544 w 2170176"/>
                <a:gd name="connsiteY7" fmla="*/ 140208 h 2133600"/>
                <a:gd name="connsiteX8" fmla="*/ 2170176 w 2170176"/>
                <a:gd name="connsiteY8" fmla="*/ 1213104 h 2133600"/>
                <a:gd name="connsiteX9" fmla="*/ 2115312 w 2170176"/>
                <a:gd name="connsiteY9" fmla="*/ 1406144 h 2133600"/>
                <a:gd name="connsiteX10" fmla="*/ 2051304 w 2170176"/>
                <a:gd name="connsiteY10" fmla="*/ 1321816 h 2133600"/>
                <a:gd name="connsiteX11" fmla="*/ 1793240 w 2170176"/>
                <a:gd name="connsiteY11" fmla="*/ 1400048 h 2133600"/>
                <a:gd name="connsiteX12" fmla="*/ 1547368 w 2170176"/>
                <a:gd name="connsiteY12" fmla="*/ 1223264 h 2133600"/>
                <a:gd name="connsiteX13" fmla="*/ 1476248 w 2170176"/>
                <a:gd name="connsiteY13" fmla="*/ 1129792 h 2133600"/>
                <a:gd name="connsiteX14" fmla="*/ 1325880 w 2170176"/>
                <a:gd name="connsiteY14" fmla="*/ 1505712 h 2133600"/>
                <a:gd name="connsiteX15" fmla="*/ 1295400 w 2170176"/>
                <a:gd name="connsiteY15" fmla="*/ 1840992 h 2133600"/>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476248 w 2170176"/>
                <a:gd name="connsiteY13" fmla="*/ 1129792 h 2188799"/>
                <a:gd name="connsiteX14" fmla="*/ 1325880 w 2170176"/>
                <a:gd name="connsiteY14" fmla="*/ 1505712 h 2188799"/>
                <a:gd name="connsiteX15" fmla="*/ 1295400 w 2170176"/>
                <a:gd name="connsiteY15"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81784 w 2170176"/>
                <a:gd name="connsiteY10" fmla="*/ 13472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4752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8308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2066544 w 2081784"/>
                <a:gd name="connsiteY7" fmla="*/ 14020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1308354 w 2081784"/>
                <a:gd name="connsiteY7" fmla="*/ 12115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308354 w 2081784"/>
                <a:gd name="connsiteY7" fmla="*/ 3733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232916 w 2081784"/>
                <a:gd name="connsiteY8" fmla="*/ 34823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1783080"/>
                <a:gd name="connsiteY0" fmla="*/ 1757172 h 2104979"/>
                <a:gd name="connsiteX1" fmla="*/ 1706880 w 1783080"/>
                <a:gd name="connsiteY1" fmla="*/ 2049780 h 2104979"/>
                <a:gd name="connsiteX2" fmla="*/ 839258 w 1783080"/>
                <a:gd name="connsiteY2" fmla="*/ 2104979 h 2104979"/>
                <a:gd name="connsiteX3" fmla="*/ 298704 w 1783080"/>
                <a:gd name="connsiteY3" fmla="*/ 1860804 h 2104979"/>
                <a:gd name="connsiteX4" fmla="*/ 0 w 1783080"/>
                <a:gd name="connsiteY4" fmla="*/ 1043940 h 2104979"/>
                <a:gd name="connsiteX5" fmla="*/ 323088 w 1783080"/>
                <a:gd name="connsiteY5" fmla="*/ 105156 h 2104979"/>
                <a:gd name="connsiteX6" fmla="*/ 803148 w 1783080"/>
                <a:gd name="connsiteY6" fmla="*/ 0 h 2104979"/>
                <a:gd name="connsiteX7" fmla="*/ 1079754 w 1783080"/>
                <a:gd name="connsiteY7" fmla="*/ 44958 h 2104979"/>
                <a:gd name="connsiteX8" fmla="*/ 1232916 w 1783080"/>
                <a:gd name="connsiteY8" fmla="*/ 348234 h 2104979"/>
                <a:gd name="connsiteX9" fmla="*/ 1068324 w 1783080"/>
                <a:gd name="connsiteY9" fmla="*/ 661416 h 2104979"/>
                <a:gd name="connsiteX10" fmla="*/ 1783080 w 1783080"/>
                <a:gd name="connsiteY10" fmla="*/ 1316228 h 2104979"/>
                <a:gd name="connsiteX11" fmla="*/ 1547368 w 1783080"/>
                <a:gd name="connsiteY11" fmla="*/ 1139444 h 2104979"/>
                <a:gd name="connsiteX12" fmla="*/ 1325880 w 1783080"/>
                <a:gd name="connsiteY12" fmla="*/ 1421892 h 2104979"/>
                <a:gd name="connsiteX13" fmla="*/ 1295400 w 1783080"/>
                <a:gd name="connsiteY13" fmla="*/ 1757172 h 2104979"/>
                <a:gd name="connsiteX0" fmla="*/ 1295400 w 1706880"/>
                <a:gd name="connsiteY0" fmla="*/ 1757172 h 2104979"/>
                <a:gd name="connsiteX1" fmla="*/ 1706880 w 1706880"/>
                <a:gd name="connsiteY1" fmla="*/ 2049780 h 2104979"/>
                <a:gd name="connsiteX2" fmla="*/ 839258 w 1706880"/>
                <a:gd name="connsiteY2" fmla="*/ 2104979 h 2104979"/>
                <a:gd name="connsiteX3" fmla="*/ 298704 w 1706880"/>
                <a:gd name="connsiteY3" fmla="*/ 1860804 h 2104979"/>
                <a:gd name="connsiteX4" fmla="*/ 0 w 1706880"/>
                <a:gd name="connsiteY4" fmla="*/ 1043940 h 2104979"/>
                <a:gd name="connsiteX5" fmla="*/ 323088 w 1706880"/>
                <a:gd name="connsiteY5" fmla="*/ 105156 h 2104979"/>
                <a:gd name="connsiteX6" fmla="*/ 803148 w 1706880"/>
                <a:gd name="connsiteY6" fmla="*/ 0 h 2104979"/>
                <a:gd name="connsiteX7" fmla="*/ 1079754 w 1706880"/>
                <a:gd name="connsiteY7" fmla="*/ 44958 h 2104979"/>
                <a:gd name="connsiteX8" fmla="*/ 1232916 w 1706880"/>
                <a:gd name="connsiteY8" fmla="*/ 348234 h 2104979"/>
                <a:gd name="connsiteX9" fmla="*/ 1068324 w 1706880"/>
                <a:gd name="connsiteY9" fmla="*/ 661416 h 2104979"/>
                <a:gd name="connsiteX10" fmla="*/ 1451610 w 1706880"/>
                <a:gd name="connsiteY10" fmla="*/ 779018 h 2104979"/>
                <a:gd name="connsiteX11" fmla="*/ 1547368 w 1706880"/>
                <a:gd name="connsiteY11" fmla="*/ 1139444 h 2104979"/>
                <a:gd name="connsiteX12" fmla="*/ 1325880 w 1706880"/>
                <a:gd name="connsiteY12" fmla="*/ 1421892 h 2104979"/>
                <a:gd name="connsiteX13" fmla="*/ 1295400 w 1706880"/>
                <a:gd name="connsiteY13" fmla="*/ 1757172 h 2104979"/>
                <a:gd name="connsiteX0" fmla="*/ 1295400 w 1734058"/>
                <a:gd name="connsiteY0" fmla="*/ 1757172 h 2104979"/>
                <a:gd name="connsiteX1" fmla="*/ 1706880 w 1734058"/>
                <a:gd name="connsiteY1" fmla="*/ 2049780 h 2104979"/>
                <a:gd name="connsiteX2" fmla="*/ 839258 w 1734058"/>
                <a:gd name="connsiteY2" fmla="*/ 2104979 h 2104979"/>
                <a:gd name="connsiteX3" fmla="*/ 298704 w 1734058"/>
                <a:gd name="connsiteY3" fmla="*/ 1860804 h 2104979"/>
                <a:gd name="connsiteX4" fmla="*/ 0 w 1734058"/>
                <a:gd name="connsiteY4" fmla="*/ 1043940 h 2104979"/>
                <a:gd name="connsiteX5" fmla="*/ 323088 w 1734058"/>
                <a:gd name="connsiteY5" fmla="*/ 105156 h 2104979"/>
                <a:gd name="connsiteX6" fmla="*/ 803148 w 1734058"/>
                <a:gd name="connsiteY6" fmla="*/ 0 h 2104979"/>
                <a:gd name="connsiteX7" fmla="*/ 1079754 w 1734058"/>
                <a:gd name="connsiteY7" fmla="*/ 44958 h 2104979"/>
                <a:gd name="connsiteX8" fmla="*/ 1232916 w 1734058"/>
                <a:gd name="connsiteY8" fmla="*/ 348234 h 2104979"/>
                <a:gd name="connsiteX9" fmla="*/ 1068324 w 1734058"/>
                <a:gd name="connsiteY9" fmla="*/ 661416 h 2104979"/>
                <a:gd name="connsiteX10" fmla="*/ 1451610 w 1734058"/>
                <a:gd name="connsiteY10" fmla="*/ 779018 h 2104979"/>
                <a:gd name="connsiteX11" fmla="*/ 1734058 w 1734058"/>
                <a:gd name="connsiteY11" fmla="*/ 720344 h 2104979"/>
                <a:gd name="connsiteX12" fmla="*/ 1325880 w 1734058"/>
                <a:gd name="connsiteY12" fmla="*/ 1421892 h 2104979"/>
                <a:gd name="connsiteX13" fmla="*/ 1295400 w 1734058"/>
                <a:gd name="connsiteY13" fmla="*/ 1757172 h 2104979"/>
                <a:gd name="connsiteX0" fmla="*/ 1295400 w 1996440"/>
                <a:gd name="connsiteY0" fmla="*/ 1757172 h 2104979"/>
                <a:gd name="connsiteX1" fmla="*/ 1706880 w 1996440"/>
                <a:gd name="connsiteY1" fmla="*/ 2049780 h 2104979"/>
                <a:gd name="connsiteX2" fmla="*/ 839258 w 1996440"/>
                <a:gd name="connsiteY2" fmla="*/ 2104979 h 2104979"/>
                <a:gd name="connsiteX3" fmla="*/ 298704 w 1996440"/>
                <a:gd name="connsiteY3" fmla="*/ 1860804 h 2104979"/>
                <a:gd name="connsiteX4" fmla="*/ 0 w 1996440"/>
                <a:gd name="connsiteY4" fmla="*/ 1043940 h 2104979"/>
                <a:gd name="connsiteX5" fmla="*/ 323088 w 1996440"/>
                <a:gd name="connsiteY5" fmla="*/ 105156 h 2104979"/>
                <a:gd name="connsiteX6" fmla="*/ 803148 w 1996440"/>
                <a:gd name="connsiteY6" fmla="*/ 0 h 2104979"/>
                <a:gd name="connsiteX7" fmla="*/ 1079754 w 1996440"/>
                <a:gd name="connsiteY7" fmla="*/ 44958 h 2104979"/>
                <a:gd name="connsiteX8" fmla="*/ 1232916 w 1996440"/>
                <a:gd name="connsiteY8" fmla="*/ 348234 h 2104979"/>
                <a:gd name="connsiteX9" fmla="*/ 1068324 w 1996440"/>
                <a:gd name="connsiteY9" fmla="*/ 661416 h 2104979"/>
                <a:gd name="connsiteX10" fmla="*/ 1451610 w 1996440"/>
                <a:gd name="connsiteY10" fmla="*/ 779018 h 2104979"/>
                <a:gd name="connsiteX11" fmla="*/ 1734058 w 1996440"/>
                <a:gd name="connsiteY11" fmla="*/ 720344 h 2104979"/>
                <a:gd name="connsiteX12" fmla="*/ 1996440 w 1996440"/>
                <a:gd name="connsiteY12" fmla="*/ 23622 h 2104979"/>
                <a:gd name="connsiteX13" fmla="*/ 1295400 w 1996440"/>
                <a:gd name="connsiteY13" fmla="*/ 1757172 h 2104979"/>
                <a:gd name="connsiteX0" fmla="*/ 2228850 w 2228850"/>
                <a:gd name="connsiteY0" fmla="*/ 1341882 h 2104979"/>
                <a:gd name="connsiteX1" fmla="*/ 1706880 w 2228850"/>
                <a:gd name="connsiteY1" fmla="*/ 204978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2228850 w 2228850"/>
                <a:gd name="connsiteY11" fmla="*/ 2104979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28850" h="2104979">
                  <a:moveTo>
                    <a:pt x="2228850" y="1341882"/>
                  </a:moveTo>
                  <a:lnTo>
                    <a:pt x="1604010" y="1962150"/>
                  </a:lnTo>
                  <a:lnTo>
                    <a:pt x="839258" y="2104979"/>
                  </a:lnTo>
                  <a:lnTo>
                    <a:pt x="298704" y="1860804"/>
                  </a:lnTo>
                  <a:lnTo>
                    <a:pt x="0" y="1043940"/>
                  </a:lnTo>
                  <a:lnTo>
                    <a:pt x="323088" y="105156"/>
                  </a:lnTo>
                  <a:lnTo>
                    <a:pt x="803148" y="0"/>
                  </a:lnTo>
                  <a:lnTo>
                    <a:pt x="2010082" y="112361"/>
                  </a:lnTo>
                  <a:lnTo>
                    <a:pt x="1748472" y="703163"/>
                  </a:lnTo>
                  <a:lnTo>
                    <a:pt x="1451981" y="783827"/>
                  </a:lnTo>
                  <a:lnTo>
                    <a:pt x="1495582" y="1095578"/>
                  </a:lnTo>
                  <a:lnTo>
                    <a:pt x="1755012" y="1317947"/>
                  </a:lnTo>
                  <a:lnTo>
                    <a:pt x="2092925" y="1252545"/>
                  </a:lnTo>
                  <a:lnTo>
                    <a:pt x="2228850" y="1341882"/>
                  </a:lnTo>
                  <a:close/>
                </a:path>
              </a:pathLst>
            </a:cu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2" name="Freeform: Shape 11">
            <a:extLst>
              <a:ext uri="{FF2B5EF4-FFF2-40B4-BE49-F238E27FC236}">
                <a16:creationId xmlns:a16="http://schemas.microsoft.com/office/drawing/2014/main" id="{1E950320-D7B2-37AA-0A8F-2E2833A4CADE}"/>
              </a:ext>
              <a:ext uri="{C183D7F6-B498-43B3-948B-1728B52AA6E4}">
                <adec:decorative xmlns:adec="http://schemas.microsoft.com/office/drawing/2017/decorative" val="1"/>
              </a:ext>
            </a:extLst>
          </p:cNvPr>
          <p:cNvSpPr/>
          <p:nvPr/>
        </p:nvSpPr>
        <p:spPr>
          <a:xfrm>
            <a:off x="1736499" y="1661159"/>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B3BC390-6FA9-7E09-D999-EF24075E1CD0}"/>
              </a:ext>
              <a:ext uri="{C183D7F6-B498-43B3-948B-1728B52AA6E4}">
                <adec:decorative xmlns:adec="http://schemas.microsoft.com/office/drawing/2017/decorative" val="1"/>
              </a:ext>
            </a:extLst>
          </p:cNvPr>
          <p:cNvSpPr txBox="1"/>
          <p:nvPr/>
        </p:nvSpPr>
        <p:spPr>
          <a:xfrm>
            <a:off x="2260392" y="1430326"/>
            <a:ext cx="2339102" cy="461665"/>
          </a:xfrm>
          <a:prstGeom prst="rect">
            <a:avLst/>
          </a:prstGeom>
          <a:noFill/>
        </p:spPr>
        <p:txBody>
          <a:bodyPr wrap="none" rtlCol="0">
            <a:spAutoFit/>
          </a:bodyPr>
          <a:lstStyle/>
          <a:p>
            <a:pPr algn="l"/>
            <a:r>
              <a:rPr lang="en-US" sz="1200">
                <a:solidFill>
                  <a:schemeClr val="bg1">
                    <a:lumMod val="50000"/>
                  </a:schemeClr>
                </a:solidFill>
                <a:latin typeface="+mj-lt"/>
              </a:rPr>
              <a:t>Molecular Dynamics software </a:t>
            </a:r>
          </a:p>
          <a:p>
            <a:pPr algn="l"/>
            <a:r>
              <a:rPr lang="en-US" sz="1200">
                <a:solidFill>
                  <a:schemeClr val="bg1">
                    <a:lumMod val="50000"/>
                  </a:schemeClr>
                </a:solidFill>
                <a:latin typeface="+mj-lt"/>
              </a:rPr>
              <a:t>with good documentation online</a:t>
            </a:r>
          </a:p>
        </p:txBody>
      </p:sp>
      <p:sp>
        <p:nvSpPr>
          <p:cNvPr id="22" name="TextBox 21">
            <a:extLst>
              <a:ext uri="{FF2B5EF4-FFF2-40B4-BE49-F238E27FC236}">
                <a16:creationId xmlns:a16="http://schemas.microsoft.com/office/drawing/2014/main" id="{D1615F6A-042D-192A-3463-11034F0E1B42}"/>
              </a:ext>
              <a:ext uri="{C183D7F6-B498-43B3-948B-1728B52AA6E4}">
                <adec:decorative xmlns:adec="http://schemas.microsoft.com/office/drawing/2017/decorative" val="1"/>
              </a:ext>
            </a:extLst>
          </p:cNvPr>
          <p:cNvSpPr txBox="1"/>
          <p:nvPr/>
        </p:nvSpPr>
        <p:spPr>
          <a:xfrm>
            <a:off x="300315" y="5287155"/>
            <a:ext cx="550151" cy="461665"/>
          </a:xfrm>
          <a:prstGeom prst="rect">
            <a:avLst/>
          </a:prstGeom>
          <a:noFill/>
        </p:spPr>
        <p:txBody>
          <a:bodyPr wrap="none" rtlCol="0">
            <a:spAutoFit/>
          </a:bodyPr>
          <a:lstStyle/>
          <a:p>
            <a:r>
              <a:rPr lang="en-US" sz="1200">
                <a:solidFill>
                  <a:schemeClr val="accent1">
                    <a:lumMod val="50000"/>
                  </a:schemeClr>
                </a:solidFill>
                <a:latin typeface="+mj-lt"/>
              </a:rPr>
              <a:t>Code</a:t>
            </a:r>
          </a:p>
          <a:p>
            <a:r>
              <a:rPr lang="en-US" sz="1200">
                <a:solidFill>
                  <a:schemeClr val="accent1">
                    <a:lumMod val="50000"/>
                  </a:schemeClr>
                </a:solidFill>
                <a:latin typeface="+mj-lt"/>
              </a:rPr>
              <a:t>block</a:t>
            </a:r>
          </a:p>
        </p:txBody>
      </p:sp>
      <p:sp>
        <p:nvSpPr>
          <p:cNvPr id="23" name="Freeform: Shape 22">
            <a:extLst>
              <a:ext uri="{FF2B5EF4-FFF2-40B4-BE49-F238E27FC236}">
                <a16:creationId xmlns:a16="http://schemas.microsoft.com/office/drawing/2014/main" id="{BF9F640D-9BED-C946-6C3F-A6F3C6CA174D}"/>
              </a:ext>
              <a:ext uri="{C183D7F6-B498-43B3-948B-1728B52AA6E4}">
                <adec:decorative xmlns:adec="http://schemas.microsoft.com/office/drawing/2017/decorative" val="1"/>
              </a:ext>
            </a:extLst>
          </p:cNvPr>
          <p:cNvSpPr/>
          <p:nvPr/>
        </p:nvSpPr>
        <p:spPr>
          <a:xfrm rot="16200000" flipH="1">
            <a:off x="497614" y="4856932"/>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accent1">
                <a:lumMod val="5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50000"/>
                </a:schemeClr>
              </a:solidFill>
            </a:endParaRPr>
          </a:p>
        </p:txBody>
      </p:sp>
      <p:sp>
        <p:nvSpPr>
          <p:cNvPr id="7" name="Slide Number Placeholder 6">
            <a:extLst>
              <a:ext uri="{FF2B5EF4-FFF2-40B4-BE49-F238E27FC236}">
                <a16:creationId xmlns:a16="http://schemas.microsoft.com/office/drawing/2014/main" id="{1B22AF81-ACAB-97AE-77AA-8597C90D4B0A}"/>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t>28</a:t>
            </a:fld>
            <a:endParaRPr lang="fi-FI"/>
          </a:p>
        </p:txBody>
      </p:sp>
      <p:sp>
        <p:nvSpPr>
          <p:cNvPr id="3" name="Date Placeholder 2">
            <a:extLst>
              <a:ext uri="{FF2B5EF4-FFF2-40B4-BE49-F238E27FC236}">
                <a16:creationId xmlns:a16="http://schemas.microsoft.com/office/drawing/2014/main" id="{77F91287-CA5B-9310-5158-D04D0A787902}"/>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38738D6F-8690-6FC7-801D-D2D0C47C72F9}"/>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751558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descr="Plot of the simulation run on R">
            <a:extLst>
              <a:ext uri="{FF2B5EF4-FFF2-40B4-BE49-F238E27FC236}">
                <a16:creationId xmlns:a16="http://schemas.microsoft.com/office/drawing/2014/main" id="{DC4A6A74-4859-7712-FEC0-BA2229732B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3457" y="117722"/>
            <a:ext cx="2521710" cy="2107792"/>
          </a:xfrm>
          <a:prstGeom prst="rect">
            <a:avLst/>
          </a:prstGeom>
        </p:spPr>
      </p:pic>
      <p:sp>
        <p:nvSpPr>
          <p:cNvPr id="2" name="Title 1">
            <a:extLst>
              <a:ext uri="{FF2B5EF4-FFF2-40B4-BE49-F238E27FC236}">
                <a16:creationId xmlns:a16="http://schemas.microsoft.com/office/drawing/2014/main" id="{9B048E0C-8BE3-B5BF-CA38-D0845B00EE5A}"/>
              </a:ext>
            </a:extLst>
          </p:cNvPr>
          <p:cNvSpPr>
            <a:spLocks noGrp="1"/>
          </p:cNvSpPr>
          <p:nvPr>
            <p:ph type="title"/>
          </p:nvPr>
        </p:nvSpPr>
        <p:spPr/>
        <p:txBody>
          <a:bodyPr/>
          <a:lstStyle/>
          <a:p>
            <a:r>
              <a:rPr lang="en-US" b="0"/>
              <a:t>Example 4: </a:t>
            </a:r>
            <a:r>
              <a:rPr lang="en-US"/>
              <a:t>Creating a stock dataset in R</a:t>
            </a:r>
          </a:p>
        </p:txBody>
      </p:sp>
      <p:sp>
        <p:nvSpPr>
          <p:cNvPr id="16" name="Rectangle 15">
            <a:extLst>
              <a:ext uri="{FF2B5EF4-FFF2-40B4-BE49-F238E27FC236}">
                <a16:creationId xmlns:a16="http://schemas.microsoft.com/office/drawing/2014/main" id="{55F3F52E-DBCE-A820-2000-24AA1F685C26}"/>
              </a:ext>
              <a:ext uri="{C183D7F6-B498-43B3-948B-1728B52AA6E4}">
                <adec:decorative xmlns:adec="http://schemas.microsoft.com/office/drawing/2017/decorative" val="1"/>
              </a:ext>
            </a:extLst>
          </p:cNvPr>
          <p:cNvSpPr/>
          <p:nvPr/>
        </p:nvSpPr>
        <p:spPr>
          <a:xfrm>
            <a:off x="0" y="3048610"/>
            <a:ext cx="12192000" cy="30445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mj-lt"/>
            </a:endParaRPr>
          </a:p>
        </p:txBody>
      </p:sp>
      <p:sp>
        <p:nvSpPr>
          <p:cNvPr id="6" name="Content Placeholder 5">
            <a:extLst>
              <a:ext uri="{FF2B5EF4-FFF2-40B4-BE49-F238E27FC236}">
                <a16:creationId xmlns:a16="http://schemas.microsoft.com/office/drawing/2014/main" id="{F91DE047-191A-E53B-2289-5AC4DB777E1F}"/>
              </a:ext>
            </a:extLst>
          </p:cNvPr>
          <p:cNvSpPr>
            <a:spLocks noGrp="1"/>
          </p:cNvSpPr>
          <p:nvPr>
            <p:ph sz="half" idx="1"/>
          </p:nvPr>
        </p:nvSpPr>
        <p:spPr>
          <a:xfrm>
            <a:off x="1055688" y="2205037"/>
            <a:ext cx="10008864" cy="719907"/>
          </a:xfrm>
        </p:spPr>
        <p:txBody>
          <a:bodyPr/>
          <a:lstStyle/>
          <a:p>
            <a:r>
              <a:rPr lang="en-US" sz="1600"/>
              <a:t>What R package and functions are most effective for simulating stock market fluctuations using Monte Carlo methods? Provide an example script.</a:t>
            </a:r>
          </a:p>
        </p:txBody>
      </p:sp>
      <p:sp>
        <p:nvSpPr>
          <p:cNvPr id="8" name="Oval 7">
            <a:extLst>
              <a:ext uri="{FF2B5EF4-FFF2-40B4-BE49-F238E27FC236}">
                <a16:creationId xmlns:a16="http://schemas.microsoft.com/office/drawing/2014/main" id="{3CB15C92-CB82-82D4-C5B9-7CE6DD6772C3}"/>
              </a:ext>
              <a:ext uri="{C183D7F6-B498-43B3-948B-1728B52AA6E4}">
                <adec:decorative xmlns:adec="http://schemas.microsoft.com/office/drawing/2017/decorative" val="1"/>
              </a:ext>
            </a:extLst>
          </p:cNvPr>
          <p:cNvSpPr/>
          <p:nvPr/>
        </p:nvSpPr>
        <p:spPr>
          <a:xfrm>
            <a:off x="191344" y="3176972"/>
            <a:ext cx="720080" cy="72008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1400">
                <a:solidFill>
                  <a:schemeClr val="tx1"/>
                </a:solidFill>
              </a:rPr>
              <a:t>AI</a:t>
            </a:r>
            <a:endParaRPr lang="en-US" sz="1400">
              <a:solidFill>
                <a:schemeClr val="tx1"/>
              </a:solidFill>
              <a:latin typeface="+mj-lt"/>
            </a:endParaRPr>
          </a:p>
        </p:txBody>
      </p:sp>
      <p:sp>
        <p:nvSpPr>
          <p:cNvPr id="21" name="Rectangle 20">
            <a:extLst>
              <a:ext uri="{FF2B5EF4-FFF2-40B4-BE49-F238E27FC236}">
                <a16:creationId xmlns:a16="http://schemas.microsoft.com/office/drawing/2014/main" id="{8EB08091-A49D-C37A-2ECB-226A8CDF24AA}"/>
              </a:ext>
              <a:ext uri="{C183D7F6-B498-43B3-948B-1728B52AA6E4}">
                <adec:decorative xmlns:adec="http://schemas.microsoft.com/office/drawing/2017/decorative" val="1"/>
              </a:ext>
            </a:extLst>
          </p:cNvPr>
          <p:cNvSpPr/>
          <p:nvPr/>
        </p:nvSpPr>
        <p:spPr>
          <a:xfrm>
            <a:off x="1017588" y="4152900"/>
            <a:ext cx="9452292" cy="18479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mj-lt"/>
            </a:endParaRPr>
          </a:p>
        </p:txBody>
      </p:sp>
      <p:grpSp>
        <p:nvGrpSpPr>
          <p:cNvPr id="14" name="Group 13">
            <a:extLst>
              <a:ext uri="{FF2B5EF4-FFF2-40B4-BE49-F238E27FC236}">
                <a16:creationId xmlns:a16="http://schemas.microsoft.com/office/drawing/2014/main" id="{20AD82B3-7C6B-B1C2-A809-254F3A78787A}"/>
              </a:ext>
              <a:ext uri="{C183D7F6-B498-43B3-948B-1728B52AA6E4}">
                <adec:decorative xmlns:adec="http://schemas.microsoft.com/office/drawing/2017/decorative" val="1"/>
              </a:ext>
            </a:extLst>
          </p:cNvPr>
          <p:cNvGrpSpPr/>
          <p:nvPr/>
        </p:nvGrpSpPr>
        <p:grpSpPr>
          <a:xfrm>
            <a:off x="191344" y="2204864"/>
            <a:ext cx="720080" cy="720080"/>
            <a:chOff x="3359696" y="4149080"/>
            <a:chExt cx="720080" cy="720080"/>
          </a:xfrm>
        </p:grpSpPr>
        <p:sp>
          <p:nvSpPr>
            <p:cNvPr id="11" name="Oval 10">
              <a:extLst>
                <a:ext uri="{FF2B5EF4-FFF2-40B4-BE49-F238E27FC236}">
                  <a16:creationId xmlns:a16="http://schemas.microsoft.com/office/drawing/2014/main" id="{30C0B911-02E6-524E-5767-37E30A6E9267}"/>
                </a:ext>
              </a:extLst>
            </p:cNvPr>
            <p:cNvSpPr/>
            <p:nvPr/>
          </p:nvSpPr>
          <p:spPr>
            <a:xfrm>
              <a:off x="3359696" y="4149080"/>
              <a:ext cx="720080" cy="72008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endParaRPr lang="en-US" sz="1400">
                <a:solidFill>
                  <a:schemeClr val="tx1"/>
                </a:solidFill>
                <a:latin typeface="+mj-lt"/>
              </a:endParaRPr>
            </a:p>
          </p:txBody>
        </p:sp>
        <p:pic>
          <p:nvPicPr>
            <p:cNvPr id="13" name="Graphic 12" descr="User outline">
              <a:extLst>
                <a:ext uri="{FF2B5EF4-FFF2-40B4-BE49-F238E27FC236}">
                  <a16:creationId xmlns:a16="http://schemas.microsoft.com/office/drawing/2014/main" id="{B8A09F4D-0AD3-E089-7BC7-FC2AD687F2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03712" y="4272746"/>
              <a:ext cx="432048" cy="432048"/>
            </a:xfrm>
            <a:prstGeom prst="rect">
              <a:avLst/>
            </a:prstGeom>
          </p:spPr>
        </p:pic>
      </p:grpSp>
      <p:sp>
        <p:nvSpPr>
          <p:cNvPr id="15" name="Content Placeholder 5">
            <a:extLst>
              <a:ext uri="{FF2B5EF4-FFF2-40B4-BE49-F238E27FC236}">
                <a16:creationId xmlns:a16="http://schemas.microsoft.com/office/drawing/2014/main" id="{2D87B0BA-7A68-8D3C-7560-DE6D3EB8E47E}"/>
              </a:ext>
            </a:extLst>
          </p:cNvPr>
          <p:cNvSpPr txBox="1">
            <a:spLocks/>
          </p:cNvSpPr>
          <p:nvPr/>
        </p:nvSpPr>
        <p:spPr>
          <a:xfrm>
            <a:off x="1055688" y="3172513"/>
            <a:ext cx="10008864" cy="2255161"/>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r>
              <a:rPr lang="en-US" sz="1100"/>
              <a:t>The R 'quantmod' package is well-suited for simulating stock market fluctuations using Monte Carlo methods. It is made for managing, modeling, and analyzing financial quantitative data.</a:t>
            </a:r>
          </a:p>
          <a:p>
            <a:r>
              <a:rPr lang="en-US" sz="1100"/>
              <a:t>Below is a simplified example of how you might use this package along with other necessary packages to simulate stock market prices using a Monte Carlo simulation. In this example, we will simulate changes in the price of a fictitious stock based on random walk using the GBM (Geometric Brownian Motion) model. This basic script doesn't include factors like drift or market influence.</a:t>
            </a:r>
          </a:p>
          <a:p>
            <a:r>
              <a:rPr lang="en-US" sz="900">
                <a:solidFill>
                  <a:schemeClr val="bg1"/>
                </a:solidFill>
              </a:rPr>
              <a:t># Install and load necessary packages</a:t>
            </a:r>
          </a:p>
          <a:p>
            <a:pPr>
              <a:spcBef>
                <a:spcPts val="0"/>
              </a:spcBef>
            </a:pPr>
            <a:r>
              <a:rPr lang="en-US" sz="900">
                <a:solidFill>
                  <a:schemeClr val="bg1"/>
                </a:solidFill>
              </a:rPr>
              <a:t>install.packages("quantmod")</a:t>
            </a:r>
          </a:p>
          <a:p>
            <a:pPr>
              <a:spcBef>
                <a:spcPts val="0"/>
              </a:spcBef>
            </a:pPr>
            <a:r>
              <a:rPr lang="en-US" sz="900">
                <a:solidFill>
                  <a:schemeClr val="bg1"/>
                </a:solidFill>
              </a:rPr>
              <a:t>install.packages("MASS")</a:t>
            </a:r>
          </a:p>
          <a:p>
            <a:pPr>
              <a:spcBef>
                <a:spcPts val="0"/>
              </a:spcBef>
            </a:pPr>
            <a:r>
              <a:rPr lang="en-US" sz="900">
                <a:solidFill>
                  <a:schemeClr val="bg1"/>
                </a:solidFill>
              </a:rPr>
              <a:t>library(quantmod)</a:t>
            </a:r>
          </a:p>
          <a:p>
            <a:pPr>
              <a:spcBef>
                <a:spcPts val="0"/>
              </a:spcBef>
            </a:pPr>
            <a:r>
              <a:rPr lang="en-US" sz="900">
                <a:solidFill>
                  <a:schemeClr val="bg1"/>
                </a:solidFill>
              </a:rPr>
              <a:t>library(MASS)</a:t>
            </a:r>
          </a:p>
          <a:p>
            <a:pPr>
              <a:spcBef>
                <a:spcPts val="0"/>
              </a:spcBef>
            </a:pPr>
            <a:endParaRPr lang="en-US" sz="900">
              <a:solidFill>
                <a:schemeClr val="bg1"/>
              </a:solidFill>
            </a:endParaRPr>
          </a:p>
          <a:p>
            <a:pPr>
              <a:spcBef>
                <a:spcPts val="0"/>
              </a:spcBef>
            </a:pPr>
            <a:r>
              <a:rPr lang="en-US" sz="900">
                <a:solidFill>
                  <a:schemeClr val="bg1"/>
                </a:solidFill>
              </a:rPr>
              <a:t>#Initialize parameters</a:t>
            </a:r>
          </a:p>
          <a:p>
            <a:pPr>
              <a:spcBef>
                <a:spcPts val="0"/>
              </a:spcBef>
            </a:pPr>
            <a:r>
              <a:rPr lang="en-US" sz="900">
                <a:solidFill>
                  <a:schemeClr val="bg1"/>
                </a:solidFill>
              </a:rPr>
              <a:t>T = 50   #time period</a:t>
            </a:r>
          </a:p>
          <a:p>
            <a:pPr>
              <a:spcBef>
                <a:spcPts val="0"/>
              </a:spcBef>
            </a:pPr>
            <a:r>
              <a:rPr lang="en-US" sz="900">
                <a:solidFill>
                  <a:schemeClr val="bg1"/>
                </a:solidFill>
              </a:rPr>
              <a:t>mu = 0.1   #expected return</a:t>
            </a:r>
          </a:p>
          <a:p>
            <a:pPr>
              <a:spcBef>
                <a:spcPts val="0"/>
              </a:spcBef>
            </a:pPr>
            <a:r>
              <a:rPr lang="en-US" sz="900">
                <a:solidFill>
                  <a:schemeClr val="bg1"/>
                </a:solidFill>
              </a:rPr>
              <a:t>sigma = 0.2   #standard deviation</a:t>
            </a:r>
          </a:p>
          <a:p>
            <a:pPr>
              <a:spcBef>
                <a:spcPts val="0"/>
              </a:spcBef>
            </a:pPr>
            <a:r>
              <a:rPr lang="en-US" sz="900">
                <a:solidFill>
                  <a:schemeClr val="bg1"/>
                </a:solidFill>
              </a:rPr>
              <a:t>S0 = 100    #initial stock price</a:t>
            </a:r>
          </a:p>
          <a:p>
            <a:pPr>
              <a:spcBef>
                <a:spcPts val="0"/>
              </a:spcBef>
            </a:pPr>
            <a:r>
              <a:rPr lang="en-US" sz="900">
                <a:solidFill>
                  <a:schemeClr val="bg1"/>
                </a:solidFill>
              </a:rPr>
              <a:t>dt = 0.01   #time step</a:t>
            </a:r>
          </a:p>
          <a:p>
            <a:pPr>
              <a:spcBef>
                <a:spcPts val="0"/>
              </a:spcBef>
            </a:pPr>
            <a:r>
              <a:rPr lang="en-US" sz="900">
                <a:solidFill>
                  <a:schemeClr val="bg1"/>
                </a:solidFill>
              </a:rPr>
              <a:t>N = T/dt   #number of steps</a:t>
            </a:r>
          </a:p>
        </p:txBody>
      </p:sp>
      <p:grpSp>
        <p:nvGrpSpPr>
          <p:cNvPr id="17" name="Group 16">
            <a:extLst>
              <a:ext uri="{FF2B5EF4-FFF2-40B4-BE49-F238E27FC236}">
                <a16:creationId xmlns:a16="http://schemas.microsoft.com/office/drawing/2014/main" id="{580852BD-0610-0D4D-59CD-AF259ADAEB25}"/>
              </a:ext>
              <a:ext uri="{C183D7F6-B498-43B3-948B-1728B52AA6E4}">
                <adec:decorative xmlns:adec="http://schemas.microsoft.com/office/drawing/2017/decorative" val="1"/>
              </a:ext>
            </a:extLst>
          </p:cNvPr>
          <p:cNvGrpSpPr/>
          <p:nvPr/>
        </p:nvGrpSpPr>
        <p:grpSpPr>
          <a:xfrm>
            <a:off x="10090745" y="149467"/>
            <a:ext cx="1947614" cy="1839372"/>
            <a:chOff x="3615902" y="4793661"/>
            <a:chExt cx="2228850" cy="2104979"/>
          </a:xfrm>
        </p:grpSpPr>
        <p:pic>
          <p:nvPicPr>
            <p:cNvPr id="18" name="Graphic 18">
              <a:extLst>
                <a:ext uri="{FF2B5EF4-FFF2-40B4-BE49-F238E27FC236}">
                  <a16:creationId xmlns:a16="http://schemas.microsoft.com/office/drawing/2014/main" id="{B3532158-5E51-9C7C-4BB1-74202FA5E5B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85042" y="4909132"/>
              <a:ext cx="1882046" cy="1882044"/>
            </a:xfrm>
            <a:prstGeom prst="rect">
              <a:avLst/>
            </a:prstGeom>
          </p:spPr>
        </p:pic>
        <p:sp>
          <p:nvSpPr>
            <p:cNvPr id="19" name="Freeform: Shape 18">
              <a:extLst>
                <a:ext uri="{FF2B5EF4-FFF2-40B4-BE49-F238E27FC236}">
                  <a16:creationId xmlns:a16="http://schemas.microsoft.com/office/drawing/2014/main" id="{FBA8F023-CEE2-AFD4-F917-8C3C378F23AF}"/>
                </a:ext>
              </a:extLst>
            </p:cNvPr>
            <p:cNvSpPr/>
            <p:nvPr/>
          </p:nvSpPr>
          <p:spPr>
            <a:xfrm>
              <a:off x="3615902" y="4793661"/>
              <a:ext cx="2228850" cy="2104979"/>
            </a:xfrm>
            <a:custGeom>
              <a:avLst/>
              <a:gdLst>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524000 w 2170176"/>
                <a:gd name="connsiteY11" fmla="*/ 1987296 h 2194560"/>
                <a:gd name="connsiteX12" fmla="*/ 1298448 w 2170176"/>
                <a:gd name="connsiteY12" fmla="*/ 1792224 h 2194560"/>
                <a:gd name="connsiteX13" fmla="*/ 1298448 w 2170176"/>
                <a:gd name="connsiteY13" fmla="*/ 1353312 h 2194560"/>
                <a:gd name="connsiteX14" fmla="*/ 944880 w 2170176"/>
                <a:gd name="connsiteY14" fmla="*/ 1505712 h 2194560"/>
                <a:gd name="connsiteX15" fmla="*/ 701040 w 2170176"/>
                <a:gd name="connsiteY15"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701040 w 2170176"/>
                <a:gd name="connsiteY14" fmla="*/ 171907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1325880 w 2170176"/>
                <a:gd name="connsiteY14" fmla="*/ 183591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325880 w 2170176"/>
                <a:gd name="connsiteY14" fmla="*/ 1835912 h 2194560"/>
                <a:gd name="connsiteX0" fmla="*/ 1295400 w 2170176"/>
                <a:gd name="connsiteY0" fmla="*/ 184099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295400 w 2170176"/>
                <a:gd name="connsiteY14" fmla="*/ 1840992 h 2194560"/>
                <a:gd name="connsiteX0" fmla="*/ 1295400 w 2170176"/>
                <a:gd name="connsiteY0" fmla="*/ 1840992 h 2133600"/>
                <a:gd name="connsiteX1" fmla="*/ 1706880 w 2170176"/>
                <a:gd name="connsiteY1" fmla="*/ 2133600 h 2133600"/>
                <a:gd name="connsiteX2" fmla="*/ 298704 w 2170176"/>
                <a:gd name="connsiteY2" fmla="*/ 1944624 h 2133600"/>
                <a:gd name="connsiteX3" fmla="*/ 0 w 2170176"/>
                <a:gd name="connsiteY3" fmla="*/ 1127760 h 2133600"/>
                <a:gd name="connsiteX4" fmla="*/ 323088 w 2170176"/>
                <a:gd name="connsiteY4" fmla="*/ 188976 h 2133600"/>
                <a:gd name="connsiteX5" fmla="*/ 1267968 w 2170176"/>
                <a:gd name="connsiteY5" fmla="*/ 0 h 2133600"/>
                <a:gd name="connsiteX6" fmla="*/ 2066544 w 2170176"/>
                <a:gd name="connsiteY6" fmla="*/ 140208 h 2133600"/>
                <a:gd name="connsiteX7" fmla="*/ 2170176 w 2170176"/>
                <a:gd name="connsiteY7" fmla="*/ 1213104 h 2133600"/>
                <a:gd name="connsiteX8" fmla="*/ 2115312 w 2170176"/>
                <a:gd name="connsiteY8" fmla="*/ 1406144 h 2133600"/>
                <a:gd name="connsiteX9" fmla="*/ 2051304 w 2170176"/>
                <a:gd name="connsiteY9" fmla="*/ 1321816 h 2133600"/>
                <a:gd name="connsiteX10" fmla="*/ 1793240 w 2170176"/>
                <a:gd name="connsiteY10" fmla="*/ 1400048 h 2133600"/>
                <a:gd name="connsiteX11" fmla="*/ 1547368 w 2170176"/>
                <a:gd name="connsiteY11" fmla="*/ 1223264 h 2133600"/>
                <a:gd name="connsiteX12" fmla="*/ 1476248 w 2170176"/>
                <a:gd name="connsiteY12" fmla="*/ 1129792 h 2133600"/>
                <a:gd name="connsiteX13" fmla="*/ 1325880 w 2170176"/>
                <a:gd name="connsiteY13" fmla="*/ 1505712 h 2133600"/>
                <a:gd name="connsiteX14" fmla="*/ 1295400 w 2170176"/>
                <a:gd name="connsiteY14" fmla="*/ 1840992 h 2133600"/>
                <a:gd name="connsiteX0" fmla="*/ 1295400 w 2170176"/>
                <a:gd name="connsiteY0" fmla="*/ 1840992 h 2133600"/>
                <a:gd name="connsiteX1" fmla="*/ 1706880 w 2170176"/>
                <a:gd name="connsiteY1" fmla="*/ 2133600 h 2133600"/>
                <a:gd name="connsiteX2" fmla="*/ 544618 w 2170176"/>
                <a:gd name="connsiteY2" fmla="*/ 1980519 h 2133600"/>
                <a:gd name="connsiteX3" fmla="*/ 298704 w 2170176"/>
                <a:gd name="connsiteY3" fmla="*/ 1944624 h 2133600"/>
                <a:gd name="connsiteX4" fmla="*/ 0 w 2170176"/>
                <a:gd name="connsiteY4" fmla="*/ 1127760 h 2133600"/>
                <a:gd name="connsiteX5" fmla="*/ 323088 w 2170176"/>
                <a:gd name="connsiteY5" fmla="*/ 188976 h 2133600"/>
                <a:gd name="connsiteX6" fmla="*/ 1267968 w 2170176"/>
                <a:gd name="connsiteY6" fmla="*/ 0 h 2133600"/>
                <a:gd name="connsiteX7" fmla="*/ 2066544 w 2170176"/>
                <a:gd name="connsiteY7" fmla="*/ 140208 h 2133600"/>
                <a:gd name="connsiteX8" fmla="*/ 2170176 w 2170176"/>
                <a:gd name="connsiteY8" fmla="*/ 1213104 h 2133600"/>
                <a:gd name="connsiteX9" fmla="*/ 2115312 w 2170176"/>
                <a:gd name="connsiteY9" fmla="*/ 1406144 h 2133600"/>
                <a:gd name="connsiteX10" fmla="*/ 2051304 w 2170176"/>
                <a:gd name="connsiteY10" fmla="*/ 1321816 h 2133600"/>
                <a:gd name="connsiteX11" fmla="*/ 1793240 w 2170176"/>
                <a:gd name="connsiteY11" fmla="*/ 1400048 h 2133600"/>
                <a:gd name="connsiteX12" fmla="*/ 1547368 w 2170176"/>
                <a:gd name="connsiteY12" fmla="*/ 1223264 h 2133600"/>
                <a:gd name="connsiteX13" fmla="*/ 1476248 w 2170176"/>
                <a:gd name="connsiteY13" fmla="*/ 1129792 h 2133600"/>
                <a:gd name="connsiteX14" fmla="*/ 1325880 w 2170176"/>
                <a:gd name="connsiteY14" fmla="*/ 1505712 h 2133600"/>
                <a:gd name="connsiteX15" fmla="*/ 1295400 w 2170176"/>
                <a:gd name="connsiteY15" fmla="*/ 1840992 h 2133600"/>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476248 w 2170176"/>
                <a:gd name="connsiteY13" fmla="*/ 1129792 h 2188799"/>
                <a:gd name="connsiteX14" fmla="*/ 1325880 w 2170176"/>
                <a:gd name="connsiteY14" fmla="*/ 1505712 h 2188799"/>
                <a:gd name="connsiteX15" fmla="*/ 1295400 w 2170176"/>
                <a:gd name="connsiteY15"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81784 w 2170176"/>
                <a:gd name="connsiteY10" fmla="*/ 13472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4752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8308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2066544 w 2081784"/>
                <a:gd name="connsiteY7" fmla="*/ 14020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1308354 w 2081784"/>
                <a:gd name="connsiteY7" fmla="*/ 12115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308354 w 2081784"/>
                <a:gd name="connsiteY7" fmla="*/ 3733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232916 w 2081784"/>
                <a:gd name="connsiteY8" fmla="*/ 34823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1783080"/>
                <a:gd name="connsiteY0" fmla="*/ 1757172 h 2104979"/>
                <a:gd name="connsiteX1" fmla="*/ 1706880 w 1783080"/>
                <a:gd name="connsiteY1" fmla="*/ 2049780 h 2104979"/>
                <a:gd name="connsiteX2" fmla="*/ 839258 w 1783080"/>
                <a:gd name="connsiteY2" fmla="*/ 2104979 h 2104979"/>
                <a:gd name="connsiteX3" fmla="*/ 298704 w 1783080"/>
                <a:gd name="connsiteY3" fmla="*/ 1860804 h 2104979"/>
                <a:gd name="connsiteX4" fmla="*/ 0 w 1783080"/>
                <a:gd name="connsiteY4" fmla="*/ 1043940 h 2104979"/>
                <a:gd name="connsiteX5" fmla="*/ 323088 w 1783080"/>
                <a:gd name="connsiteY5" fmla="*/ 105156 h 2104979"/>
                <a:gd name="connsiteX6" fmla="*/ 803148 w 1783080"/>
                <a:gd name="connsiteY6" fmla="*/ 0 h 2104979"/>
                <a:gd name="connsiteX7" fmla="*/ 1079754 w 1783080"/>
                <a:gd name="connsiteY7" fmla="*/ 44958 h 2104979"/>
                <a:gd name="connsiteX8" fmla="*/ 1232916 w 1783080"/>
                <a:gd name="connsiteY8" fmla="*/ 348234 h 2104979"/>
                <a:gd name="connsiteX9" fmla="*/ 1068324 w 1783080"/>
                <a:gd name="connsiteY9" fmla="*/ 661416 h 2104979"/>
                <a:gd name="connsiteX10" fmla="*/ 1783080 w 1783080"/>
                <a:gd name="connsiteY10" fmla="*/ 1316228 h 2104979"/>
                <a:gd name="connsiteX11" fmla="*/ 1547368 w 1783080"/>
                <a:gd name="connsiteY11" fmla="*/ 1139444 h 2104979"/>
                <a:gd name="connsiteX12" fmla="*/ 1325880 w 1783080"/>
                <a:gd name="connsiteY12" fmla="*/ 1421892 h 2104979"/>
                <a:gd name="connsiteX13" fmla="*/ 1295400 w 1783080"/>
                <a:gd name="connsiteY13" fmla="*/ 1757172 h 2104979"/>
                <a:gd name="connsiteX0" fmla="*/ 1295400 w 1706880"/>
                <a:gd name="connsiteY0" fmla="*/ 1757172 h 2104979"/>
                <a:gd name="connsiteX1" fmla="*/ 1706880 w 1706880"/>
                <a:gd name="connsiteY1" fmla="*/ 2049780 h 2104979"/>
                <a:gd name="connsiteX2" fmla="*/ 839258 w 1706880"/>
                <a:gd name="connsiteY2" fmla="*/ 2104979 h 2104979"/>
                <a:gd name="connsiteX3" fmla="*/ 298704 w 1706880"/>
                <a:gd name="connsiteY3" fmla="*/ 1860804 h 2104979"/>
                <a:gd name="connsiteX4" fmla="*/ 0 w 1706880"/>
                <a:gd name="connsiteY4" fmla="*/ 1043940 h 2104979"/>
                <a:gd name="connsiteX5" fmla="*/ 323088 w 1706880"/>
                <a:gd name="connsiteY5" fmla="*/ 105156 h 2104979"/>
                <a:gd name="connsiteX6" fmla="*/ 803148 w 1706880"/>
                <a:gd name="connsiteY6" fmla="*/ 0 h 2104979"/>
                <a:gd name="connsiteX7" fmla="*/ 1079754 w 1706880"/>
                <a:gd name="connsiteY7" fmla="*/ 44958 h 2104979"/>
                <a:gd name="connsiteX8" fmla="*/ 1232916 w 1706880"/>
                <a:gd name="connsiteY8" fmla="*/ 348234 h 2104979"/>
                <a:gd name="connsiteX9" fmla="*/ 1068324 w 1706880"/>
                <a:gd name="connsiteY9" fmla="*/ 661416 h 2104979"/>
                <a:gd name="connsiteX10" fmla="*/ 1451610 w 1706880"/>
                <a:gd name="connsiteY10" fmla="*/ 779018 h 2104979"/>
                <a:gd name="connsiteX11" fmla="*/ 1547368 w 1706880"/>
                <a:gd name="connsiteY11" fmla="*/ 1139444 h 2104979"/>
                <a:gd name="connsiteX12" fmla="*/ 1325880 w 1706880"/>
                <a:gd name="connsiteY12" fmla="*/ 1421892 h 2104979"/>
                <a:gd name="connsiteX13" fmla="*/ 1295400 w 1706880"/>
                <a:gd name="connsiteY13" fmla="*/ 1757172 h 2104979"/>
                <a:gd name="connsiteX0" fmla="*/ 1295400 w 1734058"/>
                <a:gd name="connsiteY0" fmla="*/ 1757172 h 2104979"/>
                <a:gd name="connsiteX1" fmla="*/ 1706880 w 1734058"/>
                <a:gd name="connsiteY1" fmla="*/ 2049780 h 2104979"/>
                <a:gd name="connsiteX2" fmla="*/ 839258 w 1734058"/>
                <a:gd name="connsiteY2" fmla="*/ 2104979 h 2104979"/>
                <a:gd name="connsiteX3" fmla="*/ 298704 w 1734058"/>
                <a:gd name="connsiteY3" fmla="*/ 1860804 h 2104979"/>
                <a:gd name="connsiteX4" fmla="*/ 0 w 1734058"/>
                <a:gd name="connsiteY4" fmla="*/ 1043940 h 2104979"/>
                <a:gd name="connsiteX5" fmla="*/ 323088 w 1734058"/>
                <a:gd name="connsiteY5" fmla="*/ 105156 h 2104979"/>
                <a:gd name="connsiteX6" fmla="*/ 803148 w 1734058"/>
                <a:gd name="connsiteY6" fmla="*/ 0 h 2104979"/>
                <a:gd name="connsiteX7" fmla="*/ 1079754 w 1734058"/>
                <a:gd name="connsiteY7" fmla="*/ 44958 h 2104979"/>
                <a:gd name="connsiteX8" fmla="*/ 1232916 w 1734058"/>
                <a:gd name="connsiteY8" fmla="*/ 348234 h 2104979"/>
                <a:gd name="connsiteX9" fmla="*/ 1068324 w 1734058"/>
                <a:gd name="connsiteY9" fmla="*/ 661416 h 2104979"/>
                <a:gd name="connsiteX10" fmla="*/ 1451610 w 1734058"/>
                <a:gd name="connsiteY10" fmla="*/ 779018 h 2104979"/>
                <a:gd name="connsiteX11" fmla="*/ 1734058 w 1734058"/>
                <a:gd name="connsiteY11" fmla="*/ 720344 h 2104979"/>
                <a:gd name="connsiteX12" fmla="*/ 1325880 w 1734058"/>
                <a:gd name="connsiteY12" fmla="*/ 1421892 h 2104979"/>
                <a:gd name="connsiteX13" fmla="*/ 1295400 w 1734058"/>
                <a:gd name="connsiteY13" fmla="*/ 1757172 h 2104979"/>
                <a:gd name="connsiteX0" fmla="*/ 1295400 w 1996440"/>
                <a:gd name="connsiteY0" fmla="*/ 1757172 h 2104979"/>
                <a:gd name="connsiteX1" fmla="*/ 1706880 w 1996440"/>
                <a:gd name="connsiteY1" fmla="*/ 2049780 h 2104979"/>
                <a:gd name="connsiteX2" fmla="*/ 839258 w 1996440"/>
                <a:gd name="connsiteY2" fmla="*/ 2104979 h 2104979"/>
                <a:gd name="connsiteX3" fmla="*/ 298704 w 1996440"/>
                <a:gd name="connsiteY3" fmla="*/ 1860804 h 2104979"/>
                <a:gd name="connsiteX4" fmla="*/ 0 w 1996440"/>
                <a:gd name="connsiteY4" fmla="*/ 1043940 h 2104979"/>
                <a:gd name="connsiteX5" fmla="*/ 323088 w 1996440"/>
                <a:gd name="connsiteY5" fmla="*/ 105156 h 2104979"/>
                <a:gd name="connsiteX6" fmla="*/ 803148 w 1996440"/>
                <a:gd name="connsiteY6" fmla="*/ 0 h 2104979"/>
                <a:gd name="connsiteX7" fmla="*/ 1079754 w 1996440"/>
                <a:gd name="connsiteY7" fmla="*/ 44958 h 2104979"/>
                <a:gd name="connsiteX8" fmla="*/ 1232916 w 1996440"/>
                <a:gd name="connsiteY8" fmla="*/ 348234 h 2104979"/>
                <a:gd name="connsiteX9" fmla="*/ 1068324 w 1996440"/>
                <a:gd name="connsiteY9" fmla="*/ 661416 h 2104979"/>
                <a:gd name="connsiteX10" fmla="*/ 1451610 w 1996440"/>
                <a:gd name="connsiteY10" fmla="*/ 779018 h 2104979"/>
                <a:gd name="connsiteX11" fmla="*/ 1734058 w 1996440"/>
                <a:gd name="connsiteY11" fmla="*/ 720344 h 2104979"/>
                <a:gd name="connsiteX12" fmla="*/ 1996440 w 1996440"/>
                <a:gd name="connsiteY12" fmla="*/ 23622 h 2104979"/>
                <a:gd name="connsiteX13" fmla="*/ 1295400 w 1996440"/>
                <a:gd name="connsiteY13" fmla="*/ 1757172 h 2104979"/>
                <a:gd name="connsiteX0" fmla="*/ 2228850 w 2228850"/>
                <a:gd name="connsiteY0" fmla="*/ 1341882 h 2104979"/>
                <a:gd name="connsiteX1" fmla="*/ 1706880 w 2228850"/>
                <a:gd name="connsiteY1" fmla="*/ 204978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2228850 w 2228850"/>
                <a:gd name="connsiteY11" fmla="*/ 2104979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28850" h="2104979">
                  <a:moveTo>
                    <a:pt x="2228850" y="1341882"/>
                  </a:moveTo>
                  <a:lnTo>
                    <a:pt x="1604010" y="1962150"/>
                  </a:lnTo>
                  <a:lnTo>
                    <a:pt x="839258" y="2104979"/>
                  </a:lnTo>
                  <a:lnTo>
                    <a:pt x="298704" y="1860804"/>
                  </a:lnTo>
                  <a:lnTo>
                    <a:pt x="0" y="1043940"/>
                  </a:lnTo>
                  <a:lnTo>
                    <a:pt x="323088" y="105156"/>
                  </a:lnTo>
                  <a:lnTo>
                    <a:pt x="803148" y="0"/>
                  </a:lnTo>
                  <a:lnTo>
                    <a:pt x="2010082" y="112361"/>
                  </a:lnTo>
                  <a:lnTo>
                    <a:pt x="1748472" y="703163"/>
                  </a:lnTo>
                  <a:lnTo>
                    <a:pt x="1451981" y="783827"/>
                  </a:lnTo>
                  <a:lnTo>
                    <a:pt x="1495582" y="1095578"/>
                  </a:lnTo>
                  <a:lnTo>
                    <a:pt x="1755012" y="1317947"/>
                  </a:lnTo>
                  <a:lnTo>
                    <a:pt x="2092925" y="1252545"/>
                  </a:lnTo>
                  <a:lnTo>
                    <a:pt x="2228850" y="1341882"/>
                  </a:lnTo>
                  <a:close/>
                </a:path>
              </a:pathLst>
            </a:cu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22" name="TextBox 21">
            <a:extLst>
              <a:ext uri="{FF2B5EF4-FFF2-40B4-BE49-F238E27FC236}">
                <a16:creationId xmlns:a16="http://schemas.microsoft.com/office/drawing/2014/main" id="{D1615F6A-042D-192A-3463-11034F0E1B42}"/>
              </a:ext>
              <a:ext uri="{C183D7F6-B498-43B3-948B-1728B52AA6E4}">
                <adec:decorative xmlns:adec="http://schemas.microsoft.com/office/drawing/2017/decorative" val="1"/>
              </a:ext>
            </a:extLst>
          </p:cNvPr>
          <p:cNvSpPr txBox="1"/>
          <p:nvPr/>
        </p:nvSpPr>
        <p:spPr>
          <a:xfrm>
            <a:off x="300315" y="5287155"/>
            <a:ext cx="550151" cy="461665"/>
          </a:xfrm>
          <a:prstGeom prst="rect">
            <a:avLst/>
          </a:prstGeom>
          <a:noFill/>
        </p:spPr>
        <p:txBody>
          <a:bodyPr wrap="none" rtlCol="0">
            <a:spAutoFit/>
          </a:bodyPr>
          <a:lstStyle/>
          <a:p>
            <a:r>
              <a:rPr lang="en-US" sz="1200">
                <a:solidFill>
                  <a:schemeClr val="accent1">
                    <a:lumMod val="50000"/>
                  </a:schemeClr>
                </a:solidFill>
                <a:latin typeface="+mj-lt"/>
              </a:rPr>
              <a:t>Code</a:t>
            </a:r>
          </a:p>
          <a:p>
            <a:r>
              <a:rPr lang="en-US" sz="1200">
                <a:solidFill>
                  <a:schemeClr val="accent1">
                    <a:lumMod val="50000"/>
                  </a:schemeClr>
                </a:solidFill>
                <a:latin typeface="+mj-lt"/>
              </a:rPr>
              <a:t>block</a:t>
            </a:r>
          </a:p>
        </p:txBody>
      </p:sp>
      <p:sp>
        <p:nvSpPr>
          <p:cNvPr id="23" name="Freeform: Shape 22">
            <a:extLst>
              <a:ext uri="{FF2B5EF4-FFF2-40B4-BE49-F238E27FC236}">
                <a16:creationId xmlns:a16="http://schemas.microsoft.com/office/drawing/2014/main" id="{BF9F640D-9BED-C946-6C3F-A6F3C6CA174D}"/>
              </a:ext>
              <a:ext uri="{C183D7F6-B498-43B3-948B-1728B52AA6E4}">
                <adec:decorative xmlns:adec="http://schemas.microsoft.com/office/drawing/2017/decorative" val="1"/>
              </a:ext>
            </a:extLst>
          </p:cNvPr>
          <p:cNvSpPr/>
          <p:nvPr/>
        </p:nvSpPr>
        <p:spPr>
          <a:xfrm rot="16200000" flipH="1">
            <a:off x="497614" y="4856932"/>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accent1">
                <a:lumMod val="5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50000"/>
                </a:schemeClr>
              </a:solidFill>
            </a:endParaRPr>
          </a:p>
        </p:txBody>
      </p:sp>
      <p:sp>
        <p:nvSpPr>
          <p:cNvPr id="7" name="Slide Number Placeholder 6">
            <a:extLst>
              <a:ext uri="{FF2B5EF4-FFF2-40B4-BE49-F238E27FC236}">
                <a16:creationId xmlns:a16="http://schemas.microsoft.com/office/drawing/2014/main" id="{1B22AF81-ACAB-97AE-77AA-8597C90D4B0A}"/>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t>29</a:t>
            </a:fld>
            <a:endParaRPr lang="fi-FI"/>
          </a:p>
        </p:txBody>
      </p:sp>
      <p:sp>
        <p:nvSpPr>
          <p:cNvPr id="10" name="TextBox 9">
            <a:extLst>
              <a:ext uri="{FF2B5EF4-FFF2-40B4-BE49-F238E27FC236}">
                <a16:creationId xmlns:a16="http://schemas.microsoft.com/office/drawing/2014/main" id="{93BA101F-067D-014E-8DC6-59220954F874}"/>
              </a:ext>
            </a:extLst>
          </p:cNvPr>
          <p:cNvSpPr txBox="1"/>
          <p:nvPr/>
        </p:nvSpPr>
        <p:spPr>
          <a:xfrm>
            <a:off x="4599494" y="4246503"/>
            <a:ext cx="6096000" cy="1754326"/>
          </a:xfrm>
          <a:prstGeom prst="rect">
            <a:avLst/>
          </a:prstGeom>
          <a:noFill/>
        </p:spPr>
        <p:txBody>
          <a:bodyPr wrap="square">
            <a:spAutoFit/>
          </a:bodyPr>
          <a:lstStyle/>
          <a:p>
            <a:pPr>
              <a:spcBef>
                <a:spcPts val="0"/>
              </a:spcBef>
            </a:pPr>
            <a:r>
              <a:rPr lang="en-US" sz="900">
                <a:solidFill>
                  <a:schemeClr val="bg1"/>
                </a:solidFill>
              </a:rPr>
              <a:t>set.seed(1000)   #set random seed</a:t>
            </a:r>
          </a:p>
          <a:p>
            <a:pPr>
              <a:spcBef>
                <a:spcPts val="0"/>
              </a:spcBef>
            </a:pPr>
            <a:endParaRPr lang="en-US" sz="900">
              <a:solidFill>
                <a:schemeClr val="bg1"/>
              </a:solidFill>
            </a:endParaRPr>
          </a:p>
          <a:p>
            <a:pPr>
              <a:spcBef>
                <a:spcPts val="0"/>
              </a:spcBef>
            </a:pPr>
            <a:r>
              <a:rPr lang="en-US" sz="900">
                <a:solidFill>
                  <a:schemeClr val="bg1"/>
                </a:solidFill>
              </a:rPr>
              <a:t>#Monte Carlo Simulation</a:t>
            </a:r>
          </a:p>
          <a:p>
            <a:pPr>
              <a:spcBef>
                <a:spcPts val="0"/>
              </a:spcBef>
            </a:pPr>
            <a:r>
              <a:rPr lang="en-US" sz="900">
                <a:solidFill>
                  <a:schemeClr val="bg1"/>
                </a:solidFill>
              </a:rPr>
              <a:t>m = replicate(1000, </a:t>
            </a:r>
          </a:p>
          <a:p>
            <a:pPr>
              <a:spcBef>
                <a:spcPts val="0"/>
              </a:spcBef>
            </a:pPr>
            <a:r>
              <a:rPr lang="en-US" sz="900">
                <a:solidFill>
                  <a:schemeClr val="bg1"/>
                </a:solidFill>
              </a:rPr>
              <a:t>            {</a:t>
            </a:r>
          </a:p>
          <a:p>
            <a:pPr>
              <a:spcBef>
                <a:spcPts val="0"/>
              </a:spcBef>
            </a:pPr>
            <a:r>
              <a:rPr lang="en-US" sz="900">
                <a:solidFill>
                  <a:schemeClr val="bg1"/>
                </a:solidFill>
              </a:rPr>
              <a:t>            W = c(0, cumsum(sqrt(dt)*rnorm(N,0,1))) # standard Wiener process</a:t>
            </a:r>
          </a:p>
          <a:p>
            <a:pPr>
              <a:spcBef>
                <a:spcPts val="0"/>
              </a:spcBef>
            </a:pPr>
            <a:r>
              <a:rPr lang="en-US" sz="900">
                <a:solidFill>
                  <a:schemeClr val="bg1"/>
                </a:solidFill>
              </a:rPr>
              <a:t>            S = S0*exp((mu - sigma^2/2)*dt*N + sigma*W) # GBM model</a:t>
            </a:r>
          </a:p>
          <a:p>
            <a:pPr>
              <a:spcBef>
                <a:spcPts val="0"/>
              </a:spcBef>
            </a:pPr>
            <a:r>
              <a:rPr lang="en-US" sz="900">
                <a:solidFill>
                  <a:schemeClr val="bg1"/>
                </a:solidFill>
              </a:rPr>
              <a:t>            S</a:t>
            </a:r>
          </a:p>
          <a:p>
            <a:pPr>
              <a:spcBef>
                <a:spcPts val="0"/>
              </a:spcBef>
            </a:pPr>
            <a:r>
              <a:rPr lang="en-US" sz="900">
                <a:solidFill>
                  <a:schemeClr val="bg1"/>
                </a:solidFill>
              </a:rPr>
              <a:t>            })</a:t>
            </a:r>
          </a:p>
          <a:p>
            <a:pPr>
              <a:spcBef>
                <a:spcPts val="0"/>
              </a:spcBef>
            </a:pPr>
            <a:endParaRPr lang="en-US" sz="900">
              <a:solidFill>
                <a:schemeClr val="bg1"/>
              </a:solidFill>
            </a:endParaRPr>
          </a:p>
          <a:p>
            <a:pPr>
              <a:spcBef>
                <a:spcPts val="0"/>
              </a:spcBef>
            </a:pPr>
            <a:r>
              <a:rPr lang="en-US" sz="900">
                <a:solidFill>
                  <a:schemeClr val="bg1"/>
                </a:solidFill>
              </a:rPr>
              <a:t>#Plot the simulation</a:t>
            </a:r>
          </a:p>
          <a:p>
            <a:pPr>
              <a:spcBef>
                <a:spcPts val="0"/>
              </a:spcBef>
            </a:pPr>
            <a:r>
              <a:rPr lang="en-US" sz="900">
                <a:solidFill>
                  <a:schemeClr val="bg1"/>
                </a:solidFill>
              </a:rPr>
              <a:t>matplot(m, type="l", lty=1, lwd=1, col=1,ylab="Stock price",xlab="Time", main="Monte Carlo Simulations: GBM")</a:t>
            </a:r>
          </a:p>
        </p:txBody>
      </p:sp>
      <p:cxnSp>
        <p:nvCxnSpPr>
          <p:cNvPr id="25" name="Connector: Elbow 24">
            <a:extLst>
              <a:ext uri="{FF2B5EF4-FFF2-40B4-BE49-F238E27FC236}">
                <a16:creationId xmlns:a16="http://schemas.microsoft.com/office/drawing/2014/main" id="{32438664-E184-B7AE-A904-08BBA40C5033}"/>
              </a:ext>
            </a:extLst>
          </p:cNvPr>
          <p:cNvCxnSpPr/>
          <p:nvPr/>
        </p:nvCxnSpPr>
        <p:spPr>
          <a:xfrm flipV="1">
            <a:off x="2895600" y="4366260"/>
            <a:ext cx="1703894" cy="1569720"/>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6" name="Freeform: Shape 25">
            <a:extLst>
              <a:ext uri="{FF2B5EF4-FFF2-40B4-BE49-F238E27FC236}">
                <a16:creationId xmlns:a16="http://schemas.microsoft.com/office/drawing/2014/main" id="{C0851E88-0683-F362-DDE8-B06523330650}"/>
              </a:ext>
              <a:ext uri="{C183D7F6-B498-43B3-948B-1728B52AA6E4}">
                <adec:decorative xmlns:adec="http://schemas.microsoft.com/office/drawing/2017/decorative" val="1"/>
              </a:ext>
            </a:extLst>
          </p:cNvPr>
          <p:cNvSpPr/>
          <p:nvPr/>
        </p:nvSpPr>
        <p:spPr>
          <a:xfrm>
            <a:off x="1660377" y="1715617"/>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0453C31-64F3-43B5-EBC5-59D32BFD045C}"/>
              </a:ext>
              <a:ext uri="{C183D7F6-B498-43B3-948B-1728B52AA6E4}">
                <adec:decorative xmlns:adec="http://schemas.microsoft.com/office/drawing/2017/decorative" val="1"/>
              </a:ext>
            </a:extLst>
          </p:cNvPr>
          <p:cNvSpPr txBox="1"/>
          <p:nvPr/>
        </p:nvSpPr>
        <p:spPr>
          <a:xfrm>
            <a:off x="2184270" y="1556792"/>
            <a:ext cx="1776448" cy="276999"/>
          </a:xfrm>
          <a:prstGeom prst="rect">
            <a:avLst/>
          </a:prstGeom>
          <a:noFill/>
        </p:spPr>
        <p:txBody>
          <a:bodyPr wrap="none" rtlCol="0">
            <a:spAutoFit/>
          </a:bodyPr>
          <a:lstStyle/>
          <a:p>
            <a:pPr algn="l"/>
            <a:r>
              <a:rPr lang="en-US" sz="1200">
                <a:solidFill>
                  <a:schemeClr val="bg1">
                    <a:lumMod val="50000"/>
                  </a:schemeClr>
                </a:solidFill>
                <a:latin typeface="+mj-lt"/>
              </a:rPr>
              <a:t>Programming language</a:t>
            </a:r>
          </a:p>
        </p:txBody>
      </p:sp>
      <p:sp>
        <p:nvSpPr>
          <p:cNvPr id="3" name="Date Placeholder 2">
            <a:extLst>
              <a:ext uri="{FF2B5EF4-FFF2-40B4-BE49-F238E27FC236}">
                <a16:creationId xmlns:a16="http://schemas.microsoft.com/office/drawing/2014/main" id="{4D45C564-3CB4-7E16-1F20-6C74CC8D0B3F}"/>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F4C0F6EF-6397-FD24-7352-F982EA7DDB2D}"/>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509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48E0C-8BE3-B5BF-CA38-D0845B00EE5A}"/>
              </a:ext>
            </a:extLst>
          </p:cNvPr>
          <p:cNvSpPr>
            <a:spLocks noGrp="1"/>
          </p:cNvSpPr>
          <p:nvPr>
            <p:ph type="title"/>
          </p:nvPr>
        </p:nvSpPr>
        <p:spPr/>
        <p:txBody>
          <a:bodyPr/>
          <a:lstStyle/>
          <a:p>
            <a:r>
              <a:rPr lang="en-US" b="0"/>
              <a:t>Example 5: </a:t>
            </a:r>
            <a:r>
              <a:rPr lang="en-US"/>
              <a:t>Searching for alternatives</a:t>
            </a:r>
          </a:p>
        </p:txBody>
      </p:sp>
      <p:sp>
        <p:nvSpPr>
          <p:cNvPr id="16" name="Rectangle 15">
            <a:extLst>
              <a:ext uri="{FF2B5EF4-FFF2-40B4-BE49-F238E27FC236}">
                <a16:creationId xmlns:a16="http://schemas.microsoft.com/office/drawing/2014/main" id="{55F3F52E-DBCE-A820-2000-24AA1F685C26}"/>
              </a:ext>
              <a:ext uri="{C183D7F6-B498-43B3-948B-1728B52AA6E4}">
                <adec:decorative xmlns:adec="http://schemas.microsoft.com/office/drawing/2017/decorative" val="1"/>
              </a:ext>
            </a:extLst>
          </p:cNvPr>
          <p:cNvSpPr/>
          <p:nvPr/>
        </p:nvSpPr>
        <p:spPr>
          <a:xfrm>
            <a:off x="0" y="3048610"/>
            <a:ext cx="12192000" cy="30445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Content Placeholder 5">
            <a:extLst>
              <a:ext uri="{FF2B5EF4-FFF2-40B4-BE49-F238E27FC236}">
                <a16:creationId xmlns:a16="http://schemas.microsoft.com/office/drawing/2014/main" id="{F91DE047-191A-E53B-2289-5AC4DB777E1F}"/>
              </a:ext>
            </a:extLst>
          </p:cNvPr>
          <p:cNvSpPr>
            <a:spLocks noGrp="1"/>
          </p:cNvSpPr>
          <p:nvPr>
            <p:ph sz="half" idx="1"/>
          </p:nvPr>
        </p:nvSpPr>
        <p:spPr>
          <a:xfrm>
            <a:off x="1055688" y="2205038"/>
            <a:ext cx="10008864" cy="843572"/>
          </a:xfrm>
        </p:spPr>
        <p:txBody>
          <a:bodyPr/>
          <a:lstStyle/>
          <a:p>
            <a:r>
              <a:rPr lang="en-US" sz="1600"/>
              <a:t>I've been using a moving average technique to fit my dataset, but I'm encountering issues with inaccuracies at the edges of the data. Could you recommend alternative data fitting methods that might provide more reliable results across the entire dataset, including the problematic edge regions?</a:t>
            </a:r>
          </a:p>
        </p:txBody>
      </p:sp>
      <p:sp>
        <p:nvSpPr>
          <p:cNvPr id="8" name="Oval 7">
            <a:extLst>
              <a:ext uri="{FF2B5EF4-FFF2-40B4-BE49-F238E27FC236}">
                <a16:creationId xmlns:a16="http://schemas.microsoft.com/office/drawing/2014/main" id="{3CB15C92-CB82-82D4-C5B9-7CE6DD6772C3}"/>
              </a:ext>
              <a:ext uri="{C183D7F6-B498-43B3-948B-1728B52AA6E4}">
                <adec:decorative xmlns:adec="http://schemas.microsoft.com/office/drawing/2017/decorative" val="1"/>
              </a:ext>
            </a:extLst>
          </p:cNvPr>
          <p:cNvSpPr/>
          <p:nvPr/>
        </p:nvSpPr>
        <p:spPr>
          <a:xfrm>
            <a:off x="191344" y="3176972"/>
            <a:ext cx="720080" cy="72008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1400">
                <a:solidFill>
                  <a:schemeClr val="tx1"/>
                </a:solidFill>
              </a:rPr>
              <a:t>AI</a:t>
            </a:r>
            <a:endParaRPr lang="en-US" sz="1400">
              <a:solidFill>
                <a:schemeClr val="tx1"/>
              </a:solidFill>
              <a:latin typeface="+mj-lt"/>
            </a:endParaRPr>
          </a:p>
        </p:txBody>
      </p:sp>
      <p:grpSp>
        <p:nvGrpSpPr>
          <p:cNvPr id="14" name="Group 13">
            <a:extLst>
              <a:ext uri="{FF2B5EF4-FFF2-40B4-BE49-F238E27FC236}">
                <a16:creationId xmlns:a16="http://schemas.microsoft.com/office/drawing/2014/main" id="{20AD82B3-7C6B-B1C2-A809-254F3A78787A}"/>
              </a:ext>
              <a:ext uri="{C183D7F6-B498-43B3-948B-1728B52AA6E4}">
                <adec:decorative xmlns:adec="http://schemas.microsoft.com/office/drawing/2017/decorative" val="1"/>
              </a:ext>
            </a:extLst>
          </p:cNvPr>
          <p:cNvGrpSpPr/>
          <p:nvPr/>
        </p:nvGrpSpPr>
        <p:grpSpPr>
          <a:xfrm>
            <a:off x="191344" y="2204864"/>
            <a:ext cx="720080" cy="720080"/>
            <a:chOff x="3359696" y="4149080"/>
            <a:chExt cx="720080" cy="720080"/>
          </a:xfrm>
        </p:grpSpPr>
        <p:sp>
          <p:nvSpPr>
            <p:cNvPr id="11" name="Oval 10">
              <a:extLst>
                <a:ext uri="{FF2B5EF4-FFF2-40B4-BE49-F238E27FC236}">
                  <a16:creationId xmlns:a16="http://schemas.microsoft.com/office/drawing/2014/main" id="{30C0B911-02E6-524E-5767-37E30A6E9267}"/>
                </a:ext>
              </a:extLst>
            </p:cNvPr>
            <p:cNvSpPr/>
            <p:nvPr/>
          </p:nvSpPr>
          <p:spPr>
            <a:xfrm>
              <a:off x="3359696" y="4149080"/>
              <a:ext cx="720080" cy="72008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endParaRPr lang="en-US" sz="1400">
                <a:solidFill>
                  <a:schemeClr val="tx1"/>
                </a:solidFill>
                <a:latin typeface="+mj-lt"/>
              </a:endParaRPr>
            </a:p>
          </p:txBody>
        </p:sp>
        <p:pic>
          <p:nvPicPr>
            <p:cNvPr id="13" name="Graphic 12" descr="User outline">
              <a:extLst>
                <a:ext uri="{FF2B5EF4-FFF2-40B4-BE49-F238E27FC236}">
                  <a16:creationId xmlns:a16="http://schemas.microsoft.com/office/drawing/2014/main" id="{B8A09F4D-0AD3-E089-7BC7-FC2AD687F2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503712" y="4272746"/>
              <a:ext cx="432048" cy="432048"/>
            </a:xfrm>
            <a:prstGeom prst="rect">
              <a:avLst/>
            </a:prstGeom>
          </p:spPr>
        </p:pic>
      </p:grpSp>
      <p:sp>
        <p:nvSpPr>
          <p:cNvPr id="15" name="Content Placeholder 5">
            <a:extLst>
              <a:ext uri="{FF2B5EF4-FFF2-40B4-BE49-F238E27FC236}">
                <a16:creationId xmlns:a16="http://schemas.microsoft.com/office/drawing/2014/main" id="{2D87B0BA-7A68-8D3C-7560-DE6D3EB8E47E}"/>
              </a:ext>
            </a:extLst>
          </p:cNvPr>
          <p:cNvSpPr txBox="1">
            <a:spLocks/>
          </p:cNvSpPr>
          <p:nvPr/>
        </p:nvSpPr>
        <p:spPr>
          <a:xfrm>
            <a:off x="1055688" y="3172513"/>
            <a:ext cx="10008864" cy="292061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a:spcAft>
                <a:spcPts val="800"/>
              </a:spcAft>
            </a:pPr>
            <a:r>
              <a:rPr lang="en-US" sz="1200"/>
              <a:t>Yes, of course. One potential issue with moving averages is the "edge effect", where there is less data to average, which results in distortion at the edges. Here are some methods you may consider:</a:t>
            </a:r>
          </a:p>
          <a:p>
            <a:pPr marL="228600" indent="-228600">
              <a:spcBef>
                <a:spcPts val="300"/>
              </a:spcBef>
              <a:buFont typeface="+mj-lt"/>
              <a:buAutoNum type="arabicPeriod"/>
            </a:pPr>
            <a:r>
              <a:rPr lang="en-US" sz="1200" b="1"/>
              <a:t>Polynomial regression</a:t>
            </a:r>
            <a:r>
              <a:rPr lang="en-US" sz="1200"/>
              <a:t>: This is a form of regression analysis in which the relationship between the independent variable x and the dependent variable y is modelled as an nth degree polynomial. This allows for more flexibility in the shape of the fitted curve.</a:t>
            </a:r>
          </a:p>
          <a:p>
            <a:pPr marL="228600" indent="-228600">
              <a:spcBef>
                <a:spcPts val="300"/>
              </a:spcBef>
              <a:buFont typeface="+mj-lt"/>
              <a:buAutoNum type="arabicPeriod"/>
            </a:pPr>
            <a:r>
              <a:rPr lang="en-US" sz="1200" b="1"/>
              <a:t>'Exponential smoothing</a:t>
            </a:r>
            <a:r>
              <a:rPr lang="en-US" sz="1200"/>
              <a:t>': This is specifically suited to time series data where trends and seasonality may be present.</a:t>
            </a:r>
          </a:p>
          <a:p>
            <a:pPr marL="228600" indent="-228600">
              <a:spcBef>
                <a:spcPts val="300"/>
              </a:spcBef>
              <a:buFont typeface="+mj-lt"/>
              <a:buAutoNum type="arabicPeriod"/>
            </a:pPr>
            <a:r>
              <a:rPr lang="en-US" sz="1200" b="1"/>
              <a:t>LOESS or LOWESS</a:t>
            </a:r>
            <a:r>
              <a:rPr lang="en-US" sz="1200"/>
              <a:t> (Locally Weighted Scatterplot Smoothing): These are more advanced types of smoothed moving averages which give more weight to points nearby in time.</a:t>
            </a:r>
          </a:p>
          <a:p>
            <a:pPr marL="228600" indent="-228600">
              <a:spcBef>
                <a:spcPts val="300"/>
              </a:spcBef>
              <a:buFont typeface="+mj-lt"/>
              <a:buAutoNum type="arabicPeriod"/>
            </a:pPr>
            <a:r>
              <a:rPr lang="en-US" sz="1200" b="1"/>
              <a:t>Cubic splines or B-splines</a:t>
            </a:r>
            <a:r>
              <a:rPr lang="en-US" sz="1200"/>
              <a:t>: These techniques are used to interpolate and smooth data. Splines provide a way to smoothly interpolate between fixed points, known as knots.</a:t>
            </a:r>
          </a:p>
          <a:p>
            <a:pPr marL="228600" indent="-228600">
              <a:spcBef>
                <a:spcPts val="300"/>
              </a:spcBef>
              <a:buFont typeface="+mj-lt"/>
              <a:buAutoNum type="arabicPeriod"/>
            </a:pPr>
            <a:r>
              <a:rPr lang="en-US" sz="1200" b="1"/>
              <a:t>Kernel regression</a:t>
            </a:r>
            <a:r>
              <a:rPr lang="en-US" sz="1200"/>
              <a:t>: This is a non-parametric technique in statistics to estimate the conditional expectation of a random variable. The objective is to estimate the conditional expectation of a response variable given certain values of predictor variables.</a:t>
            </a:r>
          </a:p>
          <a:p>
            <a:pPr marL="228600" indent="-228600">
              <a:spcBef>
                <a:spcPts val="300"/>
              </a:spcBef>
              <a:buFont typeface="+mj-lt"/>
              <a:buAutoNum type="arabicPeriod"/>
            </a:pPr>
            <a:r>
              <a:rPr lang="en-US" sz="1200" b="1"/>
              <a:t>Running median</a:t>
            </a:r>
            <a:r>
              <a:rPr lang="en-US" sz="1200"/>
              <a:t>: It can perform better than the running mean in the presence of noise or outliers.</a:t>
            </a:r>
          </a:p>
          <a:p>
            <a:r>
              <a:rPr lang="en-US" sz="1200"/>
              <a:t>Remember, you should also consider using cross-validation to estimate the optimal model parameters and reduce the risk of overfitting your data.</a:t>
            </a:r>
          </a:p>
        </p:txBody>
      </p:sp>
      <p:grpSp>
        <p:nvGrpSpPr>
          <p:cNvPr id="17" name="Group 16">
            <a:extLst>
              <a:ext uri="{FF2B5EF4-FFF2-40B4-BE49-F238E27FC236}">
                <a16:creationId xmlns:a16="http://schemas.microsoft.com/office/drawing/2014/main" id="{580852BD-0610-0D4D-59CD-AF259ADAEB25}"/>
              </a:ext>
              <a:ext uri="{C183D7F6-B498-43B3-948B-1728B52AA6E4}">
                <adec:decorative xmlns:adec="http://schemas.microsoft.com/office/drawing/2017/decorative" val="1"/>
              </a:ext>
            </a:extLst>
          </p:cNvPr>
          <p:cNvGrpSpPr/>
          <p:nvPr/>
        </p:nvGrpSpPr>
        <p:grpSpPr>
          <a:xfrm>
            <a:off x="10090747" y="149467"/>
            <a:ext cx="1918375" cy="1839372"/>
            <a:chOff x="3615902" y="4793661"/>
            <a:chExt cx="2195388" cy="2104979"/>
          </a:xfrm>
        </p:grpSpPr>
        <p:pic>
          <p:nvPicPr>
            <p:cNvPr id="18" name="Graphic 18">
              <a:extLst>
                <a:ext uri="{FF2B5EF4-FFF2-40B4-BE49-F238E27FC236}">
                  <a16:creationId xmlns:a16="http://schemas.microsoft.com/office/drawing/2014/main" id="{B3532158-5E51-9C7C-4BB1-74202FA5E5B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5042" y="4909132"/>
              <a:ext cx="1882046" cy="1882044"/>
            </a:xfrm>
            <a:prstGeom prst="rect">
              <a:avLst/>
            </a:prstGeom>
          </p:spPr>
        </p:pic>
        <p:sp>
          <p:nvSpPr>
            <p:cNvPr id="19" name="Freeform: Shape 18">
              <a:extLst>
                <a:ext uri="{FF2B5EF4-FFF2-40B4-BE49-F238E27FC236}">
                  <a16:creationId xmlns:a16="http://schemas.microsoft.com/office/drawing/2014/main" id="{FBA8F023-CEE2-AFD4-F917-8C3C378F23AF}"/>
                </a:ext>
              </a:extLst>
            </p:cNvPr>
            <p:cNvSpPr/>
            <p:nvPr/>
          </p:nvSpPr>
          <p:spPr>
            <a:xfrm>
              <a:off x="3615902" y="4793661"/>
              <a:ext cx="2195388" cy="2104979"/>
            </a:xfrm>
            <a:custGeom>
              <a:avLst/>
              <a:gdLst>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524000 w 2170176"/>
                <a:gd name="connsiteY11" fmla="*/ 1987296 h 2194560"/>
                <a:gd name="connsiteX12" fmla="*/ 1298448 w 2170176"/>
                <a:gd name="connsiteY12" fmla="*/ 1792224 h 2194560"/>
                <a:gd name="connsiteX13" fmla="*/ 1298448 w 2170176"/>
                <a:gd name="connsiteY13" fmla="*/ 1353312 h 2194560"/>
                <a:gd name="connsiteX14" fmla="*/ 944880 w 2170176"/>
                <a:gd name="connsiteY14" fmla="*/ 1505712 h 2194560"/>
                <a:gd name="connsiteX15" fmla="*/ 701040 w 2170176"/>
                <a:gd name="connsiteY15"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701040 w 2170176"/>
                <a:gd name="connsiteY14" fmla="*/ 171907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1325880 w 2170176"/>
                <a:gd name="connsiteY14" fmla="*/ 183591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325880 w 2170176"/>
                <a:gd name="connsiteY14" fmla="*/ 1835912 h 2194560"/>
                <a:gd name="connsiteX0" fmla="*/ 1295400 w 2170176"/>
                <a:gd name="connsiteY0" fmla="*/ 184099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295400 w 2170176"/>
                <a:gd name="connsiteY14" fmla="*/ 1840992 h 2194560"/>
                <a:gd name="connsiteX0" fmla="*/ 1295400 w 2170176"/>
                <a:gd name="connsiteY0" fmla="*/ 1840992 h 2133600"/>
                <a:gd name="connsiteX1" fmla="*/ 1706880 w 2170176"/>
                <a:gd name="connsiteY1" fmla="*/ 2133600 h 2133600"/>
                <a:gd name="connsiteX2" fmla="*/ 298704 w 2170176"/>
                <a:gd name="connsiteY2" fmla="*/ 1944624 h 2133600"/>
                <a:gd name="connsiteX3" fmla="*/ 0 w 2170176"/>
                <a:gd name="connsiteY3" fmla="*/ 1127760 h 2133600"/>
                <a:gd name="connsiteX4" fmla="*/ 323088 w 2170176"/>
                <a:gd name="connsiteY4" fmla="*/ 188976 h 2133600"/>
                <a:gd name="connsiteX5" fmla="*/ 1267968 w 2170176"/>
                <a:gd name="connsiteY5" fmla="*/ 0 h 2133600"/>
                <a:gd name="connsiteX6" fmla="*/ 2066544 w 2170176"/>
                <a:gd name="connsiteY6" fmla="*/ 140208 h 2133600"/>
                <a:gd name="connsiteX7" fmla="*/ 2170176 w 2170176"/>
                <a:gd name="connsiteY7" fmla="*/ 1213104 h 2133600"/>
                <a:gd name="connsiteX8" fmla="*/ 2115312 w 2170176"/>
                <a:gd name="connsiteY8" fmla="*/ 1406144 h 2133600"/>
                <a:gd name="connsiteX9" fmla="*/ 2051304 w 2170176"/>
                <a:gd name="connsiteY9" fmla="*/ 1321816 h 2133600"/>
                <a:gd name="connsiteX10" fmla="*/ 1793240 w 2170176"/>
                <a:gd name="connsiteY10" fmla="*/ 1400048 h 2133600"/>
                <a:gd name="connsiteX11" fmla="*/ 1547368 w 2170176"/>
                <a:gd name="connsiteY11" fmla="*/ 1223264 h 2133600"/>
                <a:gd name="connsiteX12" fmla="*/ 1476248 w 2170176"/>
                <a:gd name="connsiteY12" fmla="*/ 1129792 h 2133600"/>
                <a:gd name="connsiteX13" fmla="*/ 1325880 w 2170176"/>
                <a:gd name="connsiteY13" fmla="*/ 1505712 h 2133600"/>
                <a:gd name="connsiteX14" fmla="*/ 1295400 w 2170176"/>
                <a:gd name="connsiteY14" fmla="*/ 1840992 h 2133600"/>
                <a:gd name="connsiteX0" fmla="*/ 1295400 w 2170176"/>
                <a:gd name="connsiteY0" fmla="*/ 1840992 h 2133600"/>
                <a:gd name="connsiteX1" fmla="*/ 1706880 w 2170176"/>
                <a:gd name="connsiteY1" fmla="*/ 2133600 h 2133600"/>
                <a:gd name="connsiteX2" fmla="*/ 544618 w 2170176"/>
                <a:gd name="connsiteY2" fmla="*/ 1980519 h 2133600"/>
                <a:gd name="connsiteX3" fmla="*/ 298704 w 2170176"/>
                <a:gd name="connsiteY3" fmla="*/ 1944624 h 2133600"/>
                <a:gd name="connsiteX4" fmla="*/ 0 w 2170176"/>
                <a:gd name="connsiteY4" fmla="*/ 1127760 h 2133600"/>
                <a:gd name="connsiteX5" fmla="*/ 323088 w 2170176"/>
                <a:gd name="connsiteY5" fmla="*/ 188976 h 2133600"/>
                <a:gd name="connsiteX6" fmla="*/ 1267968 w 2170176"/>
                <a:gd name="connsiteY6" fmla="*/ 0 h 2133600"/>
                <a:gd name="connsiteX7" fmla="*/ 2066544 w 2170176"/>
                <a:gd name="connsiteY7" fmla="*/ 140208 h 2133600"/>
                <a:gd name="connsiteX8" fmla="*/ 2170176 w 2170176"/>
                <a:gd name="connsiteY8" fmla="*/ 1213104 h 2133600"/>
                <a:gd name="connsiteX9" fmla="*/ 2115312 w 2170176"/>
                <a:gd name="connsiteY9" fmla="*/ 1406144 h 2133600"/>
                <a:gd name="connsiteX10" fmla="*/ 2051304 w 2170176"/>
                <a:gd name="connsiteY10" fmla="*/ 1321816 h 2133600"/>
                <a:gd name="connsiteX11" fmla="*/ 1793240 w 2170176"/>
                <a:gd name="connsiteY11" fmla="*/ 1400048 h 2133600"/>
                <a:gd name="connsiteX12" fmla="*/ 1547368 w 2170176"/>
                <a:gd name="connsiteY12" fmla="*/ 1223264 h 2133600"/>
                <a:gd name="connsiteX13" fmla="*/ 1476248 w 2170176"/>
                <a:gd name="connsiteY13" fmla="*/ 1129792 h 2133600"/>
                <a:gd name="connsiteX14" fmla="*/ 1325880 w 2170176"/>
                <a:gd name="connsiteY14" fmla="*/ 1505712 h 2133600"/>
                <a:gd name="connsiteX15" fmla="*/ 1295400 w 2170176"/>
                <a:gd name="connsiteY15" fmla="*/ 1840992 h 2133600"/>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476248 w 2170176"/>
                <a:gd name="connsiteY13" fmla="*/ 1129792 h 2188799"/>
                <a:gd name="connsiteX14" fmla="*/ 1325880 w 2170176"/>
                <a:gd name="connsiteY14" fmla="*/ 1505712 h 2188799"/>
                <a:gd name="connsiteX15" fmla="*/ 1295400 w 2170176"/>
                <a:gd name="connsiteY15"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81784 w 2170176"/>
                <a:gd name="connsiteY10" fmla="*/ 13472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4752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8308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2066544 w 2081784"/>
                <a:gd name="connsiteY7" fmla="*/ 14020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1308354 w 2081784"/>
                <a:gd name="connsiteY7" fmla="*/ 12115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308354 w 2081784"/>
                <a:gd name="connsiteY7" fmla="*/ 3733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232916 w 2081784"/>
                <a:gd name="connsiteY8" fmla="*/ 34823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1783080"/>
                <a:gd name="connsiteY0" fmla="*/ 1757172 h 2104979"/>
                <a:gd name="connsiteX1" fmla="*/ 1706880 w 1783080"/>
                <a:gd name="connsiteY1" fmla="*/ 2049780 h 2104979"/>
                <a:gd name="connsiteX2" fmla="*/ 839258 w 1783080"/>
                <a:gd name="connsiteY2" fmla="*/ 2104979 h 2104979"/>
                <a:gd name="connsiteX3" fmla="*/ 298704 w 1783080"/>
                <a:gd name="connsiteY3" fmla="*/ 1860804 h 2104979"/>
                <a:gd name="connsiteX4" fmla="*/ 0 w 1783080"/>
                <a:gd name="connsiteY4" fmla="*/ 1043940 h 2104979"/>
                <a:gd name="connsiteX5" fmla="*/ 323088 w 1783080"/>
                <a:gd name="connsiteY5" fmla="*/ 105156 h 2104979"/>
                <a:gd name="connsiteX6" fmla="*/ 803148 w 1783080"/>
                <a:gd name="connsiteY6" fmla="*/ 0 h 2104979"/>
                <a:gd name="connsiteX7" fmla="*/ 1079754 w 1783080"/>
                <a:gd name="connsiteY7" fmla="*/ 44958 h 2104979"/>
                <a:gd name="connsiteX8" fmla="*/ 1232916 w 1783080"/>
                <a:gd name="connsiteY8" fmla="*/ 348234 h 2104979"/>
                <a:gd name="connsiteX9" fmla="*/ 1068324 w 1783080"/>
                <a:gd name="connsiteY9" fmla="*/ 661416 h 2104979"/>
                <a:gd name="connsiteX10" fmla="*/ 1783080 w 1783080"/>
                <a:gd name="connsiteY10" fmla="*/ 1316228 h 2104979"/>
                <a:gd name="connsiteX11" fmla="*/ 1547368 w 1783080"/>
                <a:gd name="connsiteY11" fmla="*/ 1139444 h 2104979"/>
                <a:gd name="connsiteX12" fmla="*/ 1325880 w 1783080"/>
                <a:gd name="connsiteY12" fmla="*/ 1421892 h 2104979"/>
                <a:gd name="connsiteX13" fmla="*/ 1295400 w 1783080"/>
                <a:gd name="connsiteY13" fmla="*/ 1757172 h 2104979"/>
                <a:gd name="connsiteX0" fmla="*/ 1295400 w 1706880"/>
                <a:gd name="connsiteY0" fmla="*/ 1757172 h 2104979"/>
                <a:gd name="connsiteX1" fmla="*/ 1706880 w 1706880"/>
                <a:gd name="connsiteY1" fmla="*/ 2049780 h 2104979"/>
                <a:gd name="connsiteX2" fmla="*/ 839258 w 1706880"/>
                <a:gd name="connsiteY2" fmla="*/ 2104979 h 2104979"/>
                <a:gd name="connsiteX3" fmla="*/ 298704 w 1706880"/>
                <a:gd name="connsiteY3" fmla="*/ 1860804 h 2104979"/>
                <a:gd name="connsiteX4" fmla="*/ 0 w 1706880"/>
                <a:gd name="connsiteY4" fmla="*/ 1043940 h 2104979"/>
                <a:gd name="connsiteX5" fmla="*/ 323088 w 1706880"/>
                <a:gd name="connsiteY5" fmla="*/ 105156 h 2104979"/>
                <a:gd name="connsiteX6" fmla="*/ 803148 w 1706880"/>
                <a:gd name="connsiteY6" fmla="*/ 0 h 2104979"/>
                <a:gd name="connsiteX7" fmla="*/ 1079754 w 1706880"/>
                <a:gd name="connsiteY7" fmla="*/ 44958 h 2104979"/>
                <a:gd name="connsiteX8" fmla="*/ 1232916 w 1706880"/>
                <a:gd name="connsiteY8" fmla="*/ 348234 h 2104979"/>
                <a:gd name="connsiteX9" fmla="*/ 1068324 w 1706880"/>
                <a:gd name="connsiteY9" fmla="*/ 661416 h 2104979"/>
                <a:gd name="connsiteX10" fmla="*/ 1451610 w 1706880"/>
                <a:gd name="connsiteY10" fmla="*/ 779018 h 2104979"/>
                <a:gd name="connsiteX11" fmla="*/ 1547368 w 1706880"/>
                <a:gd name="connsiteY11" fmla="*/ 1139444 h 2104979"/>
                <a:gd name="connsiteX12" fmla="*/ 1325880 w 1706880"/>
                <a:gd name="connsiteY12" fmla="*/ 1421892 h 2104979"/>
                <a:gd name="connsiteX13" fmla="*/ 1295400 w 1706880"/>
                <a:gd name="connsiteY13" fmla="*/ 1757172 h 2104979"/>
                <a:gd name="connsiteX0" fmla="*/ 1295400 w 1734058"/>
                <a:gd name="connsiteY0" fmla="*/ 1757172 h 2104979"/>
                <a:gd name="connsiteX1" fmla="*/ 1706880 w 1734058"/>
                <a:gd name="connsiteY1" fmla="*/ 2049780 h 2104979"/>
                <a:gd name="connsiteX2" fmla="*/ 839258 w 1734058"/>
                <a:gd name="connsiteY2" fmla="*/ 2104979 h 2104979"/>
                <a:gd name="connsiteX3" fmla="*/ 298704 w 1734058"/>
                <a:gd name="connsiteY3" fmla="*/ 1860804 h 2104979"/>
                <a:gd name="connsiteX4" fmla="*/ 0 w 1734058"/>
                <a:gd name="connsiteY4" fmla="*/ 1043940 h 2104979"/>
                <a:gd name="connsiteX5" fmla="*/ 323088 w 1734058"/>
                <a:gd name="connsiteY5" fmla="*/ 105156 h 2104979"/>
                <a:gd name="connsiteX6" fmla="*/ 803148 w 1734058"/>
                <a:gd name="connsiteY6" fmla="*/ 0 h 2104979"/>
                <a:gd name="connsiteX7" fmla="*/ 1079754 w 1734058"/>
                <a:gd name="connsiteY7" fmla="*/ 44958 h 2104979"/>
                <a:gd name="connsiteX8" fmla="*/ 1232916 w 1734058"/>
                <a:gd name="connsiteY8" fmla="*/ 348234 h 2104979"/>
                <a:gd name="connsiteX9" fmla="*/ 1068324 w 1734058"/>
                <a:gd name="connsiteY9" fmla="*/ 661416 h 2104979"/>
                <a:gd name="connsiteX10" fmla="*/ 1451610 w 1734058"/>
                <a:gd name="connsiteY10" fmla="*/ 779018 h 2104979"/>
                <a:gd name="connsiteX11" fmla="*/ 1734058 w 1734058"/>
                <a:gd name="connsiteY11" fmla="*/ 720344 h 2104979"/>
                <a:gd name="connsiteX12" fmla="*/ 1325880 w 1734058"/>
                <a:gd name="connsiteY12" fmla="*/ 1421892 h 2104979"/>
                <a:gd name="connsiteX13" fmla="*/ 1295400 w 1734058"/>
                <a:gd name="connsiteY13" fmla="*/ 1757172 h 2104979"/>
                <a:gd name="connsiteX0" fmla="*/ 1295400 w 1996440"/>
                <a:gd name="connsiteY0" fmla="*/ 1757172 h 2104979"/>
                <a:gd name="connsiteX1" fmla="*/ 1706880 w 1996440"/>
                <a:gd name="connsiteY1" fmla="*/ 2049780 h 2104979"/>
                <a:gd name="connsiteX2" fmla="*/ 839258 w 1996440"/>
                <a:gd name="connsiteY2" fmla="*/ 2104979 h 2104979"/>
                <a:gd name="connsiteX3" fmla="*/ 298704 w 1996440"/>
                <a:gd name="connsiteY3" fmla="*/ 1860804 h 2104979"/>
                <a:gd name="connsiteX4" fmla="*/ 0 w 1996440"/>
                <a:gd name="connsiteY4" fmla="*/ 1043940 h 2104979"/>
                <a:gd name="connsiteX5" fmla="*/ 323088 w 1996440"/>
                <a:gd name="connsiteY5" fmla="*/ 105156 h 2104979"/>
                <a:gd name="connsiteX6" fmla="*/ 803148 w 1996440"/>
                <a:gd name="connsiteY6" fmla="*/ 0 h 2104979"/>
                <a:gd name="connsiteX7" fmla="*/ 1079754 w 1996440"/>
                <a:gd name="connsiteY7" fmla="*/ 44958 h 2104979"/>
                <a:gd name="connsiteX8" fmla="*/ 1232916 w 1996440"/>
                <a:gd name="connsiteY8" fmla="*/ 348234 h 2104979"/>
                <a:gd name="connsiteX9" fmla="*/ 1068324 w 1996440"/>
                <a:gd name="connsiteY9" fmla="*/ 661416 h 2104979"/>
                <a:gd name="connsiteX10" fmla="*/ 1451610 w 1996440"/>
                <a:gd name="connsiteY10" fmla="*/ 779018 h 2104979"/>
                <a:gd name="connsiteX11" fmla="*/ 1734058 w 1996440"/>
                <a:gd name="connsiteY11" fmla="*/ 720344 h 2104979"/>
                <a:gd name="connsiteX12" fmla="*/ 1996440 w 1996440"/>
                <a:gd name="connsiteY12" fmla="*/ 23622 h 2104979"/>
                <a:gd name="connsiteX13" fmla="*/ 1295400 w 1996440"/>
                <a:gd name="connsiteY13" fmla="*/ 1757172 h 2104979"/>
                <a:gd name="connsiteX0" fmla="*/ 2228850 w 2228850"/>
                <a:gd name="connsiteY0" fmla="*/ 1341882 h 2104979"/>
                <a:gd name="connsiteX1" fmla="*/ 1706880 w 2228850"/>
                <a:gd name="connsiteY1" fmla="*/ 204978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2228850 w 2228850"/>
                <a:gd name="connsiteY11" fmla="*/ 2104979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1302315 w 2092925"/>
                <a:gd name="connsiteY0" fmla="*/ 1749558 h 2104979"/>
                <a:gd name="connsiteX1" fmla="*/ 1604010 w 2092925"/>
                <a:gd name="connsiteY1" fmla="*/ 1962150 h 2104979"/>
                <a:gd name="connsiteX2" fmla="*/ 839258 w 2092925"/>
                <a:gd name="connsiteY2" fmla="*/ 2104979 h 2104979"/>
                <a:gd name="connsiteX3" fmla="*/ 298704 w 2092925"/>
                <a:gd name="connsiteY3" fmla="*/ 1860804 h 2104979"/>
                <a:gd name="connsiteX4" fmla="*/ 0 w 2092925"/>
                <a:gd name="connsiteY4" fmla="*/ 1043940 h 2104979"/>
                <a:gd name="connsiteX5" fmla="*/ 323088 w 2092925"/>
                <a:gd name="connsiteY5" fmla="*/ 105156 h 2104979"/>
                <a:gd name="connsiteX6" fmla="*/ 803148 w 2092925"/>
                <a:gd name="connsiteY6" fmla="*/ 0 h 2104979"/>
                <a:gd name="connsiteX7" fmla="*/ 2010082 w 2092925"/>
                <a:gd name="connsiteY7" fmla="*/ 112361 h 2104979"/>
                <a:gd name="connsiteX8" fmla="*/ 1748472 w 2092925"/>
                <a:gd name="connsiteY8" fmla="*/ 703163 h 2104979"/>
                <a:gd name="connsiteX9" fmla="*/ 1451981 w 2092925"/>
                <a:gd name="connsiteY9" fmla="*/ 783827 h 2104979"/>
                <a:gd name="connsiteX10" fmla="*/ 1495582 w 2092925"/>
                <a:gd name="connsiteY10" fmla="*/ 1095578 h 2104979"/>
                <a:gd name="connsiteX11" fmla="*/ 1755012 w 2092925"/>
                <a:gd name="connsiteY11" fmla="*/ 1317947 h 2104979"/>
                <a:gd name="connsiteX12" fmla="*/ 2092925 w 2092925"/>
                <a:gd name="connsiteY12" fmla="*/ 1252545 h 2104979"/>
                <a:gd name="connsiteX13" fmla="*/ 1302315 w 2092925"/>
                <a:gd name="connsiteY13" fmla="*/ 1749558 h 2104979"/>
                <a:gd name="connsiteX0" fmla="*/ 1302315 w 2010082"/>
                <a:gd name="connsiteY0" fmla="*/ 1749558 h 2104979"/>
                <a:gd name="connsiteX1" fmla="*/ 1604010 w 2010082"/>
                <a:gd name="connsiteY1" fmla="*/ 1962150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1314636 w 2010082"/>
                <a:gd name="connsiteY12" fmla="*/ 1195862 h 2104979"/>
                <a:gd name="connsiteX13" fmla="*/ 1302315 w 2010082"/>
                <a:gd name="connsiteY13" fmla="*/ 1749558 h 2104979"/>
                <a:gd name="connsiteX0" fmla="*/ 1302315 w 2195389"/>
                <a:gd name="connsiteY0" fmla="*/ 1749558 h 2104979"/>
                <a:gd name="connsiteX1" fmla="*/ 1604010 w 2195389"/>
                <a:gd name="connsiteY1" fmla="*/ 1962150 h 2104979"/>
                <a:gd name="connsiteX2" fmla="*/ 839258 w 2195389"/>
                <a:gd name="connsiteY2" fmla="*/ 2104979 h 2104979"/>
                <a:gd name="connsiteX3" fmla="*/ 298704 w 2195389"/>
                <a:gd name="connsiteY3" fmla="*/ 1860804 h 2104979"/>
                <a:gd name="connsiteX4" fmla="*/ 0 w 2195389"/>
                <a:gd name="connsiteY4" fmla="*/ 1043940 h 2104979"/>
                <a:gd name="connsiteX5" fmla="*/ 323088 w 2195389"/>
                <a:gd name="connsiteY5" fmla="*/ 105156 h 2104979"/>
                <a:gd name="connsiteX6" fmla="*/ 803148 w 2195389"/>
                <a:gd name="connsiteY6" fmla="*/ 0 h 2104979"/>
                <a:gd name="connsiteX7" fmla="*/ 2010082 w 2195389"/>
                <a:gd name="connsiteY7" fmla="*/ 112361 h 2104979"/>
                <a:gd name="connsiteX8" fmla="*/ 1748472 w 2195389"/>
                <a:gd name="connsiteY8" fmla="*/ 703163 h 2104979"/>
                <a:gd name="connsiteX9" fmla="*/ 1451981 w 2195389"/>
                <a:gd name="connsiteY9" fmla="*/ 783827 h 2104979"/>
                <a:gd name="connsiteX10" fmla="*/ 2195389 w 2195389"/>
                <a:gd name="connsiteY10" fmla="*/ 1232924 h 2104979"/>
                <a:gd name="connsiteX11" fmla="*/ 1755012 w 2195389"/>
                <a:gd name="connsiteY11" fmla="*/ 1317947 h 2104979"/>
                <a:gd name="connsiteX12" fmla="*/ 1314636 w 2195389"/>
                <a:gd name="connsiteY12" fmla="*/ 1195862 h 2104979"/>
                <a:gd name="connsiteX13" fmla="*/ 1302315 w 2195389"/>
                <a:gd name="connsiteY13" fmla="*/ 1749558 h 2104979"/>
                <a:gd name="connsiteX0" fmla="*/ 1302315 w 2195389"/>
                <a:gd name="connsiteY0" fmla="*/ 1749558 h 2104979"/>
                <a:gd name="connsiteX1" fmla="*/ 1604010 w 2195389"/>
                <a:gd name="connsiteY1" fmla="*/ 1962150 h 2104979"/>
                <a:gd name="connsiteX2" fmla="*/ 839258 w 2195389"/>
                <a:gd name="connsiteY2" fmla="*/ 2104979 h 2104979"/>
                <a:gd name="connsiteX3" fmla="*/ 298704 w 2195389"/>
                <a:gd name="connsiteY3" fmla="*/ 1860804 h 2104979"/>
                <a:gd name="connsiteX4" fmla="*/ 0 w 2195389"/>
                <a:gd name="connsiteY4" fmla="*/ 1043940 h 2104979"/>
                <a:gd name="connsiteX5" fmla="*/ 323088 w 2195389"/>
                <a:gd name="connsiteY5" fmla="*/ 105156 h 2104979"/>
                <a:gd name="connsiteX6" fmla="*/ 803148 w 2195389"/>
                <a:gd name="connsiteY6" fmla="*/ 0 h 2104979"/>
                <a:gd name="connsiteX7" fmla="*/ 2010082 w 2195389"/>
                <a:gd name="connsiteY7" fmla="*/ 112361 h 2104979"/>
                <a:gd name="connsiteX8" fmla="*/ 1748472 w 2195389"/>
                <a:gd name="connsiteY8" fmla="*/ 703163 h 2104979"/>
                <a:gd name="connsiteX9" fmla="*/ 1451981 w 2195389"/>
                <a:gd name="connsiteY9" fmla="*/ 783827 h 2104979"/>
                <a:gd name="connsiteX10" fmla="*/ 2195389 w 2195389"/>
                <a:gd name="connsiteY10" fmla="*/ 1232924 h 2104979"/>
                <a:gd name="connsiteX11" fmla="*/ 1755012 w 2195389"/>
                <a:gd name="connsiteY11" fmla="*/ 1317947 h 2104979"/>
                <a:gd name="connsiteX12" fmla="*/ 1513023 w 2195389"/>
                <a:gd name="connsiteY12" fmla="*/ 1123920 h 2104979"/>
                <a:gd name="connsiteX13" fmla="*/ 1302315 w 2195389"/>
                <a:gd name="connsiteY13" fmla="*/ 1749558 h 2104979"/>
                <a:gd name="connsiteX0" fmla="*/ 1302315 w 2195389"/>
                <a:gd name="connsiteY0" fmla="*/ 1749558 h 2104979"/>
                <a:gd name="connsiteX1" fmla="*/ 1604010 w 2195389"/>
                <a:gd name="connsiteY1" fmla="*/ 1962150 h 2104979"/>
                <a:gd name="connsiteX2" fmla="*/ 839258 w 2195389"/>
                <a:gd name="connsiteY2" fmla="*/ 2104979 h 2104979"/>
                <a:gd name="connsiteX3" fmla="*/ 298704 w 2195389"/>
                <a:gd name="connsiteY3" fmla="*/ 1860804 h 2104979"/>
                <a:gd name="connsiteX4" fmla="*/ 0 w 2195389"/>
                <a:gd name="connsiteY4" fmla="*/ 1043940 h 2104979"/>
                <a:gd name="connsiteX5" fmla="*/ 323088 w 2195389"/>
                <a:gd name="connsiteY5" fmla="*/ 105156 h 2104979"/>
                <a:gd name="connsiteX6" fmla="*/ 803148 w 2195389"/>
                <a:gd name="connsiteY6" fmla="*/ 0 h 2104979"/>
                <a:gd name="connsiteX7" fmla="*/ 2010082 w 2195389"/>
                <a:gd name="connsiteY7" fmla="*/ 112361 h 2104979"/>
                <a:gd name="connsiteX8" fmla="*/ 1748472 w 2195389"/>
                <a:gd name="connsiteY8" fmla="*/ 703163 h 2104979"/>
                <a:gd name="connsiteX9" fmla="*/ 1451981 w 2195389"/>
                <a:gd name="connsiteY9" fmla="*/ 783827 h 2104979"/>
                <a:gd name="connsiteX10" fmla="*/ 2195389 w 2195389"/>
                <a:gd name="connsiteY10" fmla="*/ 1232924 h 2104979"/>
                <a:gd name="connsiteX11" fmla="*/ 1755012 w 2195389"/>
                <a:gd name="connsiteY11" fmla="*/ 1317947 h 2104979"/>
                <a:gd name="connsiteX12" fmla="*/ 1310275 w 2195389"/>
                <a:gd name="connsiteY12" fmla="*/ 947333 h 2104979"/>
                <a:gd name="connsiteX13" fmla="*/ 1302315 w 2195389"/>
                <a:gd name="connsiteY13" fmla="*/ 1749558 h 2104979"/>
                <a:gd name="connsiteX0" fmla="*/ 1302315 w 2195389"/>
                <a:gd name="connsiteY0" fmla="*/ 1749558 h 2104979"/>
                <a:gd name="connsiteX1" fmla="*/ 1604010 w 2195389"/>
                <a:gd name="connsiteY1" fmla="*/ 1962150 h 2104979"/>
                <a:gd name="connsiteX2" fmla="*/ 839258 w 2195389"/>
                <a:gd name="connsiteY2" fmla="*/ 2104979 h 2104979"/>
                <a:gd name="connsiteX3" fmla="*/ 298704 w 2195389"/>
                <a:gd name="connsiteY3" fmla="*/ 1860804 h 2104979"/>
                <a:gd name="connsiteX4" fmla="*/ 0 w 2195389"/>
                <a:gd name="connsiteY4" fmla="*/ 1043940 h 2104979"/>
                <a:gd name="connsiteX5" fmla="*/ 323088 w 2195389"/>
                <a:gd name="connsiteY5" fmla="*/ 105156 h 2104979"/>
                <a:gd name="connsiteX6" fmla="*/ 803148 w 2195389"/>
                <a:gd name="connsiteY6" fmla="*/ 0 h 2104979"/>
                <a:gd name="connsiteX7" fmla="*/ 2010082 w 2195389"/>
                <a:gd name="connsiteY7" fmla="*/ 112361 h 2104979"/>
                <a:gd name="connsiteX8" fmla="*/ 1748472 w 2195389"/>
                <a:gd name="connsiteY8" fmla="*/ 703163 h 2104979"/>
                <a:gd name="connsiteX9" fmla="*/ 2034063 w 2195389"/>
                <a:gd name="connsiteY9" fmla="*/ 520036 h 2104979"/>
                <a:gd name="connsiteX10" fmla="*/ 2195389 w 2195389"/>
                <a:gd name="connsiteY10" fmla="*/ 1232924 h 2104979"/>
                <a:gd name="connsiteX11" fmla="*/ 1755012 w 2195389"/>
                <a:gd name="connsiteY11" fmla="*/ 1317947 h 2104979"/>
                <a:gd name="connsiteX12" fmla="*/ 1310275 w 2195389"/>
                <a:gd name="connsiteY12" fmla="*/ 947333 h 2104979"/>
                <a:gd name="connsiteX13" fmla="*/ 1302315 w 2195389"/>
                <a:gd name="connsiteY13" fmla="*/ 1749558 h 2104979"/>
                <a:gd name="connsiteX0" fmla="*/ 1302315 w 2195389"/>
                <a:gd name="connsiteY0" fmla="*/ 1749558 h 2104979"/>
                <a:gd name="connsiteX1" fmla="*/ 1604010 w 2195389"/>
                <a:gd name="connsiteY1" fmla="*/ 1962150 h 2104979"/>
                <a:gd name="connsiteX2" fmla="*/ 839258 w 2195389"/>
                <a:gd name="connsiteY2" fmla="*/ 2104979 h 2104979"/>
                <a:gd name="connsiteX3" fmla="*/ 298704 w 2195389"/>
                <a:gd name="connsiteY3" fmla="*/ 1860804 h 2104979"/>
                <a:gd name="connsiteX4" fmla="*/ 0 w 2195389"/>
                <a:gd name="connsiteY4" fmla="*/ 1043940 h 2104979"/>
                <a:gd name="connsiteX5" fmla="*/ 323088 w 2195389"/>
                <a:gd name="connsiteY5" fmla="*/ 105156 h 2104979"/>
                <a:gd name="connsiteX6" fmla="*/ 803148 w 2195389"/>
                <a:gd name="connsiteY6" fmla="*/ 0 h 2104979"/>
                <a:gd name="connsiteX7" fmla="*/ 2010082 w 2195389"/>
                <a:gd name="connsiteY7" fmla="*/ 112361 h 2104979"/>
                <a:gd name="connsiteX8" fmla="*/ 2062404 w 2195389"/>
                <a:gd name="connsiteY8" fmla="*/ 428473 h 2104979"/>
                <a:gd name="connsiteX9" fmla="*/ 2034063 w 2195389"/>
                <a:gd name="connsiteY9" fmla="*/ 520036 h 2104979"/>
                <a:gd name="connsiteX10" fmla="*/ 2195389 w 2195389"/>
                <a:gd name="connsiteY10" fmla="*/ 1232924 h 2104979"/>
                <a:gd name="connsiteX11" fmla="*/ 1755012 w 2195389"/>
                <a:gd name="connsiteY11" fmla="*/ 1317947 h 2104979"/>
                <a:gd name="connsiteX12" fmla="*/ 1310275 w 2195389"/>
                <a:gd name="connsiteY12" fmla="*/ 947333 h 2104979"/>
                <a:gd name="connsiteX13" fmla="*/ 1302315 w 2195389"/>
                <a:gd name="connsiteY13" fmla="*/ 1749558 h 2104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5389" h="2104979">
                  <a:moveTo>
                    <a:pt x="1302315" y="1749558"/>
                  </a:moveTo>
                  <a:lnTo>
                    <a:pt x="1604010" y="1962150"/>
                  </a:lnTo>
                  <a:lnTo>
                    <a:pt x="839258" y="2104979"/>
                  </a:lnTo>
                  <a:lnTo>
                    <a:pt x="298704" y="1860804"/>
                  </a:lnTo>
                  <a:lnTo>
                    <a:pt x="0" y="1043940"/>
                  </a:lnTo>
                  <a:lnTo>
                    <a:pt x="323088" y="105156"/>
                  </a:lnTo>
                  <a:lnTo>
                    <a:pt x="803148" y="0"/>
                  </a:lnTo>
                  <a:lnTo>
                    <a:pt x="2010082" y="112361"/>
                  </a:lnTo>
                  <a:lnTo>
                    <a:pt x="2062404" y="428473"/>
                  </a:lnTo>
                  <a:lnTo>
                    <a:pt x="2034063" y="520036"/>
                  </a:lnTo>
                  <a:lnTo>
                    <a:pt x="2195389" y="1232924"/>
                  </a:lnTo>
                  <a:lnTo>
                    <a:pt x="1755012" y="1317947"/>
                  </a:lnTo>
                  <a:lnTo>
                    <a:pt x="1310275" y="947333"/>
                  </a:lnTo>
                  <a:cubicBezTo>
                    <a:pt x="1307622" y="1214741"/>
                    <a:pt x="1304968" y="1482150"/>
                    <a:pt x="1302315" y="1749558"/>
                  </a:cubicBezTo>
                  <a:close/>
                </a:path>
              </a:pathLst>
            </a:cu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7" name="Slide Number Placeholder 6">
            <a:extLst>
              <a:ext uri="{FF2B5EF4-FFF2-40B4-BE49-F238E27FC236}">
                <a16:creationId xmlns:a16="http://schemas.microsoft.com/office/drawing/2014/main" id="{91E33A0B-B9C2-D38B-FF83-A5D711B44213}"/>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t>30</a:t>
            </a:fld>
            <a:endParaRPr lang="fi-FI"/>
          </a:p>
        </p:txBody>
      </p:sp>
      <p:sp>
        <p:nvSpPr>
          <p:cNvPr id="3" name="Date Placeholder 2">
            <a:extLst>
              <a:ext uri="{FF2B5EF4-FFF2-40B4-BE49-F238E27FC236}">
                <a16:creationId xmlns:a16="http://schemas.microsoft.com/office/drawing/2014/main" id="{336EAF15-DE18-0B29-B9D4-D6D83B3B2E8A}"/>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7CD1762F-4757-BC7E-4AC6-1EE55DF6C8CC}"/>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3653157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48E0C-8BE3-B5BF-CA38-D0845B00EE5A}"/>
              </a:ext>
            </a:extLst>
          </p:cNvPr>
          <p:cNvSpPr>
            <a:spLocks noGrp="1"/>
          </p:cNvSpPr>
          <p:nvPr>
            <p:ph type="title"/>
          </p:nvPr>
        </p:nvSpPr>
        <p:spPr/>
        <p:txBody>
          <a:bodyPr/>
          <a:lstStyle/>
          <a:p>
            <a:r>
              <a:rPr lang="en-US" b="0"/>
              <a:t>Example 6: </a:t>
            </a:r>
            <a:r>
              <a:rPr lang="en-US"/>
              <a:t>Data analysis (Python)</a:t>
            </a:r>
          </a:p>
        </p:txBody>
      </p:sp>
      <p:sp>
        <p:nvSpPr>
          <p:cNvPr id="16" name="Rectangle 15">
            <a:extLst>
              <a:ext uri="{FF2B5EF4-FFF2-40B4-BE49-F238E27FC236}">
                <a16:creationId xmlns:a16="http://schemas.microsoft.com/office/drawing/2014/main" id="{55F3F52E-DBCE-A820-2000-24AA1F685C26}"/>
              </a:ext>
              <a:ext uri="{C183D7F6-B498-43B3-948B-1728B52AA6E4}">
                <adec:decorative xmlns:adec="http://schemas.microsoft.com/office/drawing/2017/decorative" val="1"/>
              </a:ext>
            </a:extLst>
          </p:cNvPr>
          <p:cNvSpPr/>
          <p:nvPr/>
        </p:nvSpPr>
        <p:spPr>
          <a:xfrm>
            <a:off x="0" y="3048610"/>
            <a:ext cx="12192000" cy="30445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mj-lt"/>
            </a:endParaRPr>
          </a:p>
        </p:txBody>
      </p:sp>
      <p:sp>
        <p:nvSpPr>
          <p:cNvPr id="31" name="Rectangle 30">
            <a:extLst>
              <a:ext uri="{FF2B5EF4-FFF2-40B4-BE49-F238E27FC236}">
                <a16:creationId xmlns:a16="http://schemas.microsoft.com/office/drawing/2014/main" id="{8B82DE52-013C-C309-F180-A543FBB258A4}"/>
              </a:ext>
              <a:ext uri="{C183D7F6-B498-43B3-948B-1728B52AA6E4}">
                <adec:decorative xmlns:adec="http://schemas.microsoft.com/office/drawing/2017/decorative" val="1"/>
              </a:ext>
            </a:extLst>
          </p:cNvPr>
          <p:cNvSpPr/>
          <p:nvPr/>
        </p:nvSpPr>
        <p:spPr>
          <a:xfrm>
            <a:off x="1055688" y="3717032"/>
            <a:ext cx="5112320" cy="17106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mj-lt"/>
            </a:endParaRPr>
          </a:p>
        </p:txBody>
      </p:sp>
      <p:sp>
        <p:nvSpPr>
          <p:cNvPr id="6" name="Content Placeholder 5">
            <a:extLst>
              <a:ext uri="{FF2B5EF4-FFF2-40B4-BE49-F238E27FC236}">
                <a16:creationId xmlns:a16="http://schemas.microsoft.com/office/drawing/2014/main" id="{F91DE047-191A-E53B-2289-5AC4DB777E1F}"/>
              </a:ext>
            </a:extLst>
          </p:cNvPr>
          <p:cNvSpPr>
            <a:spLocks noGrp="1"/>
          </p:cNvSpPr>
          <p:nvPr>
            <p:ph sz="half" idx="1"/>
          </p:nvPr>
        </p:nvSpPr>
        <p:spPr>
          <a:xfrm>
            <a:off x="1055688" y="2205038"/>
            <a:ext cx="10008864" cy="869684"/>
          </a:xfrm>
        </p:spPr>
        <p:txBody>
          <a:bodyPr/>
          <a:lstStyle/>
          <a:p>
            <a:r>
              <a:rPr lang="en-US" sz="1600"/>
              <a:t>In Python, how to calculate the 1st and the 3rd quartile of data? Provide a working example.</a:t>
            </a:r>
          </a:p>
        </p:txBody>
      </p:sp>
      <p:sp>
        <p:nvSpPr>
          <p:cNvPr id="8" name="Oval 7">
            <a:extLst>
              <a:ext uri="{FF2B5EF4-FFF2-40B4-BE49-F238E27FC236}">
                <a16:creationId xmlns:a16="http://schemas.microsoft.com/office/drawing/2014/main" id="{3CB15C92-CB82-82D4-C5B9-7CE6DD6772C3}"/>
              </a:ext>
              <a:ext uri="{C183D7F6-B498-43B3-948B-1728B52AA6E4}">
                <adec:decorative xmlns:adec="http://schemas.microsoft.com/office/drawing/2017/decorative" val="1"/>
              </a:ext>
            </a:extLst>
          </p:cNvPr>
          <p:cNvSpPr/>
          <p:nvPr/>
        </p:nvSpPr>
        <p:spPr>
          <a:xfrm>
            <a:off x="191344" y="3176972"/>
            <a:ext cx="720080" cy="72008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1400">
                <a:solidFill>
                  <a:schemeClr val="tx1"/>
                </a:solidFill>
              </a:rPr>
              <a:t>AI</a:t>
            </a:r>
            <a:endParaRPr lang="en-US" sz="1400">
              <a:solidFill>
                <a:schemeClr val="tx1"/>
              </a:solidFill>
              <a:latin typeface="+mj-lt"/>
            </a:endParaRPr>
          </a:p>
        </p:txBody>
      </p:sp>
      <p:grpSp>
        <p:nvGrpSpPr>
          <p:cNvPr id="14" name="Group 13">
            <a:extLst>
              <a:ext uri="{FF2B5EF4-FFF2-40B4-BE49-F238E27FC236}">
                <a16:creationId xmlns:a16="http://schemas.microsoft.com/office/drawing/2014/main" id="{20AD82B3-7C6B-B1C2-A809-254F3A78787A}"/>
              </a:ext>
              <a:ext uri="{C183D7F6-B498-43B3-948B-1728B52AA6E4}">
                <adec:decorative xmlns:adec="http://schemas.microsoft.com/office/drawing/2017/decorative" val="1"/>
              </a:ext>
            </a:extLst>
          </p:cNvPr>
          <p:cNvGrpSpPr/>
          <p:nvPr/>
        </p:nvGrpSpPr>
        <p:grpSpPr>
          <a:xfrm>
            <a:off x="191344" y="2204864"/>
            <a:ext cx="720080" cy="720080"/>
            <a:chOff x="3359696" y="4149080"/>
            <a:chExt cx="720080" cy="720080"/>
          </a:xfrm>
        </p:grpSpPr>
        <p:sp>
          <p:nvSpPr>
            <p:cNvPr id="11" name="Oval 10">
              <a:extLst>
                <a:ext uri="{FF2B5EF4-FFF2-40B4-BE49-F238E27FC236}">
                  <a16:creationId xmlns:a16="http://schemas.microsoft.com/office/drawing/2014/main" id="{30C0B911-02E6-524E-5767-37E30A6E9267}"/>
                </a:ext>
              </a:extLst>
            </p:cNvPr>
            <p:cNvSpPr/>
            <p:nvPr/>
          </p:nvSpPr>
          <p:spPr>
            <a:xfrm>
              <a:off x="3359696" y="4149080"/>
              <a:ext cx="720080" cy="72008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endParaRPr lang="en-US" sz="1400">
                <a:solidFill>
                  <a:schemeClr val="tx1"/>
                </a:solidFill>
                <a:latin typeface="+mj-lt"/>
              </a:endParaRPr>
            </a:p>
          </p:txBody>
        </p:sp>
        <p:pic>
          <p:nvPicPr>
            <p:cNvPr id="13" name="Graphic 12" descr="User outline">
              <a:extLst>
                <a:ext uri="{FF2B5EF4-FFF2-40B4-BE49-F238E27FC236}">
                  <a16:creationId xmlns:a16="http://schemas.microsoft.com/office/drawing/2014/main" id="{B8A09F4D-0AD3-E089-7BC7-FC2AD687F2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03712" y="4272746"/>
              <a:ext cx="432048" cy="432048"/>
            </a:xfrm>
            <a:prstGeom prst="rect">
              <a:avLst/>
            </a:prstGeom>
          </p:spPr>
        </p:pic>
      </p:grpSp>
      <p:sp>
        <p:nvSpPr>
          <p:cNvPr id="15" name="Content Placeholder 5">
            <a:extLst>
              <a:ext uri="{FF2B5EF4-FFF2-40B4-BE49-F238E27FC236}">
                <a16:creationId xmlns:a16="http://schemas.microsoft.com/office/drawing/2014/main" id="{2D87B0BA-7A68-8D3C-7560-DE6D3EB8E47E}"/>
              </a:ext>
            </a:extLst>
          </p:cNvPr>
          <p:cNvSpPr txBox="1">
            <a:spLocks/>
          </p:cNvSpPr>
          <p:nvPr/>
        </p:nvSpPr>
        <p:spPr>
          <a:xfrm>
            <a:off x="1055688" y="3172513"/>
            <a:ext cx="10008864" cy="282665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r>
              <a:rPr lang="en-US" sz="1200"/>
              <a:t>In Python, you can calculate the 1st and 3rd quartile of a data set using the numpy library's percentile function like so:</a:t>
            </a:r>
          </a:p>
          <a:p>
            <a:pPr>
              <a:spcAft>
                <a:spcPts val="800"/>
              </a:spcAft>
            </a:pPr>
            <a:r>
              <a:rPr lang="en-US" sz="1200"/>
              <a:t>Here's an example:</a:t>
            </a:r>
          </a:p>
          <a:p>
            <a:pPr>
              <a:spcBef>
                <a:spcPts val="0"/>
              </a:spcBef>
            </a:pPr>
            <a:r>
              <a:rPr lang="en-US" sz="1200">
                <a:solidFill>
                  <a:schemeClr val="bg1"/>
                </a:solidFill>
                <a:latin typeface="Consolas" panose="020B0609020204030204" pitchFamily="49" charset="0"/>
              </a:rPr>
              <a:t>import numpy as np</a:t>
            </a:r>
          </a:p>
          <a:p>
            <a:pPr>
              <a:spcBef>
                <a:spcPts val="0"/>
              </a:spcBef>
            </a:pPr>
            <a:r>
              <a:rPr lang="en-US" sz="1200">
                <a:solidFill>
                  <a:schemeClr val="bg1"/>
                </a:solidFill>
                <a:latin typeface="Consolas" panose="020B0609020204030204" pitchFamily="49" charset="0"/>
              </a:rPr>
              <a:t># Let's assume you have the following list of data:</a:t>
            </a:r>
          </a:p>
          <a:p>
            <a:pPr>
              <a:spcBef>
                <a:spcPts val="0"/>
              </a:spcBef>
            </a:pPr>
            <a:r>
              <a:rPr lang="en-US" sz="1200">
                <a:solidFill>
                  <a:schemeClr val="bg1"/>
                </a:solidFill>
                <a:latin typeface="Consolas" panose="020B0609020204030204" pitchFamily="49" charset="0"/>
              </a:rPr>
              <a:t>data = [1,2,3,4,5,6,7,8,9,10]</a:t>
            </a:r>
          </a:p>
          <a:p>
            <a:pPr>
              <a:spcBef>
                <a:spcPts val="0"/>
              </a:spcBef>
            </a:pPr>
            <a:r>
              <a:rPr lang="en-US" sz="1200">
                <a:solidFill>
                  <a:schemeClr val="bg1"/>
                </a:solidFill>
                <a:latin typeface="Consolas" panose="020B0609020204030204" pitchFamily="49" charset="0"/>
              </a:rPr>
              <a:t># Calculate the 1st quartile (25th percentile)</a:t>
            </a:r>
          </a:p>
          <a:p>
            <a:pPr>
              <a:spcBef>
                <a:spcPts val="0"/>
              </a:spcBef>
            </a:pPr>
            <a:r>
              <a:rPr lang="en-US" sz="1200">
                <a:solidFill>
                  <a:schemeClr val="bg1"/>
                </a:solidFill>
                <a:latin typeface="Consolas" panose="020B0609020204030204" pitchFamily="49" charset="0"/>
              </a:rPr>
              <a:t>Q1 = np.percentile(data, 25)</a:t>
            </a:r>
          </a:p>
          <a:p>
            <a:pPr>
              <a:spcBef>
                <a:spcPts val="0"/>
              </a:spcBef>
            </a:pPr>
            <a:r>
              <a:rPr lang="en-US" sz="1200">
                <a:solidFill>
                  <a:schemeClr val="bg1"/>
                </a:solidFill>
                <a:latin typeface="Consolas" panose="020B0609020204030204" pitchFamily="49" charset="0"/>
              </a:rPr>
              <a:t># Calculate the 3rd quartile (75th percentile)</a:t>
            </a:r>
          </a:p>
          <a:p>
            <a:pPr>
              <a:spcBef>
                <a:spcPts val="0"/>
              </a:spcBef>
            </a:pPr>
            <a:r>
              <a:rPr lang="en-US" sz="1200">
                <a:solidFill>
                  <a:schemeClr val="bg1"/>
                </a:solidFill>
                <a:latin typeface="Consolas" panose="020B0609020204030204" pitchFamily="49" charset="0"/>
              </a:rPr>
              <a:t>Q3 = np.percentile(data, 75)</a:t>
            </a:r>
          </a:p>
          <a:p>
            <a:pPr>
              <a:spcBef>
                <a:spcPts val="0"/>
              </a:spcBef>
            </a:pPr>
            <a:r>
              <a:rPr lang="en-US" sz="1200">
                <a:solidFill>
                  <a:schemeClr val="bg1"/>
                </a:solidFill>
                <a:latin typeface="Consolas" panose="020B0609020204030204" pitchFamily="49" charset="0"/>
              </a:rPr>
              <a:t>print('Q1: ', Q1)</a:t>
            </a:r>
          </a:p>
          <a:p>
            <a:pPr>
              <a:spcBef>
                <a:spcPts val="0"/>
              </a:spcBef>
            </a:pPr>
            <a:r>
              <a:rPr lang="en-US" sz="1200">
                <a:solidFill>
                  <a:schemeClr val="bg1"/>
                </a:solidFill>
                <a:latin typeface="Consolas" panose="020B0609020204030204" pitchFamily="49" charset="0"/>
              </a:rPr>
              <a:t>print('Q3: ', Q3)</a:t>
            </a:r>
          </a:p>
          <a:p>
            <a:r>
              <a:rPr lang="en-US" sz="1200"/>
              <a:t>It's important to note that numpy's percentile function uses linear interpolation by default if the desired percentile lies between two data points. It calculates this based on the sorted array.</a:t>
            </a:r>
          </a:p>
        </p:txBody>
      </p:sp>
      <p:grpSp>
        <p:nvGrpSpPr>
          <p:cNvPr id="17" name="Group 16">
            <a:extLst>
              <a:ext uri="{FF2B5EF4-FFF2-40B4-BE49-F238E27FC236}">
                <a16:creationId xmlns:a16="http://schemas.microsoft.com/office/drawing/2014/main" id="{580852BD-0610-0D4D-59CD-AF259ADAEB25}"/>
              </a:ext>
              <a:ext uri="{C183D7F6-B498-43B3-948B-1728B52AA6E4}">
                <adec:decorative xmlns:adec="http://schemas.microsoft.com/office/drawing/2017/decorative" val="1"/>
              </a:ext>
            </a:extLst>
          </p:cNvPr>
          <p:cNvGrpSpPr/>
          <p:nvPr/>
        </p:nvGrpSpPr>
        <p:grpSpPr>
          <a:xfrm>
            <a:off x="10090746" y="149467"/>
            <a:ext cx="1800265" cy="1745469"/>
            <a:chOff x="3615902" y="4793660"/>
            <a:chExt cx="2060223" cy="1997516"/>
          </a:xfrm>
        </p:grpSpPr>
        <p:pic>
          <p:nvPicPr>
            <p:cNvPr id="18" name="Graphic 18">
              <a:extLst>
                <a:ext uri="{FF2B5EF4-FFF2-40B4-BE49-F238E27FC236}">
                  <a16:creationId xmlns:a16="http://schemas.microsoft.com/office/drawing/2014/main" id="{B3532158-5E51-9C7C-4BB1-74202FA5E5B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85042" y="4909132"/>
              <a:ext cx="1882046" cy="1882044"/>
            </a:xfrm>
            <a:prstGeom prst="rect">
              <a:avLst/>
            </a:prstGeom>
          </p:spPr>
        </p:pic>
        <p:sp>
          <p:nvSpPr>
            <p:cNvPr id="19" name="Freeform: Shape 18">
              <a:extLst>
                <a:ext uri="{FF2B5EF4-FFF2-40B4-BE49-F238E27FC236}">
                  <a16:creationId xmlns:a16="http://schemas.microsoft.com/office/drawing/2014/main" id="{FBA8F023-CEE2-AFD4-F917-8C3C378F23AF}"/>
                </a:ext>
              </a:extLst>
            </p:cNvPr>
            <p:cNvSpPr/>
            <p:nvPr/>
          </p:nvSpPr>
          <p:spPr>
            <a:xfrm>
              <a:off x="3615902" y="4793660"/>
              <a:ext cx="2060223" cy="1967635"/>
            </a:xfrm>
            <a:custGeom>
              <a:avLst/>
              <a:gdLst>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524000 w 2170176"/>
                <a:gd name="connsiteY11" fmla="*/ 1987296 h 2194560"/>
                <a:gd name="connsiteX12" fmla="*/ 1298448 w 2170176"/>
                <a:gd name="connsiteY12" fmla="*/ 1792224 h 2194560"/>
                <a:gd name="connsiteX13" fmla="*/ 1298448 w 2170176"/>
                <a:gd name="connsiteY13" fmla="*/ 1353312 h 2194560"/>
                <a:gd name="connsiteX14" fmla="*/ 944880 w 2170176"/>
                <a:gd name="connsiteY14" fmla="*/ 1505712 h 2194560"/>
                <a:gd name="connsiteX15" fmla="*/ 701040 w 2170176"/>
                <a:gd name="connsiteY15"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701040 w 2170176"/>
                <a:gd name="connsiteY14" fmla="*/ 171907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1325880 w 2170176"/>
                <a:gd name="connsiteY14" fmla="*/ 183591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325880 w 2170176"/>
                <a:gd name="connsiteY14" fmla="*/ 1835912 h 2194560"/>
                <a:gd name="connsiteX0" fmla="*/ 1295400 w 2170176"/>
                <a:gd name="connsiteY0" fmla="*/ 184099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295400 w 2170176"/>
                <a:gd name="connsiteY14" fmla="*/ 1840992 h 2194560"/>
                <a:gd name="connsiteX0" fmla="*/ 1295400 w 2170176"/>
                <a:gd name="connsiteY0" fmla="*/ 1840992 h 2133600"/>
                <a:gd name="connsiteX1" fmla="*/ 1706880 w 2170176"/>
                <a:gd name="connsiteY1" fmla="*/ 2133600 h 2133600"/>
                <a:gd name="connsiteX2" fmla="*/ 298704 w 2170176"/>
                <a:gd name="connsiteY2" fmla="*/ 1944624 h 2133600"/>
                <a:gd name="connsiteX3" fmla="*/ 0 w 2170176"/>
                <a:gd name="connsiteY3" fmla="*/ 1127760 h 2133600"/>
                <a:gd name="connsiteX4" fmla="*/ 323088 w 2170176"/>
                <a:gd name="connsiteY4" fmla="*/ 188976 h 2133600"/>
                <a:gd name="connsiteX5" fmla="*/ 1267968 w 2170176"/>
                <a:gd name="connsiteY5" fmla="*/ 0 h 2133600"/>
                <a:gd name="connsiteX6" fmla="*/ 2066544 w 2170176"/>
                <a:gd name="connsiteY6" fmla="*/ 140208 h 2133600"/>
                <a:gd name="connsiteX7" fmla="*/ 2170176 w 2170176"/>
                <a:gd name="connsiteY7" fmla="*/ 1213104 h 2133600"/>
                <a:gd name="connsiteX8" fmla="*/ 2115312 w 2170176"/>
                <a:gd name="connsiteY8" fmla="*/ 1406144 h 2133600"/>
                <a:gd name="connsiteX9" fmla="*/ 2051304 w 2170176"/>
                <a:gd name="connsiteY9" fmla="*/ 1321816 h 2133600"/>
                <a:gd name="connsiteX10" fmla="*/ 1793240 w 2170176"/>
                <a:gd name="connsiteY10" fmla="*/ 1400048 h 2133600"/>
                <a:gd name="connsiteX11" fmla="*/ 1547368 w 2170176"/>
                <a:gd name="connsiteY11" fmla="*/ 1223264 h 2133600"/>
                <a:gd name="connsiteX12" fmla="*/ 1476248 w 2170176"/>
                <a:gd name="connsiteY12" fmla="*/ 1129792 h 2133600"/>
                <a:gd name="connsiteX13" fmla="*/ 1325880 w 2170176"/>
                <a:gd name="connsiteY13" fmla="*/ 1505712 h 2133600"/>
                <a:gd name="connsiteX14" fmla="*/ 1295400 w 2170176"/>
                <a:gd name="connsiteY14" fmla="*/ 1840992 h 2133600"/>
                <a:gd name="connsiteX0" fmla="*/ 1295400 w 2170176"/>
                <a:gd name="connsiteY0" fmla="*/ 1840992 h 2133600"/>
                <a:gd name="connsiteX1" fmla="*/ 1706880 w 2170176"/>
                <a:gd name="connsiteY1" fmla="*/ 2133600 h 2133600"/>
                <a:gd name="connsiteX2" fmla="*/ 544618 w 2170176"/>
                <a:gd name="connsiteY2" fmla="*/ 1980519 h 2133600"/>
                <a:gd name="connsiteX3" fmla="*/ 298704 w 2170176"/>
                <a:gd name="connsiteY3" fmla="*/ 1944624 h 2133600"/>
                <a:gd name="connsiteX4" fmla="*/ 0 w 2170176"/>
                <a:gd name="connsiteY4" fmla="*/ 1127760 h 2133600"/>
                <a:gd name="connsiteX5" fmla="*/ 323088 w 2170176"/>
                <a:gd name="connsiteY5" fmla="*/ 188976 h 2133600"/>
                <a:gd name="connsiteX6" fmla="*/ 1267968 w 2170176"/>
                <a:gd name="connsiteY6" fmla="*/ 0 h 2133600"/>
                <a:gd name="connsiteX7" fmla="*/ 2066544 w 2170176"/>
                <a:gd name="connsiteY7" fmla="*/ 140208 h 2133600"/>
                <a:gd name="connsiteX8" fmla="*/ 2170176 w 2170176"/>
                <a:gd name="connsiteY8" fmla="*/ 1213104 h 2133600"/>
                <a:gd name="connsiteX9" fmla="*/ 2115312 w 2170176"/>
                <a:gd name="connsiteY9" fmla="*/ 1406144 h 2133600"/>
                <a:gd name="connsiteX10" fmla="*/ 2051304 w 2170176"/>
                <a:gd name="connsiteY10" fmla="*/ 1321816 h 2133600"/>
                <a:gd name="connsiteX11" fmla="*/ 1793240 w 2170176"/>
                <a:gd name="connsiteY11" fmla="*/ 1400048 h 2133600"/>
                <a:gd name="connsiteX12" fmla="*/ 1547368 w 2170176"/>
                <a:gd name="connsiteY12" fmla="*/ 1223264 h 2133600"/>
                <a:gd name="connsiteX13" fmla="*/ 1476248 w 2170176"/>
                <a:gd name="connsiteY13" fmla="*/ 1129792 h 2133600"/>
                <a:gd name="connsiteX14" fmla="*/ 1325880 w 2170176"/>
                <a:gd name="connsiteY14" fmla="*/ 1505712 h 2133600"/>
                <a:gd name="connsiteX15" fmla="*/ 1295400 w 2170176"/>
                <a:gd name="connsiteY15" fmla="*/ 1840992 h 2133600"/>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476248 w 2170176"/>
                <a:gd name="connsiteY13" fmla="*/ 1129792 h 2188799"/>
                <a:gd name="connsiteX14" fmla="*/ 1325880 w 2170176"/>
                <a:gd name="connsiteY14" fmla="*/ 1505712 h 2188799"/>
                <a:gd name="connsiteX15" fmla="*/ 1295400 w 2170176"/>
                <a:gd name="connsiteY15"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81784 w 2170176"/>
                <a:gd name="connsiteY10" fmla="*/ 13472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4752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8308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2066544 w 2081784"/>
                <a:gd name="connsiteY7" fmla="*/ 14020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1308354 w 2081784"/>
                <a:gd name="connsiteY7" fmla="*/ 12115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308354 w 2081784"/>
                <a:gd name="connsiteY7" fmla="*/ 3733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232916 w 2081784"/>
                <a:gd name="connsiteY8" fmla="*/ 34823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1783080"/>
                <a:gd name="connsiteY0" fmla="*/ 1757172 h 2104979"/>
                <a:gd name="connsiteX1" fmla="*/ 1706880 w 1783080"/>
                <a:gd name="connsiteY1" fmla="*/ 2049780 h 2104979"/>
                <a:gd name="connsiteX2" fmla="*/ 839258 w 1783080"/>
                <a:gd name="connsiteY2" fmla="*/ 2104979 h 2104979"/>
                <a:gd name="connsiteX3" fmla="*/ 298704 w 1783080"/>
                <a:gd name="connsiteY3" fmla="*/ 1860804 h 2104979"/>
                <a:gd name="connsiteX4" fmla="*/ 0 w 1783080"/>
                <a:gd name="connsiteY4" fmla="*/ 1043940 h 2104979"/>
                <a:gd name="connsiteX5" fmla="*/ 323088 w 1783080"/>
                <a:gd name="connsiteY5" fmla="*/ 105156 h 2104979"/>
                <a:gd name="connsiteX6" fmla="*/ 803148 w 1783080"/>
                <a:gd name="connsiteY6" fmla="*/ 0 h 2104979"/>
                <a:gd name="connsiteX7" fmla="*/ 1079754 w 1783080"/>
                <a:gd name="connsiteY7" fmla="*/ 44958 h 2104979"/>
                <a:gd name="connsiteX8" fmla="*/ 1232916 w 1783080"/>
                <a:gd name="connsiteY8" fmla="*/ 348234 h 2104979"/>
                <a:gd name="connsiteX9" fmla="*/ 1068324 w 1783080"/>
                <a:gd name="connsiteY9" fmla="*/ 661416 h 2104979"/>
                <a:gd name="connsiteX10" fmla="*/ 1783080 w 1783080"/>
                <a:gd name="connsiteY10" fmla="*/ 1316228 h 2104979"/>
                <a:gd name="connsiteX11" fmla="*/ 1547368 w 1783080"/>
                <a:gd name="connsiteY11" fmla="*/ 1139444 h 2104979"/>
                <a:gd name="connsiteX12" fmla="*/ 1325880 w 1783080"/>
                <a:gd name="connsiteY12" fmla="*/ 1421892 h 2104979"/>
                <a:gd name="connsiteX13" fmla="*/ 1295400 w 1783080"/>
                <a:gd name="connsiteY13" fmla="*/ 1757172 h 2104979"/>
                <a:gd name="connsiteX0" fmla="*/ 1295400 w 1706880"/>
                <a:gd name="connsiteY0" fmla="*/ 1757172 h 2104979"/>
                <a:gd name="connsiteX1" fmla="*/ 1706880 w 1706880"/>
                <a:gd name="connsiteY1" fmla="*/ 2049780 h 2104979"/>
                <a:gd name="connsiteX2" fmla="*/ 839258 w 1706880"/>
                <a:gd name="connsiteY2" fmla="*/ 2104979 h 2104979"/>
                <a:gd name="connsiteX3" fmla="*/ 298704 w 1706880"/>
                <a:gd name="connsiteY3" fmla="*/ 1860804 h 2104979"/>
                <a:gd name="connsiteX4" fmla="*/ 0 w 1706880"/>
                <a:gd name="connsiteY4" fmla="*/ 1043940 h 2104979"/>
                <a:gd name="connsiteX5" fmla="*/ 323088 w 1706880"/>
                <a:gd name="connsiteY5" fmla="*/ 105156 h 2104979"/>
                <a:gd name="connsiteX6" fmla="*/ 803148 w 1706880"/>
                <a:gd name="connsiteY6" fmla="*/ 0 h 2104979"/>
                <a:gd name="connsiteX7" fmla="*/ 1079754 w 1706880"/>
                <a:gd name="connsiteY7" fmla="*/ 44958 h 2104979"/>
                <a:gd name="connsiteX8" fmla="*/ 1232916 w 1706880"/>
                <a:gd name="connsiteY8" fmla="*/ 348234 h 2104979"/>
                <a:gd name="connsiteX9" fmla="*/ 1068324 w 1706880"/>
                <a:gd name="connsiteY9" fmla="*/ 661416 h 2104979"/>
                <a:gd name="connsiteX10" fmla="*/ 1451610 w 1706880"/>
                <a:gd name="connsiteY10" fmla="*/ 779018 h 2104979"/>
                <a:gd name="connsiteX11" fmla="*/ 1547368 w 1706880"/>
                <a:gd name="connsiteY11" fmla="*/ 1139444 h 2104979"/>
                <a:gd name="connsiteX12" fmla="*/ 1325880 w 1706880"/>
                <a:gd name="connsiteY12" fmla="*/ 1421892 h 2104979"/>
                <a:gd name="connsiteX13" fmla="*/ 1295400 w 1706880"/>
                <a:gd name="connsiteY13" fmla="*/ 1757172 h 2104979"/>
                <a:gd name="connsiteX0" fmla="*/ 1295400 w 1734058"/>
                <a:gd name="connsiteY0" fmla="*/ 1757172 h 2104979"/>
                <a:gd name="connsiteX1" fmla="*/ 1706880 w 1734058"/>
                <a:gd name="connsiteY1" fmla="*/ 2049780 h 2104979"/>
                <a:gd name="connsiteX2" fmla="*/ 839258 w 1734058"/>
                <a:gd name="connsiteY2" fmla="*/ 2104979 h 2104979"/>
                <a:gd name="connsiteX3" fmla="*/ 298704 w 1734058"/>
                <a:gd name="connsiteY3" fmla="*/ 1860804 h 2104979"/>
                <a:gd name="connsiteX4" fmla="*/ 0 w 1734058"/>
                <a:gd name="connsiteY4" fmla="*/ 1043940 h 2104979"/>
                <a:gd name="connsiteX5" fmla="*/ 323088 w 1734058"/>
                <a:gd name="connsiteY5" fmla="*/ 105156 h 2104979"/>
                <a:gd name="connsiteX6" fmla="*/ 803148 w 1734058"/>
                <a:gd name="connsiteY6" fmla="*/ 0 h 2104979"/>
                <a:gd name="connsiteX7" fmla="*/ 1079754 w 1734058"/>
                <a:gd name="connsiteY7" fmla="*/ 44958 h 2104979"/>
                <a:gd name="connsiteX8" fmla="*/ 1232916 w 1734058"/>
                <a:gd name="connsiteY8" fmla="*/ 348234 h 2104979"/>
                <a:gd name="connsiteX9" fmla="*/ 1068324 w 1734058"/>
                <a:gd name="connsiteY9" fmla="*/ 661416 h 2104979"/>
                <a:gd name="connsiteX10" fmla="*/ 1451610 w 1734058"/>
                <a:gd name="connsiteY10" fmla="*/ 779018 h 2104979"/>
                <a:gd name="connsiteX11" fmla="*/ 1734058 w 1734058"/>
                <a:gd name="connsiteY11" fmla="*/ 720344 h 2104979"/>
                <a:gd name="connsiteX12" fmla="*/ 1325880 w 1734058"/>
                <a:gd name="connsiteY12" fmla="*/ 1421892 h 2104979"/>
                <a:gd name="connsiteX13" fmla="*/ 1295400 w 1734058"/>
                <a:gd name="connsiteY13" fmla="*/ 1757172 h 2104979"/>
                <a:gd name="connsiteX0" fmla="*/ 1295400 w 1996440"/>
                <a:gd name="connsiteY0" fmla="*/ 1757172 h 2104979"/>
                <a:gd name="connsiteX1" fmla="*/ 1706880 w 1996440"/>
                <a:gd name="connsiteY1" fmla="*/ 2049780 h 2104979"/>
                <a:gd name="connsiteX2" fmla="*/ 839258 w 1996440"/>
                <a:gd name="connsiteY2" fmla="*/ 2104979 h 2104979"/>
                <a:gd name="connsiteX3" fmla="*/ 298704 w 1996440"/>
                <a:gd name="connsiteY3" fmla="*/ 1860804 h 2104979"/>
                <a:gd name="connsiteX4" fmla="*/ 0 w 1996440"/>
                <a:gd name="connsiteY4" fmla="*/ 1043940 h 2104979"/>
                <a:gd name="connsiteX5" fmla="*/ 323088 w 1996440"/>
                <a:gd name="connsiteY5" fmla="*/ 105156 h 2104979"/>
                <a:gd name="connsiteX6" fmla="*/ 803148 w 1996440"/>
                <a:gd name="connsiteY6" fmla="*/ 0 h 2104979"/>
                <a:gd name="connsiteX7" fmla="*/ 1079754 w 1996440"/>
                <a:gd name="connsiteY7" fmla="*/ 44958 h 2104979"/>
                <a:gd name="connsiteX8" fmla="*/ 1232916 w 1996440"/>
                <a:gd name="connsiteY8" fmla="*/ 348234 h 2104979"/>
                <a:gd name="connsiteX9" fmla="*/ 1068324 w 1996440"/>
                <a:gd name="connsiteY9" fmla="*/ 661416 h 2104979"/>
                <a:gd name="connsiteX10" fmla="*/ 1451610 w 1996440"/>
                <a:gd name="connsiteY10" fmla="*/ 779018 h 2104979"/>
                <a:gd name="connsiteX11" fmla="*/ 1734058 w 1996440"/>
                <a:gd name="connsiteY11" fmla="*/ 720344 h 2104979"/>
                <a:gd name="connsiteX12" fmla="*/ 1996440 w 1996440"/>
                <a:gd name="connsiteY12" fmla="*/ 23622 h 2104979"/>
                <a:gd name="connsiteX13" fmla="*/ 1295400 w 1996440"/>
                <a:gd name="connsiteY13" fmla="*/ 1757172 h 2104979"/>
                <a:gd name="connsiteX0" fmla="*/ 2228850 w 2228850"/>
                <a:gd name="connsiteY0" fmla="*/ 1341882 h 2104979"/>
                <a:gd name="connsiteX1" fmla="*/ 1706880 w 2228850"/>
                <a:gd name="connsiteY1" fmla="*/ 204978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2228850 w 2228850"/>
                <a:gd name="connsiteY11" fmla="*/ 2104979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1313215 w 2092925"/>
                <a:gd name="connsiteY0" fmla="*/ 1753918 h 2104979"/>
                <a:gd name="connsiteX1" fmla="*/ 1604010 w 2092925"/>
                <a:gd name="connsiteY1" fmla="*/ 1962150 h 2104979"/>
                <a:gd name="connsiteX2" fmla="*/ 839258 w 2092925"/>
                <a:gd name="connsiteY2" fmla="*/ 2104979 h 2104979"/>
                <a:gd name="connsiteX3" fmla="*/ 298704 w 2092925"/>
                <a:gd name="connsiteY3" fmla="*/ 1860804 h 2104979"/>
                <a:gd name="connsiteX4" fmla="*/ 0 w 2092925"/>
                <a:gd name="connsiteY4" fmla="*/ 1043940 h 2104979"/>
                <a:gd name="connsiteX5" fmla="*/ 323088 w 2092925"/>
                <a:gd name="connsiteY5" fmla="*/ 105156 h 2104979"/>
                <a:gd name="connsiteX6" fmla="*/ 803148 w 2092925"/>
                <a:gd name="connsiteY6" fmla="*/ 0 h 2104979"/>
                <a:gd name="connsiteX7" fmla="*/ 2010082 w 2092925"/>
                <a:gd name="connsiteY7" fmla="*/ 112361 h 2104979"/>
                <a:gd name="connsiteX8" fmla="*/ 1748472 w 2092925"/>
                <a:gd name="connsiteY8" fmla="*/ 703163 h 2104979"/>
                <a:gd name="connsiteX9" fmla="*/ 1451981 w 2092925"/>
                <a:gd name="connsiteY9" fmla="*/ 783827 h 2104979"/>
                <a:gd name="connsiteX10" fmla="*/ 1495582 w 2092925"/>
                <a:gd name="connsiteY10" fmla="*/ 1095578 h 2104979"/>
                <a:gd name="connsiteX11" fmla="*/ 1755012 w 2092925"/>
                <a:gd name="connsiteY11" fmla="*/ 1317947 h 2104979"/>
                <a:gd name="connsiteX12" fmla="*/ 2092925 w 2092925"/>
                <a:gd name="connsiteY12" fmla="*/ 1252545 h 2104979"/>
                <a:gd name="connsiteX13" fmla="*/ 1313215 w 2092925"/>
                <a:gd name="connsiteY13" fmla="*/ 1753918 h 2104979"/>
                <a:gd name="connsiteX0" fmla="*/ 1313215 w 2010082"/>
                <a:gd name="connsiteY0" fmla="*/ 1753918 h 2104979"/>
                <a:gd name="connsiteX1" fmla="*/ 1604010 w 2010082"/>
                <a:gd name="connsiteY1" fmla="*/ 1962150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926581 w 2010082"/>
                <a:gd name="connsiteY12" fmla="*/ 1440032 h 2104979"/>
                <a:gd name="connsiteX13" fmla="*/ 1313215 w 2010082"/>
                <a:gd name="connsiteY13" fmla="*/ 1753918 h 2104979"/>
                <a:gd name="connsiteX0" fmla="*/ 1313215 w 2010082"/>
                <a:gd name="connsiteY0" fmla="*/ 1753918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926581 w 2010082"/>
                <a:gd name="connsiteY12" fmla="*/ 1440032 h 2104979"/>
                <a:gd name="connsiteX13" fmla="*/ 1313215 w 2010082"/>
                <a:gd name="connsiteY13" fmla="*/ 1753918 h 2104979"/>
                <a:gd name="connsiteX0" fmla="*/ 1313215 w 2010082"/>
                <a:gd name="connsiteY0" fmla="*/ 1753918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1290655 w 2010082"/>
                <a:gd name="connsiteY12" fmla="*/ 1435672 h 2104979"/>
                <a:gd name="connsiteX13" fmla="*/ 1313215 w 2010082"/>
                <a:gd name="connsiteY13" fmla="*/ 1753918 h 2104979"/>
                <a:gd name="connsiteX0" fmla="*/ 994923 w 2010082"/>
                <a:gd name="connsiteY0" fmla="*/ 1405105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1290655 w 2010082"/>
                <a:gd name="connsiteY12" fmla="*/ 1435672 h 2104979"/>
                <a:gd name="connsiteX13" fmla="*/ 994923 w 2010082"/>
                <a:gd name="connsiteY13" fmla="*/ 1405105 h 2104979"/>
                <a:gd name="connsiteX0" fmla="*/ 994923 w 2010082"/>
                <a:gd name="connsiteY0" fmla="*/ 1405105 h 1967634"/>
                <a:gd name="connsiteX1" fmla="*/ 716716 w 2010082"/>
                <a:gd name="connsiteY1" fmla="*/ 1632957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755012 w 2010082"/>
                <a:gd name="connsiteY11" fmla="*/ 1317947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755012 w 2010082"/>
                <a:gd name="connsiteY11" fmla="*/ 1317947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558805 w 2010082"/>
                <a:gd name="connsiteY10" fmla="*/ 1932730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975201 w 2010082"/>
                <a:gd name="connsiteY9" fmla="*/ 1629699 h 1967634"/>
                <a:gd name="connsiteX10" fmla="*/ 1558805 w 2010082"/>
                <a:gd name="connsiteY10" fmla="*/ 1932730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55864"/>
                <a:gd name="connsiteY0" fmla="*/ 1405105 h 1967634"/>
                <a:gd name="connsiteX1" fmla="*/ 692735 w 2055864"/>
                <a:gd name="connsiteY1" fmla="*/ 1643858 h 1967634"/>
                <a:gd name="connsiteX2" fmla="*/ 697553 w 2055864"/>
                <a:gd name="connsiteY2" fmla="*/ 1967634 h 1967634"/>
                <a:gd name="connsiteX3" fmla="*/ 298704 w 2055864"/>
                <a:gd name="connsiteY3" fmla="*/ 1860804 h 1967634"/>
                <a:gd name="connsiteX4" fmla="*/ 0 w 2055864"/>
                <a:gd name="connsiteY4" fmla="*/ 1043940 h 1967634"/>
                <a:gd name="connsiteX5" fmla="*/ 323088 w 2055864"/>
                <a:gd name="connsiteY5" fmla="*/ 105156 h 1967634"/>
                <a:gd name="connsiteX6" fmla="*/ 803148 w 2055864"/>
                <a:gd name="connsiteY6" fmla="*/ 0 h 1967634"/>
                <a:gd name="connsiteX7" fmla="*/ 2010082 w 2055864"/>
                <a:gd name="connsiteY7" fmla="*/ 112361 h 1967634"/>
                <a:gd name="connsiteX8" fmla="*/ 2055864 w 2055864"/>
                <a:gd name="connsiteY8" fmla="*/ 1283065 h 1967634"/>
                <a:gd name="connsiteX9" fmla="*/ 1975201 w 2055864"/>
                <a:gd name="connsiteY9" fmla="*/ 1629699 h 1967634"/>
                <a:gd name="connsiteX10" fmla="*/ 1558805 w 2055864"/>
                <a:gd name="connsiteY10" fmla="*/ 1932730 h 1967634"/>
                <a:gd name="connsiteX11" fmla="*/ 1297195 w 2055864"/>
                <a:gd name="connsiteY11" fmla="*/ 1751784 h 1967634"/>
                <a:gd name="connsiteX12" fmla="*/ 1290655 w 2055864"/>
                <a:gd name="connsiteY12" fmla="*/ 1435672 h 1967634"/>
                <a:gd name="connsiteX13" fmla="*/ 994923 w 2055864"/>
                <a:gd name="connsiteY13"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98704 w 2060224"/>
                <a:gd name="connsiteY3" fmla="*/ 1860804 h 1967634"/>
                <a:gd name="connsiteX4" fmla="*/ 0 w 2060224"/>
                <a:gd name="connsiteY4" fmla="*/ 1043940 h 1967634"/>
                <a:gd name="connsiteX5" fmla="*/ 323088 w 2060224"/>
                <a:gd name="connsiteY5" fmla="*/ 105156 h 1967634"/>
                <a:gd name="connsiteX6" fmla="*/ 803148 w 2060224"/>
                <a:gd name="connsiteY6" fmla="*/ 0 h 1967634"/>
                <a:gd name="connsiteX7" fmla="*/ 2060224 w 2060224"/>
                <a:gd name="connsiteY7" fmla="*/ 709703 h 1967634"/>
                <a:gd name="connsiteX8" fmla="*/ 2055864 w 2060224"/>
                <a:gd name="connsiteY8" fmla="*/ 1283065 h 1967634"/>
                <a:gd name="connsiteX9" fmla="*/ 1975201 w 2060224"/>
                <a:gd name="connsiteY9" fmla="*/ 1629699 h 1967634"/>
                <a:gd name="connsiteX10" fmla="*/ 1558805 w 2060224"/>
                <a:gd name="connsiteY10" fmla="*/ 1932730 h 1967634"/>
                <a:gd name="connsiteX11" fmla="*/ 1297195 w 2060224"/>
                <a:gd name="connsiteY11" fmla="*/ 1751784 h 1967634"/>
                <a:gd name="connsiteX12" fmla="*/ 1290655 w 2060224"/>
                <a:gd name="connsiteY12" fmla="*/ 1435672 h 1967634"/>
                <a:gd name="connsiteX13" fmla="*/ 994923 w 2060224"/>
                <a:gd name="connsiteY13"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98704 w 2060224"/>
                <a:gd name="connsiteY3" fmla="*/ 1860804 h 1967634"/>
                <a:gd name="connsiteX4" fmla="*/ 0 w 2060224"/>
                <a:gd name="connsiteY4" fmla="*/ 1043940 h 1967634"/>
                <a:gd name="connsiteX5" fmla="*/ 323088 w 2060224"/>
                <a:gd name="connsiteY5" fmla="*/ 105156 h 1967634"/>
                <a:gd name="connsiteX6" fmla="*/ 803148 w 2060224"/>
                <a:gd name="connsiteY6" fmla="*/ 0 h 1967634"/>
                <a:gd name="connsiteX7" fmla="*/ 1781172 w 2060224"/>
                <a:gd name="connsiteY7" fmla="*/ 136342 h 1967634"/>
                <a:gd name="connsiteX8" fmla="*/ 2060224 w 2060224"/>
                <a:gd name="connsiteY8" fmla="*/ 709703 h 1967634"/>
                <a:gd name="connsiteX9" fmla="*/ 2055864 w 2060224"/>
                <a:gd name="connsiteY9" fmla="*/ 1283065 h 1967634"/>
                <a:gd name="connsiteX10" fmla="*/ 1975201 w 2060224"/>
                <a:gd name="connsiteY10" fmla="*/ 1629699 h 1967634"/>
                <a:gd name="connsiteX11" fmla="*/ 1558805 w 2060224"/>
                <a:gd name="connsiteY11" fmla="*/ 1932730 h 1967634"/>
                <a:gd name="connsiteX12" fmla="*/ 1297195 w 2060224"/>
                <a:gd name="connsiteY12" fmla="*/ 1751784 h 1967634"/>
                <a:gd name="connsiteX13" fmla="*/ 1290655 w 2060224"/>
                <a:gd name="connsiteY13" fmla="*/ 1435672 h 1967634"/>
                <a:gd name="connsiteX14" fmla="*/ 994923 w 2060224"/>
                <a:gd name="connsiteY14" fmla="*/ 1405105 h 1967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60224" h="1967634">
                  <a:moveTo>
                    <a:pt x="994923" y="1405105"/>
                  </a:moveTo>
                  <a:lnTo>
                    <a:pt x="692735" y="1643858"/>
                  </a:lnTo>
                  <a:lnTo>
                    <a:pt x="697553" y="1967634"/>
                  </a:lnTo>
                  <a:lnTo>
                    <a:pt x="298704" y="1860804"/>
                  </a:lnTo>
                  <a:lnTo>
                    <a:pt x="0" y="1043940"/>
                  </a:lnTo>
                  <a:lnTo>
                    <a:pt x="323088" y="105156"/>
                  </a:lnTo>
                  <a:lnTo>
                    <a:pt x="803148" y="0"/>
                  </a:lnTo>
                  <a:cubicBezTo>
                    <a:pt x="1196012" y="222034"/>
                    <a:pt x="1388308" y="-85692"/>
                    <a:pt x="1781172" y="136342"/>
                  </a:cubicBezTo>
                  <a:lnTo>
                    <a:pt x="2060224" y="709703"/>
                  </a:lnTo>
                  <a:cubicBezTo>
                    <a:pt x="2058771" y="900824"/>
                    <a:pt x="2057317" y="1091944"/>
                    <a:pt x="2055864" y="1283065"/>
                  </a:cubicBezTo>
                  <a:lnTo>
                    <a:pt x="1975201" y="1629699"/>
                  </a:lnTo>
                  <a:lnTo>
                    <a:pt x="1558805" y="1932730"/>
                  </a:lnTo>
                  <a:lnTo>
                    <a:pt x="1297195" y="1751784"/>
                  </a:lnTo>
                  <a:lnTo>
                    <a:pt x="1290655" y="1435672"/>
                  </a:lnTo>
                  <a:lnTo>
                    <a:pt x="994923" y="1405105"/>
                  </a:lnTo>
                  <a:close/>
                </a:path>
              </a:pathLst>
            </a:cu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32" name="Freeform: Shape 31">
            <a:extLst>
              <a:ext uri="{FF2B5EF4-FFF2-40B4-BE49-F238E27FC236}">
                <a16:creationId xmlns:a16="http://schemas.microsoft.com/office/drawing/2014/main" id="{384053B7-E067-3478-3B48-60F8FB9C2ED9}"/>
              </a:ext>
              <a:ext uri="{C183D7F6-B498-43B3-948B-1728B52AA6E4}">
                <adec:decorative xmlns:adec="http://schemas.microsoft.com/office/drawing/2017/decorative" val="1"/>
              </a:ext>
            </a:extLst>
          </p:cNvPr>
          <p:cNvSpPr/>
          <p:nvPr/>
        </p:nvSpPr>
        <p:spPr>
          <a:xfrm>
            <a:off x="1424157" y="1715617"/>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71C37DCB-B3AF-C43B-9B08-DFBA5FB834BB}"/>
              </a:ext>
              <a:ext uri="{C183D7F6-B498-43B3-948B-1728B52AA6E4}">
                <adec:decorative xmlns:adec="http://schemas.microsoft.com/office/drawing/2017/decorative" val="1"/>
              </a:ext>
            </a:extLst>
          </p:cNvPr>
          <p:cNvSpPr txBox="1"/>
          <p:nvPr/>
        </p:nvSpPr>
        <p:spPr>
          <a:xfrm>
            <a:off x="1948050" y="1556792"/>
            <a:ext cx="1776448" cy="276999"/>
          </a:xfrm>
          <a:prstGeom prst="rect">
            <a:avLst/>
          </a:prstGeom>
          <a:noFill/>
        </p:spPr>
        <p:txBody>
          <a:bodyPr wrap="none" rtlCol="0">
            <a:spAutoFit/>
          </a:bodyPr>
          <a:lstStyle/>
          <a:p>
            <a:pPr algn="l"/>
            <a:r>
              <a:rPr lang="en-US" sz="1200">
                <a:solidFill>
                  <a:schemeClr val="bg1">
                    <a:lumMod val="50000"/>
                  </a:schemeClr>
                </a:solidFill>
                <a:latin typeface="+mj-lt"/>
              </a:rPr>
              <a:t>Programming language</a:t>
            </a:r>
          </a:p>
        </p:txBody>
      </p:sp>
      <p:sp>
        <p:nvSpPr>
          <p:cNvPr id="34" name="Freeform: Shape 33">
            <a:extLst>
              <a:ext uri="{FF2B5EF4-FFF2-40B4-BE49-F238E27FC236}">
                <a16:creationId xmlns:a16="http://schemas.microsoft.com/office/drawing/2014/main" id="{E018CFDE-82E0-83AA-5822-974C4C836919}"/>
              </a:ext>
              <a:ext uri="{C183D7F6-B498-43B3-948B-1728B52AA6E4}">
                <adec:decorative xmlns:adec="http://schemas.microsoft.com/office/drawing/2017/decorative" val="1"/>
              </a:ext>
            </a:extLst>
          </p:cNvPr>
          <p:cNvSpPr/>
          <p:nvPr/>
        </p:nvSpPr>
        <p:spPr>
          <a:xfrm>
            <a:off x="4636003" y="1661159"/>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A43AAAEA-0EBA-1A8E-F381-5708C429C515}"/>
              </a:ext>
              <a:ext uri="{C183D7F6-B498-43B3-948B-1728B52AA6E4}">
                <adec:decorative xmlns:adec="http://schemas.microsoft.com/office/drawing/2017/decorative" val="1"/>
              </a:ext>
            </a:extLst>
          </p:cNvPr>
          <p:cNvSpPr txBox="1"/>
          <p:nvPr/>
        </p:nvSpPr>
        <p:spPr>
          <a:xfrm>
            <a:off x="5159896" y="1495817"/>
            <a:ext cx="1858201" cy="276999"/>
          </a:xfrm>
          <a:prstGeom prst="rect">
            <a:avLst/>
          </a:prstGeom>
          <a:noFill/>
        </p:spPr>
        <p:txBody>
          <a:bodyPr wrap="none" rtlCol="0">
            <a:spAutoFit/>
          </a:bodyPr>
          <a:lstStyle/>
          <a:p>
            <a:pPr algn="l"/>
            <a:r>
              <a:rPr lang="en-US" sz="1200">
                <a:solidFill>
                  <a:schemeClr val="bg1">
                    <a:lumMod val="50000"/>
                  </a:schemeClr>
                </a:solidFill>
                <a:latin typeface="+mj-lt"/>
              </a:rPr>
              <a:t>Statistics measurements</a:t>
            </a:r>
          </a:p>
        </p:txBody>
      </p:sp>
      <p:sp>
        <p:nvSpPr>
          <p:cNvPr id="7" name="Slide Number Placeholder 6">
            <a:extLst>
              <a:ext uri="{FF2B5EF4-FFF2-40B4-BE49-F238E27FC236}">
                <a16:creationId xmlns:a16="http://schemas.microsoft.com/office/drawing/2014/main" id="{84D3F189-05D8-67EA-BF2F-026BC18F6F86}"/>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t>31</a:t>
            </a:fld>
            <a:endParaRPr lang="fi-FI"/>
          </a:p>
        </p:txBody>
      </p:sp>
      <p:sp>
        <p:nvSpPr>
          <p:cNvPr id="3" name="Date Placeholder 2">
            <a:extLst>
              <a:ext uri="{FF2B5EF4-FFF2-40B4-BE49-F238E27FC236}">
                <a16:creationId xmlns:a16="http://schemas.microsoft.com/office/drawing/2014/main" id="{67E264BA-982B-34C9-66CB-C73009B12935}"/>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C1DE3403-6B60-5BE3-8AD8-DED2261BBF94}"/>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729287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48E0C-8BE3-B5BF-CA38-D0845B00EE5A}"/>
              </a:ext>
            </a:extLst>
          </p:cNvPr>
          <p:cNvSpPr>
            <a:spLocks noGrp="1"/>
          </p:cNvSpPr>
          <p:nvPr>
            <p:ph type="title"/>
          </p:nvPr>
        </p:nvSpPr>
        <p:spPr/>
        <p:txBody>
          <a:bodyPr/>
          <a:lstStyle/>
          <a:p>
            <a:r>
              <a:rPr lang="en-US" b="0"/>
              <a:t>Example 7: </a:t>
            </a:r>
            <a:r>
              <a:rPr lang="en-US"/>
              <a:t>Data analysis (Excel)</a:t>
            </a:r>
          </a:p>
        </p:txBody>
      </p:sp>
      <p:sp>
        <p:nvSpPr>
          <p:cNvPr id="16" name="Rectangle 15">
            <a:extLst>
              <a:ext uri="{FF2B5EF4-FFF2-40B4-BE49-F238E27FC236}">
                <a16:creationId xmlns:a16="http://schemas.microsoft.com/office/drawing/2014/main" id="{55F3F52E-DBCE-A820-2000-24AA1F685C26}"/>
              </a:ext>
              <a:ext uri="{C183D7F6-B498-43B3-948B-1728B52AA6E4}">
                <adec:decorative xmlns:adec="http://schemas.microsoft.com/office/drawing/2017/decorative" val="1"/>
              </a:ext>
            </a:extLst>
          </p:cNvPr>
          <p:cNvSpPr/>
          <p:nvPr/>
        </p:nvSpPr>
        <p:spPr>
          <a:xfrm>
            <a:off x="0" y="3048610"/>
            <a:ext cx="12192000" cy="30445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Content Placeholder 5">
            <a:extLst>
              <a:ext uri="{FF2B5EF4-FFF2-40B4-BE49-F238E27FC236}">
                <a16:creationId xmlns:a16="http://schemas.microsoft.com/office/drawing/2014/main" id="{F91DE047-191A-E53B-2289-5AC4DB777E1F}"/>
              </a:ext>
            </a:extLst>
          </p:cNvPr>
          <p:cNvSpPr>
            <a:spLocks noGrp="1"/>
          </p:cNvSpPr>
          <p:nvPr>
            <p:ph sz="half" idx="1"/>
          </p:nvPr>
        </p:nvSpPr>
        <p:spPr>
          <a:xfrm>
            <a:off x="1055688" y="2205038"/>
            <a:ext cx="10008864" cy="843572"/>
          </a:xfrm>
        </p:spPr>
        <p:txBody>
          <a:bodyPr/>
          <a:lstStyle/>
          <a:p>
            <a:r>
              <a:rPr lang="en-US" sz="1600"/>
              <a:t>In Excel, how to calculate the 1st and the 3rd quartile of data? Provide a working example.</a:t>
            </a:r>
          </a:p>
        </p:txBody>
      </p:sp>
      <p:sp>
        <p:nvSpPr>
          <p:cNvPr id="8" name="Oval 7">
            <a:extLst>
              <a:ext uri="{FF2B5EF4-FFF2-40B4-BE49-F238E27FC236}">
                <a16:creationId xmlns:a16="http://schemas.microsoft.com/office/drawing/2014/main" id="{3CB15C92-CB82-82D4-C5B9-7CE6DD6772C3}"/>
              </a:ext>
              <a:ext uri="{C183D7F6-B498-43B3-948B-1728B52AA6E4}">
                <adec:decorative xmlns:adec="http://schemas.microsoft.com/office/drawing/2017/decorative" val="1"/>
              </a:ext>
            </a:extLst>
          </p:cNvPr>
          <p:cNvSpPr/>
          <p:nvPr/>
        </p:nvSpPr>
        <p:spPr>
          <a:xfrm>
            <a:off x="191344" y="3176972"/>
            <a:ext cx="720080" cy="72008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1400">
                <a:solidFill>
                  <a:schemeClr val="tx1"/>
                </a:solidFill>
              </a:rPr>
              <a:t>AI</a:t>
            </a:r>
            <a:endParaRPr lang="en-US" sz="1400">
              <a:solidFill>
                <a:schemeClr val="tx1"/>
              </a:solidFill>
              <a:latin typeface="+mj-lt"/>
            </a:endParaRPr>
          </a:p>
        </p:txBody>
      </p:sp>
      <p:grpSp>
        <p:nvGrpSpPr>
          <p:cNvPr id="14" name="Group 13">
            <a:extLst>
              <a:ext uri="{FF2B5EF4-FFF2-40B4-BE49-F238E27FC236}">
                <a16:creationId xmlns:a16="http://schemas.microsoft.com/office/drawing/2014/main" id="{20AD82B3-7C6B-B1C2-A809-254F3A78787A}"/>
              </a:ext>
              <a:ext uri="{C183D7F6-B498-43B3-948B-1728B52AA6E4}">
                <adec:decorative xmlns:adec="http://schemas.microsoft.com/office/drawing/2017/decorative" val="1"/>
              </a:ext>
            </a:extLst>
          </p:cNvPr>
          <p:cNvGrpSpPr/>
          <p:nvPr/>
        </p:nvGrpSpPr>
        <p:grpSpPr>
          <a:xfrm>
            <a:off x="191344" y="2204864"/>
            <a:ext cx="720080" cy="720080"/>
            <a:chOff x="3359696" y="4149080"/>
            <a:chExt cx="720080" cy="720080"/>
          </a:xfrm>
        </p:grpSpPr>
        <p:sp>
          <p:nvSpPr>
            <p:cNvPr id="11" name="Oval 10">
              <a:extLst>
                <a:ext uri="{FF2B5EF4-FFF2-40B4-BE49-F238E27FC236}">
                  <a16:creationId xmlns:a16="http://schemas.microsoft.com/office/drawing/2014/main" id="{30C0B911-02E6-524E-5767-37E30A6E9267}"/>
                </a:ext>
              </a:extLst>
            </p:cNvPr>
            <p:cNvSpPr/>
            <p:nvPr/>
          </p:nvSpPr>
          <p:spPr>
            <a:xfrm>
              <a:off x="3359696" y="4149080"/>
              <a:ext cx="720080" cy="72008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endParaRPr lang="en-US" sz="1400">
                <a:solidFill>
                  <a:schemeClr val="tx1"/>
                </a:solidFill>
                <a:latin typeface="+mj-lt"/>
              </a:endParaRPr>
            </a:p>
          </p:txBody>
        </p:sp>
        <p:pic>
          <p:nvPicPr>
            <p:cNvPr id="13" name="Graphic 12" descr="User outline">
              <a:extLst>
                <a:ext uri="{FF2B5EF4-FFF2-40B4-BE49-F238E27FC236}">
                  <a16:creationId xmlns:a16="http://schemas.microsoft.com/office/drawing/2014/main" id="{B8A09F4D-0AD3-E089-7BC7-FC2AD687F2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03712" y="4272746"/>
              <a:ext cx="432048" cy="432048"/>
            </a:xfrm>
            <a:prstGeom prst="rect">
              <a:avLst/>
            </a:prstGeom>
          </p:spPr>
        </p:pic>
      </p:grpSp>
      <p:sp>
        <p:nvSpPr>
          <p:cNvPr id="15" name="Content Placeholder 5">
            <a:extLst>
              <a:ext uri="{FF2B5EF4-FFF2-40B4-BE49-F238E27FC236}">
                <a16:creationId xmlns:a16="http://schemas.microsoft.com/office/drawing/2014/main" id="{2D87B0BA-7A68-8D3C-7560-DE6D3EB8E47E}"/>
              </a:ext>
            </a:extLst>
          </p:cNvPr>
          <p:cNvSpPr txBox="1">
            <a:spLocks/>
          </p:cNvSpPr>
          <p:nvPr/>
        </p:nvSpPr>
        <p:spPr>
          <a:xfrm>
            <a:off x="1055688" y="3172513"/>
            <a:ext cx="10008864" cy="292061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a:spcAft>
                <a:spcPts val="800"/>
              </a:spcAft>
            </a:pPr>
            <a:r>
              <a:rPr lang="en-US" sz="1200"/>
              <a:t>In Excel, you can calculate the 1st and 3rd quartile of a data set using the QUARTILE.INC function. Here's how to do it:</a:t>
            </a:r>
          </a:p>
          <a:p>
            <a:pPr marL="228600" indent="-228600">
              <a:spcBef>
                <a:spcPts val="0"/>
              </a:spcBef>
              <a:spcAft>
                <a:spcPts val="400"/>
              </a:spcAft>
              <a:buFont typeface="+mj-lt"/>
              <a:buAutoNum type="arabicPeriod"/>
            </a:pPr>
            <a:r>
              <a:rPr lang="en-US" sz="1200"/>
              <a:t>Let's assume you have the following data in cells A2 to A11: </a:t>
            </a:r>
            <a:br>
              <a:rPr lang="en-US" sz="1200"/>
            </a:br>
            <a:r>
              <a:rPr lang="en-US" sz="1200"/>
              <a:t>1,2,3,4,5,6,7,8,9,10 </a:t>
            </a:r>
          </a:p>
          <a:p>
            <a:pPr marL="228600" indent="-228600">
              <a:spcBef>
                <a:spcPts val="0"/>
              </a:spcBef>
              <a:spcAft>
                <a:spcPts val="400"/>
              </a:spcAft>
              <a:buFont typeface="+mj-lt"/>
              <a:buAutoNum type="arabicPeriod"/>
            </a:pPr>
            <a:r>
              <a:rPr lang="en-US" sz="1200"/>
              <a:t>To calculate the 1st quartile (25th percentile), type the following formula into any empty cell: </a:t>
            </a:r>
            <a:br>
              <a:rPr lang="en-US" sz="1200"/>
            </a:br>
            <a:r>
              <a:rPr lang="en-US" sz="1200"/>
              <a:t>=QUARTILE.INC(A2:A11, 1)</a:t>
            </a:r>
            <a:br>
              <a:rPr lang="en-US" sz="1200"/>
            </a:br>
            <a:r>
              <a:rPr lang="en-US" sz="1200"/>
              <a:t>Press Enter to get the result.</a:t>
            </a:r>
          </a:p>
          <a:p>
            <a:pPr marL="228600" indent="-228600">
              <a:spcBef>
                <a:spcPts val="0"/>
              </a:spcBef>
              <a:spcAft>
                <a:spcPts val="400"/>
              </a:spcAft>
              <a:buFont typeface="+mj-lt"/>
              <a:buAutoNum type="arabicPeriod"/>
            </a:pPr>
            <a:r>
              <a:rPr lang="en-US" sz="1200"/>
              <a:t>To calculate the 3rd quartile (75th percentile), type the following formula into any empty cell:</a:t>
            </a:r>
            <a:br>
              <a:rPr lang="en-US" sz="1200"/>
            </a:br>
            <a:r>
              <a:rPr lang="en-US" sz="1200"/>
              <a:t>=QUARTILE.INC(A2:A11, 3)</a:t>
            </a:r>
            <a:br>
              <a:rPr lang="en-US" sz="1200"/>
            </a:br>
            <a:r>
              <a:rPr lang="en-US" sz="1200"/>
              <a:t>Press Enter to get the result.</a:t>
            </a:r>
          </a:p>
          <a:p>
            <a:r>
              <a:rPr lang="en-US" sz="1200"/>
              <a:t>Note: The QUARTILE.INC function takes two arguments. The first argument is the array or range of cells containing the data, and the second argument is a number representing which quartile you want to calculate. A '1' represents the first quartile (25th percentile) and a '3' represents the third quartile (75th percentile).</a:t>
            </a:r>
          </a:p>
        </p:txBody>
      </p:sp>
      <p:grpSp>
        <p:nvGrpSpPr>
          <p:cNvPr id="17" name="Group 16">
            <a:extLst>
              <a:ext uri="{FF2B5EF4-FFF2-40B4-BE49-F238E27FC236}">
                <a16:creationId xmlns:a16="http://schemas.microsoft.com/office/drawing/2014/main" id="{580852BD-0610-0D4D-59CD-AF259ADAEB25}"/>
              </a:ext>
              <a:ext uri="{C183D7F6-B498-43B3-948B-1728B52AA6E4}">
                <adec:decorative xmlns:adec="http://schemas.microsoft.com/office/drawing/2017/decorative" val="1"/>
              </a:ext>
            </a:extLst>
          </p:cNvPr>
          <p:cNvGrpSpPr/>
          <p:nvPr/>
        </p:nvGrpSpPr>
        <p:grpSpPr>
          <a:xfrm>
            <a:off x="10090746" y="149467"/>
            <a:ext cx="1800265" cy="1745469"/>
            <a:chOff x="3615902" y="4793660"/>
            <a:chExt cx="2060223" cy="1997516"/>
          </a:xfrm>
        </p:grpSpPr>
        <p:pic>
          <p:nvPicPr>
            <p:cNvPr id="18" name="Graphic 18">
              <a:extLst>
                <a:ext uri="{FF2B5EF4-FFF2-40B4-BE49-F238E27FC236}">
                  <a16:creationId xmlns:a16="http://schemas.microsoft.com/office/drawing/2014/main" id="{B3532158-5E51-9C7C-4BB1-74202FA5E5B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85042" y="4909132"/>
              <a:ext cx="1882046" cy="1882044"/>
            </a:xfrm>
            <a:prstGeom prst="rect">
              <a:avLst/>
            </a:prstGeom>
          </p:spPr>
        </p:pic>
        <p:sp>
          <p:nvSpPr>
            <p:cNvPr id="19" name="Freeform: Shape 18">
              <a:extLst>
                <a:ext uri="{FF2B5EF4-FFF2-40B4-BE49-F238E27FC236}">
                  <a16:creationId xmlns:a16="http://schemas.microsoft.com/office/drawing/2014/main" id="{FBA8F023-CEE2-AFD4-F917-8C3C378F23AF}"/>
                </a:ext>
              </a:extLst>
            </p:cNvPr>
            <p:cNvSpPr/>
            <p:nvPr/>
          </p:nvSpPr>
          <p:spPr>
            <a:xfrm>
              <a:off x="3615902" y="4793660"/>
              <a:ext cx="2060223" cy="1967635"/>
            </a:xfrm>
            <a:custGeom>
              <a:avLst/>
              <a:gdLst>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524000 w 2170176"/>
                <a:gd name="connsiteY11" fmla="*/ 1987296 h 2194560"/>
                <a:gd name="connsiteX12" fmla="*/ 1298448 w 2170176"/>
                <a:gd name="connsiteY12" fmla="*/ 1792224 h 2194560"/>
                <a:gd name="connsiteX13" fmla="*/ 1298448 w 2170176"/>
                <a:gd name="connsiteY13" fmla="*/ 1353312 h 2194560"/>
                <a:gd name="connsiteX14" fmla="*/ 944880 w 2170176"/>
                <a:gd name="connsiteY14" fmla="*/ 1505712 h 2194560"/>
                <a:gd name="connsiteX15" fmla="*/ 701040 w 2170176"/>
                <a:gd name="connsiteY15"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701040 w 2170176"/>
                <a:gd name="connsiteY14" fmla="*/ 171907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1325880 w 2170176"/>
                <a:gd name="connsiteY14" fmla="*/ 183591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325880 w 2170176"/>
                <a:gd name="connsiteY14" fmla="*/ 1835912 h 2194560"/>
                <a:gd name="connsiteX0" fmla="*/ 1295400 w 2170176"/>
                <a:gd name="connsiteY0" fmla="*/ 184099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295400 w 2170176"/>
                <a:gd name="connsiteY14" fmla="*/ 1840992 h 2194560"/>
                <a:gd name="connsiteX0" fmla="*/ 1295400 w 2170176"/>
                <a:gd name="connsiteY0" fmla="*/ 1840992 h 2133600"/>
                <a:gd name="connsiteX1" fmla="*/ 1706880 w 2170176"/>
                <a:gd name="connsiteY1" fmla="*/ 2133600 h 2133600"/>
                <a:gd name="connsiteX2" fmla="*/ 298704 w 2170176"/>
                <a:gd name="connsiteY2" fmla="*/ 1944624 h 2133600"/>
                <a:gd name="connsiteX3" fmla="*/ 0 w 2170176"/>
                <a:gd name="connsiteY3" fmla="*/ 1127760 h 2133600"/>
                <a:gd name="connsiteX4" fmla="*/ 323088 w 2170176"/>
                <a:gd name="connsiteY4" fmla="*/ 188976 h 2133600"/>
                <a:gd name="connsiteX5" fmla="*/ 1267968 w 2170176"/>
                <a:gd name="connsiteY5" fmla="*/ 0 h 2133600"/>
                <a:gd name="connsiteX6" fmla="*/ 2066544 w 2170176"/>
                <a:gd name="connsiteY6" fmla="*/ 140208 h 2133600"/>
                <a:gd name="connsiteX7" fmla="*/ 2170176 w 2170176"/>
                <a:gd name="connsiteY7" fmla="*/ 1213104 h 2133600"/>
                <a:gd name="connsiteX8" fmla="*/ 2115312 w 2170176"/>
                <a:gd name="connsiteY8" fmla="*/ 1406144 h 2133600"/>
                <a:gd name="connsiteX9" fmla="*/ 2051304 w 2170176"/>
                <a:gd name="connsiteY9" fmla="*/ 1321816 h 2133600"/>
                <a:gd name="connsiteX10" fmla="*/ 1793240 w 2170176"/>
                <a:gd name="connsiteY10" fmla="*/ 1400048 h 2133600"/>
                <a:gd name="connsiteX11" fmla="*/ 1547368 w 2170176"/>
                <a:gd name="connsiteY11" fmla="*/ 1223264 h 2133600"/>
                <a:gd name="connsiteX12" fmla="*/ 1476248 w 2170176"/>
                <a:gd name="connsiteY12" fmla="*/ 1129792 h 2133600"/>
                <a:gd name="connsiteX13" fmla="*/ 1325880 w 2170176"/>
                <a:gd name="connsiteY13" fmla="*/ 1505712 h 2133600"/>
                <a:gd name="connsiteX14" fmla="*/ 1295400 w 2170176"/>
                <a:gd name="connsiteY14" fmla="*/ 1840992 h 2133600"/>
                <a:gd name="connsiteX0" fmla="*/ 1295400 w 2170176"/>
                <a:gd name="connsiteY0" fmla="*/ 1840992 h 2133600"/>
                <a:gd name="connsiteX1" fmla="*/ 1706880 w 2170176"/>
                <a:gd name="connsiteY1" fmla="*/ 2133600 h 2133600"/>
                <a:gd name="connsiteX2" fmla="*/ 544618 w 2170176"/>
                <a:gd name="connsiteY2" fmla="*/ 1980519 h 2133600"/>
                <a:gd name="connsiteX3" fmla="*/ 298704 w 2170176"/>
                <a:gd name="connsiteY3" fmla="*/ 1944624 h 2133600"/>
                <a:gd name="connsiteX4" fmla="*/ 0 w 2170176"/>
                <a:gd name="connsiteY4" fmla="*/ 1127760 h 2133600"/>
                <a:gd name="connsiteX5" fmla="*/ 323088 w 2170176"/>
                <a:gd name="connsiteY5" fmla="*/ 188976 h 2133600"/>
                <a:gd name="connsiteX6" fmla="*/ 1267968 w 2170176"/>
                <a:gd name="connsiteY6" fmla="*/ 0 h 2133600"/>
                <a:gd name="connsiteX7" fmla="*/ 2066544 w 2170176"/>
                <a:gd name="connsiteY7" fmla="*/ 140208 h 2133600"/>
                <a:gd name="connsiteX8" fmla="*/ 2170176 w 2170176"/>
                <a:gd name="connsiteY8" fmla="*/ 1213104 h 2133600"/>
                <a:gd name="connsiteX9" fmla="*/ 2115312 w 2170176"/>
                <a:gd name="connsiteY9" fmla="*/ 1406144 h 2133600"/>
                <a:gd name="connsiteX10" fmla="*/ 2051304 w 2170176"/>
                <a:gd name="connsiteY10" fmla="*/ 1321816 h 2133600"/>
                <a:gd name="connsiteX11" fmla="*/ 1793240 w 2170176"/>
                <a:gd name="connsiteY11" fmla="*/ 1400048 h 2133600"/>
                <a:gd name="connsiteX12" fmla="*/ 1547368 w 2170176"/>
                <a:gd name="connsiteY12" fmla="*/ 1223264 h 2133600"/>
                <a:gd name="connsiteX13" fmla="*/ 1476248 w 2170176"/>
                <a:gd name="connsiteY13" fmla="*/ 1129792 h 2133600"/>
                <a:gd name="connsiteX14" fmla="*/ 1325880 w 2170176"/>
                <a:gd name="connsiteY14" fmla="*/ 1505712 h 2133600"/>
                <a:gd name="connsiteX15" fmla="*/ 1295400 w 2170176"/>
                <a:gd name="connsiteY15" fmla="*/ 1840992 h 2133600"/>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476248 w 2170176"/>
                <a:gd name="connsiteY13" fmla="*/ 1129792 h 2188799"/>
                <a:gd name="connsiteX14" fmla="*/ 1325880 w 2170176"/>
                <a:gd name="connsiteY14" fmla="*/ 1505712 h 2188799"/>
                <a:gd name="connsiteX15" fmla="*/ 1295400 w 2170176"/>
                <a:gd name="connsiteY15"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81784 w 2170176"/>
                <a:gd name="connsiteY10" fmla="*/ 13472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4752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8308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2066544 w 2081784"/>
                <a:gd name="connsiteY7" fmla="*/ 14020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1308354 w 2081784"/>
                <a:gd name="connsiteY7" fmla="*/ 12115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308354 w 2081784"/>
                <a:gd name="connsiteY7" fmla="*/ 3733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232916 w 2081784"/>
                <a:gd name="connsiteY8" fmla="*/ 34823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1783080"/>
                <a:gd name="connsiteY0" fmla="*/ 1757172 h 2104979"/>
                <a:gd name="connsiteX1" fmla="*/ 1706880 w 1783080"/>
                <a:gd name="connsiteY1" fmla="*/ 2049780 h 2104979"/>
                <a:gd name="connsiteX2" fmla="*/ 839258 w 1783080"/>
                <a:gd name="connsiteY2" fmla="*/ 2104979 h 2104979"/>
                <a:gd name="connsiteX3" fmla="*/ 298704 w 1783080"/>
                <a:gd name="connsiteY3" fmla="*/ 1860804 h 2104979"/>
                <a:gd name="connsiteX4" fmla="*/ 0 w 1783080"/>
                <a:gd name="connsiteY4" fmla="*/ 1043940 h 2104979"/>
                <a:gd name="connsiteX5" fmla="*/ 323088 w 1783080"/>
                <a:gd name="connsiteY5" fmla="*/ 105156 h 2104979"/>
                <a:gd name="connsiteX6" fmla="*/ 803148 w 1783080"/>
                <a:gd name="connsiteY6" fmla="*/ 0 h 2104979"/>
                <a:gd name="connsiteX7" fmla="*/ 1079754 w 1783080"/>
                <a:gd name="connsiteY7" fmla="*/ 44958 h 2104979"/>
                <a:gd name="connsiteX8" fmla="*/ 1232916 w 1783080"/>
                <a:gd name="connsiteY8" fmla="*/ 348234 h 2104979"/>
                <a:gd name="connsiteX9" fmla="*/ 1068324 w 1783080"/>
                <a:gd name="connsiteY9" fmla="*/ 661416 h 2104979"/>
                <a:gd name="connsiteX10" fmla="*/ 1783080 w 1783080"/>
                <a:gd name="connsiteY10" fmla="*/ 1316228 h 2104979"/>
                <a:gd name="connsiteX11" fmla="*/ 1547368 w 1783080"/>
                <a:gd name="connsiteY11" fmla="*/ 1139444 h 2104979"/>
                <a:gd name="connsiteX12" fmla="*/ 1325880 w 1783080"/>
                <a:gd name="connsiteY12" fmla="*/ 1421892 h 2104979"/>
                <a:gd name="connsiteX13" fmla="*/ 1295400 w 1783080"/>
                <a:gd name="connsiteY13" fmla="*/ 1757172 h 2104979"/>
                <a:gd name="connsiteX0" fmla="*/ 1295400 w 1706880"/>
                <a:gd name="connsiteY0" fmla="*/ 1757172 h 2104979"/>
                <a:gd name="connsiteX1" fmla="*/ 1706880 w 1706880"/>
                <a:gd name="connsiteY1" fmla="*/ 2049780 h 2104979"/>
                <a:gd name="connsiteX2" fmla="*/ 839258 w 1706880"/>
                <a:gd name="connsiteY2" fmla="*/ 2104979 h 2104979"/>
                <a:gd name="connsiteX3" fmla="*/ 298704 w 1706880"/>
                <a:gd name="connsiteY3" fmla="*/ 1860804 h 2104979"/>
                <a:gd name="connsiteX4" fmla="*/ 0 w 1706880"/>
                <a:gd name="connsiteY4" fmla="*/ 1043940 h 2104979"/>
                <a:gd name="connsiteX5" fmla="*/ 323088 w 1706880"/>
                <a:gd name="connsiteY5" fmla="*/ 105156 h 2104979"/>
                <a:gd name="connsiteX6" fmla="*/ 803148 w 1706880"/>
                <a:gd name="connsiteY6" fmla="*/ 0 h 2104979"/>
                <a:gd name="connsiteX7" fmla="*/ 1079754 w 1706880"/>
                <a:gd name="connsiteY7" fmla="*/ 44958 h 2104979"/>
                <a:gd name="connsiteX8" fmla="*/ 1232916 w 1706880"/>
                <a:gd name="connsiteY8" fmla="*/ 348234 h 2104979"/>
                <a:gd name="connsiteX9" fmla="*/ 1068324 w 1706880"/>
                <a:gd name="connsiteY9" fmla="*/ 661416 h 2104979"/>
                <a:gd name="connsiteX10" fmla="*/ 1451610 w 1706880"/>
                <a:gd name="connsiteY10" fmla="*/ 779018 h 2104979"/>
                <a:gd name="connsiteX11" fmla="*/ 1547368 w 1706880"/>
                <a:gd name="connsiteY11" fmla="*/ 1139444 h 2104979"/>
                <a:gd name="connsiteX12" fmla="*/ 1325880 w 1706880"/>
                <a:gd name="connsiteY12" fmla="*/ 1421892 h 2104979"/>
                <a:gd name="connsiteX13" fmla="*/ 1295400 w 1706880"/>
                <a:gd name="connsiteY13" fmla="*/ 1757172 h 2104979"/>
                <a:gd name="connsiteX0" fmla="*/ 1295400 w 1734058"/>
                <a:gd name="connsiteY0" fmla="*/ 1757172 h 2104979"/>
                <a:gd name="connsiteX1" fmla="*/ 1706880 w 1734058"/>
                <a:gd name="connsiteY1" fmla="*/ 2049780 h 2104979"/>
                <a:gd name="connsiteX2" fmla="*/ 839258 w 1734058"/>
                <a:gd name="connsiteY2" fmla="*/ 2104979 h 2104979"/>
                <a:gd name="connsiteX3" fmla="*/ 298704 w 1734058"/>
                <a:gd name="connsiteY3" fmla="*/ 1860804 h 2104979"/>
                <a:gd name="connsiteX4" fmla="*/ 0 w 1734058"/>
                <a:gd name="connsiteY4" fmla="*/ 1043940 h 2104979"/>
                <a:gd name="connsiteX5" fmla="*/ 323088 w 1734058"/>
                <a:gd name="connsiteY5" fmla="*/ 105156 h 2104979"/>
                <a:gd name="connsiteX6" fmla="*/ 803148 w 1734058"/>
                <a:gd name="connsiteY6" fmla="*/ 0 h 2104979"/>
                <a:gd name="connsiteX7" fmla="*/ 1079754 w 1734058"/>
                <a:gd name="connsiteY7" fmla="*/ 44958 h 2104979"/>
                <a:gd name="connsiteX8" fmla="*/ 1232916 w 1734058"/>
                <a:gd name="connsiteY8" fmla="*/ 348234 h 2104979"/>
                <a:gd name="connsiteX9" fmla="*/ 1068324 w 1734058"/>
                <a:gd name="connsiteY9" fmla="*/ 661416 h 2104979"/>
                <a:gd name="connsiteX10" fmla="*/ 1451610 w 1734058"/>
                <a:gd name="connsiteY10" fmla="*/ 779018 h 2104979"/>
                <a:gd name="connsiteX11" fmla="*/ 1734058 w 1734058"/>
                <a:gd name="connsiteY11" fmla="*/ 720344 h 2104979"/>
                <a:gd name="connsiteX12" fmla="*/ 1325880 w 1734058"/>
                <a:gd name="connsiteY12" fmla="*/ 1421892 h 2104979"/>
                <a:gd name="connsiteX13" fmla="*/ 1295400 w 1734058"/>
                <a:gd name="connsiteY13" fmla="*/ 1757172 h 2104979"/>
                <a:gd name="connsiteX0" fmla="*/ 1295400 w 1996440"/>
                <a:gd name="connsiteY0" fmla="*/ 1757172 h 2104979"/>
                <a:gd name="connsiteX1" fmla="*/ 1706880 w 1996440"/>
                <a:gd name="connsiteY1" fmla="*/ 2049780 h 2104979"/>
                <a:gd name="connsiteX2" fmla="*/ 839258 w 1996440"/>
                <a:gd name="connsiteY2" fmla="*/ 2104979 h 2104979"/>
                <a:gd name="connsiteX3" fmla="*/ 298704 w 1996440"/>
                <a:gd name="connsiteY3" fmla="*/ 1860804 h 2104979"/>
                <a:gd name="connsiteX4" fmla="*/ 0 w 1996440"/>
                <a:gd name="connsiteY4" fmla="*/ 1043940 h 2104979"/>
                <a:gd name="connsiteX5" fmla="*/ 323088 w 1996440"/>
                <a:gd name="connsiteY5" fmla="*/ 105156 h 2104979"/>
                <a:gd name="connsiteX6" fmla="*/ 803148 w 1996440"/>
                <a:gd name="connsiteY6" fmla="*/ 0 h 2104979"/>
                <a:gd name="connsiteX7" fmla="*/ 1079754 w 1996440"/>
                <a:gd name="connsiteY7" fmla="*/ 44958 h 2104979"/>
                <a:gd name="connsiteX8" fmla="*/ 1232916 w 1996440"/>
                <a:gd name="connsiteY8" fmla="*/ 348234 h 2104979"/>
                <a:gd name="connsiteX9" fmla="*/ 1068324 w 1996440"/>
                <a:gd name="connsiteY9" fmla="*/ 661416 h 2104979"/>
                <a:gd name="connsiteX10" fmla="*/ 1451610 w 1996440"/>
                <a:gd name="connsiteY10" fmla="*/ 779018 h 2104979"/>
                <a:gd name="connsiteX11" fmla="*/ 1734058 w 1996440"/>
                <a:gd name="connsiteY11" fmla="*/ 720344 h 2104979"/>
                <a:gd name="connsiteX12" fmla="*/ 1996440 w 1996440"/>
                <a:gd name="connsiteY12" fmla="*/ 23622 h 2104979"/>
                <a:gd name="connsiteX13" fmla="*/ 1295400 w 1996440"/>
                <a:gd name="connsiteY13" fmla="*/ 1757172 h 2104979"/>
                <a:gd name="connsiteX0" fmla="*/ 2228850 w 2228850"/>
                <a:gd name="connsiteY0" fmla="*/ 1341882 h 2104979"/>
                <a:gd name="connsiteX1" fmla="*/ 1706880 w 2228850"/>
                <a:gd name="connsiteY1" fmla="*/ 204978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2228850 w 2228850"/>
                <a:gd name="connsiteY11" fmla="*/ 2104979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1313215 w 2092925"/>
                <a:gd name="connsiteY0" fmla="*/ 1753918 h 2104979"/>
                <a:gd name="connsiteX1" fmla="*/ 1604010 w 2092925"/>
                <a:gd name="connsiteY1" fmla="*/ 1962150 h 2104979"/>
                <a:gd name="connsiteX2" fmla="*/ 839258 w 2092925"/>
                <a:gd name="connsiteY2" fmla="*/ 2104979 h 2104979"/>
                <a:gd name="connsiteX3" fmla="*/ 298704 w 2092925"/>
                <a:gd name="connsiteY3" fmla="*/ 1860804 h 2104979"/>
                <a:gd name="connsiteX4" fmla="*/ 0 w 2092925"/>
                <a:gd name="connsiteY4" fmla="*/ 1043940 h 2104979"/>
                <a:gd name="connsiteX5" fmla="*/ 323088 w 2092925"/>
                <a:gd name="connsiteY5" fmla="*/ 105156 h 2104979"/>
                <a:gd name="connsiteX6" fmla="*/ 803148 w 2092925"/>
                <a:gd name="connsiteY6" fmla="*/ 0 h 2104979"/>
                <a:gd name="connsiteX7" fmla="*/ 2010082 w 2092925"/>
                <a:gd name="connsiteY7" fmla="*/ 112361 h 2104979"/>
                <a:gd name="connsiteX8" fmla="*/ 1748472 w 2092925"/>
                <a:gd name="connsiteY8" fmla="*/ 703163 h 2104979"/>
                <a:gd name="connsiteX9" fmla="*/ 1451981 w 2092925"/>
                <a:gd name="connsiteY9" fmla="*/ 783827 h 2104979"/>
                <a:gd name="connsiteX10" fmla="*/ 1495582 w 2092925"/>
                <a:gd name="connsiteY10" fmla="*/ 1095578 h 2104979"/>
                <a:gd name="connsiteX11" fmla="*/ 1755012 w 2092925"/>
                <a:gd name="connsiteY11" fmla="*/ 1317947 h 2104979"/>
                <a:gd name="connsiteX12" fmla="*/ 2092925 w 2092925"/>
                <a:gd name="connsiteY12" fmla="*/ 1252545 h 2104979"/>
                <a:gd name="connsiteX13" fmla="*/ 1313215 w 2092925"/>
                <a:gd name="connsiteY13" fmla="*/ 1753918 h 2104979"/>
                <a:gd name="connsiteX0" fmla="*/ 1313215 w 2010082"/>
                <a:gd name="connsiteY0" fmla="*/ 1753918 h 2104979"/>
                <a:gd name="connsiteX1" fmla="*/ 1604010 w 2010082"/>
                <a:gd name="connsiteY1" fmla="*/ 1962150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926581 w 2010082"/>
                <a:gd name="connsiteY12" fmla="*/ 1440032 h 2104979"/>
                <a:gd name="connsiteX13" fmla="*/ 1313215 w 2010082"/>
                <a:gd name="connsiteY13" fmla="*/ 1753918 h 2104979"/>
                <a:gd name="connsiteX0" fmla="*/ 1313215 w 2010082"/>
                <a:gd name="connsiteY0" fmla="*/ 1753918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926581 w 2010082"/>
                <a:gd name="connsiteY12" fmla="*/ 1440032 h 2104979"/>
                <a:gd name="connsiteX13" fmla="*/ 1313215 w 2010082"/>
                <a:gd name="connsiteY13" fmla="*/ 1753918 h 2104979"/>
                <a:gd name="connsiteX0" fmla="*/ 1313215 w 2010082"/>
                <a:gd name="connsiteY0" fmla="*/ 1753918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1290655 w 2010082"/>
                <a:gd name="connsiteY12" fmla="*/ 1435672 h 2104979"/>
                <a:gd name="connsiteX13" fmla="*/ 1313215 w 2010082"/>
                <a:gd name="connsiteY13" fmla="*/ 1753918 h 2104979"/>
                <a:gd name="connsiteX0" fmla="*/ 994923 w 2010082"/>
                <a:gd name="connsiteY0" fmla="*/ 1405105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1290655 w 2010082"/>
                <a:gd name="connsiteY12" fmla="*/ 1435672 h 2104979"/>
                <a:gd name="connsiteX13" fmla="*/ 994923 w 2010082"/>
                <a:gd name="connsiteY13" fmla="*/ 1405105 h 2104979"/>
                <a:gd name="connsiteX0" fmla="*/ 994923 w 2010082"/>
                <a:gd name="connsiteY0" fmla="*/ 1405105 h 1967634"/>
                <a:gd name="connsiteX1" fmla="*/ 716716 w 2010082"/>
                <a:gd name="connsiteY1" fmla="*/ 1632957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755012 w 2010082"/>
                <a:gd name="connsiteY11" fmla="*/ 1317947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755012 w 2010082"/>
                <a:gd name="connsiteY11" fmla="*/ 1317947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558805 w 2010082"/>
                <a:gd name="connsiteY10" fmla="*/ 1932730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975201 w 2010082"/>
                <a:gd name="connsiteY9" fmla="*/ 1629699 h 1967634"/>
                <a:gd name="connsiteX10" fmla="*/ 1558805 w 2010082"/>
                <a:gd name="connsiteY10" fmla="*/ 1932730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55864"/>
                <a:gd name="connsiteY0" fmla="*/ 1405105 h 1967634"/>
                <a:gd name="connsiteX1" fmla="*/ 692735 w 2055864"/>
                <a:gd name="connsiteY1" fmla="*/ 1643858 h 1967634"/>
                <a:gd name="connsiteX2" fmla="*/ 697553 w 2055864"/>
                <a:gd name="connsiteY2" fmla="*/ 1967634 h 1967634"/>
                <a:gd name="connsiteX3" fmla="*/ 298704 w 2055864"/>
                <a:gd name="connsiteY3" fmla="*/ 1860804 h 1967634"/>
                <a:gd name="connsiteX4" fmla="*/ 0 w 2055864"/>
                <a:gd name="connsiteY4" fmla="*/ 1043940 h 1967634"/>
                <a:gd name="connsiteX5" fmla="*/ 323088 w 2055864"/>
                <a:gd name="connsiteY5" fmla="*/ 105156 h 1967634"/>
                <a:gd name="connsiteX6" fmla="*/ 803148 w 2055864"/>
                <a:gd name="connsiteY6" fmla="*/ 0 h 1967634"/>
                <a:gd name="connsiteX7" fmla="*/ 2010082 w 2055864"/>
                <a:gd name="connsiteY7" fmla="*/ 112361 h 1967634"/>
                <a:gd name="connsiteX8" fmla="*/ 2055864 w 2055864"/>
                <a:gd name="connsiteY8" fmla="*/ 1283065 h 1967634"/>
                <a:gd name="connsiteX9" fmla="*/ 1975201 w 2055864"/>
                <a:gd name="connsiteY9" fmla="*/ 1629699 h 1967634"/>
                <a:gd name="connsiteX10" fmla="*/ 1558805 w 2055864"/>
                <a:gd name="connsiteY10" fmla="*/ 1932730 h 1967634"/>
                <a:gd name="connsiteX11" fmla="*/ 1297195 w 2055864"/>
                <a:gd name="connsiteY11" fmla="*/ 1751784 h 1967634"/>
                <a:gd name="connsiteX12" fmla="*/ 1290655 w 2055864"/>
                <a:gd name="connsiteY12" fmla="*/ 1435672 h 1967634"/>
                <a:gd name="connsiteX13" fmla="*/ 994923 w 2055864"/>
                <a:gd name="connsiteY13"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98704 w 2060224"/>
                <a:gd name="connsiteY3" fmla="*/ 1860804 h 1967634"/>
                <a:gd name="connsiteX4" fmla="*/ 0 w 2060224"/>
                <a:gd name="connsiteY4" fmla="*/ 1043940 h 1967634"/>
                <a:gd name="connsiteX5" fmla="*/ 323088 w 2060224"/>
                <a:gd name="connsiteY5" fmla="*/ 105156 h 1967634"/>
                <a:gd name="connsiteX6" fmla="*/ 803148 w 2060224"/>
                <a:gd name="connsiteY6" fmla="*/ 0 h 1967634"/>
                <a:gd name="connsiteX7" fmla="*/ 2060224 w 2060224"/>
                <a:gd name="connsiteY7" fmla="*/ 709703 h 1967634"/>
                <a:gd name="connsiteX8" fmla="*/ 2055864 w 2060224"/>
                <a:gd name="connsiteY8" fmla="*/ 1283065 h 1967634"/>
                <a:gd name="connsiteX9" fmla="*/ 1975201 w 2060224"/>
                <a:gd name="connsiteY9" fmla="*/ 1629699 h 1967634"/>
                <a:gd name="connsiteX10" fmla="*/ 1558805 w 2060224"/>
                <a:gd name="connsiteY10" fmla="*/ 1932730 h 1967634"/>
                <a:gd name="connsiteX11" fmla="*/ 1297195 w 2060224"/>
                <a:gd name="connsiteY11" fmla="*/ 1751784 h 1967634"/>
                <a:gd name="connsiteX12" fmla="*/ 1290655 w 2060224"/>
                <a:gd name="connsiteY12" fmla="*/ 1435672 h 1967634"/>
                <a:gd name="connsiteX13" fmla="*/ 994923 w 2060224"/>
                <a:gd name="connsiteY13"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98704 w 2060224"/>
                <a:gd name="connsiteY3" fmla="*/ 1860804 h 1967634"/>
                <a:gd name="connsiteX4" fmla="*/ 0 w 2060224"/>
                <a:gd name="connsiteY4" fmla="*/ 1043940 h 1967634"/>
                <a:gd name="connsiteX5" fmla="*/ 323088 w 2060224"/>
                <a:gd name="connsiteY5" fmla="*/ 105156 h 1967634"/>
                <a:gd name="connsiteX6" fmla="*/ 803148 w 2060224"/>
                <a:gd name="connsiteY6" fmla="*/ 0 h 1967634"/>
                <a:gd name="connsiteX7" fmla="*/ 1781172 w 2060224"/>
                <a:gd name="connsiteY7" fmla="*/ 136342 h 1967634"/>
                <a:gd name="connsiteX8" fmla="*/ 2060224 w 2060224"/>
                <a:gd name="connsiteY8" fmla="*/ 709703 h 1967634"/>
                <a:gd name="connsiteX9" fmla="*/ 2055864 w 2060224"/>
                <a:gd name="connsiteY9" fmla="*/ 1283065 h 1967634"/>
                <a:gd name="connsiteX10" fmla="*/ 1975201 w 2060224"/>
                <a:gd name="connsiteY10" fmla="*/ 1629699 h 1967634"/>
                <a:gd name="connsiteX11" fmla="*/ 1558805 w 2060224"/>
                <a:gd name="connsiteY11" fmla="*/ 1932730 h 1967634"/>
                <a:gd name="connsiteX12" fmla="*/ 1297195 w 2060224"/>
                <a:gd name="connsiteY12" fmla="*/ 1751784 h 1967634"/>
                <a:gd name="connsiteX13" fmla="*/ 1290655 w 2060224"/>
                <a:gd name="connsiteY13" fmla="*/ 1435672 h 1967634"/>
                <a:gd name="connsiteX14" fmla="*/ 994923 w 2060224"/>
                <a:gd name="connsiteY14" fmla="*/ 1405105 h 1967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60224" h="1967634">
                  <a:moveTo>
                    <a:pt x="994923" y="1405105"/>
                  </a:moveTo>
                  <a:lnTo>
                    <a:pt x="692735" y="1643858"/>
                  </a:lnTo>
                  <a:lnTo>
                    <a:pt x="697553" y="1967634"/>
                  </a:lnTo>
                  <a:lnTo>
                    <a:pt x="298704" y="1860804"/>
                  </a:lnTo>
                  <a:lnTo>
                    <a:pt x="0" y="1043940"/>
                  </a:lnTo>
                  <a:lnTo>
                    <a:pt x="323088" y="105156"/>
                  </a:lnTo>
                  <a:lnTo>
                    <a:pt x="803148" y="0"/>
                  </a:lnTo>
                  <a:cubicBezTo>
                    <a:pt x="1196012" y="222034"/>
                    <a:pt x="1388308" y="-85692"/>
                    <a:pt x="1781172" y="136342"/>
                  </a:cubicBezTo>
                  <a:lnTo>
                    <a:pt x="2060224" y="709703"/>
                  </a:lnTo>
                  <a:cubicBezTo>
                    <a:pt x="2058771" y="900824"/>
                    <a:pt x="2057317" y="1091944"/>
                    <a:pt x="2055864" y="1283065"/>
                  </a:cubicBezTo>
                  <a:lnTo>
                    <a:pt x="1975201" y="1629699"/>
                  </a:lnTo>
                  <a:lnTo>
                    <a:pt x="1558805" y="1932730"/>
                  </a:lnTo>
                  <a:lnTo>
                    <a:pt x="1297195" y="1751784"/>
                  </a:lnTo>
                  <a:lnTo>
                    <a:pt x="1290655" y="1435672"/>
                  </a:lnTo>
                  <a:lnTo>
                    <a:pt x="994923" y="1405105"/>
                  </a:lnTo>
                  <a:close/>
                </a:path>
              </a:pathLst>
            </a:cu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7" name="Freeform: Shape 6">
            <a:extLst>
              <a:ext uri="{FF2B5EF4-FFF2-40B4-BE49-F238E27FC236}">
                <a16:creationId xmlns:a16="http://schemas.microsoft.com/office/drawing/2014/main" id="{9634FFFD-D9B5-C953-758E-1C45C3587CF6}"/>
              </a:ext>
              <a:ext uri="{C183D7F6-B498-43B3-948B-1728B52AA6E4}">
                <adec:decorative xmlns:adec="http://schemas.microsoft.com/office/drawing/2017/decorative" val="1"/>
              </a:ext>
            </a:extLst>
          </p:cNvPr>
          <p:cNvSpPr/>
          <p:nvPr/>
        </p:nvSpPr>
        <p:spPr>
          <a:xfrm>
            <a:off x="4636003" y="1661159"/>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59A330C-39AA-B1CF-859A-48D280BB9486}"/>
              </a:ext>
              <a:ext uri="{C183D7F6-B498-43B3-948B-1728B52AA6E4}">
                <adec:decorative xmlns:adec="http://schemas.microsoft.com/office/drawing/2017/decorative" val="1"/>
              </a:ext>
            </a:extLst>
          </p:cNvPr>
          <p:cNvSpPr txBox="1"/>
          <p:nvPr/>
        </p:nvSpPr>
        <p:spPr>
          <a:xfrm>
            <a:off x="5159896" y="1495817"/>
            <a:ext cx="1858201" cy="276999"/>
          </a:xfrm>
          <a:prstGeom prst="rect">
            <a:avLst/>
          </a:prstGeom>
          <a:noFill/>
        </p:spPr>
        <p:txBody>
          <a:bodyPr wrap="none" rtlCol="0">
            <a:spAutoFit/>
          </a:bodyPr>
          <a:lstStyle/>
          <a:p>
            <a:pPr algn="l"/>
            <a:r>
              <a:rPr lang="en-US" sz="1200">
                <a:solidFill>
                  <a:schemeClr val="bg1">
                    <a:lumMod val="50000"/>
                  </a:schemeClr>
                </a:solidFill>
                <a:latin typeface="+mj-lt"/>
              </a:rPr>
              <a:t>Statistics measurements</a:t>
            </a:r>
          </a:p>
        </p:txBody>
      </p:sp>
      <p:sp>
        <p:nvSpPr>
          <p:cNvPr id="12" name="Freeform: Shape 11">
            <a:extLst>
              <a:ext uri="{FF2B5EF4-FFF2-40B4-BE49-F238E27FC236}">
                <a16:creationId xmlns:a16="http://schemas.microsoft.com/office/drawing/2014/main" id="{366BFB02-1E64-86DF-8C07-CC03FFE4DABB}"/>
              </a:ext>
              <a:ext uri="{C183D7F6-B498-43B3-948B-1728B52AA6E4}">
                <adec:decorative xmlns:adec="http://schemas.microsoft.com/office/drawing/2017/decorative" val="1"/>
              </a:ext>
            </a:extLst>
          </p:cNvPr>
          <p:cNvSpPr/>
          <p:nvPr/>
        </p:nvSpPr>
        <p:spPr>
          <a:xfrm>
            <a:off x="1424157" y="1715617"/>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6920C7C-0D0F-7A66-0CFA-38EC04740FED}"/>
              </a:ext>
              <a:ext uri="{C183D7F6-B498-43B3-948B-1728B52AA6E4}">
                <adec:decorative xmlns:adec="http://schemas.microsoft.com/office/drawing/2017/decorative" val="1"/>
              </a:ext>
            </a:extLst>
          </p:cNvPr>
          <p:cNvSpPr txBox="1"/>
          <p:nvPr/>
        </p:nvSpPr>
        <p:spPr>
          <a:xfrm>
            <a:off x="1948050" y="1556792"/>
            <a:ext cx="790601" cy="276999"/>
          </a:xfrm>
          <a:prstGeom prst="rect">
            <a:avLst/>
          </a:prstGeom>
          <a:noFill/>
        </p:spPr>
        <p:txBody>
          <a:bodyPr wrap="none" rtlCol="0">
            <a:spAutoFit/>
          </a:bodyPr>
          <a:lstStyle/>
          <a:p>
            <a:pPr algn="l"/>
            <a:r>
              <a:rPr lang="en-US" sz="1200">
                <a:solidFill>
                  <a:schemeClr val="bg1">
                    <a:lumMod val="50000"/>
                  </a:schemeClr>
                </a:solidFill>
                <a:latin typeface="+mj-lt"/>
              </a:rPr>
              <a:t>Software</a:t>
            </a:r>
          </a:p>
        </p:txBody>
      </p:sp>
      <p:sp>
        <p:nvSpPr>
          <p:cNvPr id="10" name="Slide Number Placeholder 9">
            <a:extLst>
              <a:ext uri="{FF2B5EF4-FFF2-40B4-BE49-F238E27FC236}">
                <a16:creationId xmlns:a16="http://schemas.microsoft.com/office/drawing/2014/main" id="{354B8669-BDFC-EA16-52D2-C4830E375090}"/>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t>32</a:t>
            </a:fld>
            <a:endParaRPr lang="fi-FI"/>
          </a:p>
        </p:txBody>
      </p:sp>
      <p:sp>
        <p:nvSpPr>
          <p:cNvPr id="3" name="Date Placeholder 2">
            <a:extLst>
              <a:ext uri="{FF2B5EF4-FFF2-40B4-BE49-F238E27FC236}">
                <a16:creationId xmlns:a16="http://schemas.microsoft.com/office/drawing/2014/main" id="{4008020C-5BA0-A99C-646A-DBAD2D7343ED}"/>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64D4B0BB-BAC4-0D7C-3A32-299DEE93778A}"/>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450271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48E0C-8BE3-B5BF-CA38-D0845B00EE5A}"/>
              </a:ext>
            </a:extLst>
          </p:cNvPr>
          <p:cNvSpPr>
            <a:spLocks noGrp="1"/>
          </p:cNvSpPr>
          <p:nvPr>
            <p:ph type="title"/>
          </p:nvPr>
        </p:nvSpPr>
        <p:spPr/>
        <p:txBody>
          <a:bodyPr/>
          <a:lstStyle/>
          <a:p>
            <a:r>
              <a:rPr lang="en-US" b="0"/>
              <a:t>Example 8: </a:t>
            </a:r>
            <a:r>
              <a:rPr lang="en-US"/>
              <a:t>Create thumbnails from videos</a:t>
            </a:r>
          </a:p>
        </p:txBody>
      </p:sp>
      <p:sp>
        <p:nvSpPr>
          <p:cNvPr id="16" name="Rectangle 15">
            <a:extLst>
              <a:ext uri="{FF2B5EF4-FFF2-40B4-BE49-F238E27FC236}">
                <a16:creationId xmlns:a16="http://schemas.microsoft.com/office/drawing/2014/main" id="{55F3F52E-DBCE-A820-2000-24AA1F685C26}"/>
              </a:ext>
              <a:ext uri="{C183D7F6-B498-43B3-948B-1728B52AA6E4}">
                <adec:decorative xmlns:adec="http://schemas.microsoft.com/office/drawing/2017/decorative" val="1"/>
              </a:ext>
            </a:extLst>
          </p:cNvPr>
          <p:cNvSpPr/>
          <p:nvPr/>
        </p:nvSpPr>
        <p:spPr>
          <a:xfrm>
            <a:off x="0" y="3048610"/>
            <a:ext cx="12192000" cy="30445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mj-lt"/>
            </a:endParaRPr>
          </a:p>
        </p:txBody>
      </p:sp>
      <p:sp>
        <p:nvSpPr>
          <p:cNvPr id="6" name="Content Placeholder 5">
            <a:extLst>
              <a:ext uri="{FF2B5EF4-FFF2-40B4-BE49-F238E27FC236}">
                <a16:creationId xmlns:a16="http://schemas.microsoft.com/office/drawing/2014/main" id="{F91DE047-191A-E53B-2289-5AC4DB777E1F}"/>
              </a:ext>
            </a:extLst>
          </p:cNvPr>
          <p:cNvSpPr>
            <a:spLocks noGrp="1"/>
          </p:cNvSpPr>
          <p:nvPr>
            <p:ph sz="half" idx="1"/>
          </p:nvPr>
        </p:nvSpPr>
        <p:spPr>
          <a:xfrm>
            <a:off x="1055688" y="2205037"/>
            <a:ext cx="10008864" cy="719907"/>
          </a:xfrm>
        </p:spPr>
        <p:txBody>
          <a:bodyPr/>
          <a:lstStyle/>
          <a:p>
            <a:r>
              <a:rPr lang="en-US" sz="1600"/>
              <a:t>How can I create thumbnails for each MP4 file in a directory, using FFmpeg to select frames based on the video's duration, scale the video, apply a specific FPS value, and include a timestamp overlay on each thumbnail?</a:t>
            </a:r>
          </a:p>
        </p:txBody>
      </p:sp>
      <p:sp>
        <p:nvSpPr>
          <p:cNvPr id="8" name="Oval 7">
            <a:extLst>
              <a:ext uri="{FF2B5EF4-FFF2-40B4-BE49-F238E27FC236}">
                <a16:creationId xmlns:a16="http://schemas.microsoft.com/office/drawing/2014/main" id="{3CB15C92-CB82-82D4-C5B9-7CE6DD6772C3}"/>
              </a:ext>
              <a:ext uri="{C183D7F6-B498-43B3-948B-1728B52AA6E4}">
                <adec:decorative xmlns:adec="http://schemas.microsoft.com/office/drawing/2017/decorative" val="1"/>
              </a:ext>
            </a:extLst>
          </p:cNvPr>
          <p:cNvSpPr/>
          <p:nvPr/>
        </p:nvSpPr>
        <p:spPr>
          <a:xfrm>
            <a:off x="191344" y="3176972"/>
            <a:ext cx="720080" cy="72008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1400">
                <a:solidFill>
                  <a:schemeClr val="tx1"/>
                </a:solidFill>
              </a:rPr>
              <a:t>AI</a:t>
            </a:r>
            <a:endParaRPr lang="en-US" sz="1400">
              <a:solidFill>
                <a:schemeClr val="tx1"/>
              </a:solidFill>
              <a:latin typeface="+mj-lt"/>
            </a:endParaRPr>
          </a:p>
        </p:txBody>
      </p:sp>
      <p:grpSp>
        <p:nvGrpSpPr>
          <p:cNvPr id="14" name="Group 13">
            <a:extLst>
              <a:ext uri="{FF2B5EF4-FFF2-40B4-BE49-F238E27FC236}">
                <a16:creationId xmlns:a16="http://schemas.microsoft.com/office/drawing/2014/main" id="{20AD82B3-7C6B-B1C2-A809-254F3A78787A}"/>
              </a:ext>
              <a:ext uri="{C183D7F6-B498-43B3-948B-1728B52AA6E4}">
                <adec:decorative xmlns:adec="http://schemas.microsoft.com/office/drawing/2017/decorative" val="1"/>
              </a:ext>
            </a:extLst>
          </p:cNvPr>
          <p:cNvGrpSpPr/>
          <p:nvPr/>
        </p:nvGrpSpPr>
        <p:grpSpPr>
          <a:xfrm>
            <a:off x="191344" y="2204864"/>
            <a:ext cx="720080" cy="720080"/>
            <a:chOff x="3359696" y="4149080"/>
            <a:chExt cx="720080" cy="720080"/>
          </a:xfrm>
        </p:grpSpPr>
        <p:sp>
          <p:nvSpPr>
            <p:cNvPr id="11" name="Oval 10">
              <a:extLst>
                <a:ext uri="{FF2B5EF4-FFF2-40B4-BE49-F238E27FC236}">
                  <a16:creationId xmlns:a16="http://schemas.microsoft.com/office/drawing/2014/main" id="{30C0B911-02E6-524E-5767-37E30A6E9267}"/>
                </a:ext>
              </a:extLst>
            </p:cNvPr>
            <p:cNvSpPr/>
            <p:nvPr/>
          </p:nvSpPr>
          <p:spPr>
            <a:xfrm>
              <a:off x="3359696" y="4149080"/>
              <a:ext cx="720080" cy="72008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endParaRPr lang="en-US" sz="1400">
                <a:solidFill>
                  <a:schemeClr val="tx1"/>
                </a:solidFill>
                <a:latin typeface="+mj-lt"/>
              </a:endParaRPr>
            </a:p>
          </p:txBody>
        </p:sp>
        <p:pic>
          <p:nvPicPr>
            <p:cNvPr id="13" name="Graphic 12" descr="User outline">
              <a:extLst>
                <a:ext uri="{FF2B5EF4-FFF2-40B4-BE49-F238E27FC236}">
                  <a16:creationId xmlns:a16="http://schemas.microsoft.com/office/drawing/2014/main" id="{B8A09F4D-0AD3-E089-7BC7-FC2AD687F2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03712" y="4272746"/>
              <a:ext cx="432048" cy="432048"/>
            </a:xfrm>
            <a:prstGeom prst="rect">
              <a:avLst/>
            </a:prstGeom>
          </p:spPr>
        </p:pic>
      </p:grpSp>
      <p:sp>
        <p:nvSpPr>
          <p:cNvPr id="15" name="Content Placeholder 5">
            <a:extLst>
              <a:ext uri="{FF2B5EF4-FFF2-40B4-BE49-F238E27FC236}">
                <a16:creationId xmlns:a16="http://schemas.microsoft.com/office/drawing/2014/main" id="{2D87B0BA-7A68-8D3C-7560-DE6D3EB8E47E}"/>
              </a:ext>
              <a:ext uri="{C183D7F6-B498-43B3-948B-1728B52AA6E4}">
                <adec:decorative xmlns:adec="http://schemas.microsoft.com/office/drawing/2017/decorative" val="1"/>
              </a:ext>
            </a:extLst>
          </p:cNvPr>
          <p:cNvSpPr txBox="1">
            <a:spLocks/>
          </p:cNvSpPr>
          <p:nvPr/>
        </p:nvSpPr>
        <p:spPr>
          <a:xfrm>
            <a:off x="1055688" y="3172512"/>
            <a:ext cx="10008864" cy="3671887"/>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a:spcAft>
                <a:spcPts val="800"/>
              </a:spcAft>
            </a:pPr>
            <a:endParaRPr lang="en-US" sz="1200"/>
          </a:p>
        </p:txBody>
      </p:sp>
      <p:grpSp>
        <p:nvGrpSpPr>
          <p:cNvPr id="17" name="Group 16">
            <a:extLst>
              <a:ext uri="{FF2B5EF4-FFF2-40B4-BE49-F238E27FC236}">
                <a16:creationId xmlns:a16="http://schemas.microsoft.com/office/drawing/2014/main" id="{580852BD-0610-0D4D-59CD-AF259ADAEB25}"/>
              </a:ext>
              <a:ext uri="{C183D7F6-B498-43B3-948B-1728B52AA6E4}">
                <adec:decorative xmlns:adec="http://schemas.microsoft.com/office/drawing/2017/decorative" val="1"/>
              </a:ext>
            </a:extLst>
          </p:cNvPr>
          <p:cNvGrpSpPr/>
          <p:nvPr/>
        </p:nvGrpSpPr>
        <p:grpSpPr>
          <a:xfrm>
            <a:off x="10090746" y="149467"/>
            <a:ext cx="1800265" cy="1749819"/>
            <a:chOff x="3615902" y="4793660"/>
            <a:chExt cx="2060223" cy="2002494"/>
          </a:xfrm>
        </p:grpSpPr>
        <p:pic>
          <p:nvPicPr>
            <p:cNvPr id="18" name="Graphic 18">
              <a:extLst>
                <a:ext uri="{FF2B5EF4-FFF2-40B4-BE49-F238E27FC236}">
                  <a16:creationId xmlns:a16="http://schemas.microsoft.com/office/drawing/2014/main" id="{B3532158-5E51-9C7C-4BB1-74202FA5E5B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85042" y="4909132"/>
              <a:ext cx="1882046" cy="1882044"/>
            </a:xfrm>
            <a:prstGeom prst="rect">
              <a:avLst/>
            </a:prstGeom>
          </p:spPr>
        </p:pic>
        <p:sp>
          <p:nvSpPr>
            <p:cNvPr id="19" name="Freeform: Shape 18">
              <a:extLst>
                <a:ext uri="{FF2B5EF4-FFF2-40B4-BE49-F238E27FC236}">
                  <a16:creationId xmlns:a16="http://schemas.microsoft.com/office/drawing/2014/main" id="{FBA8F023-CEE2-AFD4-F917-8C3C378F23AF}"/>
                </a:ext>
              </a:extLst>
            </p:cNvPr>
            <p:cNvSpPr/>
            <p:nvPr/>
          </p:nvSpPr>
          <p:spPr>
            <a:xfrm>
              <a:off x="3615902" y="4793660"/>
              <a:ext cx="2060223" cy="2002494"/>
            </a:xfrm>
            <a:custGeom>
              <a:avLst/>
              <a:gdLst>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524000 w 2170176"/>
                <a:gd name="connsiteY11" fmla="*/ 1987296 h 2194560"/>
                <a:gd name="connsiteX12" fmla="*/ 1298448 w 2170176"/>
                <a:gd name="connsiteY12" fmla="*/ 1792224 h 2194560"/>
                <a:gd name="connsiteX13" fmla="*/ 1298448 w 2170176"/>
                <a:gd name="connsiteY13" fmla="*/ 1353312 h 2194560"/>
                <a:gd name="connsiteX14" fmla="*/ 944880 w 2170176"/>
                <a:gd name="connsiteY14" fmla="*/ 1505712 h 2194560"/>
                <a:gd name="connsiteX15" fmla="*/ 701040 w 2170176"/>
                <a:gd name="connsiteY15"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701040 w 2170176"/>
                <a:gd name="connsiteY14" fmla="*/ 171907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1325880 w 2170176"/>
                <a:gd name="connsiteY14" fmla="*/ 183591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325880 w 2170176"/>
                <a:gd name="connsiteY14" fmla="*/ 1835912 h 2194560"/>
                <a:gd name="connsiteX0" fmla="*/ 1295400 w 2170176"/>
                <a:gd name="connsiteY0" fmla="*/ 184099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295400 w 2170176"/>
                <a:gd name="connsiteY14" fmla="*/ 1840992 h 2194560"/>
                <a:gd name="connsiteX0" fmla="*/ 1295400 w 2170176"/>
                <a:gd name="connsiteY0" fmla="*/ 1840992 h 2133600"/>
                <a:gd name="connsiteX1" fmla="*/ 1706880 w 2170176"/>
                <a:gd name="connsiteY1" fmla="*/ 2133600 h 2133600"/>
                <a:gd name="connsiteX2" fmla="*/ 298704 w 2170176"/>
                <a:gd name="connsiteY2" fmla="*/ 1944624 h 2133600"/>
                <a:gd name="connsiteX3" fmla="*/ 0 w 2170176"/>
                <a:gd name="connsiteY3" fmla="*/ 1127760 h 2133600"/>
                <a:gd name="connsiteX4" fmla="*/ 323088 w 2170176"/>
                <a:gd name="connsiteY4" fmla="*/ 188976 h 2133600"/>
                <a:gd name="connsiteX5" fmla="*/ 1267968 w 2170176"/>
                <a:gd name="connsiteY5" fmla="*/ 0 h 2133600"/>
                <a:gd name="connsiteX6" fmla="*/ 2066544 w 2170176"/>
                <a:gd name="connsiteY6" fmla="*/ 140208 h 2133600"/>
                <a:gd name="connsiteX7" fmla="*/ 2170176 w 2170176"/>
                <a:gd name="connsiteY7" fmla="*/ 1213104 h 2133600"/>
                <a:gd name="connsiteX8" fmla="*/ 2115312 w 2170176"/>
                <a:gd name="connsiteY8" fmla="*/ 1406144 h 2133600"/>
                <a:gd name="connsiteX9" fmla="*/ 2051304 w 2170176"/>
                <a:gd name="connsiteY9" fmla="*/ 1321816 h 2133600"/>
                <a:gd name="connsiteX10" fmla="*/ 1793240 w 2170176"/>
                <a:gd name="connsiteY10" fmla="*/ 1400048 h 2133600"/>
                <a:gd name="connsiteX11" fmla="*/ 1547368 w 2170176"/>
                <a:gd name="connsiteY11" fmla="*/ 1223264 h 2133600"/>
                <a:gd name="connsiteX12" fmla="*/ 1476248 w 2170176"/>
                <a:gd name="connsiteY12" fmla="*/ 1129792 h 2133600"/>
                <a:gd name="connsiteX13" fmla="*/ 1325880 w 2170176"/>
                <a:gd name="connsiteY13" fmla="*/ 1505712 h 2133600"/>
                <a:gd name="connsiteX14" fmla="*/ 1295400 w 2170176"/>
                <a:gd name="connsiteY14" fmla="*/ 1840992 h 2133600"/>
                <a:gd name="connsiteX0" fmla="*/ 1295400 w 2170176"/>
                <a:gd name="connsiteY0" fmla="*/ 1840992 h 2133600"/>
                <a:gd name="connsiteX1" fmla="*/ 1706880 w 2170176"/>
                <a:gd name="connsiteY1" fmla="*/ 2133600 h 2133600"/>
                <a:gd name="connsiteX2" fmla="*/ 544618 w 2170176"/>
                <a:gd name="connsiteY2" fmla="*/ 1980519 h 2133600"/>
                <a:gd name="connsiteX3" fmla="*/ 298704 w 2170176"/>
                <a:gd name="connsiteY3" fmla="*/ 1944624 h 2133600"/>
                <a:gd name="connsiteX4" fmla="*/ 0 w 2170176"/>
                <a:gd name="connsiteY4" fmla="*/ 1127760 h 2133600"/>
                <a:gd name="connsiteX5" fmla="*/ 323088 w 2170176"/>
                <a:gd name="connsiteY5" fmla="*/ 188976 h 2133600"/>
                <a:gd name="connsiteX6" fmla="*/ 1267968 w 2170176"/>
                <a:gd name="connsiteY6" fmla="*/ 0 h 2133600"/>
                <a:gd name="connsiteX7" fmla="*/ 2066544 w 2170176"/>
                <a:gd name="connsiteY7" fmla="*/ 140208 h 2133600"/>
                <a:gd name="connsiteX8" fmla="*/ 2170176 w 2170176"/>
                <a:gd name="connsiteY8" fmla="*/ 1213104 h 2133600"/>
                <a:gd name="connsiteX9" fmla="*/ 2115312 w 2170176"/>
                <a:gd name="connsiteY9" fmla="*/ 1406144 h 2133600"/>
                <a:gd name="connsiteX10" fmla="*/ 2051304 w 2170176"/>
                <a:gd name="connsiteY10" fmla="*/ 1321816 h 2133600"/>
                <a:gd name="connsiteX11" fmla="*/ 1793240 w 2170176"/>
                <a:gd name="connsiteY11" fmla="*/ 1400048 h 2133600"/>
                <a:gd name="connsiteX12" fmla="*/ 1547368 w 2170176"/>
                <a:gd name="connsiteY12" fmla="*/ 1223264 h 2133600"/>
                <a:gd name="connsiteX13" fmla="*/ 1476248 w 2170176"/>
                <a:gd name="connsiteY13" fmla="*/ 1129792 h 2133600"/>
                <a:gd name="connsiteX14" fmla="*/ 1325880 w 2170176"/>
                <a:gd name="connsiteY14" fmla="*/ 1505712 h 2133600"/>
                <a:gd name="connsiteX15" fmla="*/ 1295400 w 2170176"/>
                <a:gd name="connsiteY15" fmla="*/ 1840992 h 2133600"/>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476248 w 2170176"/>
                <a:gd name="connsiteY13" fmla="*/ 1129792 h 2188799"/>
                <a:gd name="connsiteX14" fmla="*/ 1325880 w 2170176"/>
                <a:gd name="connsiteY14" fmla="*/ 1505712 h 2188799"/>
                <a:gd name="connsiteX15" fmla="*/ 1295400 w 2170176"/>
                <a:gd name="connsiteY15"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81784 w 2170176"/>
                <a:gd name="connsiteY10" fmla="*/ 13472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4752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8308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2066544 w 2081784"/>
                <a:gd name="connsiteY7" fmla="*/ 14020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1308354 w 2081784"/>
                <a:gd name="connsiteY7" fmla="*/ 12115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308354 w 2081784"/>
                <a:gd name="connsiteY7" fmla="*/ 3733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232916 w 2081784"/>
                <a:gd name="connsiteY8" fmla="*/ 34823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1783080"/>
                <a:gd name="connsiteY0" fmla="*/ 1757172 h 2104979"/>
                <a:gd name="connsiteX1" fmla="*/ 1706880 w 1783080"/>
                <a:gd name="connsiteY1" fmla="*/ 2049780 h 2104979"/>
                <a:gd name="connsiteX2" fmla="*/ 839258 w 1783080"/>
                <a:gd name="connsiteY2" fmla="*/ 2104979 h 2104979"/>
                <a:gd name="connsiteX3" fmla="*/ 298704 w 1783080"/>
                <a:gd name="connsiteY3" fmla="*/ 1860804 h 2104979"/>
                <a:gd name="connsiteX4" fmla="*/ 0 w 1783080"/>
                <a:gd name="connsiteY4" fmla="*/ 1043940 h 2104979"/>
                <a:gd name="connsiteX5" fmla="*/ 323088 w 1783080"/>
                <a:gd name="connsiteY5" fmla="*/ 105156 h 2104979"/>
                <a:gd name="connsiteX6" fmla="*/ 803148 w 1783080"/>
                <a:gd name="connsiteY6" fmla="*/ 0 h 2104979"/>
                <a:gd name="connsiteX7" fmla="*/ 1079754 w 1783080"/>
                <a:gd name="connsiteY7" fmla="*/ 44958 h 2104979"/>
                <a:gd name="connsiteX8" fmla="*/ 1232916 w 1783080"/>
                <a:gd name="connsiteY8" fmla="*/ 348234 h 2104979"/>
                <a:gd name="connsiteX9" fmla="*/ 1068324 w 1783080"/>
                <a:gd name="connsiteY9" fmla="*/ 661416 h 2104979"/>
                <a:gd name="connsiteX10" fmla="*/ 1783080 w 1783080"/>
                <a:gd name="connsiteY10" fmla="*/ 1316228 h 2104979"/>
                <a:gd name="connsiteX11" fmla="*/ 1547368 w 1783080"/>
                <a:gd name="connsiteY11" fmla="*/ 1139444 h 2104979"/>
                <a:gd name="connsiteX12" fmla="*/ 1325880 w 1783080"/>
                <a:gd name="connsiteY12" fmla="*/ 1421892 h 2104979"/>
                <a:gd name="connsiteX13" fmla="*/ 1295400 w 1783080"/>
                <a:gd name="connsiteY13" fmla="*/ 1757172 h 2104979"/>
                <a:gd name="connsiteX0" fmla="*/ 1295400 w 1706880"/>
                <a:gd name="connsiteY0" fmla="*/ 1757172 h 2104979"/>
                <a:gd name="connsiteX1" fmla="*/ 1706880 w 1706880"/>
                <a:gd name="connsiteY1" fmla="*/ 2049780 h 2104979"/>
                <a:gd name="connsiteX2" fmla="*/ 839258 w 1706880"/>
                <a:gd name="connsiteY2" fmla="*/ 2104979 h 2104979"/>
                <a:gd name="connsiteX3" fmla="*/ 298704 w 1706880"/>
                <a:gd name="connsiteY3" fmla="*/ 1860804 h 2104979"/>
                <a:gd name="connsiteX4" fmla="*/ 0 w 1706880"/>
                <a:gd name="connsiteY4" fmla="*/ 1043940 h 2104979"/>
                <a:gd name="connsiteX5" fmla="*/ 323088 w 1706880"/>
                <a:gd name="connsiteY5" fmla="*/ 105156 h 2104979"/>
                <a:gd name="connsiteX6" fmla="*/ 803148 w 1706880"/>
                <a:gd name="connsiteY6" fmla="*/ 0 h 2104979"/>
                <a:gd name="connsiteX7" fmla="*/ 1079754 w 1706880"/>
                <a:gd name="connsiteY7" fmla="*/ 44958 h 2104979"/>
                <a:gd name="connsiteX8" fmla="*/ 1232916 w 1706880"/>
                <a:gd name="connsiteY8" fmla="*/ 348234 h 2104979"/>
                <a:gd name="connsiteX9" fmla="*/ 1068324 w 1706880"/>
                <a:gd name="connsiteY9" fmla="*/ 661416 h 2104979"/>
                <a:gd name="connsiteX10" fmla="*/ 1451610 w 1706880"/>
                <a:gd name="connsiteY10" fmla="*/ 779018 h 2104979"/>
                <a:gd name="connsiteX11" fmla="*/ 1547368 w 1706880"/>
                <a:gd name="connsiteY11" fmla="*/ 1139444 h 2104979"/>
                <a:gd name="connsiteX12" fmla="*/ 1325880 w 1706880"/>
                <a:gd name="connsiteY12" fmla="*/ 1421892 h 2104979"/>
                <a:gd name="connsiteX13" fmla="*/ 1295400 w 1706880"/>
                <a:gd name="connsiteY13" fmla="*/ 1757172 h 2104979"/>
                <a:gd name="connsiteX0" fmla="*/ 1295400 w 1734058"/>
                <a:gd name="connsiteY0" fmla="*/ 1757172 h 2104979"/>
                <a:gd name="connsiteX1" fmla="*/ 1706880 w 1734058"/>
                <a:gd name="connsiteY1" fmla="*/ 2049780 h 2104979"/>
                <a:gd name="connsiteX2" fmla="*/ 839258 w 1734058"/>
                <a:gd name="connsiteY2" fmla="*/ 2104979 h 2104979"/>
                <a:gd name="connsiteX3" fmla="*/ 298704 w 1734058"/>
                <a:gd name="connsiteY3" fmla="*/ 1860804 h 2104979"/>
                <a:gd name="connsiteX4" fmla="*/ 0 w 1734058"/>
                <a:gd name="connsiteY4" fmla="*/ 1043940 h 2104979"/>
                <a:gd name="connsiteX5" fmla="*/ 323088 w 1734058"/>
                <a:gd name="connsiteY5" fmla="*/ 105156 h 2104979"/>
                <a:gd name="connsiteX6" fmla="*/ 803148 w 1734058"/>
                <a:gd name="connsiteY6" fmla="*/ 0 h 2104979"/>
                <a:gd name="connsiteX7" fmla="*/ 1079754 w 1734058"/>
                <a:gd name="connsiteY7" fmla="*/ 44958 h 2104979"/>
                <a:gd name="connsiteX8" fmla="*/ 1232916 w 1734058"/>
                <a:gd name="connsiteY8" fmla="*/ 348234 h 2104979"/>
                <a:gd name="connsiteX9" fmla="*/ 1068324 w 1734058"/>
                <a:gd name="connsiteY9" fmla="*/ 661416 h 2104979"/>
                <a:gd name="connsiteX10" fmla="*/ 1451610 w 1734058"/>
                <a:gd name="connsiteY10" fmla="*/ 779018 h 2104979"/>
                <a:gd name="connsiteX11" fmla="*/ 1734058 w 1734058"/>
                <a:gd name="connsiteY11" fmla="*/ 720344 h 2104979"/>
                <a:gd name="connsiteX12" fmla="*/ 1325880 w 1734058"/>
                <a:gd name="connsiteY12" fmla="*/ 1421892 h 2104979"/>
                <a:gd name="connsiteX13" fmla="*/ 1295400 w 1734058"/>
                <a:gd name="connsiteY13" fmla="*/ 1757172 h 2104979"/>
                <a:gd name="connsiteX0" fmla="*/ 1295400 w 1996440"/>
                <a:gd name="connsiteY0" fmla="*/ 1757172 h 2104979"/>
                <a:gd name="connsiteX1" fmla="*/ 1706880 w 1996440"/>
                <a:gd name="connsiteY1" fmla="*/ 2049780 h 2104979"/>
                <a:gd name="connsiteX2" fmla="*/ 839258 w 1996440"/>
                <a:gd name="connsiteY2" fmla="*/ 2104979 h 2104979"/>
                <a:gd name="connsiteX3" fmla="*/ 298704 w 1996440"/>
                <a:gd name="connsiteY3" fmla="*/ 1860804 h 2104979"/>
                <a:gd name="connsiteX4" fmla="*/ 0 w 1996440"/>
                <a:gd name="connsiteY4" fmla="*/ 1043940 h 2104979"/>
                <a:gd name="connsiteX5" fmla="*/ 323088 w 1996440"/>
                <a:gd name="connsiteY5" fmla="*/ 105156 h 2104979"/>
                <a:gd name="connsiteX6" fmla="*/ 803148 w 1996440"/>
                <a:gd name="connsiteY6" fmla="*/ 0 h 2104979"/>
                <a:gd name="connsiteX7" fmla="*/ 1079754 w 1996440"/>
                <a:gd name="connsiteY7" fmla="*/ 44958 h 2104979"/>
                <a:gd name="connsiteX8" fmla="*/ 1232916 w 1996440"/>
                <a:gd name="connsiteY8" fmla="*/ 348234 h 2104979"/>
                <a:gd name="connsiteX9" fmla="*/ 1068324 w 1996440"/>
                <a:gd name="connsiteY9" fmla="*/ 661416 h 2104979"/>
                <a:gd name="connsiteX10" fmla="*/ 1451610 w 1996440"/>
                <a:gd name="connsiteY10" fmla="*/ 779018 h 2104979"/>
                <a:gd name="connsiteX11" fmla="*/ 1734058 w 1996440"/>
                <a:gd name="connsiteY11" fmla="*/ 720344 h 2104979"/>
                <a:gd name="connsiteX12" fmla="*/ 1996440 w 1996440"/>
                <a:gd name="connsiteY12" fmla="*/ 23622 h 2104979"/>
                <a:gd name="connsiteX13" fmla="*/ 1295400 w 1996440"/>
                <a:gd name="connsiteY13" fmla="*/ 1757172 h 2104979"/>
                <a:gd name="connsiteX0" fmla="*/ 2228850 w 2228850"/>
                <a:gd name="connsiteY0" fmla="*/ 1341882 h 2104979"/>
                <a:gd name="connsiteX1" fmla="*/ 1706880 w 2228850"/>
                <a:gd name="connsiteY1" fmla="*/ 204978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2228850 w 2228850"/>
                <a:gd name="connsiteY11" fmla="*/ 2104979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1313215 w 2092925"/>
                <a:gd name="connsiteY0" fmla="*/ 1753918 h 2104979"/>
                <a:gd name="connsiteX1" fmla="*/ 1604010 w 2092925"/>
                <a:gd name="connsiteY1" fmla="*/ 1962150 h 2104979"/>
                <a:gd name="connsiteX2" fmla="*/ 839258 w 2092925"/>
                <a:gd name="connsiteY2" fmla="*/ 2104979 h 2104979"/>
                <a:gd name="connsiteX3" fmla="*/ 298704 w 2092925"/>
                <a:gd name="connsiteY3" fmla="*/ 1860804 h 2104979"/>
                <a:gd name="connsiteX4" fmla="*/ 0 w 2092925"/>
                <a:gd name="connsiteY4" fmla="*/ 1043940 h 2104979"/>
                <a:gd name="connsiteX5" fmla="*/ 323088 w 2092925"/>
                <a:gd name="connsiteY5" fmla="*/ 105156 h 2104979"/>
                <a:gd name="connsiteX6" fmla="*/ 803148 w 2092925"/>
                <a:gd name="connsiteY6" fmla="*/ 0 h 2104979"/>
                <a:gd name="connsiteX7" fmla="*/ 2010082 w 2092925"/>
                <a:gd name="connsiteY7" fmla="*/ 112361 h 2104979"/>
                <a:gd name="connsiteX8" fmla="*/ 1748472 w 2092925"/>
                <a:gd name="connsiteY8" fmla="*/ 703163 h 2104979"/>
                <a:gd name="connsiteX9" fmla="*/ 1451981 w 2092925"/>
                <a:gd name="connsiteY9" fmla="*/ 783827 h 2104979"/>
                <a:gd name="connsiteX10" fmla="*/ 1495582 w 2092925"/>
                <a:gd name="connsiteY10" fmla="*/ 1095578 h 2104979"/>
                <a:gd name="connsiteX11" fmla="*/ 1755012 w 2092925"/>
                <a:gd name="connsiteY11" fmla="*/ 1317947 h 2104979"/>
                <a:gd name="connsiteX12" fmla="*/ 2092925 w 2092925"/>
                <a:gd name="connsiteY12" fmla="*/ 1252545 h 2104979"/>
                <a:gd name="connsiteX13" fmla="*/ 1313215 w 2092925"/>
                <a:gd name="connsiteY13" fmla="*/ 1753918 h 2104979"/>
                <a:gd name="connsiteX0" fmla="*/ 1313215 w 2010082"/>
                <a:gd name="connsiteY0" fmla="*/ 1753918 h 2104979"/>
                <a:gd name="connsiteX1" fmla="*/ 1604010 w 2010082"/>
                <a:gd name="connsiteY1" fmla="*/ 1962150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926581 w 2010082"/>
                <a:gd name="connsiteY12" fmla="*/ 1440032 h 2104979"/>
                <a:gd name="connsiteX13" fmla="*/ 1313215 w 2010082"/>
                <a:gd name="connsiteY13" fmla="*/ 1753918 h 2104979"/>
                <a:gd name="connsiteX0" fmla="*/ 1313215 w 2010082"/>
                <a:gd name="connsiteY0" fmla="*/ 1753918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926581 w 2010082"/>
                <a:gd name="connsiteY12" fmla="*/ 1440032 h 2104979"/>
                <a:gd name="connsiteX13" fmla="*/ 1313215 w 2010082"/>
                <a:gd name="connsiteY13" fmla="*/ 1753918 h 2104979"/>
                <a:gd name="connsiteX0" fmla="*/ 1313215 w 2010082"/>
                <a:gd name="connsiteY0" fmla="*/ 1753918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1290655 w 2010082"/>
                <a:gd name="connsiteY12" fmla="*/ 1435672 h 2104979"/>
                <a:gd name="connsiteX13" fmla="*/ 1313215 w 2010082"/>
                <a:gd name="connsiteY13" fmla="*/ 1753918 h 2104979"/>
                <a:gd name="connsiteX0" fmla="*/ 994923 w 2010082"/>
                <a:gd name="connsiteY0" fmla="*/ 1405105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1290655 w 2010082"/>
                <a:gd name="connsiteY12" fmla="*/ 1435672 h 2104979"/>
                <a:gd name="connsiteX13" fmla="*/ 994923 w 2010082"/>
                <a:gd name="connsiteY13" fmla="*/ 1405105 h 2104979"/>
                <a:gd name="connsiteX0" fmla="*/ 994923 w 2010082"/>
                <a:gd name="connsiteY0" fmla="*/ 1405105 h 1967634"/>
                <a:gd name="connsiteX1" fmla="*/ 716716 w 2010082"/>
                <a:gd name="connsiteY1" fmla="*/ 1632957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755012 w 2010082"/>
                <a:gd name="connsiteY11" fmla="*/ 1317947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755012 w 2010082"/>
                <a:gd name="connsiteY11" fmla="*/ 1317947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558805 w 2010082"/>
                <a:gd name="connsiteY10" fmla="*/ 1932730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975201 w 2010082"/>
                <a:gd name="connsiteY9" fmla="*/ 1629699 h 1967634"/>
                <a:gd name="connsiteX10" fmla="*/ 1558805 w 2010082"/>
                <a:gd name="connsiteY10" fmla="*/ 1932730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55864"/>
                <a:gd name="connsiteY0" fmla="*/ 1405105 h 1967634"/>
                <a:gd name="connsiteX1" fmla="*/ 692735 w 2055864"/>
                <a:gd name="connsiteY1" fmla="*/ 1643858 h 1967634"/>
                <a:gd name="connsiteX2" fmla="*/ 697553 w 2055864"/>
                <a:gd name="connsiteY2" fmla="*/ 1967634 h 1967634"/>
                <a:gd name="connsiteX3" fmla="*/ 298704 w 2055864"/>
                <a:gd name="connsiteY3" fmla="*/ 1860804 h 1967634"/>
                <a:gd name="connsiteX4" fmla="*/ 0 w 2055864"/>
                <a:gd name="connsiteY4" fmla="*/ 1043940 h 1967634"/>
                <a:gd name="connsiteX5" fmla="*/ 323088 w 2055864"/>
                <a:gd name="connsiteY5" fmla="*/ 105156 h 1967634"/>
                <a:gd name="connsiteX6" fmla="*/ 803148 w 2055864"/>
                <a:gd name="connsiteY6" fmla="*/ 0 h 1967634"/>
                <a:gd name="connsiteX7" fmla="*/ 2010082 w 2055864"/>
                <a:gd name="connsiteY7" fmla="*/ 112361 h 1967634"/>
                <a:gd name="connsiteX8" fmla="*/ 2055864 w 2055864"/>
                <a:gd name="connsiteY8" fmla="*/ 1283065 h 1967634"/>
                <a:gd name="connsiteX9" fmla="*/ 1975201 w 2055864"/>
                <a:gd name="connsiteY9" fmla="*/ 1629699 h 1967634"/>
                <a:gd name="connsiteX10" fmla="*/ 1558805 w 2055864"/>
                <a:gd name="connsiteY10" fmla="*/ 1932730 h 1967634"/>
                <a:gd name="connsiteX11" fmla="*/ 1297195 w 2055864"/>
                <a:gd name="connsiteY11" fmla="*/ 1751784 h 1967634"/>
                <a:gd name="connsiteX12" fmla="*/ 1290655 w 2055864"/>
                <a:gd name="connsiteY12" fmla="*/ 1435672 h 1967634"/>
                <a:gd name="connsiteX13" fmla="*/ 994923 w 2055864"/>
                <a:gd name="connsiteY13"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98704 w 2060224"/>
                <a:gd name="connsiteY3" fmla="*/ 1860804 h 1967634"/>
                <a:gd name="connsiteX4" fmla="*/ 0 w 2060224"/>
                <a:gd name="connsiteY4" fmla="*/ 1043940 h 1967634"/>
                <a:gd name="connsiteX5" fmla="*/ 323088 w 2060224"/>
                <a:gd name="connsiteY5" fmla="*/ 105156 h 1967634"/>
                <a:gd name="connsiteX6" fmla="*/ 803148 w 2060224"/>
                <a:gd name="connsiteY6" fmla="*/ 0 h 1967634"/>
                <a:gd name="connsiteX7" fmla="*/ 2060224 w 2060224"/>
                <a:gd name="connsiteY7" fmla="*/ 709703 h 1967634"/>
                <a:gd name="connsiteX8" fmla="*/ 2055864 w 2060224"/>
                <a:gd name="connsiteY8" fmla="*/ 1283065 h 1967634"/>
                <a:gd name="connsiteX9" fmla="*/ 1975201 w 2060224"/>
                <a:gd name="connsiteY9" fmla="*/ 1629699 h 1967634"/>
                <a:gd name="connsiteX10" fmla="*/ 1558805 w 2060224"/>
                <a:gd name="connsiteY10" fmla="*/ 1932730 h 1967634"/>
                <a:gd name="connsiteX11" fmla="*/ 1297195 w 2060224"/>
                <a:gd name="connsiteY11" fmla="*/ 1751784 h 1967634"/>
                <a:gd name="connsiteX12" fmla="*/ 1290655 w 2060224"/>
                <a:gd name="connsiteY12" fmla="*/ 1435672 h 1967634"/>
                <a:gd name="connsiteX13" fmla="*/ 994923 w 2060224"/>
                <a:gd name="connsiteY13"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98704 w 2060224"/>
                <a:gd name="connsiteY3" fmla="*/ 1860804 h 1967634"/>
                <a:gd name="connsiteX4" fmla="*/ 0 w 2060224"/>
                <a:gd name="connsiteY4" fmla="*/ 1043940 h 1967634"/>
                <a:gd name="connsiteX5" fmla="*/ 323088 w 2060224"/>
                <a:gd name="connsiteY5" fmla="*/ 105156 h 1967634"/>
                <a:gd name="connsiteX6" fmla="*/ 803148 w 2060224"/>
                <a:gd name="connsiteY6" fmla="*/ 0 h 1967634"/>
                <a:gd name="connsiteX7" fmla="*/ 1781172 w 2060224"/>
                <a:gd name="connsiteY7" fmla="*/ 136342 h 1967634"/>
                <a:gd name="connsiteX8" fmla="*/ 2060224 w 2060224"/>
                <a:gd name="connsiteY8" fmla="*/ 709703 h 1967634"/>
                <a:gd name="connsiteX9" fmla="*/ 2055864 w 2060224"/>
                <a:gd name="connsiteY9" fmla="*/ 1283065 h 1967634"/>
                <a:gd name="connsiteX10" fmla="*/ 1975201 w 2060224"/>
                <a:gd name="connsiteY10" fmla="*/ 1629699 h 1967634"/>
                <a:gd name="connsiteX11" fmla="*/ 1558805 w 2060224"/>
                <a:gd name="connsiteY11" fmla="*/ 1932730 h 1967634"/>
                <a:gd name="connsiteX12" fmla="*/ 1297195 w 2060224"/>
                <a:gd name="connsiteY12" fmla="*/ 1751784 h 1967634"/>
                <a:gd name="connsiteX13" fmla="*/ 1290655 w 2060224"/>
                <a:gd name="connsiteY13" fmla="*/ 1435672 h 1967634"/>
                <a:gd name="connsiteX14" fmla="*/ 994923 w 2060224"/>
                <a:gd name="connsiteY14"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163539 w 2060224"/>
                <a:gd name="connsiteY3" fmla="*/ 1276542 h 1967634"/>
                <a:gd name="connsiteX4" fmla="*/ 0 w 2060224"/>
                <a:gd name="connsiteY4" fmla="*/ 1043940 h 1967634"/>
                <a:gd name="connsiteX5" fmla="*/ 323088 w 2060224"/>
                <a:gd name="connsiteY5" fmla="*/ 105156 h 1967634"/>
                <a:gd name="connsiteX6" fmla="*/ 803148 w 2060224"/>
                <a:gd name="connsiteY6" fmla="*/ 0 h 1967634"/>
                <a:gd name="connsiteX7" fmla="*/ 1781172 w 2060224"/>
                <a:gd name="connsiteY7" fmla="*/ 136342 h 1967634"/>
                <a:gd name="connsiteX8" fmla="*/ 2060224 w 2060224"/>
                <a:gd name="connsiteY8" fmla="*/ 709703 h 1967634"/>
                <a:gd name="connsiteX9" fmla="*/ 2055864 w 2060224"/>
                <a:gd name="connsiteY9" fmla="*/ 1283065 h 1967634"/>
                <a:gd name="connsiteX10" fmla="*/ 1975201 w 2060224"/>
                <a:gd name="connsiteY10" fmla="*/ 1629699 h 1967634"/>
                <a:gd name="connsiteX11" fmla="*/ 1558805 w 2060224"/>
                <a:gd name="connsiteY11" fmla="*/ 1932730 h 1967634"/>
                <a:gd name="connsiteX12" fmla="*/ 1297195 w 2060224"/>
                <a:gd name="connsiteY12" fmla="*/ 1751784 h 1967634"/>
                <a:gd name="connsiteX13" fmla="*/ 1290655 w 2060224"/>
                <a:gd name="connsiteY13" fmla="*/ 1435672 h 1967634"/>
                <a:gd name="connsiteX14" fmla="*/ 994923 w 2060224"/>
                <a:gd name="connsiteY14" fmla="*/ 1405105 h 1967634"/>
                <a:gd name="connsiteX0" fmla="*/ 994923 w 2060224"/>
                <a:gd name="connsiteY0" fmla="*/ 1405105 h 1932730"/>
                <a:gd name="connsiteX1" fmla="*/ 692735 w 2060224"/>
                <a:gd name="connsiteY1" fmla="*/ 1643858 h 1932730"/>
                <a:gd name="connsiteX2" fmla="*/ 405422 w 2060224"/>
                <a:gd name="connsiteY2" fmla="*/ 1099961 h 1932730"/>
                <a:gd name="connsiteX3" fmla="*/ 163539 w 2060224"/>
                <a:gd name="connsiteY3" fmla="*/ 1276542 h 1932730"/>
                <a:gd name="connsiteX4" fmla="*/ 0 w 2060224"/>
                <a:gd name="connsiteY4" fmla="*/ 1043940 h 1932730"/>
                <a:gd name="connsiteX5" fmla="*/ 323088 w 2060224"/>
                <a:gd name="connsiteY5" fmla="*/ 105156 h 1932730"/>
                <a:gd name="connsiteX6" fmla="*/ 803148 w 2060224"/>
                <a:gd name="connsiteY6" fmla="*/ 0 h 1932730"/>
                <a:gd name="connsiteX7" fmla="*/ 1781172 w 2060224"/>
                <a:gd name="connsiteY7" fmla="*/ 136342 h 1932730"/>
                <a:gd name="connsiteX8" fmla="*/ 2060224 w 2060224"/>
                <a:gd name="connsiteY8" fmla="*/ 709703 h 1932730"/>
                <a:gd name="connsiteX9" fmla="*/ 2055864 w 2060224"/>
                <a:gd name="connsiteY9" fmla="*/ 1283065 h 1932730"/>
                <a:gd name="connsiteX10" fmla="*/ 1975201 w 2060224"/>
                <a:gd name="connsiteY10" fmla="*/ 1629699 h 1932730"/>
                <a:gd name="connsiteX11" fmla="*/ 1558805 w 2060224"/>
                <a:gd name="connsiteY11" fmla="*/ 1932730 h 1932730"/>
                <a:gd name="connsiteX12" fmla="*/ 1297195 w 2060224"/>
                <a:gd name="connsiteY12" fmla="*/ 1751784 h 1932730"/>
                <a:gd name="connsiteX13" fmla="*/ 1290655 w 2060224"/>
                <a:gd name="connsiteY13" fmla="*/ 1435672 h 1932730"/>
                <a:gd name="connsiteX14" fmla="*/ 994923 w 2060224"/>
                <a:gd name="connsiteY14" fmla="*/ 1405105 h 1932730"/>
                <a:gd name="connsiteX0" fmla="*/ 994923 w 2060224"/>
                <a:gd name="connsiteY0" fmla="*/ 1405105 h 1932730"/>
                <a:gd name="connsiteX1" fmla="*/ 1082970 w 2060224"/>
                <a:gd name="connsiteY1" fmla="*/ 1260164 h 1932730"/>
                <a:gd name="connsiteX2" fmla="*/ 405422 w 2060224"/>
                <a:gd name="connsiteY2" fmla="*/ 1099961 h 1932730"/>
                <a:gd name="connsiteX3" fmla="*/ 163539 w 2060224"/>
                <a:gd name="connsiteY3" fmla="*/ 1276542 h 1932730"/>
                <a:gd name="connsiteX4" fmla="*/ 0 w 2060224"/>
                <a:gd name="connsiteY4" fmla="*/ 1043940 h 1932730"/>
                <a:gd name="connsiteX5" fmla="*/ 323088 w 2060224"/>
                <a:gd name="connsiteY5" fmla="*/ 105156 h 1932730"/>
                <a:gd name="connsiteX6" fmla="*/ 803148 w 2060224"/>
                <a:gd name="connsiteY6" fmla="*/ 0 h 1932730"/>
                <a:gd name="connsiteX7" fmla="*/ 1781172 w 2060224"/>
                <a:gd name="connsiteY7" fmla="*/ 136342 h 1932730"/>
                <a:gd name="connsiteX8" fmla="*/ 2060224 w 2060224"/>
                <a:gd name="connsiteY8" fmla="*/ 709703 h 1932730"/>
                <a:gd name="connsiteX9" fmla="*/ 2055864 w 2060224"/>
                <a:gd name="connsiteY9" fmla="*/ 1283065 h 1932730"/>
                <a:gd name="connsiteX10" fmla="*/ 1975201 w 2060224"/>
                <a:gd name="connsiteY10" fmla="*/ 1629699 h 1932730"/>
                <a:gd name="connsiteX11" fmla="*/ 1558805 w 2060224"/>
                <a:gd name="connsiteY11" fmla="*/ 1932730 h 1932730"/>
                <a:gd name="connsiteX12" fmla="*/ 1297195 w 2060224"/>
                <a:gd name="connsiteY12" fmla="*/ 1751784 h 1932730"/>
                <a:gd name="connsiteX13" fmla="*/ 1290655 w 2060224"/>
                <a:gd name="connsiteY13" fmla="*/ 1435672 h 1932730"/>
                <a:gd name="connsiteX14" fmla="*/ 994923 w 2060224"/>
                <a:gd name="connsiteY14" fmla="*/ 1405105 h 1932730"/>
                <a:gd name="connsiteX0" fmla="*/ 696252 w 2060224"/>
                <a:gd name="connsiteY0" fmla="*/ 1627474 h 1932730"/>
                <a:gd name="connsiteX1" fmla="*/ 1082970 w 2060224"/>
                <a:gd name="connsiteY1" fmla="*/ 1260164 h 1932730"/>
                <a:gd name="connsiteX2" fmla="*/ 405422 w 2060224"/>
                <a:gd name="connsiteY2" fmla="*/ 1099961 h 1932730"/>
                <a:gd name="connsiteX3" fmla="*/ 163539 w 2060224"/>
                <a:gd name="connsiteY3" fmla="*/ 1276542 h 1932730"/>
                <a:gd name="connsiteX4" fmla="*/ 0 w 2060224"/>
                <a:gd name="connsiteY4" fmla="*/ 1043940 h 1932730"/>
                <a:gd name="connsiteX5" fmla="*/ 323088 w 2060224"/>
                <a:gd name="connsiteY5" fmla="*/ 105156 h 1932730"/>
                <a:gd name="connsiteX6" fmla="*/ 803148 w 2060224"/>
                <a:gd name="connsiteY6" fmla="*/ 0 h 1932730"/>
                <a:gd name="connsiteX7" fmla="*/ 1781172 w 2060224"/>
                <a:gd name="connsiteY7" fmla="*/ 136342 h 1932730"/>
                <a:gd name="connsiteX8" fmla="*/ 2060224 w 2060224"/>
                <a:gd name="connsiteY8" fmla="*/ 709703 h 1932730"/>
                <a:gd name="connsiteX9" fmla="*/ 2055864 w 2060224"/>
                <a:gd name="connsiteY9" fmla="*/ 1283065 h 1932730"/>
                <a:gd name="connsiteX10" fmla="*/ 1975201 w 2060224"/>
                <a:gd name="connsiteY10" fmla="*/ 1629699 h 1932730"/>
                <a:gd name="connsiteX11" fmla="*/ 1558805 w 2060224"/>
                <a:gd name="connsiteY11" fmla="*/ 1932730 h 1932730"/>
                <a:gd name="connsiteX12" fmla="*/ 1297195 w 2060224"/>
                <a:gd name="connsiteY12" fmla="*/ 1751784 h 1932730"/>
                <a:gd name="connsiteX13" fmla="*/ 1290655 w 2060224"/>
                <a:gd name="connsiteY13" fmla="*/ 1435672 h 1932730"/>
                <a:gd name="connsiteX14" fmla="*/ 696252 w 2060224"/>
                <a:gd name="connsiteY14" fmla="*/ 1627474 h 1932730"/>
                <a:gd name="connsiteX0" fmla="*/ 696252 w 2060224"/>
                <a:gd name="connsiteY0" fmla="*/ 1627474 h 1932730"/>
                <a:gd name="connsiteX1" fmla="*/ 1141832 w 2060224"/>
                <a:gd name="connsiteY1" fmla="*/ 1290685 h 1932730"/>
                <a:gd name="connsiteX2" fmla="*/ 405422 w 2060224"/>
                <a:gd name="connsiteY2" fmla="*/ 1099961 h 1932730"/>
                <a:gd name="connsiteX3" fmla="*/ 163539 w 2060224"/>
                <a:gd name="connsiteY3" fmla="*/ 1276542 h 1932730"/>
                <a:gd name="connsiteX4" fmla="*/ 0 w 2060224"/>
                <a:gd name="connsiteY4" fmla="*/ 1043940 h 1932730"/>
                <a:gd name="connsiteX5" fmla="*/ 323088 w 2060224"/>
                <a:gd name="connsiteY5" fmla="*/ 105156 h 1932730"/>
                <a:gd name="connsiteX6" fmla="*/ 803148 w 2060224"/>
                <a:gd name="connsiteY6" fmla="*/ 0 h 1932730"/>
                <a:gd name="connsiteX7" fmla="*/ 1781172 w 2060224"/>
                <a:gd name="connsiteY7" fmla="*/ 136342 h 1932730"/>
                <a:gd name="connsiteX8" fmla="*/ 2060224 w 2060224"/>
                <a:gd name="connsiteY8" fmla="*/ 709703 h 1932730"/>
                <a:gd name="connsiteX9" fmla="*/ 2055864 w 2060224"/>
                <a:gd name="connsiteY9" fmla="*/ 1283065 h 1932730"/>
                <a:gd name="connsiteX10" fmla="*/ 1975201 w 2060224"/>
                <a:gd name="connsiteY10" fmla="*/ 1629699 h 1932730"/>
                <a:gd name="connsiteX11" fmla="*/ 1558805 w 2060224"/>
                <a:gd name="connsiteY11" fmla="*/ 1932730 h 1932730"/>
                <a:gd name="connsiteX12" fmla="*/ 1297195 w 2060224"/>
                <a:gd name="connsiteY12" fmla="*/ 1751784 h 1932730"/>
                <a:gd name="connsiteX13" fmla="*/ 1290655 w 2060224"/>
                <a:gd name="connsiteY13" fmla="*/ 1435672 h 1932730"/>
                <a:gd name="connsiteX14" fmla="*/ 696252 w 2060224"/>
                <a:gd name="connsiteY14" fmla="*/ 1627474 h 1932730"/>
                <a:gd name="connsiteX0" fmla="*/ 696252 w 2060224"/>
                <a:gd name="connsiteY0" fmla="*/ 1627474 h 1932730"/>
                <a:gd name="connsiteX1" fmla="*/ 1141832 w 2060224"/>
                <a:gd name="connsiteY1" fmla="*/ 1290685 h 1932730"/>
                <a:gd name="connsiteX2" fmla="*/ 405422 w 2060224"/>
                <a:gd name="connsiteY2" fmla="*/ 1099961 h 1932730"/>
                <a:gd name="connsiteX3" fmla="*/ 163539 w 2060224"/>
                <a:gd name="connsiteY3" fmla="*/ 1276542 h 1932730"/>
                <a:gd name="connsiteX4" fmla="*/ 0 w 2060224"/>
                <a:gd name="connsiteY4" fmla="*/ 1043940 h 1932730"/>
                <a:gd name="connsiteX5" fmla="*/ 323088 w 2060224"/>
                <a:gd name="connsiteY5" fmla="*/ 105156 h 1932730"/>
                <a:gd name="connsiteX6" fmla="*/ 803148 w 2060224"/>
                <a:gd name="connsiteY6" fmla="*/ 0 h 1932730"/>
                <a:gd name="connsiteX7" fmla="*/ 1781172 w 2060224"/>
                <a:gd name="connsiteY7" fmla="*/ 136342 h 1932730"/>
                <a:gd name="connsiteX8" fmla="*/ 2060224 w 2060224"/>
                <a:gd name="connsiteY8" fmla="*/ 709703 h 1932730"/>
                <a:gd name="connsiteX9" fmla="*/ 2055864 w 2060224"/>
                <a:gd name="connsiteY9" fmla="*/ 1283065 h 1932730"/>
                <a:gd name="connsiteX10" fmla="*/ 1975201 w 2060224"/>
                <a:gd name="connsiteY10" fmla="*/ 1629699 h 1932730"/>
                <a:gd name="connsiteX11" fmla="*/ 1558805 w 2060224"/>
                <a:gd name="connsiteY11" fmla="*/ 1932730 h 1932730"/>
                <a:gd name="connsiteX12" fmla="*/ 1297195 w 2060224"/>
                <a:gd name="connsiteY12" fmla="*/ 1751784 h 1932730"/>
                <a:gd name="connsiteX13" fmla="*/ 702032 w 2060224"/>
                <a:gd name="connsiteY13" fmla="*/ 1924011 h 1932730"/>
                <a:gd name="connsiteX14" fmla="*/ 696252 w 2060224"/>
                <a:gd name="connsiteY14" fmla="*/ 1627474 h 1932730"/>
                <a:gd name="connsiteX0" fmla="*/ 696252 w 2060224"/>
                <a:gd name="connsiteY0" fmla="*/ 1627474 h 2002494"/>
                <a:gd name="connsiteX1" fmla="*/ 1141832 w 2060224"/>
                <a:gd name="connsiteY1" fmla="*/ 1290685 h 2002494"/>
                <a:gd name="connsiteX2" fmla="*/ 405422 w 2060224"/>
                <a:gd name="connsiteY2" fmla="*/ 1099961 h 2002494"/>
                <a:gd name="connsiteX3" fmla="*/ 163539 w 2060224"/>
                <a:gd name="connsiteY3" fmla="*/ 1276542 h 2002494"/>
                <a:gd name="connsiteX4" fmla="*/ 0 w 2060224"/>
                <a:gd name="connsiteY4" fmla="*/ 1043940 h 2002494"/>
                <a:gd name="connsiteX5" fmla="*/ 323088 w 2060224"/>
                <a:gd name="connsiteY5" fmla="*/ 105156 h 2002494"/>
                <a:gd name="connsiteX6" fmla="*/ 803148 w 2060224"/>
                <a:gd name="connsiteY6" fmla="*/ 0 h 2002494"/>
                <a:gd name="connsiteX7" fmla="*/ 1781172 w 2060224"/>
                <a:gd name="connsiteY7" fmla="*/ 136342 h 2002494"/>
                <a:gd name="connsiteX8" fmla="*/ 2060224 w 2060224"/>
                <a:gd name="connsiteY8" fmla="*/ 709703 h 2002494"/>
                <a:gd name="connsiteX9" fmla="*/ 2055864 w 2060224"/>
                <a:gd name="connsiteY9" fmla="*/ 1283065 h 2002494"/>
                <a:gd name="connsiteX10" fmla="*/ 1975201 w 2060224"/>
                <a:gd name="connsiteY10" fmla="*/ 1629699 h 2002494"/>
                <a:gd name="connsiteX11" fmla="*/ 1558805 w 2060224"/>
                <a:gd name="connsiteY11" fmla="*/ 1932730 h 2002494"/>
                <a:gd name="connsiteX12" fmla="*/ 968003 w 2060224"/>
                <a:gd name="connsiteY12" fmla="*/ 2002494 h 2002494"/>
                <a:gd name="connsiteX13" fmla="*/ 702032 w 2060224"/>
                <a:gd name="connsiteY13" fmla="*/ 1924011 h 2002494"/>
                <a:gd name="connsiteX14" fmla="*/ 696252 w 2060224"/>
                <a:gd name="connsiteY14" fmla="*/ 1627474 h 2002494"/>
                <a:gd name="connsiteX0" fmla="*/ 696252 w 2060224"/>
                <a:gd name="connsiteY0" fmla="*/ 1627474 h 2002494"/>
                <a:gd name="connsiteX1" fmla="*/ 1141832 w 2060224"/>
                <a:gd name="connsiteY1" fmla="*/ 1290685 h 2002494"/>
                <a:gd name="connsiteX2" fmla="*/ 405422 w 2060224"/>
                <a:gd name="connsiteY2" fmla="*/ 1099961 h 2002494"/>
                <a:gd name="connsiteX3" fmla="*/ 163539 w 2060224"/>
                <a:gd name="connsiteY3" fmla="*/ 1276542 h 2002494"/>
                <a:gd name="connsiteX4" fmla="*/ 0 w 2060224"/>
                <a:gd name="connsiteY4" fmla="*/ 1043940 h 2002494"/>
                <a:gd name="connsiteX5" fmla="*/ 323088 w 2060224"/>
                <a:gd name="connsiteY5" fmla="*/ 105156 h 2002494"/>
                <a:gd name="connsiteX6" fmla="*/ 803148 w 2060224"/>
                <a:gd name="connsiteY6" fmla="*/ 0 h 2002494"/>
                <a:gd name="connsiteX7" fmla="*/ 1781172 w 2060224"/>
                <a:gd name="connsiteY7" fmla="*/ 136342 h 2002494"/>
                <a:gd name="connsiteX8" fmla="*/ 2060224 w 2060224"/>
                <a:gd name="connsiteY8" fmla="*/ 709703 h 2002494"/>
                <a:gd name="connsiteX9" fmla="*/ 2055864 w 2060224"/>
                <a:gd name="connsiteY9" fmla="*/ 1283065 h 2002494"/>
                <a:gd name="connsiteX10" fmla="*/ 1975201 w 2060224"/>
                <a:gd name="connsiteY10" fmla="*/ 1629699 h 2002494"/>
                <a:gd name="connsiteX11" fmla="*/ 1558805 w 2060224"/>
                <a:gd name="connsiteY11" fmla="*/ 1932730 h 2002494"/>
                <a:gd name="connsiteX12" fmla="*/ 1388757 w 2060224"/>
                <a:gd name="connsiteY12" fmla="*/ 2002493 h 2002494"/>
                <a:gd name="connsiteX13" fmla="*/ 968003 w 2060224"/>
                <a:gd name="connsiteY13" fmla="*/ 2002494 h 2002494"/>
                <a:gd name="connsiteX14" fmla="*/ 702032 w 2060224"/>
                <a:gd name="connsiteY14" fmla="*/ 1924011 h 2002494"/>
                <a:gd name="connsiteX15" fmla="*/ 696252 w 2060224"/>
                <a:gd name="connsiteY15" fmla="*/ 1627474 h 2002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60224" h="2002494">
                  <a:moveTo>
                    <a:pt x="696252" y="1627474"/>
                  </a:moveTo>
                  <a:lnTo>
                    <a:pt x="1141832" y="1290685"/>
                  </a:lnTo>
                  <a:lnTo>
                    <a:pt x="405422" y="1099961"/>
                  </a:lnTo>
                  <a:lnTo>
                    <a:pt x="163539" y="1276542"/>
                  </a:lnTo>
                  <a:lnTo>
                    <a:pt x="0" y="1043940"/>
                  </a:lnTo>
                  <a:lnTo>
                    <a:pt x="323088" y="105156"/>
                  </a:lnTo>
                  <a:lnTo>
                    <a:pt x="803148" y="0"/>
                  </a:lnTo>
                  <a:cubicBezTo>
                    <a:pt x="1196012" y="222034"/>
                    <a:pt x="1388308" y="-85692"/>
                    <a:pt x="1781172" y="136342"/>
                  </a:cubicBezTo>
                  <a:lnTo>
                    <a:pt x="2060224" y="709703"/>
                  </a:lnTo>
                  <a:cubicBezTo>
                    <a:pt x="2058771" y="900824"/>
                    <a:pt x="2057317" y="1091944"/>
                    <a:pt x="2055864" y="1283065"/>
                  </a:cubicBezTo>
                  <a:lnTo>
                    <a:pt x="1975201" y="1629699"/>
                  </a:lnTo>
                  <a:lnTo>
                    <a:pt x="1558805" y="1932730"/>
                  </a:lnTo>
                  <a:cubicBezTo>
                    <a:pt x="1481775" y="1940724"/>
                    <a:pt x="1465787" y="1994499"/>
                    <a:pt x="1388757" y="2002493"/>
                  </a:cubicBezTo>
                  <a:lnTo>
                    <a:pt x="968003" y="2002494"/>
                  </a:lnTo>
                  <a:lnTo>
                    <a:pt x="702032" y="1924011"/>
                  </a:lnTo>
                  <a:lnTo>
                    <a:pt x="696252" y="1627474"/>
                  </a:lnTo>
                  <a:close/>
                </a:path>
              </a:pathLst>
            </a:cu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2" name="Freeform: Shape 11">
            <a:extLst>
              <a:ext uri="{FF2B5EF4-FFF2-40B4-BE49-F238E27FC236}">
                <a16:creationId xmlns:a16="http://schemas.microsoft.com/office/drawing/2014/main" id="{366BFB02-1E64-86DF-8C07-CC03FFE4DABB}"/>
              </a:ext>
              <a:ext uri="{C183D7F6-B498-43B3-948B-1728B52AA6E4}">
                <adec:decorative xmlns:adec="http://schemas.microsoft.com/office/drawing/2017/decorative" val="1"/>
              </a:ext>
            </a:extLst>
          </p:cNvPr>
          <p:cNvSpPr/>
          <p:nvPr/>
        </p:nvSpPr>
        <p:spPr>
          <a:xfrm>
            <a:off x="7373281" y="1654642"/>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71E4F7A-0D93-DC6D-1DB6-67CF6CA50F8C}"/>
              </a:ext>
              <a:ext uri="{C183D7F6-B498-43B3-948B-1728B52AA6E4}">
                <adec:decorative xmlns:adec="http://schemas.microsoft.com/office/drawing/2017/decorative" val="1"/>
              </a:ext>
            </a:extLst>
          </p:cNvPr>
          <p:cNvSpPr/>
          <p:nvPr/>
        </p:nvSpPr>
        <p:spPr>
          <a:xfrm>
            <a:off x="1055688" y="4074268"/>
            <a:ext cx="9648824" cy="6508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mj-lt"/>
            </a:endParaRPr>
          </a:p>
        </p:txBody>
      </p:sp>
      <p:sp>
        <p:nvSpPr>
          <p:cNvPr id="20" name="TextBox 19">
            <a:extLst>
              <a:ext uri="{FF2B5EF4-FFF2-40B4-BE49-F238E27FC236}">
                <a16:creationId xmlns:a16="http://schemas.microsoft.com/office/drawing/2014/main" id="{96920C7C-0D0F-7A66-0CFA-38EC04740FED}"/>
              </a:ext>
              <a:ext uri="{C183D7F6-B498-43B3-948B-1728B52AA6E4}">
                <adec:decorative xmlns:adec="http://schemas.microsoft.com/office/drawing/2017/decorative" val="1"/>
              </a:ext>
            </a:extLst>
          </p:cNvPr>
          <p:cNvSpPr txBox="1"/>
          <p:nvPr/>
        </p:nvSpPr>
        <p:spPr>
          <a:xfrm>
            <a:off x="7897174" y="1495817"/>
            <a:ext cx="790601" cy="276999"/>
          </a:xfrm>
          <a:prstGeom prst="rect">
            <a:avLst/>
          </a:prstGeom>
          <a:noFill/>
        </p:spPr>
        <p:txBody>
          <a:bodyPr wrap="none" rtlCol="0">
            <a:spAutoFit/>
          </a:bodyPr>
          <a:lstStyle/>
          <a:p>
            <a:pPr algn="l"/>
            <a:r>
              <a:rPr lang="en-US" sz="1200">
                <a:solidFill>
                  <a:schemeClr val="bg1">
                    <a:lumMod val="50000"/>
                  </a:schemeClr>
                </a:solidFill>
                <a:latin typeface="+mj-lt"/>
              </a:rPr>
              <a:t>Software</a:t>
            </a:r>
          </a:p>
        </p:txBody>
      </p:sp>
      <p:sp>
        <p:nvSpPr>
          <p:cNvPr id="23" name="Content Placeholder 5">
            <a:extLst>
              <a:ext uri="{FF2B5EF4-FFF2-40B4-BE49-F238E27FC236}">
                <a16:creationId xmlns:a16="http://schemas.microsoft.com/office/drawing/2014/main" id="{60347B89-84E9-8727-E955-BE1F24A8DDFF}"/>
              </a:ext>
            </a:extLst>
          </p:cNvPr>
          <p:cNvSpPr txBox="1">
            <a:spLocks/>
          </p:cNvSpPr>
          <p:nvPr/>
        </p:nvSpPr>
        <p:spPr>
          <a:xfrm>
            <a:off x="1055688" y="3172513"/>
            <a:ext cx="10008864" cy="292061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a:spcAft>
                <a:spcPts val="800"/>
              </a:spcAft>
            </a:pPr>
            <a:r>
              <a:rPr lang="en-US" sz="1200"/>
              <a:t>You'll want to use FFmpeg, which is a command line utility that can perform many different types of transformations on video files, including the creation of thumbnails. Here's an example of how you might do that:</a:t>
            </a:r>
            <a:br>
              <a:rPr lang="en-US" sz="1200"/>
            </a:br>
            <a:r>
              <a:rPr lang="en-US" sz="1200"/>
              <a:t>Before starting, make sure to download and install FFmpeg in your command-line tool.</a:t>
            </a:r>
            <a:br>
              <a:rPr lang="en-US" sz="1200"/>
            </a:br>
            <a:r>
              <a:rPr lang="en-US" sz="1200"/>
              <a:t>The general command line syntax to create a thumbnail using FFmpeg is:</a:t>
            </a:r>
          </a:p>
          <a:p>
            <a:pPr>
              <a:spcAft>
                <a:spcPts val="800"/>
              </a:spcAft>
            </a:pPr>
            <a:r>
              <a:rPr lang="en-US" sz="1200">
                <a:solidFill>
                  <a:schemeClr val="bg1"/>
                </a:solidFill>
                <a:latin typeface="Consolas" panose="020B0609020204030204" pitchFamily="49" charset="0"/>
              </a:rPr>
              <a:t>ffmpeg -i input.mp4 -vf "fps=1/60,scale=320:-1:flags=lanczos,[thumbnail_type]drawtext=fontfile=/usr/share/fonts/truetype/dejavu/DejaVuSans-Bold.ttf: text='%{pts\:hms}': x=10: y=10: fontsize=24: fontcolor=white: shadowcolor=black: shadowx=2: shadowy=2" image%d.png</a:t>
            </a:r>
          </a:p>
          <a:p>
            <a:pPr>
              <a:spcAft>
                <a:spcPts val="800"/>
              </a:spcAft>
            </a:pPr>
            <a:r>
              <a:rPr lang="en-US" sz="1200"/>
              <a:t>Here's what's going on in that command:</a:t>
            </a:r>
          </a:p>
          <a:p>
            <a:pPr marL="171450" indent="-171450">
              <a:spcBef>
                <a:spcPts val="0"/>
              </a:spcBef>
              <a:buFont typeface="Arial" panose="020B0604020202020204" pitchFamily="34" charset="0"/>
              <a:buChar char="•"/>
            </a:pPr>
            <a:r>
              <a:rPr lang="en-US" sz="800"/>
              <a:t>`ffmpeg` is the command to start FFmpeg.</a:t>
            </a:r>
          </a:p>
          <a:p>
            <a:pPr marL="171450" indent="-171450">
              <a:spcBef>
                <a:spcPts val="0"/>
              </a:spcBef>
              <a:buFont typeface="Arial" panose="020B0604020202020204" pitchFamily="34" charset="0"/>
              <a:buChar char="•"/>
            </a:pPr>
            <a:r>
              <a:rPr lang="en-US" sz="800"/>
              <a:t>`-i input.mp4` is the input file you want to create a thumbnail from.</a:t>
            </a:r>
          </a:p>
          <a:p>
            <a:pPr marL="171450" indent="-171450">
              <a:spcBef>
                <a:spcPts val="0"/>
              </a:spcBef>
              <a:buFont typeface="Arial" panose="020B0604020202020204" pitchFamily="34" charset="0"/>
              <a:buChar char="•"/>
            </a:pPr>
            <a:r>
              <a:rPr lang="en-US" sz="800"/>
              <a:t>`-vf` option to specify a filtergraph, which is a description of the steps to take to transform the input into the desired output.</a:t>
            </a:r>
          </a:p>
          <a:p>
            <a:pPr marL="171450" indent="-171450">
              <a:spcBef>
                <a:spcPts val="0"/>
              </a:spcBef>
              <a:buFont typeface="Arial" panose="020B0604020202020204" pitchFamily="34" charset="0"/>
              <a:buChar char="•"/>
            </a:pPr>
            <a:r>
              <a:rPr lang="en-US" sz="800"/>
              <a:t>`fps=1/60` will define that FFmpeg should take one frame every 60 seconds. You can adjust this value as per your requirement.</a:t>
            </a:r>
          </a:p>
          <a:p>
            <a:pPr marL="171450" indent="-171450">
              <a:spcBef>
                <a:spcPts val="0"/>
              </a:spcBef>
              <a:buFont typeface="Arial" panose="020B0604020202020204" pitchFamily="34" charset="0"/>
              <a:buChar char="•"/>
            </a:pPr>
            <a:r>
              <a:rPr lang="en-US" sz="800"/>
              <a:t>`scale=320:-1:flags=lanczos` scale the video to a width of 320px. The height is automatically adjusted to maintain the aspect ratio.</a:t>
            </a:r>
          </a:p>
          <a:p>
            <a:pPr marL="171450" indent="-171450">
              <a:spcBef>
                <a:spcPts val="0"/>
              </a:spcBef>
              <a:buFont typeface="Arial" panose="020B0604020202020204" pitchFamily="34" charset="0"/>
              <a:buChar char="•"/>
            </a:pPr>
            <a:r>
              <a:rPr lang="en-US" sz="800"/>
              <a:t>`[thumbnail_type]` this is placeholder for thumbnail like `thumbnail`.</a:t>
            </a:r>
          </a:p>
          <a:p>
            <a:pPr marL="171450" indent="-171450">
              <a:spcBef>
                <a:spcPts val="0"/>
              </a:spcBef>
              <a:buFont typeface="Arial" panose="020B0604020202020204" pitchFamily="34" charset="0"/>
              <a:buChar char="•"/>
            </a:pPr>
            <a:r>
              <a:rPr lang="en-US" sz="800"/>
              <a:t>(…)</a:t>
            </a:r>
          </a:p>
        </p:txBody>
      </p:sp>
      <p:sp>
        <p:nvSpPr>
          <p:cNvPr id="7" name="Slide Number Placeholder 6">
            <a:extLst>
              <a:ext uri="{FF2B5EF4-FFF2-40B4-BE49-F238E27FC236}">
                <a16:creationId xmlns:a16="http://schemas.microsoft.com/office/drawing/2014/main" id="{43DFDBC9-801D-5121-6822-8218D6B1DADE}"/>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t>33</a:t>
            </a:fld>
            <a:endParaRPr lang="fi-FI"/>
          </a:p>
        </p:txBody>
      </p:sp>
      <p:grpSp>
        <p:nvGrpSpPr>
          <p:cNvPr id="29" name="Group 28">
            <a:extLst>
              <a:ext uri="{FF2B5EF4-FFF2-40B4-BE49-F238E27FC236}">
                <a16:creationId xmlns:a16="http://schemas.microsoft.com/office/drawing/2014/main" id="{66A45C41-A737-5CC9-D3FE-4CE198C0F7FE}"/>
              </a:ext>
            </a:extLst>
          </p:cNvPr>
          <p:cNvGrpSpPr/>
          <p:nvPr/>
        </p:nvGrpSpPr>
        <p:grpSpPr>
          <a:xfrm>
            <a:off x="3064080" y="1135544"/>
            <a:ext cx="3527220" cy="519098"/>
            <a:chOff x="496140" y="1038617"/>
            <a:chExt cx="6213262" cy="914400"/>
          </a:xfrm>
        </p:grpSpPr>
        <p:pic>
          <p:nvPicPr>
            <p:cNvPr id="5" name="Graphic 4">
              <a:extLst>
                <a:ext uri="{FF2B5EF4-FFF2-40B4-BE49-F238E27FC236}">
                  <a16:creationId xmlns:a16="http://schemas.microsoft.com/office/drawing/2014/main" id="{BBC18623-E111-D113-83FA-0A2B09F756CD}"/>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6140" y="1038617"/>
              <a:ext cx="914400" cy="914400"/>
            </a:xfrm>
            <a:prstGeom prst="rect">
              <a:avLst/>
            </a:prstGeom>
          </p:spPr>
        </p:pic>
        <p:cxnSp>
          <p:nvCxnSpPr>
            <p:cNvPr id="21" name="Straight Arrow Connector 20">
              <a:extLst>
                <a:ext uri="{FF2B5EF4-FFF2-40B4-BE49-F238E27FC236}">
                  <a16:creationId xmlns:a16="http://schemas.microsoft.com/office/drawing/2014/main" id="{CF51F8D3-1E70-FB24-09C4-BD5FBF15874F}"/>
                </a:ext>
              </a:extLst>
            </p:cNvPr>
            <p:cNvCxnSpPr>
              <a:cxnSpLocks/>
            </p:cNvCxnSpPr>
            <p:nvPr/>
          </p:nvCxnSpPr>
          <p:spPr>
            <a:xfrm>
              <a:off x="1410540" y="1484784"/>
              <a:ext cx="38655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8" name="Picture 27" descr="A collage of a white wall with a rainbow colored knobs&#10;&#10;Description automatically generated with medium confidence">
              <a:extLst>
                <a:ext uri="{FF2B5EF4-FFF2-40B4-BE49-F238E27FC236}">
                  <a16:creationId xmlns:a16="http://schemas.microsoft.com/office/drawing/2014/main" id="{3B772AA9-6944-1C72-9299-A53739BE51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44896" y="1038617"/>
              <a:ext cx="4764506" cy="914400"/>
            </a:xfrm>
            <a:prstGeom prst="rect">
              <a:avLst/>
            </a:prstGeom>
          </p:spPr>
        </p:pic>
      </p:grpSp>
      <p:sp>
        <p:nvSpPr>
          <p:cNvPr id="3" name="Date Placeholder 2">
            <a:extLst>
              <a:ext uri="{FF2B5EF4-FFF2-40B4-BE49-F238E27FC236}">
                <a16:creationId xmlns:a16="http://schemas.microsoft.com/office/drawing/2014/main" id="{75285FE1-4AC7-C870-0106-C7CB63299E2C}"/>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DAD478A8-7F18-DCE3-4788-424B2669E259}"/>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1730946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580852BD-0610-0D4D-59CD-AF259ADAEB25}"/>
              </a:ext>
              <a:ext uri="{C183D7F6-B498-43B3-948B-1728B52AA6E4}">
                <adec:decorative xmlns:adec="http://schemas.microsoft.com/office/drawing/2017/decorative" val="1"/>
              </a:ext>
            </a:extLst>
          </p:cNvPr>
          <p:cNvGrpSpPr/>
          <p:nvPr/>
        </p:nvGrpSpPr>
        <p:grpSpPr>
          <a:xfrm>
            <a:off x="10238544" y="149467"/>
            <a:ext cx="1652467" cy="1756703"/>
            <a:chOff x="3785042" y="4793660"/>
            <a:chExt cx="1891083" cy="2010372"/>
          </a:xfrm>
        </p:grpSpPr>
        <p:pic>
          <p:nvPicPr>
            <p:cNvPr id="18" name="Graphic 18">
              <a:extLst>
                <a:ext uri="{FF2B5EF4-FFF2-40B4-BE49-F238E27FC236}">
                  <a16:creationId xmlns:a16="http://schemas.microsoft.com/office/drawing/2014/main" id="{B3532158-5E51-9C7C-4BB1-74202FA5E5B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5042" y="4909132"/>
              <a:ext cx="1882046" cy="1882044"/>
            </a:xfrm>
            <a:prstGeom prst="rect">
              <a:avLst/>
            </a:prstGeom>
          </p:spPr>
        </p:pic>
        <p:sp>
          <p:nvSpPr>
            <p:cNvPr id="19" name="Freeform: Shape 18">
              <a:extLst>
                <a:ext uri="{FF2B5EF4-FFF2-40B4-BE49-F238E27FC236}">
                  <a16:creationId xmlns:a16="http://schemas.microsoft.com/office/drawing/2014/main" id="{FBA8F023-CEE2-AFD4-F917-8C3C378F23AF}"/>
                </a:ext>
              </a:extLst>
            </p:cNvPr>
            <p:cNvSpPr/>
            <p:nvPr/>
          </p:nvSpPr>
          <p:spPr>
            <a:xfrm>
              <a:off x="3796168" y="4793660"/>
              <a:ext cx="1879957" cy="2010372"/>
            </a:xfrm>
            <a:custGeom>
              <a:avLst/>
              <a:gdLst>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524000 w 2170176"/>
                <a:gd name="connsiteY11" fmla="*/ 1987296 h 2194560"/>
                <a:gd name="connsiteX12" fmla="*/ 1298448 w 2170176"/>
                <a:gd name="connsiteY12" fmla="*/ 1792224 h 2194560"/>
                <a:gd name="connsiteX13" fmla="*/ 1298448 w 2170176"/>
                <a:gd name="connsiteY13" fmla="*/ 1353312 h 2194560"/>
                <a:gd name="connsiteX14" fmla="*/ 944880 w 2170176"/>
                <a:gd name="connsiteY14" fmla="*/ 1505712 h 2194560"/>
                <a:gd name="connsiteX15" fmla="*/ 701040 w 2170176"/>
                <a:gd name="connsiteY15"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701040 w 2170176"/>
                <a:gd name="connsiteY14" fmla="*/ 171907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1325880 w 2170176"/>
                <a:gd name="connsiteY14" fmla="*/ 183591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325880 w 2170176"/>
                <a:gd name="connsiteY14" fmla="*/ 1835912 h 2194560"/>
                <a:gd name="connsiteX0" fmla="*/ 1295400 w 2170176"/>
                <a:gd name="connsiteY0" fmla="*/ 184099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295400 w 2170176"/>
                <a:gd name="connsiteY14" fmla="*/ 1840992 h 2194560"/>
                <a:gd name="connsiteX0" fmla="*/ 1295400 w 2170176"/>
                <a:gd name="connsiteY0" fmla="*/ 1840992 h 2133600"/>
                <a:gd name="connsiteX1" fmla="*/ 1706880 w 2170176"/>
                <a:gd name="connsiteY1" fmla="*/ 2133600 h 2133600"/>
                <a:gd name="connsiteX2" fmla="*/ 298704 w 2170176"/>
                <a:gd name="connsiteY2" fmla="*/ 1944624 h 2133600"/>
                <a:gd name="connsiteX3" fmla="*/ 0 w 2170176"/>
                <a:gd name="connsiteY3" fmla="*/ 1127760 h 2133600"/>
                <a:gd name="connsiteX4" fmla="*/ 323088 w 2170176"/>
                <a:gd name="connsiteY4" fmla="*/ 188976 h 2133600"/>
                <a:gd name="connsiteX5" fmla="*/ 1267968 w 2170176"/>
                <a:gd name="connsiteY5" fmla="*/ 0 h 2133600"/>
                <a:gd name="connsiteX6" fmla="*/ 2066544 w 2170176"/>
                <a:gd name="connsiteY6" fmla="*/ 140208 h 2133600"/>
                <a:gd name="connsiteX7" fmla="*/ 2170176 w 2170176"/>
                <a:gd name="connsiteY7" fmla="*/ 1213104 h 2133600"/>
                <a:gd name="connsiteX8" fmla="*/ 2115312 w 2170176"/>
                <a:gd name="connsiteY8" fmla="*/ 1406144 h 2133600"/>
                <a:gd name="connsiteX9" fmla="*/ 2051304 w 2170176"/>
                <a:gd name="connsiteY9" fmla="*/ 1321816 h 2133600"/>
                <a:gd name="connsiteX10" fmla="*/ 1793240 w 2170176"/>
                <a:gd name="connsiteY10" fmla="*/ 1400048 h 2133600"/>
                <a:gd name="connsiteX11" fmla="*/ 1547368 w 2170176"/>
                <a:gd name="connsiteY11" fmla="*/ 1223264 h 2133600"/>
                <a:gd name="connsiteX12" fmla="*/ 1476248 w 2170176"/>
                <a:gd name="connsiteY12" fmla="*/ 1129792 h 2133600"/>
                <a:gd name="connsiteX13" fmla="*/ 1325880 w 2170176"/>
                <a:gd name="connsiteY13" fmla="*/ 1505712 h 2133600"/>
                <a:gd name="connsiteX14" fmla="*/ 1295400 w 2170176"/>
                <a:gd name="connsiteY14" fmla="*/ 1840992 h 2133600"/>
                <a:gd name="connsiteX0" fmla="*/ 1295400 w 2170176"/>
                <a:gd name="connsiteY0" fmla="*/ 1840992 h 2133600"/>
                <a:gd name="connsiteX1" fmla="*/ 1706880 w 2170176"/>
                <a:gd name="connsiteY1" fmla="*/ 2133600 h 2133600"/>
                <a:gd name="connsiteX2" fmla="*/ 544618 w 2170176"/>
                <a:gd name="connsiteY2" fmla="*/ 1980519 h 2133600"/>
                <a:gd name="connsiteX3" fmla="*/ 298704 w 2170176"/>
                <a:gd name="connsiteY3" fmla="*/ 1944624 h 2133600"/>
                <a:gd name="connsiteX4" fmla="*/ 0 w 2170176"/>
                <a:gd name="connsiteY4" fmla="*/ 1127760 h 2133600"/>
                <a:gd name="connsiteX5" fmla="*/ 323088 w 2170176"/>
                <a:gd name="connsiteY5" fmla="*/ 188976 h 2133600"/>
                <a:gd name="connsiteX6" fmla="*/ 1267968 w 2170176"/>
                <a:gd name="connsiteY6" fmla="*/ 0 h 2133600"/>
                <a:gd name="connsiteX7" fmla="*/ 2066544 w 2170176"/>
                <a:gd name="connsiteY7" fmla="*/ 140208 h 2133600"/>
                <a:gd name="connsiteX8" fmla="*/ 2170176 w 2170176"/>
                <a:gd name="connsiteY8" fmla="*/ 1213104 h 2133600"/>
                <a:gd name="connsiteX9" fmla="*/ 2115312 w 2170176"/>
                <a:gd name="connsiteY9" fmla="*/ 1406144 h 2133600"/>
                <a:gd name="connsiteX10" fmla="*/ 2051304 w 2170176"/>
                <a:gd name="connsiteY10" fmla="*/ 1321816 h 2133600"/>
                <a:gd name="connsiteX11" fmla="*/ 1793240 w 2170176"/>
                <a:gd name="connsiteY11" fmla="*/ 1400048 h 2133600"/>
                <a:gd name="connsiteX12" fmla="*/ 1547368 w 2170176"/>
                <a:gd name="connsiteY12" fmla="*/ 1223264 h 2133600"/>
                <a:gd name="connsiteX13" fmla="*/ 1476248 w 2170176"/>
                <a:gd name="connsiteY13" fmla="*/ 1129792 h 2133600"/>
                <a:gd name="connsiteX14" fmla="*/ 1325880 w 2170176"/>
                <a:gd name="connsiteY14" fmla="*/ 1505712 h 2133600"/>
                <a:gd name="connsiteX15" fmla="*/ 1295400 w 2170176"/>
                <a:gd name="connsiteY15" fmla="*/ 1840992 h 2133600"/>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476248 w 2170176"/>
                <a:gd name="connsiteY13" fmla="*/ 1129792 h 2188799"/>
                <a:gd name="connsiteX14" fmla="*/ 1325880 w 2170176"/>
                <a:gd name="connsiteY14" fmla="*/ 1505712 h 2188799"/>
                <a:gd name="connsiteX15" fmla="*/ 1295400 w 2170176"/>
                <a:gd name="connsiteY15"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81784 w 2170176"/>
                <a:gd name="connsiteY10" fmla="*/ 13472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4752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8308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2066544 w 2081784"/>
                <a:gd name="connsiteY7" fmla="*/ 14020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1308354 w 2081784"/>
                <a:gd name="connsiteY7" fmla="*/ 12115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308354 w 2081784"/>
                <a:gd name="connsiteY7" fmla="*/ 3733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232916 w 2081784"/>
                <a:gd name="connsiteY8" fmla="*/ 34823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1783080"/>
                <a:gd name="connsiteY0" fmla="*/ 1757172 h 2104979"/>
                <a:gd name="connsiteX1" fmla="*/ 1706880 w 1783080"/>
                <a:gd name="connsiteY1" fmla="*/ 2049780 h 2104979"/>
                <a:gd name="connsiteX2" fmla="*/ 839258 w 1783080"/>
                <a:gd name="connsiteY2" fmla="*/ 2104979 h 2104979"/>
                <a:gd name="connsiteX3" fmla="*/ 298704 w 1783080"/>
                <a:gd name="connsiteY3" fmla="*/ 1860804 h 2104979"/>
                <a:gd name="connsiteX4" fmla="*/ 0 w 1783080"/>
                <a:gd name="connsiteY4" fmla="*/ 1043940 h 2104979"/>
                <a:gd name="connsiteX5" fmla="*/ 323088 w 1783080"/>
                <a:gd name="connsiteY5" fmla="*/ 105156 h 2104979"/>
                <a:gd name="connsiteX6" fmla="*/ 803148 w 1783080"/>
                <a:gd name="connsiteY6" fmla="*/ 0 h 2104979"/>
                <a:gd name="connsiteX7" fmla="*/ 1079754 w 1783080"/>
                <a:gd name="connsiteY7" fmla="*/ 44958 h 2104979"/>
                <a:gd name="connsiteX8" fmla="*/ 1232916 w 1783080"/>
                <a:gd name="connsiteY8" fmla="*/ 348234 h 2104979"/>
                <a:gd name="connsiteX9" fmla="*/ 1068324 w 1783080"/>
                <a:gd name="connsiteY9" fmla="*/ 661416 h 2104979"/>
                <a:gd name="connsiteX10" fmla="*/ 1783080 w 1783080"/>
                <a:gd name="connsiteY10" fmla="*/ 1316228 h 2104979"/>
                <a:gd name="connsiteX11" fmla="*/ 1547368 w 1783080"/>
                <a:gd name="connsiteY11" fmla="*/ 1139444 h 2104979"/>
                <a:gd name="connsiteX12" fmla="*/ 1325880 w 1783080"/>
                <a:gd name="connsiteY12" fmla="*/ 1421892 h 2104979"/>
                <a:gd name="connsiteX13" fmla="*/ 1295400 w 1783080"/>
                <a:gd name="connsiteY13" fmla="*/ 1757172 h 2104979"/>
                <a:gd name="connsiteX0" fmla="*/ 1295400 w 1706880"/>
                <a:gd name="connsiteY0" fmla="*/ 1757172 h 2104979"/>
                <a:gd name="connsiteX1" fmla="*/ 1706880 w 1706880"/>
                <a:gd name="connsiteY1" fmla="*/ 2049780 h 2104979"/>
                <a:gd name="connsiteX2" fmla="*/ 839258 w 1706880"/>
                <a:gd name="connsiteY2" fmla="*/ 2104979 h 2104979"/>
                <a:gd name="connsiteX3" fmla="*/ 298704 w 1706880"/>
                <a:gd name="connsiteY3" fmla="*/ 1860804 h 2104979"/>
                <a:gd name="connsiteX4" fmla="*/ 0 w 1706880"/>
                <a:gd name="connsiteY4" fmla="*/ 1043940 h 2104979"/>
                <a:gd name="connsiteX5" fmla="*/ 323088 w 1706880"/>
                <a:gd name="connsiteY5" fmla="*/ 105156 h 2104979"/>
                <a:gd name="connsiteX6" fmla="*/ 803148 w 1706880"/>
                <a:gd name="connsiteY6" fmla="*/ 0 h 2104979"/>
                <a:gd name="connsiteX7" fmla="*/ 1079754 w 1706880"/>
                <a:gd name="connsiteY7" fmla="*/ 44958 h 2104979"/>
                <a:gd name="connsiteX8" fmla="*/ 1232916 w 1706880"/>
                <a:gd name="connsiteY8" fmla="*/ 348234 h 2104979"/>
                <a:gd name="connsiteX9" fmla="*/ 1068324 w 1706880"/>
                <a:gd name="connsiteY9" fmla="*/ 661416 h 2104979"/>
                <a:gd name="connsiteX10" fmla="*/ 1451610 w 1706880"/>
                <a:gd name="connsiteY10" fmla="*/ 779018 h 2104979"/>
                <a:gd name="connsiteX11" fmla="*/ 1547368 w 1706880"/>
                <a:gd name="connsiteY11" fmla="*/ 1139444 h 2104979"/>
                <a:gd name="connsiteX12" fmla="*/ 1325880 w 1706880"/>
                <a:gd name="connsiteY12" fmla="*/ 1421892 h 2104979"/>
                <a:gd name="connsiteX13" fmla="*/ 1295400 w 1706880"/>
                <a:gd name="connsiteY13" fmla="*/ 1757172 h 2104979"/>
                <a:gd name="connsiteX0" fmla="*/ 1295400 w 1734058"/>
                <a:gd name="connsiteY0" fmla="*/ 1757172 h 2104979"/>
                <a:gd name="connsiteX1" fmla="*/ 1706880 w 1734058"/>
                <a:gd name="connsiteY1" fmla="*/ 2049780 h 2104979"/>
                <a:gd name="connsiteX2" fmla="*/ 839258 w 1734058"/>
                <a:gd name="connsiteY2" fmla="*/ 2104979 h 2104979"/>
                <a:gd name="connsiteX3" fmla="*/ 298704 w 1734058"/>
                <a:gd name="connsiteY3" fmla="*/ 1860804 h 2104979"/>
                <a:gd name="connsiteX4" fmla="*/ 0 w 1734058"/>
                <a:gd name="connsiteY4" fmla="*/ 1043940 h 2104979"/>
                <a:gd name="connsiteX5" fmla="*/ 323088 w 1734058"/>
                <a:gd name="connsiteY5" fmla="*/ 105156 h 2104979"/>
                <a:gd name="connsiteX6" fmla="*/ 803148 w 1734058"/>
                <a:gd name="connsiteY6" fmla="*/ 0 h 2104979"/>
                <a:gd name="connsiteX7" fmla="*/ 1079754 w 1734058"/>
                <a:gd name="connsiteY7" fmla="*/ 44958 h 2104979"/>
                <a:gd name="connsiteX8" fmla="*/ 1232916 w 1734058"/>
                <a:gd name="connsiteY8" fmla="*/ 348234 h 2104979"/>
                <a:gd name="connsiteX9" fmla="*/ 1068324 w 1734058"/>
                <a:gd name="connsiteY9" fmla="*/ 661416 h 2104979"/>
                <a:gd name="connsiteX10" fmla="*/ 1451610 w 1734058"/>
                <a:gd name="connsiteY10" fmla="*/ 779018 h 2104979"/>
                <a:gd name="connsiteX11" fmla="*/ 1734058 w 1734058"/>
                <a:gd name="connsiteY11" fmla="*/ 720344 h 2104979"/>
                <a:gd name="connsiteX12" fmla="*/ 1325880 w 1734058"/>
                <a:gd name="connsiteY12" fmla="*/ 1421892 h 2104979"/>
                <a:gd name="connsiteX13" fmla="*/ 1295400 w 1734058"/>
                <a:gd name="connsiteY13" fmla="*/ 1757172 h 2104979"/>
                <a:gd name="connsiteX0" fmla="*/ 1295400 w 1996440"/>
                <a:gd name="connsiteY0" fmla="*/ 1757172 h 2104979"/>
                <a:gd name="connsiteX1" fmla="*/ 1706880 w 1996440"/>
                <a:gd name="connsiteY1" fmla="*/ 2049780 h 2104979"/>
                <a:gd name="connsiteX2" fmla="*/ 839258 w 1996440"/>
                <a:gd name="connsiteY2" fmla="*/ 2104979 h 2104979"/>
                <a:gd name="connsiteX3" fmla="*/ 298704 w 1996440"/>
                <a:gd name="connsiteY3" fmla="*/ 1860804 h 2104979"/>
                <a:gd name="connsiteX4" fmla="*/ 0 w 1996440"/>
                <a:gd name="connsiteY4" fmla="*/ 1043940 h 2104979"/>
                <a:gd name="connsiteX5" fmla="*/ 323088 w 1996440"/>
                <a:gd name="connsiteY5" fmla="*/ 105156 h 2104979"/>
                <a:gd name="connsiteX6" fmla="*/ 803148 w 1996440"/>
                <a:gd name="connsiteY6" fmla="*/ 0 h 2104979"/>
                <a:gd name="connsiteX7" fmla="*/ 1079754 w 1996440"/>
                <a:gd name="connsiteY7" fmla="*/ 44958 h 2104979"/>
                <a:gd name="connsiteX8" fmla="*/ 1232916 w 1996440"/>
                <a:gd name="connsiteY8" fmla="*/ 348234 h 2104979"/>
                <a:gd name="connsiteX9" fmla="*/ 1068324 w 1996440"/>
                <a:gd name="connsiteY9" fmla="*/ 661416 h 2104979"/>
                <a:gd name="connsiteX10" fmla="*/ 1451610 w 1996440"/>
                <a:gd name="connsiteY10" fmla="*/ 779018 h 2104979"/>
                <a:gd name="connsiteX11" fmla="*/ 1734058 w 1996440"/>
                <a:gd name="connsiteY11" fmla="*/ 720344 h 2104979"/>
                <a:gd name="connsiteX12" fmla="*/ 1996440 w 1996440"/>
                <a:gd name="connsiteY12" fmla="*/ 23622 h 2104979"/>
                <a:gd name="connsiteX13" fmla="*/ 1295400 w 1996440"/>
                <a:gd name="connsiteY13" fmla="*/ 1757172 h 2104979"/>
                <a:gd name="connsiteX0" fmla="*/ 2228850 w 2228850"/>
                <a:gd name="connsiteY0" fmla="*/ 1341882 h 2104979"/>
                <a:gd name="connsiteX1" fmla="*/ 1706880 w 2228850"/>
                <a:gd name="connsiteY1" fmla="*/ 204978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2228850 w 2228850"/>
                <a:gd name="connsiteY11" fmla="*/ 2104979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1313215 w 2092925"/>
                <a:gd name="connsiteY0" fmla="*/ 1753918 h 2104979"/>
                <a:gd name="connsiteX1" fmla="*/ 1604010 w 2092925"/>
                <a:gd name="connsiteY1" fmla="*/ 1962150 h 2104979"/>
                <a:gd name="connsiteX2" fmla="*/ 839258 w 2092925"/>
                <a:gd name="connsiteY2" fmla="*/ 2104979 h 2104979"/>
                <a:gd name="connsiteX3" fmla="*/ 298704 w 2092925"/>
                <a:gd name="connsiteY3" fmla="*/ 1860804 h 2104979"/>
                <a:gd name="connsiteX4" fmla="*/ 0 w 2092925"/>
                <a:gd name="connsiteY4" fmla="*/ 1043940 h 2104979"/>
                <a:gd name="connsiteX5" fmla="*/ 323088 w 2092925"/>
                <a:gd name="connsiteY5" fmla="*/ 105156 h 2104979"/>
                <a:gd name="connsiteX6" fmla="*/ 803148 w 2092925"/>
                <a:gd name="connsiteY6" fmla="*/ 0 h 2104979"/>
                <a:gd name="connsiteX7" fmla="*/ 2010082 w 2092925"/>
                <a:gd name="connsiteY7" fmla="*/ 112361 h 2104979"/>
                <a:gd name="connsiteX8" fmla="*/ 1748472 w 2092925"/>
                <a:gd name="connsiteY8" fmla="*/ 703163 h 2104979"/>
                <a:gd name="connsiteX9" fmla="*/ 1451981 w 2092925"/>
                <a:gd name="connsiteY9" fmla="*/ 783827 h 2104979"/>
                <a:gd name="connsiteX10" fmla="*/ 1495582 w 2092925"/>
                <a:gd name="connsiteY10" fmla="*/ 1095578 h 2104979"/>
                <a:gd name="connsiteX11" fmla="*/ 1755012 w 2092925"/>
                <a:gd name="connsiteY11" fmla="*/ 1317947 h 2104979"/>
                <a:gd name="connsiteX12" fmla="*/ 2092925 w 2092925"/>
                <a:gd name="connsiteY12" fmla="*/ 1252545 h 2104979"/>
                <a:gd name="connsiteX13" fmla="*/ 1313215 w 2092925"/>
                <a:gd name="connsiteY13" fmla="*/ 1753918 h 2104979"/>
                <a:gd name="connsiteX0" fmla="*/ 1313215 w 2010082"/>
                <a:gd name="connsiteY0" fmla="*/ 1753918 h 2104979"/>
                <a:gd name="connsiteX1" fmla="*/ 1604010 w 2010082"/>
                <a:gd name="connsiteY1" fmla="*/ 1962150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926581 w 2010082"/>
                <a:gd name="connsiteY12" fmla="*/ 1440032 h 2104979"/>
                <a:gd name="connsiteX13" fmla="*/ 1313215 w 2010082"/>
                <a:gd name="connsiteY13" fmla="*/ 1753918 h 2104979"/>
                <a:gd name="connsiteX0" fmla="*/ 1313215 w 2010082"/>
                <a:gd name="connsiteY0" fmla="*/ 1753918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926581 w 2010082"/>
                <a:gd name="connsiteY12" fmla="*/ 1440032 h 2104979"/>
                <a:gd name="connsiteX13" fmla="*/ 1313215 w 2010082"/>
                <a:gd name="connsiteY13" fmla="*/ 1753918 h 2104979"/>
                <a:gd name="connsiteX0" fmla="*/ 1313215 w 2010082"/>
                <a:gd name="connsiteY0" fmla="*/ 1753918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1290655 w 2010082"/>
                <a:gd name="connsiteY12" fmla="*/ 1435672 h 2104979"/>
                <a:gd name="connsiteX13" fmla="*/ 1313215 w 2010082"/>
                <a:gd name="connsiteY13" fmla="*/ 1753918 h 2104979"/>
                <a:gd name="connsiteX0" fmla="*/ 994923 w 2010082"/>
                <a:gd name="connsiteY0" fmla="*/ 1405105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1290655 w 2010082"/>
                <a:gd name="connsiteY12" fmla="*/ 1435672 h 2104979"/>
                <a:gd name="connsiteX13" fmla="*/ 994923 w 2010082"/>
                <a:gd name="connsiteY13" fmla="*/ 1405105 h 2104979"/>
                <a:gd name="connsiteX0" fmla="*/ 994923 w 2010082"/>
                <a:gd name="connsiteY0" fmla="*/ 1405105 h 1967634"/>
                <a:gd name="connsiteX1" fmla="*/ 716716 w 2010082"/>
                <a:gd name="connsiteY1" fmla="*/ 1632957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755012 w 2010082"/>
                <a:gd name="connsiteY11" fmla="*/ 1317947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755012 w 2010082"/>
                <a:gd name="connsiteY11" fmla="*/ 1317947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558805 w 2010082"/>
                <a:gd name="connsiteY10" fmla="*/ 1932730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975201 w 2010082"/>
                <a:gd name="connsiteY9" fmla="*/ 1629699 h 1967634"/>
                <a:gd name="connsiteX10" fmla="*/ 1558805 w 2010082"/>
                <a:gd name="connsiteY10" fmla="*/ 1932730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55864"/>
                <a:gd name="connsiteY0" fmla="*/ 1405105 h 1967634"/>
                <a:gd name="connsiteX1" fmla="*/ 692735 w 2055864"/>
                <a:gd name="connsiteY1" fmla="*/ 1643858 h 1967634"/>
                <a:gd name="connsiteX2" fmla="*/ 697553 w 2055864"/>
                <a:gd name="connsiteY2" fmla="*/ 1967634 h 1967634"/>
                <a:gd name="connsiteX3" fmla="*/ 298704 w 2055864"/>
                <a:gd name="connsiteY3" fmla="*/ 1860804 h 1967634"/>
                <a:gd name="connsiteX4" fmla="*/ 0 w 2055864"/>
                <a:gd name="connsiteY4" fmla="*/ 1043940 h 1967634"/>
                <a:gd name="connsiteX5" fmla="*/ 323088 w 2055864"/>
                <a:gd name="connsiteY5" fmla="*/ 105156 h 1967634"/>
                <a:gd name="connsiteX6" fmla="*/ 803148 w 2055864"/>
                <a:gd name="connsiteY6" fmla="*/ 0 h 1967634"/>
                <a:gd name="connsiteX7" fmla="*/ 2010082 w 2055864"/>
                <a:gd name="connsiteY7" fmla="*/ 112361 h 1967634"/>
                <a:gd name="connsiteX8" fmla="*/ 2055864 w 2055864"/>
                <a:gd name="connsiteY8" fmla="*/ 1283065 h 1967634"/>
                <a:gd name="connsiteX9" fmla="*/ 1975201 w 2055864"/>
                <a:gd name="connsiteY9" fmla="*/ 1629699 h 1967634"/>
                <a:gd name="connsiteX10" fmla="*/ 1558805 w 2055864"/>
                <a:gd name="connsiteY10" fmla="*/ 1932730 h 1967634"/>
                <a:gd name="connsiteX11" fmla="*/ 1297195 w 2055864"/>
                <a:gd name="connsiteY11" fmla="*/ 1751784 h 1967634"/>
                <a:gd name="connsiteX12" fmla="*/ 1290655 w 2055864"/>
                <a:gd name="connsiteY12" fmla="*/ 1435672 h 1967634"/>
                <a:gd name="connsiteX13" fmla="*/ 994923 w 2055864"/>
                <a:gd name="connsiteY13"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98704 w 2060224"/>
                <a:gd name="connsiteY3" fmla="*/ 1860804 h 1967634"/>
                <a:gd name="connsiteX4" fmla="*/ 0 w 2060224"/>
                <a:gd name="connsiteY4" fmla="*/ 1043940 h 1967634"/>
                <a:gd name="connsiteX5" fmla="*/ 323088 w 2060224"/>
                <a:gd name="connsiteY5" fmla="*/ 105156 h 1967634"/>
                <a:gd name="connsiteX6" fmla="*/ 803148 w 2060224"/>
                <a:gd name="connsiteY6" fmla="*/ 0 h 1967634"/>
                <a:gd name="connsiteX7" fmla="*/ 2060224 w 2060224"/>
                <a:gd name="connsiteY7" fmla="*/ 709703 h 1967634"/>
                <a:gd name="connsiteX8" fmla="*/ 2055864 w 2060224"/>
                <a:gd name="connsiteY8" fmla="*/ 1283065 h 1967634"/>
                <a:gd name="connsiteX9" fmla="*/ 1975201 w 2060224"/>
                <a:gd name="connsiteY9" fmla="*/ 1629699 h 1967634"/>
                <a:gd name="connsiteX10" fmla="*/ 1558805 w 2060224"/>
                <a:gd name="connsiteY10" fmla="*/ 1932730 h 1967634"/>
                <a:gd name="connsiteX11" fmla="*/ 1297195 w 2060224"/>
                <a:gd name="connsiteY11" fmla="*/ 1751784 h 1967634"/>
                <a:gd name="connsiteX12" fmla="*/ 1290655 w 2060224"/>
                <a:gd name="connsiteY12" fmla="*/ 1435672 h 1967634"/>
                <a:gd name="connsiteX13" fmla="*/ 994923 w 2060224"/>
                <a:gd name="connsiteY13"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98704 w 2060224"/>
                <a:gd name="connsiteY3" fmla="*/ 1860804 h 1967634"/>
                <a:gd name="connsiteX4" fmla="*/ 0 w 2060224"/>
                <a:gd name="connsiteY4" fmla="*/ 1043940 h 1967634"/>
                <a:gd name="connsiteX5" fmla="*/ 323088 w 2060224"/>
                <a:gd name="connsiteY5" fmla="*/ 105156 h 1967634"/>
                <a:gd name="connsiteX6" fmla="*/ 803148 w 2060224"/>
                <a:gd name="connsiteY6" fmla="*/ 0 h 1967634"/>
                <a:gd name="connsiteX7" fmla="*/ 1781172 w 2060224"/>
                <a:gd name="connsiteY7" fmla="*/ 136342 h 1967634"/>
                <a:gd name="connsiteX8" fmla="*/ 2060224 w 2060224"/>
                <a:gd name="connsiteY8" fmla="*/ 709703 h 1967634"/>
                <a:gd name="connsiteX9" fmla="*/ 2055864 w 2060224"/>
                <a:gd name="connsiteY9" fmla="*/ 1283065 h 1967634"/>
                <a:gd name="connsiteX10" fmla="*/ 1975201 w 2060224"/>
                <a:gd name="connsiteY10" fmla="*/ 1629699 h 1967634"/>
                <a:gd name="connsiteX11" fmla="*/ 1558805 w 2060224"/>
                <a:gd name="connsiteY11" fmla="*/ 1932730 h 1967634"/>
                <a:gd name="connsiteX12" fmla="*/ 1297195 w 2060224"/>
                <a:gd name="connsiteY12" fmla="*/ 1751784 h 1967634"/>
                <a:gd name="connsiteX13" fmla="*/ 1290655 w 2060224"/>
                <a:gd name="connsiteY13" fmla="*/ 1435672 h 1967634"/>
                <a:gd name="connsiteX14" fmla="*/ 994923 w 2060224"/>
                <a:gd name="connsiteY14"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14408 w 2060224"/>
                <a:gd name="connsiteY3" fmla="*/ 1724186 h 1967634"/>
                <a:gd name="connsiteX4" fmla="*/ 0 w 2060224"/>
                <a:gd name="connsiteY4" fmla="*/ 1043940 h 1967634"/>
                <a:gd name="connsiteX5" fmla="*/ 323088 w 2060224"/>
                <a:gd name="connsiteY5" fmla="*/ 105156 h 1967634"/>
                <a:gd name="connsiteX6" fmla="*/ 803148 w 2060224"/>
                <a:gd name="connsiteY6" fmla="*/ 0 h 1967634"/>
                <a:gd name="connsiteX7" fmla="*/ 1781172 w 2060224"/>
                <a:gd name="connsiteY7" fmla="*/ 136342 h 1967634"/>
                <a:gd name="connsiteX8" fmla="*/ 2060224 w 2060224"/>
                <a:gd name="connsiteY8" fmla="*/ 709703 h 1967634"/>
                <a:gd name="connsiteX9" fmla="*/ 2055864 w 2060224"/>
                <a:gd name="connsiteY9" fmla="*/ 1283065 h 1967634"/>
                <a:gd name="connsiteX10" fmla="*/ 1975201 w 2060224"/>
                <a:gd name="connsiteY10" fmla="*/ 1629699 h 1967634"/>
                <a:gd name="connsiteX11" fmla="*/ 1558805 w 2060224"/>
                <a:gd name="connsiteY11" fmla="*/ 1932730 h 1967634"/>
                <a:gd name="connsiteX12" fmla="*/ 1297195 w 2060224"/>
                <a:gd name="connsiteY12" fmla="*/ 1751784 h 1967634"/>
                <a:gd name="connsiteX13" fmla="*/ 1290655 w 2060224"/>
                <a:gd name="connsiteY13" fmla="*/ 1435672 h 1967634"/>
                <a:gd name="connsiteX14" fmla="*/ 994923 w 2060224"/>
                <a:gd name="connsiteY14" fmla="*/ 1405105 h 1967634"/>
                <a:gd name="connsiteX0" fmla="*/ 780515 w 1845816"/>
                <a:gd name="connsiteY0" fmla="*/ 1405105 h 1967634"/>
                <a:gd name="connsiteX1" fmla="*/ 478327 w 1845816"/>
                <a:gd name="connsiteY1" fmla="*/ 1643858 h 1967634"/>
                <a:gd name="connsiteX2" fmla="*/ 483145 w 1845816"/>
                <a:gd name="connsiteY2" fmla="*/ 1967634 h 1967634"/>
                <a:gd name="connsiteX3" fmla="*/ 0 w 1845816"/>
                <a:gd name="connsiteY3" fmla="*/ 1724186 h 1967634"/>
                <a:gd name="connsiteX4" fmla="*/ 102431 w 1845816"/>
                <a:gd name="connsiteY4" fmla="*/ 459678 h 1967634"/>
                <a:gd name="connsiteX5" fmla="*/ 108680 w 1845816"/>
                <a:gd name="connsiteY5" fmla="*/ 105156 h 1967634"/>
                <a:gd name="connsiteX6" fmla="*/ 588740 w 1845816"/>
                <a:gd name="connsiteY6" fmla="*/ 0 h 1967634"/>
                <a:gd name="connsiteX7" fmla="*/ 1566764 w 1845816"/>
                <a:gd name="connsiteY7" fmla="*/ 136342 h 1967634"/>
                <a:gd name="connsiteX8" fmla="*/ 1845816 w 1845816"/>
                <a:gd name="connsiteY8" fmla="*/ 709703 h 1967634"/>
                <a:gd name="connsiteX9" fmla="*/ 1841456 w 1845816"/>
                <a:gd name="connsiteY9" fmla="*/ 1283065 h 1967634"/>
                <a:gd name="connsiteX10" fmla="*/ 1760793 w 1845816"/>
                <a:gd name="connsiteY10" fmla="*/ 1629699 h 1967634"/>
                <a:gd name="connsiteX11" fmla="*/ 1344397 w 1845816"/>
                <a:gd name="connsiteY11" fmla="*/ 1932730 h 1967634"/>
                <a:gd name="connsiteX12" fmla="*/ 1082787 w 1845816"/>
                <a:gd name="connsiteY12" fmla="*/ 1751784 h 1967634"/>
                <a:gd name="connsiteX13" fmla="*/ 1076247 w 1845816"/>
                <a:gd name="connsiteY13" fmla="*/ 1435672 h 1967634"/>
                <a:gd name="connsiteX14" fmla="*/ 780515 w 1845816"/>
                <a:gd name="connsiteY14" fmla="*/ 1405105 h 1967634"/>
                <a:gd name="connsiteX0" fmla="*/ 678084 w 1743385"/>
                <a:gd name="connsiteY0" fmla="*/ 1405105 h 1967634"/>
                <a:gd name="connsiteX1" fmla="*/ 375896 w 1743385"/>
                <a:gd name="connsiteY1" fmla="*/ 1643858 h 1967634"/>
                <a:gd name="connsiteX2" fmla="*/ 380714 w 1743385"/>
                <a:gd name="connsiteY2" fmla="*/ 1967634 h 1967634"/>
                <a:gd name="connsiteX3" fmla="*/ 316145 w 1743385"/>
                <a:gd name="connsiteY3" fmla="*/ 514966 h 1967634"/>
                <a:gd name="connsiteX4" fmla="*/ 0 w 1743385"/>
                <a:gd name="connsiteY4" fmla="*/ 459678 h 1967634"/>
                <a:gd name="connsiteX5" fmla="*/ 6249 w 1743385"/>
                <a:gd name="connsiteY5" fmla="*/ 105156 h 1967634"/>
                <a:gd name="connsiteX6" fmla="*/ 486309 w 1743385"/>
                <a:gd name="connsiteY6" fmla="*/ 0 h 1967634"/>
                <a:gd name="connsiteX7" fmla="*/ 1464333 w 1743385"/>
                <a:gd name="connsiteY7" fmla="*/ 136342 h 1967634"/>
                <a:gd name="connsiteX8" fmla="*/ 1743385 w 1743385"/>
                <a:gd name="connsiteY8" fmla="*/ 709703 h 1967634"/>
                <a:gd name="connsiteX9" fmla="*/ 1739025 w 1743385"/>
                <a:gd name="connsiteY9" fmla="*/ 1283065 h 1967634"/>
                <a:gd name="connsiteX10" fmla="*/ 1658362 w 1743385"/>
                <a:gd name="connsiteY10" fmla="*/ 1629699 h 1967634"/>
                <a:gd name="connsiteX11" fmla="*/ 1241966 w 1743385"/>
                <a:gd name="connsiteY11" fmla="*/ 1932730 h 1967634"/>
                <a:gd name="connsiteX12" fmla="*/ 980356 w 1743385"/>
                <a:gd name="connsiteY12" fmla="*/ 1751784 h 1967634"/>
                <a:gd name="connsiteX13" fmla="*/ 973816 w 1743385"/>
                <a:gd name="connsiteY13" fmla="*/ 1435672 h 1967634"/>
                <a:gd name="connsiteX14" fmla="*/ 678084 w 1743385"/>
                <a:gd name="connsiteY14" fmla="*/ 1405105 h 1967634"/>
                <a:gd name="connsiteX0" fmla="*/ 678084 w 1743385"/>
                <a:gd name="connsiteY0" fmla="*/ 1405105 h 1932730"/>
                <a:gd name="connsiteX1" fmla="*/ 375896 w 1743385"/>
                <a:gd name="connsiteY1" fmla="*/ 1643858 h 1932730"/>
                <a:gd name="connsiteX2" fmla="*/ 465011 w 1743385"/>
                <a:gd name="connsiteY2" fmla="*/ 848525 h 1932730"/>
                <a:gd name="connsiteX3" fmla="*/ 316145 w 1743385"/>
                <a:gd name="connsiteY3" fmla="*/ 514966 h 1932730"/>
                <a:gd name="connsiteX4" fmla="*/ 0 w 1743385"/>
                <a:gd name="connsiteY4" fmla="*/ 459678 h 1932730"/>
                <a:gd name="connsiteX5" fmla="*/ 6249 w 1743385"/>
                <a:gd name="connsiteY5" fmla="*/ 105156 h 1932730"/>
                <a:gd name="connsiteX6" fmla="*/ 486309 w 1743385"/>
                <a:gd name="connsiteY6" fmla="*/ 0 h 1932730"/>
                <a:gd name="connsiteX7" fmla="*/ 1464333 w 1743385"/>
                <a:gd name="connsiteY7" fmla="*/ 136342 h 1932730"/>
                <a:gd name="connsiteX8" fmla="*/ 1743385 w 1743385"/>
                <a:gd name="connsiteY8" fmla="*/ 709703 h 1932730"/>
                <a:gd name="connsiteX9" fmla="*/ 1739025 w 1743385"/>
                <a:gd name="connsiteY9" fmla="*/ 1283065 h 1932730"/>
                <a:gd name="connsiteX10" fmla="*/ 1658362 w 1743385"/>
                <a:gd name="connsiteY10" fmla="*/ 1629699 h 1932730"/>
                <a:gd name="connsiteX11" fmla="*/ 1241966 w 1743385"/>
                <a:gd name="connsiteY11" fmla="*/ 1932730 h 1932730"/>
                <a:gd name="connsiteX12" fmla="*/ 980356 w 1743385"/>
                <a:gd name="connsiteY12" fmla="*/ 1751784 h 1932730"/>
                <a:gd name="connsiteX13" fmla="*/ 973816 w 1743385"/>
                <a:gd name="connsiteY13" fmla="*/ 1435672 h 1932730"/>
                <a:gd name="connsiteX14" fmla="*/ 678084 w 1743385"/>
                <a:gd name="connsiteY14" fmla="*/ 1405105 h 1932730"/>
                <a:gd name="connsiteX0" fmla="*/ 678084 w 1743385"/>
                <a:gd name="connsiteY0" fmla="*/ 1405105 h 1932730"/>
                <a:gd name="connsiteX1" fmla="*/ 361363 w 1743385"/>
                <a:gd name="connsiteY1" fmla="*/ 1164240 h 1932730"/>
                <a:gd name="connsiteX2" fmla="*/ 465011 w 1743385"/>
                <a:gd name="connsiteY2" fmla="*/ 848525 h 1932730"/>
                <a:gd name="connsiteX3" fmla="*/ 316145 w 1743385"/>
                <a:gd name="connsiteY3" fmla="*/ 514966 h 1932730"/>
                <a:gd name="connsiteX4" fmla="*/ 0 w 1743385"/>
                <a:gd name="connsiteY4" fmla="*/ 459678 h 1932730"/>
                <a:gd name="connsiteX5" fmla="*/ 6249 w 1743385"/>
                <a:gd name="connsiteY5" fmla="*/ 105156 h 1932730"/>
                <a:gd name="connsiteX6" fmla="*/ 486309 w 1743385"/>
                <a:gd name="connsiteY6" fmla="*/ 0 h 1932730"/>
                <a:gd name="connsiteX7" fmla="*/ 1464333 w 1743385"/>
                <a:gd name="connsiteY7" fmla="*/ 136342 h 1932730"/>
                <a:gd name="connsiteX8" fmla="*/ 1743385 w 1743385"/>
                <a:gd name="connsiteY8" fmla="*/ 709703 h 1932730"/>
                <a:gd name="connsiteX9" fmla="*/ 1739025 w 1743385"/>
                <a:gd name="connsiteY9" fmla="*/ 1283065 h 1932730"/>
                <a:gd name="connsiteX10" fmla="*/ 1658362 w 1743385"/>
                <a:gd name="connsiteY10" fmla="*/ 1629699 h 1932730"/>
                <a:gd name="connsiteX11" fmla="*/ 1241966 w 1743385"/>
                <a:gd name="connsiteY11" fmla="*/ 1932730 h 1932730"/>
                <a:gd name="connsiteX12" fmla="*/ 980356 w 1743385"/>
                <a:gd name="connsiteY12" fmla="*/ 1751784 h 1932730"/>
                <a:gd name="connsiteX13" fmla="*/ 973816 w 1743385"/>
                <a:gd name="connsiteY13" fmla="*/ 1435672 h 1932730"/>
                <a:gd name="connsiteX14" fmla="*/ 678084 w 1743385"/>
                <a:gd name="connsiteY14" fmla="*/ 1405105 h 1932730"/>
                <a:gd name="connsiteX0" fmla="*/ 99636 w 1743385"/>
                <a:gd name="connsiteY0" fmla="*/ 1358597 h 1932730"/>
                <a:gd name="connsiteX1" fmla="*/ 361363 w 1743385"/>
                <a:gd name="connsiteY1" fmla="*/ 1164240 h 1932730"/>
                <a:gd name="connsiteX2" fmla="*/ 465011 w 1743385"/>
                <a:gd name="connsiteY2" fmla="*/ 848525 h 1932730"/>
                <a:gd name="connsiteX3" fmla="*/ 316145 w 1743385"/>
                <a:gd name="connsiteY3" fmla="*/ 514966 h 1932730"/>
                <a:gd name="connsiteX4" fmla="*/ 0 w 1743385"/>
                <a:gd name="connsiteY4" fmla="*/ 459678 h 1932730"/>
                <a:gd name="connsiteX5" fmla="*/ 6249 w 1743385"/>
                <a:gd name="connsiteY5" fmla="*/ 105156 h 1932730"/>
                <a:gd name="connsiteX6" fmla="*/ 486309 w 1743385"/>
                <a:gd name="connsiteY6" fmla="*/ 0 h 1932730"/>
                <a:gd name="connsiteX7" fmla="*/ 1464333 w 1743385"/>
                <a:gd name="connsiteY7" fmla="*/ 136342 h 1932730"/>
                <a:gd name="connsiteX8" fmla="*/ 1743385 w 1743385"/>
                <a:gd name="connsiteY8" fmla="*/ 709703 h 1932730"/>
                <a:gd name="connsiteX9" fmla="*/ 1739025 w 1743385"/>
                <a:gd name="connsiteY9" fmla="*/ 1283065 h 1932730"/>
                <a:gd name="connsiteX10" fmla="*/ 1658362 w 1743385"/>
                <a:gd name="connsiteY10" fmla="*/ 1629699 h 1932730"/>
                <a:gd name="connsiteX11" fmla="*/ 1241966 w 1743385"/>
                <a:gd name="connsiteY11" fmla="*/ 1932730 h 1932730"/>
                <a:gd name="connsiteX12" fmla="*/ 980356 w 1743385"/>
                <a:gd name="connsiteY12" fmla="*/ 1751784 h 1932730"/>
                <a:gd name="connsiteX13" fmla="*/ 973816 w 1743385"/>
                <a:gd name="connsiteY13" fmla="*/ 1435672 h 1932730"/>
                <a:gd name="connsiteX14" fmla="*/ 99636 w 1743385"/>
                <a:gd name="connsiteY14" fmla="*/ 1358597 h 1932730"/>
                <a:gd name="connsiteX0" fmla="*/ 79289 w 1743385"/>
                <a:gd name="connsiteY0" fmla="*/ 1091173 h 1932730"/>
                <a:gd name="connsiteX1" fmla="*/ 361363 w 1743385"/>
                <a:gd name="connsiteY1" fmla="*/ 1164240 h 1932730"/>
                <a:gd name="connsiteX2" fmla="*/ 465011 w 1743385"/>
                <a:gd name="connsiteY2" fmla="*/ 848525 h 1932730"/>
                <a:gd name="connsiteX3" fmla="*/ 316145 w 1743385"/>
                <a:gd name="connsiteY3" fmla="*/ 514966 h 1932730"/>
                <a:gd name="connsiteX4" fmla="*/ 0 w 1743385"/>
                <a:gd name="connsiteY4" fmla="*/ 459678 h 1932730"/>
                <a:gd name="connsiteX5" fmla="*/ 6249 w 1743385"/>
                <a:gd name="connsiteY5" fmla="*/ 105156 h 1932730"/>
                <a:gd name="connsiteX6" fmla="*/ 486309 w 1743385"/>
                <a:gd name="connsiteY6" fmla="*/ 0 h 1932730"/>
                <a:gd name="connsiteX7" fmla="*/ 1464333 w 1743385"/>
                <a:gd name="connsiteY7" fmla="*/ 136342 h 1932730"/>
                <a:gd name="connsiteX8" fmla="*/ 1743385 w 1743385"/>
                <a:gd name="connsiteY8" fmla="*/ 709703 h 1932730"/>
                <a:gd name="connsiteX9" fmla="*/ 1739025 w 1743385"/>
                <a:gd name="connsiteY9" fmla="*/ 1283065 h 1932730"/>
                <a:gd name="connsiteX10" fmla="*/ 1658362 w 1743385"/>
                <a:gd name="connsiteY10" fmla="*/ 1629699 h 1932730"/>
                <a:gd name="connsiteX11" fmla="*/ 1241966 w 1743385"/>
                <a:gd name="connsiteY11" fmla="*/ 1932730 h 1932730"/>
                <a:gd name="connsiteX12" fmla="*/ 980356 w 1743385"/>
                <a:gd name="connsiteY12" fmla="*/ 1751784 h 1932730"/>
                <a:gd name="connsiteX13" fmla="*/ 973816 w 1743385"/>
                <a:gd name="connsiteY13" fmla="*/ 1435672 h 1932730"/>
                <a:gd name="connsiteX14" fmla="*/ 79289 w 1743385"/>
                <a:gd name="connsiteY14" fmla="*/ 1091173 h 1932730"/>
                <a:gd name="connsiteX0" fmla="*/ 215862 w 1879958"/>
                <a:gd name="connsiteY0" fmla="*/ 1091173 h 1932730"/>
                <a:gd name="connsiteX1" fmla="*/ 497936 w 1879958"/>
                <a:gd name="connsiteY1" fmla="*/ 1164240 h 1932730"/>
                <a:gd name="connsiteX2" fmla="*/ 601584 w 1879958"/>
                <a:gd name="connsiteY2" fmla="*/ 848525 h 1932730"/>
                <a:gd name="connsiteX3" fmla="*/ 452718 w 1879958"/>
                <a:gd name="connsiteY3" fmla="*/ 514966 h 1932730"/>
                <a:gd name="connsiteX4" fmla="*/ 136573 w 1879958"/>
                <a:gd name="connsiteY4" fmla="*/ 459678 h 1932730"/>
                <a:gd name="connsiteX5" fmla="*/ 142822 w 1879958"/>
                <a:gd name="connsiteY5" fmla="*/ 105156 h 1932730"/>
                <a:gd name="connsiteX6" fmla="*/ 622882 w 1879958"/>
                <a:gd name="connsiteY6" fmla="*/ 0 h 1932730"/>
                <a:gd name="connsiteX7" fmla="*/ 1600906 w 1879958"/>
                <a:gd name="connsiteY7" fmla="*/ 136342 h 1932730"/>
                <a:gd name="connsiteX8" fmla="*/ 1879958 w 1879958"/>
                <a:gd name="connsiteY8" fmla="*/ 709703 h 1932730"/>
                <a:gd name="connsiteX9" fmla="*/ 1875598 w 1879958"/>
                <a:gd name="connsiteY9" fmla="*/ 1283065 h 1932730"/>
                <a:gd name="connsiteX10" fmla="*/ 1794935 w 1879958"/>
                <a:gd name="connsiteY10" fmla="*/ 1629699 h 1932730"/>
                <a:gd name="connsiteX11" fmla="*/ 1378539 w 1879958"/>
                <a:gd name="connsiteY11" fmla="*/ 1932730 h 1932730"/>
                <a:gd name="connsiteX12" fmla="*/ 1116929 w 1879958"/>
                <a:gd name="connsiteY12" fmla="*/ 1751784 h 1932730"/>
                <a:gd name="connsiteX13" fmla="*/ 0 w 1879958"/>
                <a:gd name="connsiteY13" fmla="*/ 1275799 h 1932730"/>
                <a:gd name="connsiteX14" fmla="*/ 215862 w 1879958"/>
                <a:gd name="connsiteY14" fmla="*/ 1091173 h 1932730"/>
                <a:gd name="connsiteX0" fmla="*/ 215862 w 1879958"/>
                <a:gd name="connsiteY0" fmla="*/ 1091173 h 1932730"/>
                <a:gd name="connsiteX1" fmla="*/ 497936 w 1879958"/>
                <a:gd name="connsiteY1" fmla="*/ 1164240 h 1932730"/>
                <a:gd name="connsiteX2" fmla="*/ 601584 w 1879958"/>
                <a:gd name="connsiteY2" fmla="*/ 848525 h 1932730"/>
                <a:gd name="connsiteX3" fmla="*/ 452718 w 1879958"/>
                <a:gd name="connsiteY3" fmla="*/ 514966 h 1932730"/>
                <a:gd name="connsiteX4" fmla="*/ 136573 w 1879958"/>
                <a:gd name="connsiteY4" fmla="*/ 459678 h 1932730"/>
                <a:gd name="connsiteX5" fmla="*/ 142822 w 1879958"/>
                <a:gd name="connsiteY5" fmla="*/ 105156 h 1932730"/>
                <a:gd name="connsiteX6" fmla="*/ 622882 w 1879958"/>
                <a:gd name="connsiteY6" fmla="*/ 0 h 1932730"/>
                <a:gd name="connsiteX7" fmla="*/ 1600906 w 1879958"/>
                <a:gd name="connsiteY7" fmla="*/ 136342 h 1932730"/>
                <a:gd name="connsiteX8" fmla="*/ 1879958 w 1879958"/>
                <a:gd name="connsiteY8" fmla="*/ 709703 h 1932730"/>
                <a:gd name="connsiteX9" fmla="*/ 1875598 w 1879958"/>
                <a:gd name="connsiteY9" fmla="*/ 1283065 h 1932730"/>
                <a:gd name="connsiteX10" fmla="*/ 1794935 w 1879958"/>
                <a:gd name="connsiteY10" fmla="*/ 1629699 h 1932730"/>
                <a:gd name="connsiteX11" fmla="*/ 1378539 w 1879958"/>
                <a:gd name="connsiteY11" fmla="*/ 1932730 h 1932730"/>
                <a:gd name="connsiteX12" fmla="*/ 140252 w 1879958"/>
                <a:gd name="connsiteY12" fmla="*/ 1769225 h 1932730"/>
                <a:gd name="connsiteX13" fmla="*/ 0 w 1879958"/>
                <a:gd name="connsiteY13" fmla="*/ 1275799 h 1932730"/>
                <a:gd name="connsiteX14" fmla="*/ 215862 w 1879958"/>
                <a:gd name="connsiteY14" fmla="*/ 1091173 h 1932730"/>
                <a:gd name="connsiteX0" fmla="*/ 215862 w 1879958"/>
                <a:gd name="connsiteY0" fmla="*/ 1091173 h 1976701"/>
                <a:gd name="connsiteX1" fmla="*/ 497936 w 1879958"/>
                <a:gd name="connsiteY1" fmla="*/ 1164240 h 1976701"/>
                <a:gd name="connsiteX2" fmla="*/ 601584 w 1879958"/>
                <a:gd name="connsiteY2" fmla="*/ 848525 h 1976701"/>
                <a:gd name="connsiteX3" fmla="*/ 452718 w 1879958"/>
                <a:gd name="connsiteY3" fmla="*/ 514966 h 1976701"/>
                <a:gd name="connsiteX4" fmla="*/ 136573 w 1879958"/>
                <a:gd name="connsiteY4" fmla="*/ 459678 h 1976701"/>
                <a:gd name="connsiteX5" fmla="*/ 142822 w 1879958"/>
                <a:gd name="connsiteY5" fmla="*/ 105156 h 1976701"/>
                <a:gd name="connsiteX6" fmla="*/ 622882 w 1879958"/>
                <a:gd name="connsiteY6" fmla="*/ 0 h 1976701"/>
                <a:gd name="connsiteX7" fmla="*/ 1600906 w 1879958"/>
                <a:gd name="connsiteY7" fmla="*/ 136342 h 1976701"/>
                <a:gd name="connsiteX8" fmla="*/ 1879958 w 1879958"/>
                <a:gd name="connsiteY8" fmla="*/ 709703 h 1976701"/>
                <a:gd name="connsiteX9" fmla="*/ 1875598 w 1879958"/>
                <a:gd name="connsiteY9" fmla="*/ 1283065 h 1976701"/>
                <a:gd name="connsiteX10" fmla="*/ 1794935 w 1879958"/>
                <a:gd name="connsiteY10" fmla="*/ 1629699 h 1976701"/>
                <a:gd name="connsiteX11" fmla="*/ 1378539 w 1879958"/>
                <a:gd name="connsiteY11" fmla="*/ 1932730 h 1976701"/>
                <a:gd name="connsiteX12" fmla="*/ 576267 w 1879958"/>
                <a:gd name="connsiteY12" fmla="*/ 1971245 h 1976701"/>
                <a:gd name="connsiteX13" fmla="*/ 140252 w 1879958"/>
                <a:gd name="connsiteY13" fmla="*/ 1769225 h 1976701"/>
                <a:gd name="connsiteX14" fmla="*/ 0 w 1879958"/>
                <a:gd name="connsiteY14" fmla="*/ 1275799 h 1976701"/>
                <a:gd name="connsiteX15" fmla="*/ 215862 w 1879958"/>
                <a:gd name="connsiteY15" fmla="*/ 1091173 h 1976701"/>
                <a:gd name="connsiteX0" fmla="*/ 215862 w 1879958"/>
                <a:gd name="connsiteY0" fmla="*/ 1091173 h 2010372"/>
                <a:gd name="connsiteX1" fmla="*/ 497936 w 1879958"/>
                <a:gd name="connsiteY1" fmla="*/ 1164240 h 2010372"/>
                <a:gd name="connsiteX2" fmla="*/ 601584 w 1879958"/>
                <a:gd name="connsiteY2" fmla="*/ 848525 h 2010372"/>
                <a:gd name="connsiteX3" fmla="*/ 452718 w 1879958"/>
                <a:gd name="connsiteY3" fmla="*/ 514966 h 2010372"/>
                <a:gd name="connsiteX4" fmla="*/ 136573 w 1879958"/>
                <a:gd name="connsiteY4" fmla="*/ 459678 h 2010372"/>
                <a:gd name="connsiteX5" fmla="*/ 142822 w 1879958"/>
                <a:gd name="connsiteY5" fmla="*/ 105156 h 2010372"/>
                <a:gd name="connsiteX6" fmla="*/ 622882 w 1879958"/>
                <a:gd name="connsiteY6" fmla="*/ 0 h 2010372"/>
                <a:gd name="connsiteX7" fmla="*/ 1600906 w 1879958"/>
                <a:gd name="connsiteY7" fmla="*/ 136342 h 2010372"/>
                <a:gd name="connsiteX8" fmla="*/ 1879958 w 1879958"/>
                <a:gd name="connsiteY8" fmla="*/ 709703 h 2010372"/>
                <a:gd name="connsiteX9" fmla="*/ 1875598 w 1879958"/>
                <a:gd name="connsiteY9" fmla="*/ 1283065 h 2010372"/>
                <a:gd name="connsiteX10" fmla="*/ 1794935 w 1879958"/>
                <a:gd name="connsiteY10" fmla="*/ 1629699 h 2010372"/>
                <a:gd name="connsiteX11" fmla="*/ 1378539 w 1879958"/>
                <a:gd name="connsiteY11" fmla="*/ 1932730 h 2010372"/>
                <a:gd name="connsiteX12" fmla="*/ 1151809 w 1879958"/>
                <a:gd name="connsiteY12" fmla="*/ 2009033 h 2010372"/>
                <a:gd name="connsiteX13" fmla="*/ 576267 w 1879958"/>
                <a:gd name="connsiteY13" fmla="*/ 1971245 h 2010372"/>
                <a:gd name="connsiteX14" fmla="*/ 140252 w 1879958"/>
                <a:gd name="connsiteY14" fmla="*/ 1769225 h 2010372"/>
                <a:gd name="connsiteX15" fmla="*/ 0 w 1879958"/>
                <a:gd name="connsiteY15" fmla="*/ 1275799 h 2010372"/>
                <a:gd name="connsiteX16" fmla="*/ 215862 w 1879958"/>
                <a:gd name="connsiteY16" fmla="*/ 1091173 h 201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79958" h="2010372">
                  <a:moveTo>
                    <a:pt x="215862" y="1091173"/>
                  </a:moveTo>
                  <a:lnTo>
                    <a:pt x="497936" y="1164240"/>
                  </a:lnTo>
                  <a:lnTo>
                    <a:pt x="601584" y="848525"/>
                  </a:lnTo>
                  <a:lnTo>
                    <a:pt x="452718" y="514966"/>
                  </a:lnTo>
                  <a:lnTo>
                    <a:pt x="136573" y="459678"/>
                  </a:lnTo>
                  <a:lnTo>
                    <a:pt x="142822" y="105156"/>
                  </a:lnTo>
                  <a:lnTo>
                    <a:pt x="622882" y="0"/>
                  </a:lnTo>
                  <a:cubicBezTo>
                    <a:pt x="1015746" y="222034"/>
                    <a:pt x="1208042" y="-85692"/>
                    <a:pt x="1600906" y="136342"/>
                  </a:cubicBezTo>
                  <a:lnTo>
                    <a:pt x="1879958" y="709703"/>
                  </a:lnTo>
                  <a:cubicBezTo>
                    <a:pt x="1878505" y="900824"/>
                    <a:pt x="1877051" y="1091944"/>
                    <a:pt x="1875598" y="1283065"/>
                  </a:cubicBezTo>
                  <a:lnTo>
                    <a:pt x="1794935" y="1629699"/>
                  </a:lnTo>
                  <a:lnTo>
                    <a:pt x="1378539" y="1932730"/>
                  </a:lnTo>
                  <a:cubicBezTo>
                    <a:pt x="1278618" y="1982872"/>
                    <a:pt x="1285521" y="2002614"/>
                    <a:pt x="1151809" y="2009033"/>
                  </a:cubicBezTo>
                  <a:cubicBezTo>
                    <a:pt x="1018097" y="2015452"/>
                    <a:pt x="752127" y="1998133"/>
                    <a:pt x="576267" y="1971245"/>
                  </a:cubicBezTo>
                  <a:lnTo>
                    <a:pt x="140252" y="1769225"/>
                  </a:lnTo>
                  <a:lnTo>
                    <a:pt x="0" y="1275799"/>
                  </a:lnTo>
                  <a:lnTo>
                    <a:pt x="215862" y="1091173"/>
                  </a:lnTo>
                  <a:close/>
                </a:path>
              </a:pathLst>
            </a:cu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9B048E0C-8BE3-B5BF-CA38-D0845B00EE5A}"/>
              </a:ext>
            </a:extLst>
          </p:cNvPr>
          <p:cNvSpPr>
            <a:spLocks noGrp="1"/>
          </p:cNvSpPr>
          <p:nvPr>
            <p:ph type="title"/>
          </p:nvPr>
        </p:nvSpPr>
        <p:spPr/>
        <p:txBody>
          <a:bodyPr/>
          <a:lstStyle/>
          <a:p>
            <a:r>
              <a:rPr lang="en-US" b="0"/>
              <a:t>Example 9: </a:t>
            </a:r>
            <a:r>
              <a:rPr lang="en-US"/>
              <a:t>Polishing text in the “right way”</a:t>
            </a:r>
          </a:p>
        </p:txBody>
      </p:sp>
      <p:sp>
        <p:nvSpPr>
          <p:cNvPr id="16" name="Rectangle 15">
            <a:extLst>
              <a:ext uri="{FF2B5EF4-FFF2-40B4-BE49-F238E27FC236}">
                <a16:creationId xmlns:a16="http://schemas.microsoft.com/office/drawing/2014/main" id="{55F3F52E-DBCE-A820-2000-24AA1F685C26}"/>
              </a:ext>
              <a:ext uri="{C183D7F6-B498-43B3-948B-1728B52AA6E4}">
                <adec:decorative xmlns:adec="http://schemas.microsoft.com/office/drawing/2017/decorative" val="1"/>
              </a:ext>
            </a:extLst>
          </p:cNvPr>
          <p:cNvSpPr/>
          <p:nvPr/>
        </p:nvSpPr>
        <p:spPr>
          <a:xfrm>
            <a:off x="0" y="3048610"/>
            <a:ext cx="12192000" cy="30445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Content Placeholder 5">
            <a:extLst>
              <a:ext uri="{FF2B5EF4-FFF2-40B4-BE49-F238E27FC236}">
                <a16:creationId xmlns:a16="http://schemas.microsoft.com/office/drawing/2014/main" id="{F91DE047-191A-E53B-2289-5AC4DB777E1F}"/>
              </a:ext>
            </a:extLst>
          </p:cNvPr>
          <p:cNvSpPr>
            <a:spLocks noGrp="1"/>
          </p:cNvSpPr>
          <p:nvPr>
            <p:ph sz="half" idx="1"/>
          </p:nvPr>
        </p:nvSpPr>
        <p:spPr>
          <a:xfrm>
            <a:off x="1055687" y="1382492"/>
            <a:ext cx="9877924" cy="1573824"/>
          </a:xfrm>
        </p:spPr>
        <p:txBody>
          <a:bodyPr/>
          <a:lstStyle/>
          <a:p>
            <a:r>
              <a:rPr lang="en-US" sz="1600"/>
              <a:t>I've written a paragraph that I want to refine and improve in terms of clarity, coherence, </a:t>
            </a:r>
            <a:br>
              <a:rPr lang="en-US" sz="1600"/>
            </a:br>
            <a:r>
              <a:rPr lang="en-US" sz="1600"/>
              <a:t>and effectiveness, while maintaining my own writing style. </a:t>
            </a:r>
            <a:r>
              <a:rPr lang="en-US" sz="1600" i="1"/>
              <a:t>Here’s the paragraph: (…) </a:t>
            </a:r>
            <a:br>
              <a:rPr lang="en-US" sz="1600"/>
            </a:br>
            <a:r>
              <a:rPr lang="en-US" sz="1600"/>
              <a:t>Could you provide a detailed critique of this paragraph? I'm looking for specific </a:t>
            </a:r>
            <a:r>
              <a:rPr lang="en-US" sz="1600" b="1"/>
              <a:t>feedback on the structure, choice of words, and flow</a:t>
            </a:r>
            <a:r>
              <a:rPr lang="en-US" sz="1600"/>
              <a:t>. Please identify any weaknesses or unclear parts and explain why they might hinder the effectiveness of the writing. Additionally, it would be helpful if you could include examples or suggestions on how to address these issues </a:t>
            </a:r>
            <a:r>
              <a:rPr lang="en-US" sz="1600" b="1"/>
              <a:t>without changing the fundamental style of my writing</a:t>
            </a:r>
            <a:r>
              <a:rPr lang="en-US" sz="1600"/>
              <a:t>.</a:t>
            </a:r>
          </a:p>
        </p:txBody>
      </p:sp>
      <p:sp>
        <p:nvSpPr>
          <p:cNvPr id="8" name="Oval 7">
            <a:extLst>
              <a:ext uri="{FF2B5EF4-FFF2-40B4-BE49-F238E27FC236}">
                <a16:creationId xmlns:a16="http://schemas.microsoft.com/office/drawing/2014/main" id="{3CB15C92-CB82-82D4-C5B9-7CE6DD6772C3}"/>
              </a:ext>
              <a:ext uri="{C183D7F6-B498-43B3-948B-1728B52AA6E4}">
                <adec:decorative xmlns:adec="http://schemas.microsoft.com/office/drawing/2017/decorative" val="1"/>
              </a:ext>
            </a:extLst>
          </p:cNvPr>
          <p:cNvSpPr/>
          <p:nvPr/>
        </p:nvSpPr>
        <p:spPr>
          <a:xfrm>
            <a:off x="191344" y="3176972"/>
            <a:ext cx="720080" cy="72008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1400">
                <a:solidFill>
                  <a:schemeClr val="tx1"/>
                </a:solidFill>
              </a:rPr>
              <a:t>AI</a:t>
            </a:r>
            <a:endParaRPr lang="en-US" sz="1400">
              <a:solidFill>
                <a:schemeClr val="tx1"/>
              </a:solidFill>
              <a:latin typeface="+mj-lt"/>
            </a:endParaRPr>
          </a:p>
        </p:txBody>
      </p:sp>
      <p:grpSp>
        <p:nvGrpSpPr>
          <p:cNvPr id="14" name="Group 13">
            <a:extLst>
              <a:ext uri="{FF2B5EF4-FFF2-40B4-BE49-F238E27FC236}">
                <a16:creationId xmlns:a16="http://schemas.microsoft.com/office/drawing/2014/main" id="{20AD82B3-7C6B-B1C2-A809-254F3A78787A}"/>
              </a:ext>
              <a:ext uri="{C183D7F6-B498-43B3-948B-1728B52AA6E4}">
                <adec:decorative xmlns:adec="http://schemas.microsoft.com/office/drawing/2017/decorative" val="1"/>
              </a:ext>
            </a:extLst>
          </p:cNvPr>
          <p:cNvGrpSpPr/>
          <p:nvPr/>
        </p:nvGrpSpPr>
        <p:grpSpPr>
          <a:xfrm>
            <a:off x="191344" y="1382319"/>
            <a:ext cx="720080" cy="720080"/>
            <a:chOff x="3359696" y="4149080"/>
            <a:chExt cx="720080" cy="720080"/>
          </a:xfrm>
        </p:grpSpPr>
        <p:sp>
          <p:nvSpPr>
            <p:cNvPr id="11" name="Oval 10">
              <a:extLst>
                <a:ext uri="{FF2B5EF4-FFF2-40B4-BE49-F238E27FC236}">
                  <a16:creationId xmlns:a16="http://schemas.microsoft.com/office/drawing/2014/main" id="{30C0B911-02E6-524E-5767-37E30A6E9267}"/>
                </a:ext>
              </a:extLst>
            </p:cNvPr>
            <p:cNvSpPr/>
            <p:nvPr/>
          </p:nvSpPr>
          <p:spPr>
            <a:xfrm>
              <a:off x="3359696" y="4149080"/>
              <a:ext cx="720080" cy="72008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endParaRPr lang="en-US" sz="1400">
                <a:solidFill>
                  <a:schemeClr val="tx1"/>
                </a:solidFill>
                <a:latin typeface="+mj-lt"/>
              </a:endParaRPr>
            </a:p>
          </p:txBody>
        </p:sp>
        <p:pic>
          <p:nvPicPr>
            <p:cNvPr id="13" name="Graphic 12" descr="User outline">
              <a:extLst>
                <a:ext uri="{FF2B5EF4-FFF2-40B4-BE49-F238E27FC236}">
                  <a16:creationId xmlns:a16="http://schemas.microsoft.com/office/drawing/2014/main" id="{B8A09F4D-0AD3-E089-7BC7-FC2AD687F2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03712" y="4272746"/>
              <a:ext cx="432048" cy="432048"/>
            </a:xfrm>
            <a:prstGeom prst="rect">
              <a:avLst/>
            </a:prstGeom>
          </p:spPr>
        </p:pic>
      </p:grpSp>
      <p:sp>
        <p:nvSpPr>
          <p:cNvPr id="15" name="Content Placeholder 5">
            <a:extLst>
              <a:ext uri="{FF2B5EF4-FFF2-40B4-BE49-F238E27FC236}">
                <a16:creationId xmlns:a16="http://schemas.microsoft.com/office/drawing/2014/main" id="{2D87B0BA-7A68-8D3C-7560-DE6D3EB8E47E}"/>
              </a:ext>
            </a:extLst>
          </p:cNvPr>
          <p:cNvSpPr txBox="1">
            <a:spLocks/>
          </p:cNvSpPr>
          <p:nvPr/>
        </p:nvSpPr>
        <p:spPr>
          <a:xfrm>
            <a:off x="1055688" y="3172513"/>
            <a:ext cx="10008864" cy="292061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pPr>
            <a:r>
              <a:rPr lang="en-US" sz="1200"/>
              <a:t> The overall content demonstrates thorough scientific observation and experimental detailing. However, there are several areas where clarity and coherence can be improved for enhanced readability and effectiveness. Here’s a detailed critique with suggestions for refinement:</a:t>
            </a:r>
          </a:p>
          <a:p>
            <a:pPr marL="228600" indent="-228600" algn="just">
              <a:spcBef>
                <a:spcPts val="0"/>
              </a:spcBef>
              <a:buAutoNum type="arabicPeriod"/>
            </a:pPr>
            <a:r>
              <a:rPr lang="en-US" sz="1200" b="1"/>
              <a:t>Sentence Structure and Clarity: </a:t>
            </a:r>
            <a:r>
              <a:rPr lang="en-US" sz="1200"/>
              <a:t>Your sentences are complex and packed with information, which can be challenging for readers to follow. The use of commas to separate clauses and reference figures interrupts the flow and can confuse readers about the main actions and results.</a:t>
            </a:r>
          </a:p>
          <a:p>
            <a:pPr algn="just">
              <a:spcBef>
                <a:spcPts val="0"/>
              </a:spcBef>
            </a:pPr>
            <a:r>
              <a:rPr lang="en-US" sz="1200" i="1"/>
              <a:t>	Example</a:t>
            </a:r>
            <a:r>
              <a:rPr lang="en-US" sz="1200"/>
              <a:t>: "The initial brown awns become light yellowish, indicating that lignin was somewhat removed, Fig. 5(B).“</a:t>
            </a:r>
          </a:p>
          <a:p>
            <a:pPr algn="just">
              <a:spcBef>
                <a:spcPts val="0"/>
              </a:spcBef>
            </a:pPr>
            <a:r>
              <a:rPr lang="en-US" sz="1200" i="1"/>
              <a:t>	Suggestion</a:t>
            </a:r>
            <a:r>
              <a:rPr lang="en-US" sz="1200"/>
              <a:t>: "The initial brown awns turned light yellowish, indicating partial removal of lignin (Fig. 5B).“</a:t>
            </a:r>
          </a:p>
          <a:p>
            <a:pPr algn="just">
              <a:spcBef>
                <a:spcPts val="0"/>
              </a:spcBef>
            </a:pPr>
            <a:r>
              <a:rPr lang="en-US" sz="1200"/>
              <a:t>This revision clarifies the outcome (turning light yellowish) and the cause (partial removal of lignin) and integrates the figure reference more smoothly.</a:t>
            </a:r>
          </a:p>
          <a:p>
            <a:pPr algn="just">
              <a:spcBef>
                <a:spcPts val="0"/>
              </a:spcBef>
            </a:pPr>
            <a:endParaRPr lang="en-US" sz="1200"/>
          </a:p>
          <a:p>
            <a:pPr marL="228600" indent="-228600" algn="just">
              <a:spcBef>
                <a:spcPts val="0"/>
              </a:spcBef>
              <a:buFont typeface="+mj-lt"/>
              <a:buAutoNum type="arabicPeriod" startAt="2"/>
            </a:pPr>
            <a:r>
              <a:rPr lang="en-US" sz="1200" b="1"/>
              <a:t>Coherence and Logical Flow: </a:t>
            </a:r>
            <a:r>
              <a:rPr lang="en-US" sz="1200"/>
              <a:t>(…)</a:t>
            </a:r>
          </a:p>
          <a:p>
            <a:pPr marL="228600" indent="-228600" algn="just">
              <a:spcBef>
                <a:spcPts val="0"/>
              </a:spcBef>
              <a:buAutoNum type="arabicPeriod" startAt="2"/>
            </a:pPr>
            <a:r>
              <a:rPr lang="en-US" sz="1200" b="1"/>
              <a:t>Consistency in Terminology and Detail: </a:t>
            </a:r>
            <a:r>
              <a:rPr lang="en-US" sz="1200"/>
              <a:t>(…)</a:t>
            </a:r>
            <a:endParaRPr lang="en-US" sz="1200" b="1"/>
          </a:p>
          <a:p>
            <a:pPr marL="228600" indent="-228600" algn="just">
              <a:spcBef>
                <a:spcPts val="0"/>
              </a:spcBef>
              <a:buAutoNum type="arabicPeriod" startAt="2"/>
            </a:pPr>
            <a:r>
              <a:rPr lang="en-US" sz="1200" b="1"/>
              <a:t>Visual References Integration: </a:t>
            </a:r>
            <a:r>
              <a:rPr lang="en-US" sz="1200"/>
              <a:t>(…)</a:t>
            </a:r>
            <a:endParaRPr lang="en-US" sz="1200" b="1"/>
          </a:p>
          <a:p>
            <a:pPr marL="228600" indent="-228600" algn="just">
              <a:spcBef>
                <a:spcPts val="0"/>
              </a:spcBef>
              <a:buAutoNum type="arabicPeriod" startAt="2"/>
            </a:pPr>
            <a:r>
              <a:rPr lang="en-US" sz="1200" b="1"/>
              <a:t>Use of Passive and Active Voice: </a:t>
            </a:r>
            <a:r>
              <a:rPr lang="en-US" sz="1200"/>
              <a:t>(…)</a:t>
            </a:r>
            <a:endParaRPr lang="en-US" sz="1200" b="1"/>
          </a:p>
          <a:p>
            <a:pPr marL="228600" indent="-228600" algn="just">
              <a:spcBef>
                <a:spcPts val="0"/>
              </a:spcBef>
              <a:buAutoNum type="arabicPeriod" startAt="2"/>
            </a:pPr>
            <a:endParaRPr lang="en-US" sz="1200" b="1"/>
          </a:p>
          <a:p>
            <a:pPr algn="just">
              <a:spcBef>
                <a:spcPts val="0"/>
              </a:spcBef>
            </a:pPr>
            <a:r>
              <a:rPr lang="en-US" sz="1200" b="1"/>
              <a:t>Revised Paragraph</a:t>
            </a:r>
          </a:p>
          <a:p>
            <a:pPr algn="just">
              <a:spcBef>
                <a:spcPts val="0"/>
              </a:spcBef>
            </a:pPr>
            <a:r>
              <a:rPr lang="en-US" sz="1200"/>
              <a:t>(…)</a:t>
            </a:r>
            <a:endParaRPr lang="en-US" sz="1200" b="1"/>
          </a:p>
          <a:p>
            <a:pPr algn="just">
              <a:spcBef>
                <a:spcPts val="0"/>
              </a:spcBef>
            </a:pPr>
            <a:endParaRPr lang="en-US" sz="1200" b="1"/>
          </a:p>
          <a:p>
            <a:pPr algn="just">
              <a:spcBef>
                <a:spcPts val="0"/>
              </a:spcBef>
            </a:pPr>
            <a:endParaRPr lang="en-US" sz="1200"/>
          </a:p>
          <a:p>
            <a:pPr algn="just">
              <a:spcBef>
                <a:spcPts val="0"/>
              </a:spcBef>
            </a:pPr>
            <a:endParaRPr lang="en-US" sz="1200"/>
          </a:p>
        </p:txBody>
      </p:sp>
      <p:sp>
        <p:nvSpPr>
          <p:cNvPr id="22" name="Slide Number Placeholder 21">
            <a:extLst>
              <a:ext uri="{FF2B5EF4-FFF2-40B4-BE49-F238E27FC236}">
                <a16:creationId xmlns:a16="http://schemas.microsoft.com/office/drawing/2014/main" id="{84E1851C-0DBA-31E2-FCFE-5916E1D464E3}"/>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t>34</a:t>
            </a:fld>
            <a:endParaRPr lang="fi-FI"/>
          </a:p>
        </p:txBody>
      </p:sp>
      <p:sp>
        <p:nvSpPr>
          <p:cNvPr id="4" name="Freeform: Shape 3">
            <a:extLst>
              <a:ext uri="{FF2B5EF4-FFF2-40B4-BE49-F238E27FC236}">
                <a16:creationId xmlns:a16="http://schemas.microsoft.com/office/drawing/2014/main" id="{25156612-0C1D-87B7-65D8-9B01750FBB59}"/>
              </a:ext>
              <a:ext uri="{C183D7F6-B498-43B3-948B-1728B52AA6E4}">
                <adec:decorative xmlns:adec="http://schemas.microsoft.com/office/drawing/2017/decorative" val="1"/>
              </a:ext>
            </a:extLst>
          </p:cNvPr>
          <p:cNvSpPr/>
          <p:nvPr/>
        </p:nvSpPr>
        <p:spPr>
          <a:xfrm rot="5400000" flipH="1">
            <a:off x="10381139" y="2324413"/>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907DBEA-520C-ED93-0365-458DD6F251AB}"/>
              </a:ext>
              <a:ext uri="{C183D7F6-B498-43B3-948B-1728B52AA6E4}">
                <adec:decorative xmlns:adec="http://schemas.microsoft.com/office/drawing/2017/decorative" val="1"/>
              </a:ext>
            </a:extLst>
          </p:cNvPr>
          <p:cNvSpPr txBox="1"/>
          <p:nvPr/>
        </p:nvSpPr>
        <p:spPr>
          <a:xfrm>
            <a:off x="10682573" y="2004937"/>
            <a:ext cx="1326004" cy="276999"/>
          </a:xfrm>
          <a:prstGeom prst="rect">
            <a:avLst/>
          </a:prstGeom>
          <a:noFill/>
        </p:spPr>
        <p:txBody>
          <a:bodyPr wrap="none" rtlCol="0">
            <a:spAutoFit/>
          </a:bodyPr>
          <a:lstStyle/>
          <a:p>
            <a:pPr algn="l"/>
            <a:r>
              <a:rPr lang="en-US" sz="1200">
                <a:solidFill>
                  <a:schemeClr val="bg1">
                    <a:lumMod val="50000"/>
                  </a:schemeClr>
                </a:solidFill>
                <a:latin typeface="+mj-lt"/>
              </a:rPr>
              <a:t>Keep personality</a:t>
            </a:r>
          </a:p>
        </p:txBody>
      </p:sp>
      <p:sp>
        <p:nvSpPr>
          <p:cNvPr id="24" name="Freeform: Shape 23">
            <a:extLst>
              <a:ext uri="{FF2B5EF4-FFF2-40B4-BE49-F238E27FC236}">
                <a16:creationId xmlns:a16="http://schemas.microsoft.com/office/drawing/2014/main" id="{EB316E72-F342-D269-C5C1-87527ED5C2EC}"/>
              </a:ext>
              <a:ext uri="{C183D7F6-B498-43B3-948B-1728B52AA6E4}">
                <adec:decorative xmlns:adec="http://schemas.microsoft.com/office/drawing/2017/decorative" val="1"/>
              </a:ext>
            </a:extLst>
          </p:cNvPr>
          <p:cNvSpPr/>
          <p:nvPr/>
        </p:nvSpPr>
        <p:spPr>
          <a:xfrm rot="2700000" flipH="1">
            <a:off x="8680388" y="1320110"/>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C078AF6-1A44-C85D-0C10-0618836CD452}"/>
              </a:ext>
              <a:ext uri="{C183D7F6-B498-43B3-948B-1728B52AA6E4}">
                <adec:decorative xmlns:adec="http://schemas.microsoft.com/office/drawing/2017/decorative" val="1"/>
              </a:ext>
            </a:extLst>
          </p:cNvPr>
          <p:cNvSpPr txBox="1"/>
          <p:nvPr/>
        </p:nvSpPr>
        <p:spPr>
          <a:xfrm>
            <a:off x="7794961" y="756684"/>
            <a:ext cx="2095799" cy="461665"/>
          </a:xfrm>
          <a:prstGeom prst="rect">
            <a:avLst/>
          </a:prstGeom>
          <a:noFill/>
        </p:spPr>
        <p:txBody>
          <a:bodyPr wrap="square" rtlCol="0">
            <a:spAutoFit/>
          </a:bodyPr>
          <a:lstStyle/>
          <a:p>
            <a:pPr algn="l"/>
            <a:r>
              <a:rPr lang="en-US" sz="1200">
                <a:solidFill>
                  <a:schemeClr val="bg1">
                    <a:lumMod val="50000"/>
                  </a:schemeClr>
                </a:solidFill>
                <a:latin typeface="+mj-lt"/>
              </a:rPr>
              <a:t>Don’t ask for the fish, but ask to be taught how to fish</a:t>
            </a:r>
          </a:p>
        </p:txBody>
      </p:sp>
      <p:sp>
        <p:nvSpPr>
          <p:cNvPr id="27" name="Rectangle 26">
            <a:extLst>
              <a:ext uri="{FF2B5EF4-FFF2-40B4-BE49-F238E27FC236}">
                <a16:creationId xmlns:a16="http://schemas.microsoft.com/office/drawing/2014/main" id="{06B8AEAE-2F9F-5FCD-E3FA-342650D054CF}"/>
              </a:ext>
            </a:extLst>
          </p:cNvPr>
          <p:cNvSpPr/>
          <p:nvPr/>
        </p:nvSpPr>
        <p:spPr>
          <a:xfrm>
            <a:off x="4797936" y="4632818"/>
            <a:ext cx="5598610" cy="584775"/>
          </a:xfrm>
          <a:prstGeom prst="rect">
            <a:avLst/>
          </a:prstGeom>
          <a:noFill/>
        </p:spPr>
        <p:txBody>
          <a:bodyPr wrap="square" lIns="91440" tIns="45720" rIns="91440" bIns="45720">
            <a:prstTxWarp prst="textDoubleWave1">
              <a:avLst/>
            </a:prstTxWarp>
            <a:spAutoFit/>
          </a:bodyPr>
          <a:lstStyle/>
          <a:p>
            <a:pPr algn="just"/>
            <a:r>
              <a:rPr lang="en-US" sz="1600">
                <a:effectLst>
                  <a:glow rad="101600">
                    <a:schemeClr val="accent5">
                      <a:satMod val="175000"/>
                      <a:alpha val="40000"/>
                    </a:schemeClr>
                  </a:glow>
                </a:effectLst>
              </a:rPr>
              <a:t>The initially tawny awns transitioned to a pale yellow hue, signaling a substantive diminution of lignin content (Fig. 5B).</a:t>
            </a:r>
          </a:p>
        </p:txBody>
      </p:sp>
      <p:sp>
        <p:nvSpPr>
          <p:cNvPr id="28" name="Rectangle 27">
            <a:extLst>
              <a:ext uri="{FF2B5EF4-FFF2-40B4-BE49-F238E27FC236}">
                <a16:creationId xmlns:a16="http://schemas.microsoft.com/office/drawing/2014/main" id="{BFDD932D-0326-D8E5-E8A3-6EF506E2D6A8}"/>
              </a:ext>
            </a:extLst>
          </p:cNvPr>
          <p:cNvSpPr/>
          <p:nvPr/>
        </p:nvSpPr>
        <p:spPr>
          <a:xfrm>
            <a:off x="8570323" y="5693390"/>
            <a:ext cx="2638493" cy="338554"/>
          </a:xfrm>
          <a:prstGeom prst="rect">
            <a:avLst/>
          </a:prstGeom>
          <a:noFill/>
        </p:spPr>
        <p:txBody>
          <a:bodyPr wrap="square" lIns="91440" tIns="45720" rIns="91440" bIns="45720">
            <a:spAutoFit/>
          </a:bodyPr>
          <a:lstStyle/>
          <a:p>
            <a:r>
              <a:rPr lang="en-US" sz="1600" b="1">
                <a:ln w="6600">
                  <a:solidFill>
                    <a:srgbClr val="CC6B69"/>
                  </a:solidFill>
                  <a:prstDash val="solid"/>
                </a:ln>
                <a:solidFill>
                  <a:srgbClr val="FFFFFF"/>
                </a:solidFill>
                <a:effectLst>
                  <a:outerShdw dist="38100" dir="2700000" algn="tl" rotWithShape="0">
                    <a:schemeClr val="accent2"/>
                  </a:outerShdw>
                </a:effectLst>
              </a:rPr>
              <a:t>Written by AI alert!</a:t>
            </a:r>
          </a:p>
        </p:txBody>
      </p:sp>
      <p:pic>
        <p:nvPicPr>
          <p:cNvPr id="33" name="Picture 32" descr="Image depicting a person calling the text was generated by AI.">
            <a:extLst>
              <a:ext uri="{FF2B5EF4-FFF2-40B4-BE49-F238E27FC236}">
                <a16:creationId xmlns:a16="http://schemas.microsoft.com/office/drawing/2014/main" id="{EB145175-77B0-DCC8-48C9-D449EB71B971}"/>
              </a:ext>
            </a:extLst>
          </p:cNvPr>
          <p:cNvPicPr>
            <a:picLocks noChangeAspect="1"/>
          </p:cNvPicPr>
          <p:nvPr/>
        </p:nvPicPr>
        <p:blipFill rotWithShape="1">
          <a:blip r:embed="rId5">
            <a:duotone>
              <a:schemeClr val="accent2">
                <a:shade val="45000"/>
                <a:satMod val="135000"/>
              </a:schemeClr>
              <a:prstClr val="white"/>
            </a:duotone>
            <a:alphaModFix amt="65000"/>
            <a:extLst>
              <a:ext uri="{28A0092B-C50C-407E-A947-70E740481C1C}">
                <a14:useLocalDpi xmlns:a14="http://schemas.microsoft.com/office/drawing/2010/main" val="0"/>
              </a:ext>
            </a:extLst>
          </a:blip>
          <a:srcRect b="19093"/>
          <a:stretch/>
        </p:blipFill>
        <p:spPr>
          <a:xfrm>
            <a:off x="10500949" y="4809408"/>
            <a:ext cx="1586648" cy="1283714"/>
          </a:xfrm>
          <a:prstGeom prst="rect">
            <a:avLst/>
          </a:prstGeom>
        </p:spPr>
      </p:pic>
      <p:sp>
        <p:nvSpPr>
          <p:cNvPr id="3" name="Date Placeholder 2">
            <a:extLst>
              <a:ext uri="{FF2B5EF4-FFF2-40B4-BE49-F238E27FC236}">
                <a16:creationId xmlns:a16="http://schemas.microsoft.com/office/drawing/2014/main" id="{58DFD755-63DC-00AD-F84E-C3BADAE519A0}"/>
              </a:ext>
            </a:extLst>
          </p:cNvPr>
          <p:cNvSpPr>
            <a:spLocks noGrp="1"/>
          </p:cNvSpPr>
          <p:nvPr>
            <p:ph type="dt" sz="half" idx="13"/>
          </p:nvPr>
        </p:nvSpPr>
        <p:spPr/>
        <p:txBody>
          <a:bodyPr/>
          <a:lstStyle/>
          <a:p>
            <a:r>
              <a:rPr lang="fi-FI"/>
              <a:t>28.04.2026</a:t>
            </a:r>
          </a:p>
        </p:txBody>
      </p:sp>
      <p:sp>
        <p:nvSpPr>
          <p:cNvPr id="7" name="Footer Placeholder 6">
            <a:extLst>
              <a:ext uri="{FF2B5EF4-FFF2-40B4-BE49-F238E27FC236}">
                <a16:creationId xmlns:a16="http://schemas.microsoft.com/office/drawing/2014/main" id="{3BF4350F-DD11-9198-AC53-655DD65ACA0D}"/>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45392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48E0C-8BE3-B5BF-CA38-D0845B00EE5A}"/>
              </a:ext>
            </a:extLst>
          </p:cNvPr>
          <p:cNvSpPr>
            <a:spLocks noGrp="1"/>
          </p:cNvSpPr>
          <p:nvPr>
            <p:ph type="title"/>
          </p:nvPr>
        </p:nvSpPr>
        <p:spPr/>
        <p:txBody>
          <a:bodyPr/>
          <a:lstStyle/>
          <a:p>
            <a:r>
              <a:rPr lang="en-US" b="0"/>
              <a:t>Example 10: </a:t>
            </a:r>
            <a:r>
              <a:rPr lang="en-US"/>
              <a:t>Improve writing</a:t>
            </a:r>
          </a:p>
        </p:txBody>
      </p:sp>
      <p:sp>
        <p:nvSpPr>
          <p:cNvPr id="16" name="Rectangle 15">
            <a:extLst>
              <a:ext uri="{FF2B5EF4-FFF2-40B4-BE49-F238E27FC236}">
                <a16:creationId xmlns:a16="http://schemas.microsoft.com/office/drawing/2014/main" id="{55F3F52E-DBCE-A820-2000-24AA1F685C26}"/>
              </a:ext>
              <a:ext uri="{C183D7F6-B498-43B3-948B-1728B52AA6E4}">
                <adec:decorative xmlns:adec="http://schemas.microsoft.com/office/drawing/2017/decorative" val="1"/>
              </a:ext>
            </a:extLst>
          </p:cNvPr>
          <p:cNvSpPr/>
          <p:nvPr/>
        </p:nvSpPr>
        <p:spPr>
          <a:xfrm>
            <a:off x="0" y="3048610"/>
            <a:ext cx="12192000" cy="30445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mj-lt"/>
            </a:endParaRPr>
          </a:p>
        </p:txBody>
      </p:sp>
      <p:sp>
        <p:nvSpPr>
          <p:cNvPr id="6" name="Content Placeholder 5">
            <a:extLst>
              <a:ext uri="{FF2B5EF4-FFF2-40B4-BE49-F238E27FC236}">
                <a16:creationId xmlns:a16="http://schemas.microsoft.com/office/drawing/2014/main" id="{F91DE047-191A-E53B-2289-5AC4DB777E1F}"/>
              </a:ext>
            </a:extLst>
          </p:cNvPr>
          <p:cNvSpPr>
            <a:spLocks noGrp="1"/>
          </p:cNvSpPr>
          <p:nvPr>
            <p:ph sz="half" idx="1"/>
          </p:nvPr>
        </p:nvSpPr>
        <p:spPr>
          <a:xfrm>
            <a:off x="1055688" y="2205037"/>
            <a:ext cx="10008864" cy="843573"/>
          </a:xfrm>
        </p:spPr>
        <p:txBody>
          <a:bodyPr/>
          <a:lstStyle/>
          <a:p>
            <a:r>
              <a:rPr lang="en-US" sz="1600"/>
              <a:t>I want to share my work on Instagram. Make the language more accessible, write in the style of an influencer, add some emojis, and add relevant hashtags in the end. Use the following abstract: "Active fabrics, responding autonomously to environmental changes (…).</a:t>
            </a:r>
          </a:p>
        </p:txBody>
      </p:sp>
      <p:sp>
        <p:nvSpPr>
          <p:cNvPr id="8" name="Oval 7">
            <a:extLst>
              <a:ext uri="{FF2B5EF4-FFF2-40B4-BE49-F238E27FC236}">
                <a16:creationId xmlns:a16="http://schemas.microsoft.com/office/drawing/2014/main" id="{3CB15C92-CB82-82D4-C5B9-7CE6DD6772C3}"/>
              </a:ext>
              <a:ext uri="{C183D7F6-B498-43B3-948B-1728B52AA6E4}">
                <adec:decorative xmlns:adec="http://schemas.microsoft.com/office/drawing/2017/decorative" val="1"/>
              </a:ext>
            </a:extLst>
          </p:cNvPr>
          <p:cNvSpPr/>
          <p:nvPr/>
        </p:nvSpPr>
        <p:spPr>
          <a:xfrm>
            <a:off x="191344" y="3176972"/>
            <a:ext cx="720080" cy="72008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1400">
                <a:solidFill>
                  <a:schemeClr val="tx1"/>
                </a:solidFill>
              </a:rPr>
              <a:t>AI</a:t>
            </a:r>
            <a:endParaRPr lang="en-US" sz="1400">
              <a:solidFill>
                <a:schemeClr val="tx1"/>
              </a:solidFill>
              <a:latin typeface="+mj-lt"/>
            </a:endParaRPr>
          </a:p>
        </p:txBody>
      </p:sp>
      <p:grpSp>
        <p:nvGrpSpPr>
          <p:cNvPr id="14" name="Group 13">
            <a:extLst>
              <a:ext uri="{FF2B5EF4-FFF2-40B4-BE49-F238E27FC236}">
                <a16:creationId xmlns:a16="http://schemas.microsoft.com/office/drawing/2014/main" id="{20AD82B3-7C6B-B1C2-A809-254F3A78787A}"/>
              </a:ext>
              <a:ext uri="{C183D7F6-B498-43B3-948B-1728B52AA6E4}">
                <adec:decorative xmlns:adec="http://schemas.microsoft.com/office/drawing/2017/decorative" val="1"/>
              </a:ext>
            </a:extLst>
          </p:cNvPr>
          <p:cNvGrpSpPr/>
          <p:nvPr/>
        </p:nvGrpSpPr>
        <p:grpSpPr>
          <a:xfrm>
            <a:off x="191344" y="2204864"/>
            <a:ext cx="720080" cy="720080"/>
            <a:chOff x="3359696" y="4149080"/>
            <a:chExt cx="720080" cy="720080"/>
          </a:xfrm>
        </p:grpSpPr>
        <p:sp>
          <p:nvSpPr>
            <p:cNvPr id="11" name="Oval 10">
              <a:extLst>
                <a:ext uri="{FF2B5EF4-FFF2-40B4-BE49-F238E27FC236}">
                  <a16:creationId xmlns:a16="http://schemas.microsoft.com/office/drawing/2014/main" id="{30C0B911-02E6-524E-5767-37E30A6E9267}"/>
                </a:ext>
              </a:extLst>
            </p:cNvPr>
            <p:cNvSpPr/>
            <p:nvPr/>
          </p:nvSpPr>
          <p:spPr>
            <a:xfrm>
              <a:off x="3359696" y="4149080"/>
              <a:ext cx="720080" cy="720080"/>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endParaRPr lang="en-US" sz="1400">
                <a:solidFill>
                  <a:schemeClr val="tx1"/>
                </a:solidFill>
                <a:latin typeface="+mj-lt"/>
              </a:endParaRPr>
            </a:p>
          </p:txBody>
        </p:sp>
        <p:pic>
          <p:nvPicPr>
            <p:cNvPr id="13" name="Graphic 12" descr="User outline">
              <a:extLst>
                <a:ext uri="{FF2B5EF4-FFF2-40B4-BE49-F238E27FC236}">
                  <a16:creationId xmlns:a16="http://schemas.microsoft.com/office/drawing/2014/main" id="{B8A09F4D-0AD3-E089-7BC7-FC2AD687F2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03712" y="4272746"/>
              <a:ext cx="432048" cy="432048"/>
            </a:xfrm>
            <a:prstGeom prst="rect">
              <a:avLst/>
            </a:prstGeom>
          </p:spPr>
        </p:pic>
      </p:grpSp>
      <p:sp>
        <p:nvSpPr>
          <p:cNvPr id="15" name="Content Placeholder 5">
            <a:extLst>
              <a:ext uri="{FF2B5EF4-FFF2-40B4-BE49-F238E27FC236}">
                <a16:creationId xmlns:a16="http://schemas.microsoft.com/office/drawing/2014/main" id="{2D87B0BA-7A68-8D3C-7560-DE6D3EB8E47E}"/>
              </a:ext>
            </a:extLst>
          </p:cNvPr>
          <p:cNvSpPr txBox="1">
            <a:spLocks/>
          </p:cNvSpPr>
          <p:nvPr/>
        </p:nvSpPr>
        <p:spPr>
          <a:xfrm>
            <a:off x="1055688" y="3172513"/>
            <a:ext cx="10008864" cy="292061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a:spcAft>
                <a:spcPts val="800"/>
              </a:spcAft>
            </a:pPr>
            <a:r>
              <a:rPr lang="en-US" sz="1200"/>
              <a:t>"Hey Insta fam, got some next level stuff for you! 🚀We are literally weaving the future with active fabrics that respond to environmental changes all on their own!!! 🎯It's like the 'Holy Grail' of smart textiles, hun! 💫 We're talking Liquid Crystal Elastomers (LCEs) here, basically the superhero equivalent of our own muscles but in the textile world. 💪🕸 Until now, turning these amazing LCEs into threads for our loom has been a bit of a fashion curveball. 🤯</a:t>
            </a:r>
          </a:p>
          <a:p>
            <a:pPr>
              <a:spcAft>
                <a:spcPts val="800"/>
              </a:spcAft>
            </a:pPr>
            <a:r>
              <a:rPr lang="en-US" sz="1200"/>
              <a:t>But guess what darlings, we've conquered that mountain too! 🏔 We've just pioneered active fabrics using LCE threads, allowing us to dance with density and structure in ways you can't imagine. 😍🌈 </a:t>
            </a:r>
          </a:p>
          <a:p>
            <a:pPr>
              <a:spcAft>
                <a:spcPts val="800"/>
              </a:spcAft>
            </a:pPr>
            <a:r>
              <a:rPr lang="en-US" sz="1200"/>
              <a:t>We've experimented with two types of magical LCE yarns – 'soft' and 'stiff' – and oh my, the results were fab! 🏅The twill pattern with our 'stiff' yarn is nothing short of a miracle – it blocks like a CHAMP! 🏆 And the weft rib pattern – hello reversible actuation strain of over 10% on repeated heating cycles! 🌡💕 </a:t>
            </a:r>
          </a:p>
          <a:p>
            <a:pPr>
              <a:spcAft>
                <a:spcPts val="800"/>
              </a:spcAft>
            </a:pPr>
            <a:r>
              <a:rPr lang="en-US" sz="1200"/>
              <a:t>Fancy cone shapes after heating? No problem, we've got you covered with our circular weaving that offers reversible 3D transformations! 🍦🍭 Our seamless fusion of active LCE threads and existing passive ones is literally a game changer in creating fresh textiles that react to surroundings. #WeavingTheFuture #SmartTextiles #LCEsRock #FashionTech #NextInFashion #TechStyle #TextileRevolution 👗👠👜👖🧣🎩"</a:t>
            </a:r>
          </a:p>
        </p:txBody>
      </p:sp>
      <p:grpSp>
        <p:nvGrpSpPr>
          <p:cNvPr id="17" name="Group 16">
            <a:extLst>
              <a:ext uri="{FF2B5EF4-FFF2-40B4-BE49-F238E27FC236}">
                <a16:creationId xmlns:a16="http://schemas.microsoft.com/office/drawing/2014/main" id="{580852BD-0610-0D4D-59CD-AF259ADAEB25}"/>
              </a:ext>
              <a:ext uri="{C183D7F6-B498-43B3-948B-1728B52AA6E4}">
                <adec:decorative xmlns:adec="http://schemas.microsoft.com/office/drawing/2017/decorative" val="1"/>
              </a:ext>
            </a:extLst>
          </p:cNvPr>
          <p:cNvGrpSpPr/>
          <p:nvPr/>
        </p:nvGrpSpPr>
        <p:grpSpPr>
          <a:xfrm>
            <a:off x="10238544" y="149467"/>
            <a:ext cx="1652467" cy="1756703"/>
            <a:chOff x="3785042" y="4793660"/>
            <a:chExt cx="1891083" cy="2010372"/>
          </a:xfrm>
        </p:grpSpPr>
        <p:pic>
          <p:nvPicPr>
            <p:cNvPr id="18" name="Graphic 18">
              <a:extLst>
                <a:ext uri="{FF2B5EF4-FFF2-40B4-BE49-F238E27FC236}">
                  <a16:creationId xmlns:a16="http://schemas.microsoft.com/office/drawing/2014/main" id="{B3532158-5E51-9C7C-4BB1-74202FA5E5B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85042" y="4909132"/>
              <a:ext cx="1882046" cy="1882044"/>
            </a:xfrm>
            <a:prstGeom prst="rect">
              <a:avLst/>
            </a:prstGeom>
          </p:spPr>
        </p:pic>
        <p:sp>
          <p:nvSpPr>
            <p:cNvPr id="19" name="Freeform: Shape 18">
              <a:extLst>
                <a:ext uri="{FF2B5EF4-FFF2-40B4-BE49-F238E27FC236}">
                  <a16:creationId xmlns:a16="http://schemas.microsoft.com/office/drawing/2014/main" id="{FBA8F023-CEE2-AFD4-F917-8C3C378F23AF}"/>
                </a:ext>
              </a:extLst>
            </p:cNvPr>
            <p:cNvSpPr/>
            <p:nvPr/>
          </p:nvSpPr>
          <p:spPr>
            <a:xfrm>
              <a:off x="3796168" y="4793660"/>
              <a:ext cx="1879957" cy="2010372"/>
            </a:xfrm>
            <a:custGeom>
              <a:avLst/>
              <a:gdLst>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524000 w 2170176"/>
                <a:gd name="connsiteY11" fmla="*/ 1987296 h 2194560"/>
                <a:gd name="connsiteX12" fmla="*/ 1298448 w 2170176"/>
                <a:gd name="connsiteY12" fmla="*/ 1792224 h 2194560"/>
                <a:gd name="connsiteX13" fmla="*/ 1298448 w 2170176"/>
                <a:gd name="connsiteY13" fmla="*/ 1353312 h 2194560"/>
                <a:gd name="connsiteX14" fmla="*/ 944880 w 2170176"/>
                <a:gd name="connsiteY14" fmla="*/ 1505712 h 2194560"/>
                <a:gd name="connsiteX15" fmla="*/ 701040 w 2170176"/>
                <a:gd name="connsiteY15"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023872 w 2170176"/>
                <a:gd name="connsiteY8" fmla="*/ 1914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1670304 w 2170176"/>
                <a:gd name="connsiteY9" fmla="*/ 1956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554480 w 2170176"/>
                <a:gd name="connsiteY10" fmla="*/ 199948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298448 w 2170176"/>
                <a:gd name="connsiteY12" fmla="*/ 135331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298448 w 2170176"/>
                <a:gd name="connsiteY11" fmla="*/ 179222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944880 w 2170176"/>
                <a:gd name="connsiteY13" fmla="*/ 1505712 h 2194560"/>
                <a:gd name="connsiteX14" fmla="*/ 701040 w 2170176"/>
                <a:gd name="connsiteY14" fmla="*/ 1719072 h 2194560"/>
                <a:gd name="connsiteX0" fmla="*/ 701040 w 2170176"/>
                <a:gd name="connsiteY0" fmla="*/ 171907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701040 w 2170176"/>
                <a:gd name="connsiteY14" fmla="*/ 171907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285240 w 2170176"/>
                <a:gd name="connsiteY13" fmla="*/ 1536192 h 2194560"/>
                <a:gd name="connsiteX14" fmla="*/ 1325880 w 2170176"/>
                <a:gd name="connsiteY14" fmla="*/ 1835912 h 2194560"/>
                <a:gd name="connsiteX0" fmla="*/ 1325880 w 2170176"/>
                <a:gd name="connsiteY0" fmla="*/ 183591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325880 w 2170176"/>
                <a:gd name="connsiteY14" fmla="*/ 1835912 h 2194560"/>
                <a:gd name="connsiteX0" fmla="*/ 1295400 w 2170176"/>
                <a:gd name="connsiteY0" fmla="*/ 1840992 h 2194560"/>
                <a:gd name="connsiteX1" fmla="*/ 701040 w 2170176"/>
                <a:gd name="connsiteY1" fmla="*/ 2194560 h 2194560"/>
                <a:gd name="connsiteX2" fmla="*/ 298704 w 2170176"/>
                <a:gd name="connsiteY2" fmla="*/ 1944624 h 2194560"/>
                <a:gd name="connsiteX3" fmla="*/ 0 w 2170176"/>
                <a:gd name="connsiteY3" fmla="*/ 1127760 h 2194560"/>
                <a:gd name="connsiteX4" fmla="*/ 323088 w 2170176"/>
                <a:gd name="connsiteY4" fmla="*/ 188976 h 2194560"/>
                <a:gd name="connsiteX5" fmla="*/ 1267968 w 2170176"/>
                <a:gd name="connsiteY5" fmla="*/ 0 h 2194560"/>
                <a:gd name="connsiteX6" fmla="*/ 2066544 w 2170176"/>
                <a:gd name="connsiteY6" fmla="*/ 140208 h 2194560"/>
                <a:gd name="connsiteX7" fmla="*/ 2170176 w 2170176"/>
                <a:gd name="connsiteY7" fmla="*/ 1213104 h 2194560"/>
                <a:gd name="connsiteX8" fmla="*/ 2115312 w 2170176"/>
                <a:gd name="connsiteY8" fmla="*/ 1406144 h 2194560"/>
                <a:gd name="connsiteX9" fmla="*/ 2051304 w 2170176"/>
                <a:gd name="connsiteY9" fmla="*/ 1321816 h 2194560"/>
                <a:gd name="connsiteX10" fmla="*/ 1793240 w 2170176"/>
                <a:gd name="connsiteY10" fmla="*/ 1400048 h 2194560"/>
                <a:gd name="connsiteX11" fmla="*/ 1547368 w 2170176"/>
                <a:gd name="connsiteY11" fmla="*/ 1223264 h 2194560"/>
                <a:gd name="connsiteX12" fmla="*/ 1476248 w 2170176"/>
                <a:gd name="connsiteY12" fmla="*/ 1129792 h 2194560"/>
                <a:gd name="connsiteX13" fmla="*/ 1325880 w 2170176"/>
                <a:gd name="connsiteY13" fmla="*/ 1505712 h 2194560"/>
                <a:gd name="connsiteX14" fmla="*/ 1295400 w 2170176"/>
                <a:gd name="connsiteY14" fmla="*/ 1840992 h 2194560"/>
                <a:gd name="connsiteX0" fmla="*/ 1295400 w 2170176"/>
                <a:gd name="connsiteY0" fmla="*/ 1840992 h 2133600"/>
                <a:gd name="connsiteX1" fmla="*/ 1706880 w 2170176"/>
                <a:gd name="connsiteY1" fmla="*/ 2133600 h 2133600"/>
                <a:gd name="connsiteX2" fmla="*/ 298704 w 2170176"/>
                <a:gd name="connsiteY2" fmla="*/ 1944624 h 2133600"/>
                <a:gd name="connsiteX3" fmla="*/ 0 w 2170176"/>
                <a:gd name="connsiteY3" fmla="*/ 1127760 h 2133600"/>
                <a:gd name="connsiteX4" fmla="*/ 323088 w 2170176"/>
                <a:gd name="connsiteY4" fmla="*/ 188976 h 2133600"/>
                <a:gd name="connsiteX5" fmla="*/ 1267968 w 2170176"/>
                <a:gd name="connsiteY5" fmla="*/ 0 h 2133600"/>
                <a:gd name="connsiteX6" fmla="*/ 2066544 w 2170176"/>
                <a:gd name="connsiteY6" fmla="*/ 140208 h 2133600"/>
                <a:gd name="connsiteX7" fmla="*/ 2170176 w 2170176"/>
                <a:gd name="connsiteY7" fmla="*/ 1213104 h 2133600"/>
                <a:gd name="connsiteX8" fmla="*/ 2115312 w 2170176"/>
                <a:gd name="connsiteY8" fmla="*/ 1406144 h 2133600"/>
                <a:gd name="connsiteX9" fmla="*/ 2051304 w 2170176"/>
                <a:gd name="connsiteY9" fmla="*/ 1321816 h 2133600"/>
                <a:gd name="connsiteX10" fmla="*/ 1793240 w 2170176"/>
                <a:gd name="connsiteY10" fmla="*/ 1400048 h 2133600"/>
                <a:gd name="connsiteX11" fmla="*/ 1547368 w 2170176"/>
                <a:gd name="connsiteY11" fmla="*/ 1223264 h 2133600"/>
                <a:gd name="connsiteX12" fmla="*/ 1476248 w 2170176"/>
                <a:gd name="connsiteY12" fmla="*/ 1129792 h 2133600"/>
                <a:gd name="connsiteX13" fmla="*/ 1325880 w 2170176"/>
                <a:gd name="connsiteY13" fmla="*/ 1505712 h 2133600"/>
                <a:gd name="connsiteX14" fmla="*/ 1295400 w 2170176"/>
                <a:gd name="connsiteY14" fmla="*/ 1840992 h 2133600"/>
                <a:gd name="connsiteX0" fmla="*/ 1295400 w 2170176"/>
                <a:gd name="connsiteY0" fmla="*/ 1840992 h 2133600"/>
                <a:gd name="connsiteX1" fmla="*/ 1706880 w 2170176"/>
                <a:gd name="connsiteY1" fmla="*/ 2133600 h 2133600"/>
                <a:gd name="connsiteX2" fmla="*/ 544618 w 2170176"/>
                <a:gd name="connsiteY2" fmla="*/ 1980519 h 2133600"/>
                <a:gd name="connsiteX3" fmla="*/ 298704 w 2170176"/>
                <a:gd name="connsiteY3" fmla="*/ 1944624 h 2133600"/>
                <a:gd name="connsiteX4" fmla="*/ 0 w 2170176"/>
                <a:gd name="connsiteY4" fmla="*/ 1127760 h 2133600"/>
                <a:gd name="connsiteX5" fmla="*/ 323088 w 2170176"/>
                <a:gd name="connsiteY5" fmla="*/ 188976 h 2133600"/>
                <a:gd name="connsiteX6" fmla="*/ 1267968 w 2170176"/>
                <a:gd name="connsiteY6" fmla="*/ 0 h 2133600"/>
                <a:gd name="connsiteX7" fmla="*/ 2066544 w 2170176"/>
                <a:gd name="connsiteY7" fmla="*/ 140208 h 2133600"/>
                <a:gd name="connsiteX8" fmla="*/ 2170176 w 2170176"/>
                <a:gd name="connsiteY8" fmla="*/ 1213104 h 2133600"/>
                <a:gd name="connsiteX9" fmla="*/ 2115312 w 2170176"/>
                <a:gd name="connsiteY9" fmla="*/ 1406144 h 2133600"/>
                <a:gd name="connsiteX10" fmla="*/ 2051304 w 2170176"/>
                <a:gd name="connsiteY10" fmla="*/ 1321816 h 2133600"/>
                <a:gd name="connsiteX11" fmla="*/ 1793240 w 2170176"/>
                <a:gd name="connsiteY11" fmla="*/ 1400048 h 2133600"/>
                <a:gd name="connsiteX12" fmla="*/ 1547368 w 2170176"/>
                <a:gd name="connsiteY12" fmla="*/ 1223264 h 2133600"/>
                <a:gd name="connsiteX13" fmla="*/ 1476248 w 2170176"/>
                <a:gd name="connsiteY13" fmla="*/ 1129792 h 2133600"/>
                <a:gd name="connsiteX14" fmla="*/ 1325880 w 2170176"/>
                <a:gd name="connsiteY14" fmla="*/ 1505712 h 2133600"/>
                <a:gd name="connsiteX15" fmla="*/ 1295400 w 2170176"/>
                <a:gd name="connsiteY15" fmla="*/ 1840992 h 2133600"/>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476248 w 2170176"/>
                <a:gd name="connsiteY13" fmla="*/ 1129792 h 2188799"/>
                <a:gd name="connsiteX14" fmla="*/ 1325880 w 2170176"/>
                <a:gd name="connsiteY14" fmla="*/ 1505712 h 2188799"/>
                <a:gd name="connsiteX15" fmla="*/ 1295400 w 2170176"/>
                <a:gd name="connsiteY15"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9324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51304 w 2170176"/>
                <a:gd name="connsiteY10" fmla="*/ 13218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115312 w 2170176"/>
                <a:gd name="connsiteY9" fmla="*/ 1406144 h 2188799"/>
                <a:gd name="connsiteX10" fmla="*/ 2081784 w 2170176"/>
                <a:gd name="connsiteY10" fmla="*/ 1347216 h 2188799"/>
                <a:gd name="connsiteX11" fmla="*/ 1747520 w 2170176"/>
                <a:gd name="connsiteY11" fmla="*/ 1400048 h 2188799"/>
                <a:gd name="connsiteX12" fmla="*/ 1547368 w 2170176"/>
                <a:gd name="connsiteY12" fmla="*/ 1223264 h 2188799"/>
                <a:gd name="connsiteX13" fmla="*/ 1325880 w 2170176"/>
                <a:gd name="connsiteY13" fmla="*/ 1505712 h 2188799"/>
                <a:gd name="connsiteX14" fmla="*/ 1295400 w 2170176"/>
                <a:gd name="connsiteY14"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4752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170176"/>
                <a:gd name="connsiteY0" fmla="*/ 1840992 h 2188799"/>
                <a:gd name="connsiteX1" fmla="*/ 1706880 w 2170176"/>
                <a:gd name="connsiteY1" fmla="*/ 2133600 h 2188799"/>
                <a:gd name="connsiteX2" fmla="*/ 839258 w 2170176"/>
                <a:gd name="connsiteY2" fmla="*/ 2188799 h 2188799"/>
                <a:gd name="connsiteX3" fmla="*/ 298704 w 2170176"/>
                <a:gd name="connsiteY3" fmla="*/ 1944624 h 2188799"/>
                <a:gd name="connsiteX4" fmla="*/ 0 w 2170176"/>
                <a:gd name="connsiteY4" fmla="*/ 1127760 h 2188799"/>
                <a:gd name="connsiteX5" fmla="*/ 323088 w 2170176"/>
                <a:gd name="connsiteY5" fmla="*/ 188976 h 2188799"/>
                <a:gd name="connsiteX6" fmla="*/ 1267968 w 2170176"/>
                <a:gd name="connsiteY6" fmla="*/ 0 h 2188799"/>
                <a:gd name="connsiteX7" fmla="*/ 2066544 w 2170176"/>
                <a:gd name="connsiteY7" fmla="*/ 140208 h 2188799"/>
                <a:gd name="connsiteX8" fmla="*/ 2170176 w 2170176"/>
                <a:gd name="connsiteY8" fmla="*/ 1213104 h 2188799"/>
                <a:gd name="connsiteX9" fmla="*/ 2081784 w 2170176"/>
                <a:gd name="connsiteY9" fmla="*/ 1347216 h 2188799"/>
                <a:gd name="connsiteX10" fmla="*/ 1783080 w 2170176"/>
                <a:gd name="connsiteY10" fmla="*/ 1400048 h 2188799"/>
                <a:gd name="connsiteX11" fmla="*/ 1547368 w 2170176"/>
                <a:gd name="connsiteY11" fmla="*/ 1223264 h 2188799"/>
                <a:gd name="connsiteX12" fmla="*/ 1325880 w 2170176"/>
                <a:gd name="connsiteY12" fmla="*/ 1505712 h 2188799"/>
                <a:gd name="connsiteX13" fmla="*/ 1295400 w 2170176"/>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2066544 w 2081784"/>
                <a:gd name="connsiteY7" fmla="*/ 14020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840992 h 2188799"/>
                <a:gd name="connsiteX1" fmla="*/ 1706880 w 2081784"/>
                <a:gd name="connsiteY1" fmla="*/ 2133600 h 2188799"/>
                <a:gd name="connsiteX2" fmla="*/ 839258 w 2081784"/>
                <a:gd name="connsiteY2" fmla="*/ 2188799 h 2188799"/>
                <a:gd name="connsiteX3" fmla="*/ 298704 w 2081784"/>
                <a:gd name="connsiteY3" fmla="*/ 1944624 h 2188799"/>
                <a:gd name="connsiteX4" fmla="*/ 0 w 2081784"/>
                <a:gd name="connsiteY4" fmla="*/ 1127760 h 2188799"/>
                <a:gd name="connsiteX5" fmla="*/ 323088 w 2081784"/>
                <a:gd name="connsiteY5" fmla="*/ 188976 h 2188799"/>
                <a:gd name="connsiteX6" fmla="*/ 1267968 w 2081784"/>
                <a:gd name="connsiteY6" fmla="*/ 0 h 2188799"/>
                <a:gd name="connsiteX7" fmla="*/ 1308354 w 2081784"/>
                <a:gd name="connsiteY7" fmla="*/ 121158 h 2188799"/>
                <a:gd name="connsiteX8" fmla="*/ 1872996 w 2081784"/>
                <a:gd name="connsiteY8" fmla="*/ 500634 h 2188799"/>
                <a:gd name="connsiteX9" fmla="*/ 2081784 w 2081784"/>
                <a:gd name="connsiteY9" fmla="*/ 1347216 h 2188799"/>
                <a:gd name="connsiteX10" fmla="*/ 1783080 w 2081784"/>
                <a:gd name="connsiteY10" fmla="*/ 1400048 h 2188799"/>
                <a:gd name="connsiteX11" fmla="*/ 1547368 w 2081784"/>
                <a:gd name="connsiteY11" fmla="*/ 1223264 h 2188799"/>
                <a:gd name="connsiteX12" fmla="*/ 1325880 w 2081784"/>
                <a:gd name="connsiteY12" fmla="*/ 1505712 h 2188799"/>
                <a:gd name="connsiteX13" fmla="*/ 1295400 w 2081784"/>
                <a:gd name="connsiteY13" fmla="*/ 1840992 h 218879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308354 w 2081784"/>
                <a:gd name="connsiteY7" fmla="*/ 3733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872996 w 2081784"/>
                <a:gd name="connsiteY8" fmla="*/ 41681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2081784"/>
                <a:gd name="connsiteY0" fmla="*/ 1757172 h 2104979"/>
                <a:gd name="connsiteX1" fmla="*/ 1706880 w 2081784"/>
                <a:gd name="connsiteY1" fmla="*/ 2049780 h 2104979"/>
                <a:gd name="connsiteX2" fmla="*/ 839258 w 2081784"/>
                <a:gd name="connsiteY2" fmla="*/ 2104979 h 2104979"/>
                <a:gd name="connsiteX3" fmla="*/ 298704 w 2081784"/>
                <a:gd name="connsiteY3" fmla="*/ 1860804 h 2104979"/>
                <a:gd name="connsiteX4" fmla="*/ 0 w 2081784"/>
                <a:gd name="connsiteY4" fmla="*/ 1043940 h 2104979"/>
                <a:gd name="connsiteX5" fmla="*/ 323088 w 2081784"/>
                <a:gd name="connsiteY5" fmla="*/ 105156 h 2104979"/>
                <a:gd name="connsiteX6" fmla="*/ 803148 w 2081784"/>
                <a:gd name="connsiteY6" fmla="*/ 0 h 2104979"/>
                <a:gd name="connsiteX7" fmla="*/ 1079754 w 2081784"/>
                <a:gd name="connsiteY7" fmla="*/ 44958 h 2104979"/>
                <a:gd name="connsiteX8" fmla="*/ 1232916 w 2081784"/>
                <a:gd name="connsiteY8" fmla="*/ 348234 h 2104979"/>
                <a:gd name="connsiteX9" fmla="*/ 2081784 w 2081784"/>
                <a:gd name="connsiteY9" fmla="*/ 1263396 h 2104979"/>
                <a:gd name="connsiteX10" fmla="*/ 1783080 w 2081784"/>
                <a:gd name="connsiteY10" fmla="*/ 1316228 h 2104979"/>
                <a:gd name="connsiteX11" fmla="*/ 1547368 w 2081784"/>
                <a:gd name="connsiteY11" fmla="*/ 1139444 h 2104979"/>
                <a:gd name="connsiteX12" fmla="*/ 1325880 w 2081784"/>
                <a:gd name="connsiteY12" fmla="*/ 1421892 h 2104979"/>
                <a:gd name="connsiteX13" fmla="*/ 1295400 w 2081784"/>
                <a:gd name="connsiteY13" fmla="*/ 1757172 h 2104979"/>
                <a:gd name="connsiteX0" fmla="*/ 1295400 w 1783080"/>
                <a:gd name="connsiteY0" fmla="*/ 1757172 h 2104979"/>
                <a:gd name="connsiteX1" fmla="*/ 1706880 w 1783080"/>
                <a:gd name="connsiteY1" fmla="*/ 2049780 h 2104979"/>
                <a:gd name="connsiteX2" fmla="*/ 839258 w 1783080"/>
                <a:gd name="connsiteY2" fmla="*/ 2104979 h 2104979"/>
                <a:gd name="connsiteX3" fmla="*/ 298704 w 1783080"/>
                <a:gd name="connsiteY3" fmla="*/ 1860804 h 2104979"/>
                <a:gd name="connsiteX4" fmla="*/ 0 w 1783080"/>
                <a:gd name="connsiteY4" fmla="*/ 1043940 h 2104979"/>
                <a:gd name="connsiteX5" fmla="*/ 323088 w 1783080"/>
                <a:gd name="connsiteY5" fmla="*/ 105156 h 2104979"/>
                <a:gd name="connsiteX6" fmla="*/ 803148 w 1783080"/>
                <a:gd name="connsiteY6" fmla="*/ 0 h 2104979"/>
                <a:gd name="connsiteX7" fmla="*/ 1079754 w 1783080"/>
                <a:gd name="connsiteY7" fmla="*/ 44958 h 2104979"/>
                <a:gd name="connsiteX8" fmla="*/ 1232916 w 1783080"/>
                <a:gd name="connsiteY8" fmla="*/ 348234 h 2104979"/>
                <a:gd name="connsiteX9" fmla="*/ 1068324 w 1783080"/>
                <a:gd name="connsiteY9" fmla="*/ 661416 h 2104979"/>
                <a:gd name="connsiteX10" fmla="*/ 1783080 w 1783080"/>
                <a:gd name="connsiteY10" fmla="*/ 1316228 h 2104979"/>
                <a:gd name="connsiteX11" fmla="*/ 1547368 w 1783080"/>
                <a:gd name="connsiteY11" fmla="*/ 1139444 h 2104979"/>
                <a:gd name="connsiteX12" fmla="*/ 1325880 w 1783080"/>
                <a:gd name="connsiteY12" fmla="*/ 1421892 h 2104979"/>
                <a:gd name="connsiteX13" fmla="*/ 1295400 w 1783080"/>
                <a:gd name="connsiteY13" fmla="*/ 1757172 h 2104979"/>
                <a:gd name="connsiteX0" fmla="*/ 1295400 w 1706880"/>
                <a:gd name="connsiteY0" fmla="*/ 1757172 h 2104979"/>
                <a:gd name="connsiteX1" fmla="*/ 1706880 w 1706880"/>
                <a:gd name="connsiteY1" fmla="*/ 2049780 h 2104979"/>
                <a:gd name="connsiteX2" fmla="*/ 839258 w 1706880"/>
                <a:gd name="connsiteY2" fmla="*/ 2104979 h 2104979"/>
                <a:gd name="connsiteX3" fmla="*/ 298704 w 1706880"/>
                <a:gd name="connsiteY3" fmla="*/ 1860804 h 2104979"/>
                <a:gd name="connsiteX4" fmla="*/ 0 w 1706880"/>
                <a:gd name="connsiteY4" fmla="*/ 1043940 h 2104979"/>
                <a:gd name="connsiteX5" fmla="*/ 323088 w 1706880"/>
                <a:gd name="connsiteY5" fmla="*/ 105156 h 2104979"/>
                <a:gd name="connsiteX6" fmla="*/ 803148 w 1706880"/>
                <a:gd name="connsiteY6" fmla="*/ 0 h 2104979"/>
                <a:gd name="connsiteX7" fmla="*/ 1079754 w 1706880"/>
                <a:gd name="connsiteY7" fmla="*/ 44958 h 2104979"/>
                <a:gd name="connsiteX8" fmla="*/ 1232916 w 1706880"/>
                <a:gd name="connsiteY8" fmla="*/ 348234 h 2104979"/>
                <a:gd name="connsiteX9" fmla="*/ 1068324 w 1706880"/>
                <a:gd name="connsiteY9" fmla="*/ 661416 h 2104979"/>
                <a:gd name="connsiteX10" fmla="*/ 1451610 w 1706880"/>
                <a:gd name="connsiteY10" fmla="*/ 779018 h 2104979"/>
                <a:gd name="connsiteX11" fmla="*/ 1547368 w 1706880"/>
                <a:gd name="connsiteY11" fmla="*/ 1139444 h 2104979"/>
                <a:gd name="connsiteX12" fmla="*/ 1325880 w 1706880"/>
                <a:gd name="connsiteY12" fmla="*/ 1421892 h 2104979"/>
                <a:gd name="connsiteX13" fmla="*/ 1295400 w 1706880"/>
                <a:gd name="connsiteY13" fmla="*/ 1757172 h 2104979"/>
                <a:gd name="connsiteX0" fmla="*/ 1295400 w 1734058"/>
                <a:gd name="connsiteY0" fmla="*/ 1757172 h 2104979"/>
                <a:gd name="connsiteX1" fmla="*/ 1706880 w 1734058"/>
                <a:gd name="connsiteY1" fmla="*/ 2049780 h 2104979"/>
                <a:gd name="connsiteX2" fmla="*/ 839258 w 1734058"/>
                <a:gd name="connsiteY2" fmla="*/ 2104979 h 2104979"/>
                <a:gd name="connsiteX3" fmla="*/ 298704 w 1734058"/>
                <a:gd name="connsiteY3" fmla="*/ 1860804 h 2104979"/>
                <a:gd name="connsiteX4" fmla="*/ 0 w 1734058"/>
                <a:gd name="connsiteY4" fmla="*/ 1043940 h 2104979"/>
                <a:gd name="connsiteX5" fmla="*/ 323088 w 1734058"/>
                <a:gd name="connsiteY5" fmla="*/ 105156 h 2104979"/>
                <a:gd name="connsiteX6" fmla="*/ 803148 w 1734058"/>
                <a:gd name="connsiteY6" fmla="*/ 0 h 2104979"/>
                <a:gd name="connsiteX7" fmla="*/ 1079754 w 1734058"/>
                <a:gd name="connsiteY7" fmla="*/ 44958 h 2104979"/>
                <a:gd name="connsiteX8" fmla="*/ 1232916 w 1734058"/>
                <a:gd name="connsiteY8" fmla="*/ 348234 h 2104979"/>
                <a:gd name="connsiteX9" fmla="*/ 1068324 w 1734058"/>
                <a:gd name="connsiteY9" fmla="*/ 661416 h 2104979"/>
                <a:gd name="connsiteX10" fmla="*/ 1451610 w 1734058"/>
                <a:gd name="connsiteY10" fmla="*/ 779018 h 2104979"/>
                <a:gd name="connsiteX11" fmla="*/ 1734058 w 1734058"/>
                <a:gd name="connsiteY11" fmla="*/ 720344 h 2104979"/>
                <a:gd name="connsiteX12" fmla="*/ 1325880 w 1734058"/>
                <a:gd name="connsiteY12" fmla="*/ 1421892 h 2104979"/>
                <a:gd name="connsiteX13" fmla="*/ 1295400 w 1734058"/>
                <a:gd name="connsiteY13" fmla="*/ 1757172 h 2104979"/>
                <a:gd name="connsiteX0" fmla="*/ 1295400 w 1996440"/>
                <a:gd name="connsiteY0" fmla="*/ 1757172 h 2104979"/>
                <a:gd name="connsiteX1" fmla="*/ 1706880 w 1996440"/>
                <a:gd name="connsiteY1" fmla="*/ 2049780 h 2104979"/>
                <a:gd name="connsiteX2" fmla="*/ 839258 w 1996440"/>
                <a:gd name="connsiteY2" fmla="*/ 2104979 h 2104979"/>
                <a:gd name="connsiteX3" fmla="*/ 298704 w 1996440"/>
                <a:gd name="connsiteY3" fmla="*/ 1860804 h 2104979"/>
                <a:gd name="connsiteX4" fmla="*/ 0 w 1996440"/>
                <a:gd name="connsiteY4" fmla="*/ 1043940 h 2104979"/>
                <a:gd name="connsiteX5" fmla="*/ 323088 w 1996440"/>
                <a:gd name="connsiteY5" fmla="*/ 105156 h 2104979"/>
                <a:gd name="connsiteX6" fmla="*/ 803148 w 1996440"/>
                <a:gd name="connsiteY6" fmla="*/ 0 h 2104979"/>
                <a:gd name="connsiteX7" fmla="*/ 1079754 w 1996440"/>
                <a:gd name="connsiteY7" fmla="*/ 44958 h 2104979"/>
                <a:gd name="connsiteX8" fmla="*/ 1232916 w 1996440"/>
                <a:gd name="connsiteY8" fmla="*/ 348234 h 2104979"/>
                <a:gd name="connsiteX9" fmla="*/ 1068324 w 1996440"/>
                <a:gd name="connsiteY9" fmla="*/ 661416 h 2104979"/>
                <a:gd name="connsiteX10" fmla="*/ 1451610 w 1996440"/>
                <a:gd name="connsiteY10" fmla="*/ 779018 h 2104979"/>
                <a:gd name="connsiteX11" fmla="*/ 1734058 w 1996440"/>
                <a:gd name="connsiteY11" fmla="*/ 720344 h 2104979"/>
                <a:gd name="connsiteX12" fmla="*/ 1996440 w 1996440"/>
                <a:gd name="connsiteY12" fmla="*/ 23622 h 2104979"/>
                <a:gd name="connsiteX13" fmla="*/ 1295400 w 1996440"/>
                <a:gd name="connsiteY13" fmla="*/ 1757172 h 2104979"/>
                <a:gd name="connsiteX0" fmla="*/ 2228850 w 2228850"/>
                <a:gd name="connsiteY0" fmla="*/ 1341882 h 2104979"/>
                <a:gd name="connsiteX1" fmla="*/ 1706880 w 2228850"/>
                <a:gd name="connsiteY1" fmla="*/ 204978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34058 w 2228850"/>
                <a:gd name="connsiteY11" fmla="*/ 720344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2228850 w 2228850"/>
                <a:gd name="connsiteY11" fmla="*/ 2104979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1996440 w 2228850"/>
                <a:gd name="connsiteY12" fmla="*/ 23622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51610 w 2228850"/>
                <a:gd name="connsiteY10" fmla="*/ 77901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068324 w 2228850"/>
                <a:gd name="connsiteY9" fmla="*/ 661416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232916 w 2228850"/>
                <a:gd name="connsiteY8" fmla="*/ 348234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1079754 w 2228850"/>
                <a:gd name="connsiteY7" fmla="*/ 44958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2228850 w 2228850"/>
                <a:gd name="connsiteY0" fmla="*/ 1341882 h 2104979"/>
                <a:gd name="connsiteX1" fmla="*/ 1604010 w 2228850"/>
                <a:gd name="connsiteY1" fmla="*/ 1962150 h 2104979"/>
                <a:gd name="connsiteX2" fmla="*/ 839258 w 2228850"/>
                <a:gd name="connsiteY2" fmla="*/ 2104979 h 2104979"/>
                <a:gd name="connsiteX3" fmla="*/ 298704 w 2228850"/>
                <a:gd name="connsiteY3" fmla="*/ 1860804 h 2104979"/>
                <a:gd name="connsiteX4" fmla="*/ 0 w 2228850"/>
                <a:gd name="connsiteY4" fmla="*/ 1043940 h 2104979"/>
                <a:gd name="connsiteX5" fmla="*/ 323088 w 2228850"/>
                <a:gd name="connsiteY5" fmla="*/ 105156 h 2104979"/>
                <a:gd name="connsiteX6" fmla="*/ 803148 w 2228850"/>
                <a:gd name="connsiteY6" fmla="*/ 0 h 2104979"/>
                <a:gd name="connsiteX7" fmla="*/ 2010082 w 2228850"/>
                <a:gd name="connsiteY7" fmla="*/ 112361 h 2104979"/>
                <a:gd name="connsiteX8" fmla="*/ 1748472 w 2228850"/>
                <a:gd name="connsiteY8" fmla="*/ 703163 h 2104979"/>
                <a:gd name="connsiteX9" fmla="*/ 1451981 w 2228850"/>
                <a:gd name="connsiteY9" fmla="*/ 783827 h 2104979"/>
                <a:gd name="connsiteX10" fmla="*/ 1495582 w 2228850"/>
                <a:gd name="connsiteY10" fmla="*/ 1095578 h 2104979"/>
                <a:gd name="connsiteX11" fmla="*/ 1755012 w 2228850"/>
                <a:gd name="connsiteY11" fmla="*/ 1317947 h 2104979"/>
                <a:gd name="connsiteX12" fmla="*/ 2092925 w 2228850"/>
                <a:gd name="connsiteY12" fmla="*/ 1252545 h 2104979"/>
                <a:gd name="connsiteX13" fmla="*/ 2228850 w 2228850"/>
                <a:gd name="connsiteY13" fmla="*/ 1341882 h 2104979"/>
                <a:gd name="connsiteX0" fmla="*/ 1313215 w 2092925"/>
                <a:gd name="connsiteY0" fmla="*/ 1753918 h 2104979"/>
                <a:gd name="connsiteX1" fmla="*/ 1604010 w 2092925"/>
                <a:gd name="connsiteY1" fmla="*/ 1962150 h 2104979"/>
                <a:gd name="connsiteX2" fmla="*/ 839258 w 2092925"/>
                <a:gd name="connsiteY2" fmla="*/ 2104979 h 2104979"/>
                <a:gd name="connsiteX3" fmla="*/ 298704 w 2092925"/>
                <a:gd name="connsiteY3" fmla="*/ 1860804 h 2104979"/>
                <a:gd name="connsiteX4" fmla="*/ 0 w 2092925"/>
                <a:gd name="connsiteY4" fmla="*/ 1043940 h 2104979"/>
                <a:gd name="connsiteX5" fmla="*/ 323088 w 2092925"/>
                <a:gd name="connsiteY5" fmla="*/ 105156 h 2104979"/>
                <a:gd name="connsiteX6" fmla="*/ 803148 w 2092925"/>
                <a:gd name="connsiteY6" fmla="*/ 0 h 2104979"/>
                <a:gd name="connsiteX7" fmla="*/ 2010082 w 2092925"/>
                <a:gd name="connsiteY7" fmla="*/ 112361 h 2104979"/>
                <a:gd name="connsiteX8" fmla="*/ 1748472 w 2092925"/>
                <a:gd name="connsiteY8" fmla="*/ 703163 h 2104979"/>
                <a:gd name="connsiteX9" fmla="*/ 1451981 w 2092925"/>
                <a:gd name="connsiteY9" fmla="*/ 783827 h 2104979"/>
                <a:gd name="connsiteX10" fmla="*/ 1495582 w 2092925"/>
                <a:gd name="connsiteY10" fmla="*/ 1095578 h 2104979"/>
                <a:gd name="connsiteX11" fmla="*/ 1755012 w 2092925"/>
                <a:gd name="connsiteY11" fmla="*/ 1317947 h 2104979"/>
                <a:gd name="connsiteX12" fmla="*/ 2092925 w 2092925"/>
                <a:gd name="connsiteY12" fmla="*/ 1252545 h 2104979"/>
                <a:gd name="connsiteX13" fmla="*/ 1313215 w 2092925"/>
                <a:gd name="connsiteY13" fmla="*/ 1753918 h 2104979"/>
                <a:gd name="connsiteX0" fmla="*/ 1313215 w 2010082"/>
                <a:gd name="connsiteY0" fmla="*/ 1753918 h 2104979"/>
                <a:gd name="connsiteX1" fmla="*/ 1604010 w 2010082"/>
                <a:gd name="connsiteY1" fmla="*/ 1962150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926581 w 2010082"/>
                <a:gd name="connsiteY12" fmla="*/ 1440032 h 2104979"/>
                <a:gd name="connsiteX13" fmla="*/ 1313215 w 2010082"/>
                <a:gd name="connsiteY13" fmla="*/ 1753918 h 2104979"/>
                <a:gd name="connsiteX0" fmla="*/ 1313215 w 2010082"/>
                <a:gd name="connsiteY0" fmla="*/ 1753918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926581 w 2010082"/>
                <a:gd name="connsiteY12" fmla="*/ 1440032 h 2104979"/>
                <a:gd name="connsiteX13" fmla="*/ 1313215 w 2010082"/>
                <a:gd name="connsiteY13" fmla="*/ 1753918 h 2104979"/>
                <a:gd name="connsiteX0" fmla="*/ 1313215 w 2010082"/>
                <a:gd name="connsiteY0" fmla="*/ 1753918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1290655 w 2010082"/>
                <a:gd name="connsiteY12" fmla="*/ 1435672 h 2104979"/>
                <a:gd name="connsiteX13" fmla="*/ 1313215 w 2010082"/>
                <a:gd name="connsiteY13" fmla="*/ 1753918 h 2104979"/>
                <a:gd name="connsiteX0" fmla="*/ 994923 w 2010082"/>
                <a:gd name="connsiteY0" fmla="*/ 1405105 h 2104979"/>
                <a:gd name="connsiteX1" fmla="*/ 716716 w 2010082"/>
                <a:gd name="connsiteY1" fmla="*/ 1632957 h 2104979"/>
                <a:gd name="connsiteX2" fmla="*/ 839258 w 2010082"/>
                <a:gd name="connsiteY2" fmla="*/ 2104979 h 2104979"/>
                <a:gd name="connsiteX3" fmla="*/ 298704 w 2010082"/>
                <a:gd name="connsiteY3" fmla="*/ 1860804 h 2104979"/>
                <a:gd name="connsiteX4" fmla="*/ 0 w 2010082"/>
                <a:gd name="connsiteY4" fmla="*/ 1043940 h 2104979"/>
                <a:gd name="connsiteX5" fmla="*/ 323088 w 2010082"/>
                <a:gd name="connsiteY5" fmla="*/ 105156 h 2104979"/>
                <a:gd name="connsiteX6" fmla="*/ 803148 w 2010082"/>
                <a:gd name="connsiteY6" fmla="*/ 0 h 2104979"/>
                <a:gd name="connsiteX7" fmla="*/ 2010082 w 2010082"/>
                <a:gd name="connsiteY7" fmla="*/ 112361 h 2104979"/>
                <a:gd name="connsiteX8" fmla="*/ 1748472 w 2010082"/>
                <a:gd name="connsiteY8" fmla="*/ 703163 h 2104979"/>
                <a:gd name="connsiteX9" fmla="*/ 1451981 w 2010082"/>
                <a:gd name="connsiteY9" fmla="*/ 783827 h 2104979"/>
                <a:gd name="connsiteX10" fmla="*/ 1495582 w 2010082"/>
                <a:gd name="connsiteY10" fmla="*/ 1095578 h 2104979"/>
                <a:gd name="connsiteX11" fmla="*/ 1755012 w 2010082"/>
                <a:gd name="connsiteY11" fmla="*/ 1317947 h 2104979"/>
                <a:gd name="connsiteX12" fmla="*/ 1290655 w 2010082"/>
                <a:gd name="connsiteY12" fmla="*/ 1435672 h 2104979"/>
                <a:gd name="connsiteX13" fmla="*/ 994923 w 2010082"/>
                <a:gd name="connsiteY13" fmla="*/ 1405105 h 2104979"/>
                <a:gd name="connsiteX0" fmla="*/ 994923 w 2010082"/>
                <a:gd name="connsiteY0" fmla="*/ 1405105 h 1967634"/>
                <a:gd name="connsiteX1" fmla="*/ 716716 w 2010082"/>
                <a:gd name="connsiteY1" fmla="*/ 1632957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755012 w 2010082"/>
                <a:gd name="connsiteY11" fmla="*/ 1317947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755012 w 2010082"/>
                <a:gd name="connsiteY11" fmla="*/ 1317947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495582 w 2010082"/>
                <a:gd name="connsiteY10" fmla="*/ 1095578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451981 w 2010082"/>
                <a:gd name="connsiteY9" fmla="*/ 783827 h 1967634"/>
                <a:gd name="connsiteX10" fmla="*/ 1558805 w 2010082"/>
                <a:gd name="connsiteY10" fmla="*/ 1932730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10082"/>
                <a:gd name="connsiteY0" fmla="*/ 1405105 h 1967634"/>
                <a:gd name="connsiteX1" fmla="*/ 692735 w 2010082"/>
                <a:gd name="connsiteY1" fmla="*/ 1643858 h 1967634"/>
                <a:gd name="connsiteX2" fmla="*/ 697553 w 2010082"/>
                <a:gd name="connsiteY2" fmla="*/ 1967634 h 1967634"/>
                <a:gd name="connsiteX3" fmla="*/ 298704 w 2010082"/>
                <a:gd name="connsiteY3" fmla="*/ 1860804 h 1967634"/>
                <a:gd name="connsiteX4" fmla="*/ 0 w 2010082"/>
                <a:gd name="connsiteY4" fmla="*/ 1043940 h 1967634"/>
                <a:gd name="connsiteX5" fmla="*/ 323088 w 2010082"/>
                <a:gd name="connsiteY5" fmla="*/ 105156 h 1967634"/>
                <a:gd name="connsiteX6" fmla="*/ 803148 w 2010082"/>
                <a:gd name="connsiteY6" fmla="*/ 0 h 1967634"/>
                <a:gd name="connsiteX7" fmla="*/ 2010082 w 2010082"/>
                <a:gd name="connsiteY7" fmla="*/ 112361 h 1967634"/>
                <a:gd name="connsiteX8" fmla="*/ 1748472 w 2010082"/>
                <a:gd name="connsiteY8" fmla="*/ 703163 h 1967634"/>
                <a:gd name="connsiteX9" fmla="*/ 1975201 w 2010082"/>
                <a:gd name="connsiteY9" fmla="*/ 1629699 h 1967634"/>
                <a:gd name="connsiteX10" fmla="*/ 1558805 w 2010082"/>
                <a:gd name="connsiteY10" fmla="*/ 1932730 h 1967634"/>
                <a:gd name="connsiteX11" fmla="*/ 1297195 w 2010082"/>
                <a:gd name="connsiteY11" fmla="*/ 1751784 h 1967634"/>
                <a:gd name="connsiteX12" fmla="*/ 1290655 w 2010082"/>
                <a:gd name="connsiteY12" fmla="*/ 1435672 h 1967634"/>
                <a:gd name="connsiteX13" fmla="*/ 994923 w 2010082"/>
                <a:gd name="connsiteY13" fmla="*/ 1405105 h 1967634"/>
                <a:gd name="connsiteX0" fmla="*/ 994923 w 2055864"/>
                <a:gd name="connsiteY0" fmla="*/ 1405105 h 1967634"/>
                <a:gd name="connsiteX1" fmla="*/ 692735 w 2055864"/>
                <a:gd name="connsiteY1" fmla="*/ 1643858 h 1967634"/>
                <a:gd name="connsiteX2" fmla="*/ 697553 w 2055864"/>
                <a:gd name="connsiteY2" fmla="*/ 1967634 h 1967634"/>
                <a:gd name="connsiteX3" fmla="*/ 298704 w 2055864"/>
                <a:gd name="connsiteY3" fmla="*/ 1860804 h 1967634"/>
                <a:gd name="connsiteX4" fmla="*/ 0 w 2055864"/>
                <a:gd name="connsiteY4" fmla="*/ 1043940 h 1967634"/>
                <a:gd name="connsiteX5" fmla="*/ 323088 w 2055864"/>
                <a:gd name="connsiteY5" fmla="*/ 105156 h 1967634"/>
                <a:gd name="connsiteX6" fmla="*/ 803148 w 2055864"/>
                <a:gd name="connsiteY6" fmla="*/ 0 h 1967634"/>
                <a:gd name="connsiteX7" fmla="*/ 2010082 w 2055864"/>
                <a:gd name="connsiteY7" fmla="*/ 112361 h 1967634"/>
                <a:gd name="connsiteX8" fmla="*/ 2055864 w 2055864"/>
                <a:gd name="connsiteY8" fmla="*/ 1283065 h 1967634"/>
                <a:gd name="connsiteX9" fmla="*/ 1975201 w 2055864"/>
                <a:gd name="connsiteY9" fmla="*/ 1629699 h 1967634"/>
                <a:gd name="connsiteX10" fmla="*/ 1558805 w 2055864"/>
                <a:gd name="connsiteY10" fmla="*/ 1932730 h 1967634"/>
                <a:gd name="connsiteX11" fmla="*/ 1297195 w 2055864"/>
                <a:gd name="connsiteY11" fmla="*/ 1751784 h 1967634"/>
                <a:gd name="connsiteX12" fmla="*/ 1290655 w 2055864"/>
                <a:gd name="connsiteY12" fmla="*/ 1435672 h 1967634"/>
                <a:gd name="connsiteX13" fmla="*/ 994923 w 2055864"/>
                <a:gd name="connsiteY13"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98704 w 2060224"/>
                <a:gd name="connsiteY3" fmla="*/ 1860804 h 1967634"/>
                <a:gd name="connsiteX4" fmla="*/ 0 w 2060224"/>
                <a:gd name="connsiteY4" fmla="*/ 1043940 h 1967634"/>
                <a:gd name="connsiteX5" fmla="*/ 323088 w 2060224"/>
                <a:gd name="connsiteY5" fmla="*/ 105156 h 1967634"/>
                <a:gd name="connsiteX6" fmla="*/ 803148 w 2060224"/>
                <a:gd name="connsiteY6" fmla="*/ 0 h 1967634"/>
                <a:gd name="connsiteX7" fmla="*/ 2060224 w 2060224"/>
                <a:gd name="connsiteY7" fmla="*/ 709703 h 1967634"/>
                <a:gd name="connsiteX8" fmla="*/ 2055864 w 2060224"/>
                <a:gd name="connsiteY8" fmla="*/ 1283065 h 1967634"/>
                <a:gd name="connsiteX9" fmla="*/ 1975201 w 2060224"/>
                <a:gd name="connsiteY9" fmla="*/ 1629699 h 1967634"/>
                <a:gd name="connsiteX10" fmla="*/ 1558805 w 2060224"/>
                <a:gd name="connsiteY10" fmla="*/ 1932730 h 1967634"/>
                <a:gd name="connsiteX11" fmla="*/ 1297195 w 2060224"/>
                <a:gd name="connsiteY11" fmla="*/ 1751784 h 1967634"/>
                <a:gd name="connsiteX12" fmla="*/ 1290655 w 2060224"/>
                <a:gd name="connsiteY12" fmla="*/ 1435672 h 1967634"/>
                <a:gd name="connsiteX13" fmla="*/ 994923 w 2060224"/>
                <a:gd name="connsiteY13"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98704 w 2060224"/>
                <a:gd name="connsiteY3" fmla="*/ 1860804 h 1967634"/>
                <a:gd name="connsiteX4" fmla="*/ 0 w 2060224"/>
                <a:gd name="connsiteY4" fmla="*/ 1043940 h 1967634"/>
                <a:gd name="connsiteX5" fmla="*/ 323088 w 2060224"/>
                <a:gd name="connsiteY5" fmla="*/ 105156 h 1967634"/>
                <a:gd name="connsiteX6" fmla="*/ 803148 w 2060224"/>
                <a:gd name="connsiteY6" fmla="*/ 0 h 1967634"/>
                <a:gd name="connsiteX7" fmla="*/ 1781172 w 2060224"/>
                <a:gd name="connsiteY7" fmla="*/ 136342 h 1967634"/>
                <a:gd name="connsiteX8" fmla="*/ 2060224 w 2060224"/>
                <a:gd name="connsiteY8" fmla="*/ 709703 h 1967634"/>
                <a:gd name="connsiteX9" fmla="*/ 2055864 w 2060224"/>
                <a:gd name="connsiteY9" fmla="*/ 1283065 h 1967634"/>
                <a:gd name="connsiteX10" fmla="*/ 1975201 w 2060224"/>
                <a:gd name="connsiteY10" fmla="*/ 1629699 h 1967634"/>
                <a:gd name="connsiteX11" fmla="*/ 1558805 w 2060224"/>
                <a:gd name="connsiteY11" fmla="*/ 1932730 h 1967634"/>
                <a:gd name="connsiteX12" fmla="*/ 1297195 w 2060224"/>
                <a:gd name="connsiteY12" fmla="*/ 1751784 h 1967634"/>
                <a:gd name="connsiteX13" fmla="*/ 1290655 w 2060224"/>
                <a:gd name="connsiteY13" fmla="*/ 1435672 h 1967634"/>
                <a:gd name="connsiteX14" fmla="*/ 994923 w 2060224"/>
                <a:gd name="connsiteY14" fmla="*/ 1405105 h 1967634"/>
                <a:gd name="connsiteX0" fmla="*/ 994923 w 2060224"/>
                <a:gd name="connsiteY0" fmla="*/ 1405105 h 1967634"/>
                <a:gd name="connsiteX1" fmla="*/ 692735 w 2060224"/>
                <a:gd name="connsiteY1" fmla="*/ 1643858 h 1967634"/>
                <a:gd name="connsiteX2" fmla="*/ 697553 w 2060224"/>
                <a:gd name="connsiteY2" fmla="*/ 1967634 h 1967634"/>
                <a:gd name="connsiteX3" fmla="*/ 214408 w 2060224"/>
                <a:gd name="connsiteY3" fmla="*/ 1724186 h 1967634"/>
                <a:gd name="connsiteX4" fmla="*/ 0 w 2060224"/>
                <a:gd name="connsiteY4" fmla="*/ 1043940 h 1967634"/>
                <a:gd name="connsiteX5" fmla="*/ 323088 w 2060224"/>
                <a:gd name="connsiteY5" fmla="*/ 105156 h 1967634"/>
                <a:gd name="connsiteX6" fmla="*/ 803148 w 2060224"/>
                <a:gd name="connsiteY6" fmla="*/ 0 h 1967634"/>
                <a:gd name="connsiteX7" fmla="*/ 1781172 w 2060224"/>
                <a:gd name="connsiteY7" fmla="*/ 136342 h 1967634"/>
                <a:gd name="connsiteX8" fmla="*/ 2060224 w 2060224"/>
                <a:gd name="connsiteY8" fmla="*/ 709703 h 1967634"/>
                <a:gd name="connsiteX9" fmla="*/ 2055864 w 2060224"/>
                <a:gd name="connsiteY9" fmla="*/ 1283065 h 1967634"/>
                <a:gd name="connsiteX10" fmla="*/ 1975201 w 2060224"/>
                <a:gd name="connsiteY10" fmla="*/ 1629699 h 1967634"/>
                <a:gd name="connsiteX11" fmla="*/ 1558805 w 2060224"/>
                <a:gd name="connsiteY11" fmla="*/ 1932730 h 1967634"/>
                <a:gd name="connsiteX12" fmla="*/ 1297195 w 2060224"/>
                <a:gd name="connsiteY12" fmla="*/ 1751784 h 1967634"/>
                <a:gd name="connsiteX13" fmla="*/ 1290655 w 2060224"/>
                <a:gd name="connsiteY13" fmla="*/ 1435672 h 1967634"/>
                <a:gd name="connsiteX14" fmla="*/ 994923 w 2060224"/>
                <a:gd name="connsiteY14" fmla="*/ 1405105 h 1967634"/>
                <a:gd name="connsiteX0" fmla="*/ 780515 w 1845816"/>
                <a:gd name="connsiteY0" fmla="*/ 1405105 h 1967634"/>
                <a:gd name="connsiteX1" fmla="*/ 478327 w 1845816"/>
                <a:gd name="connsiteY1" fmla="*/ 1643858 h 1967634"/>
                <a:gd name="connsiteX2" fmla="*/ 483145 w 1845816"/>
                <a:gd name="connsiteY2" fmla="*/ 1967634 h 1967634"/>
                <a:gd name="connsiteX3" fmla="*/ 0 w 1845816"/>
                <a:gd name="connsiteY3" fmla="*/ 1724186 h 1967634"/>
                <a:gd name="connsiteX4" fmla="*/ 102431 w 1845816"/>
                <a:gd name="connsiteY4" fmla="*/ 459678 h 1967634"/>
                <a:gd name="connsiteX5" fmla="*/ 108680 w 1845816"/>
                <a:gd name="connsiteY5" fmla="*/ 105156 h 1967634"/>
                <a:gd name="connsiteX6" fmla="*/ 588740 w 1845816"/>
                <a:gd name="connsiteY6" fmla="*/ 0 h 1967634"/>
                <a:gd name="connsiteX7" fmla="*/ 1566764 w 1845816"/>
                <a:gd name="connsiteY7" fmla="*/ 136342 h 1967634"/>
                <a:gd name="connsiteX8" fmla="*/ 1845816 w 1845816"/>
                <a:gd name="connsiteY8" fmla="*/ 709703 h 1967634"/>
                <a:gd name="connsiteX9" fmla="*/ 1841456 w 1845816"/>
                <a:gd name="connsiteY9" fmla="*/ 1283065 h 1967634"/>
                <a:gd name="connsiteX10" fmla="*/ 1760793 w 1845816"/>
                <a:gd name="connsiteY10" fmla="*/ 1629699 h 1967634"/>
                <a:gd name="connsiteX11" fmla="*/ 1344397 w 1845816"/>
                <a:gd name="connsiteY11" fmla="*/ 1932730 h 1967634"/>
                <a:gd name="connsiteX12" fmla="*/ 1082787 w 1845816"/>
                <a:gd name="connsiteY12" fmla="*/ 1751784 h 1967634"/>
                <a:gd name="connsiteX13" fmla="*/ 1076247 w 1845816"/>
                <a:gd name="connsiteY13" fmla="*/ 1435672 h 1967634"/>
                <a:gd name="connsiteX14" fmla="*/ 780515 w 1845816"/>
                <a:gd name="connsiteY14" fmla="*/ 1405105 h 1967634"/>
                <a:gd name="connsiteX0" fmla="*/ 678084 w 1743385"/>
                <a:gd name="connsiteY0" fmla="*/ 1405105 h 1967634"/>
                <a:gd name="connsiteX1" fmla="*/ 375896 w 1743385"/>
                <a:gd name="connsiteY1" fmla="*/ 1643858 h 1967634"/>
                <a:gd name="connsiteX2" fmla="*/ 380714 w 1743385"/>
                <a:gd name="connsiteY2" fmla="*/ 1967634 h 1967634"/>
                <a:gd name="connsiteX3" fmla="*/ 316145 w 1743385"/>
                <a:gd name="connsiteY3" fmla="*/ 514966 h 1967634"/>
                <a:gd name="connsiteX4" fmla="*/ 0 w 1743385"/>
                <a:gd name="connsiteY4" fmla="*/ 459678 h 1967634"/>
                <a:gd name="connsiteX5" fmla="*/ 6249 w 1743385"/>
                <a:gd name="connsiteY5" fmla="*/ 105156 h 1967634"/>
                <a:gd name="connsiteX6" fmla="*/ 486309 w 1743385"/>
                <a:gd name="connsiteY6" fmla="*/ 0 h 1967634"/>
                <a:gd name="connsiteX7" fmla="*/ 1464333 w 1743385"/>
                <a:gd name="connsiteY7" fmla="*/ 136342 h 1967634"/>
                <a:gd name="connsiteX8" fmla="*/ 1743385 w 1743385"/>
                <a:gd name="connsiteY8" fmla="*/ 709703 h 1967634"/>
                <a:gd name="connsiteX9" fmla="*/ 1739025 w 1743385"/>
                <a:gd name="connsiteY9" fmla="*/ 1283065 h 1967634"/>
                <a:gd name="connsiteX10" fmla="*/ 1658362 w 1743385"/>
                <a:gd name="connsiteY10" fmla="*/ 1629699 h 1967634"/>
                <a:gd name="connsiteX11" fmla="*/ 1241966 w 1743385"/>
                <a:gd name="connsiteY11" fmla="*/ 1932730 h 1967634"/>
                <a:gd name="connsiteX12" fmla="*/ 980356 w 1743385"/>
                <a:gd name="connsiteY12" fmla="*/ 1751784 h 1967634"/>
                <a:gd name="connsiteX13" fmla="*/ 973816 w 1743385"/>
                <a:gd name="connsiteY13" fmla="*/ 1435672 h 1967634"/>
                <a:gd name="connsiteX14" fmla="*/ 678084 w 1743385"/>
                <a:gd name="connsiteY14" fmla="*/ 1405105 h 1967634"/>
                <a:gd name="connsiteX0" fmla="*/ 678084 w 1743385"/>
                <a:gd name="connsiteY0" fmla="*/ 1405105 h 1932730"/>
                <a:gd name="connsiteX1" fmla="*/ 375896 w 1743385"/>
                <a:gd name="connsiteY1" fmla="*/ 1643858 h 1932730"/>
                <a:gd name="connsiteX2" fmla="*/ 465011 w 1743385"/>
                <a:gd name="connsiteY2" fmla="*/ 848525 h 1932730"/>
                <a:gd name="connsiteX3" fmla="*/ 316145 w 1743385"/>
                <a:gd name="connsiteY3" fmla="*/ 514966 h 1932730"/>
                <a:gd name="connsiteX4" fmla="*/ 0 w 1743385"/>
                <a:gd name="connsiteY4" fmla="*/ 459678 h 1932730"/>
                <a:gd name="connsiteX5" fmla="*/ 6249 w 1743385"/>
                <a:gd name="connsiteY5" fmla="*/ 105156 h 1932730"/>
                <a:gd name="connsiteX6" fmla="*/ 486309 w 1743385"/>
                <a:gd name="connsiteY6" fmla="*/ 0 h 1932730"/>
                <a:gd name="connsiteX7" fmla="*/ 1464333 w 1743385"/>
                <a:gd name="connsiteY7" fmla="*/ 136342 h 1932730"/>
                <a:gd name="connsiteX8" fmla="*/ 1743385 w 1743385"/>
                <a:gd name="connsiteY8" fmla="*/ 709703 h 1932730"/>
                <a:gd name="connsiteX9" fmla="*/ 1739025 w 1743385"/>
                <a:gd name="connsiteY9" fmla="*/ 1283065 h 1932730"/>
                <a:gd name="connsiteX10" fmla="*/ 1658362 w 1743385"/>
                <a:gd name="connsiteY10" fmla="*/ 1629699 h 1932730"/>
                <a:gd name="connsiteX11" fmla="*/ 1241966 w 1743385"/>
                <a:gd name="connsiteY11" fmla="*/ 1932730 h 1932730"/>
                <a:gd name="connsiteX12" fmla="*/ 980356 w 1743385"/>
                <a:gd name="connsiteY12" fmla="*/ 1751784 h 1932730"/>
                <a:gd name="connsiteX13" fmla="*/ 973816 w 1743385"/>
                <a:gd name="connsiteY13" fmla="*/ 1435672 h 1932730"/>
                <a:gd name="connsiteX14" fmla="*/ 678084 w 1743385"/>
                <a:gd name="connsiteY14" fmla="*/ 1405105 h 1932730"/>
                <a:gd name="connsiteX0" fmla="*/ 678084 w 1743385"/>
                <a:gd name="connsiteY0" fmla="*/ 1405105 h 1932730"/>
                <a:gd name="connsiteX1" fmla="*/ 361363 w 1743385"/>
                <a:gd name="connsiteY1" fmla="*/ 1164240 h 1932730"/>
                <a:gd name="connsiteX2" fmla="*/ 465011 w 1743385"/>
                <a:gd name="connsiteY2" fmla="*/ 848525 h 1932730"/>
                <a:gd name="connsiteX3" fmla="*/ 316145 w 1743385"/>
                <a:gd name="connsiteY3" fmla="*/ 514966 h 1932730"/>
                <a:gd name="connsiteX4" fmla="*/ 0 w 1743385"/>
                <a:gd name="connsiteY4" fmla="*/ 459678 h 1932730"/>
                <a:gd name="connsiteX5" fmla="*/ 6249 w 1743385"/>
                <a:gd name="connsiteY5" fmla="*/ 105156 h 1932730"/>
                <a:gd name="connsiteX6" fmla="*/ 486309 w 1743385"/>
                <a:gd name="connsiteY6" fmla="*/ 0 h 1932730"/>
                <a:gd name="connsiteX7" fmla="*/ 1464333 w 1743385"/>
                <a:gd name="connsiteY7" fmla="*/ 136342 h 1932730"/>
                <a:gd name="connsiteX8" fmla="*/ 1743385 w 1743385"/>
                <a:gd name="connsiteY8" fmla="*/ 709703 h 1932730"/>
                <a:gd name="connsiteX9" fmla="*/ 1739025 w 1743385"/>
                <a:gd name="connsiteY9" fmla="*/ 1283065 h 1932730"/>
                <a:gd name="connsiteX10" fmla="*/ 1658362 w 1743385"/>
                <a:gd name="connsiteY10" fmla="*/ 1629699 h 1932730"/>
                <a:gd name="connsiteX11" fmla="*/ 1241966 w 1743385"/>
                <a:gd name="connsiteY11" fmla="*/ 1932730 h 1932730"/>
                <a:gd name="connsiteX12" fmla="*/ 980356 w 1743385"/>
                <a:gd name="connsiteY12" fmla="*/ 1751784 h 1932730"/>
                <a:gd name="connsiteX13" fmla="*/ 973816 w 1743385"/>
                <a:gd name="connsiteY13" fmla="*/ 1435672 h 1932730"/>
                <a:gd name="connsiteX14" fmla="*/ 678084 w 1743385"/>
                <a:gd name="connsiteY14" fmla="*/ 1405105 h 1932730"/>
                <a:gd name="connsiteX0" fmla="*/ 99636 w 1743385"/>
                <a:gd name="connsiteY0" fmla="*/ 1358597 h 1932730"/>
                <a:gd name="connsiteX1" fmla="*/ 361363 w 1743385"/>
                <a:gd name="connsiteY1" fmla="*/ 1164240 h 1932730"/>
                <a:gd name="connsiteX2" fmla="*/ 465011 w 1743385"/>
                <a:gd name="connsiteY2" fmla="*/ 848525 h 1932730"/>
                <a:gd name="connsiteX3" fmla="*/ 316145 w 1743385"/>
                <a:gd name="connsiteY3" fmla="*/ 514966 h 1932730"/>
                <a:gd name="connsiteX4" fmla="*/ 0 w 1743385"/>
                <a:gd name="connsiteY4" fmla="*/ 459678 h 1932730"/>
                <a:gd name="connsiteX5" fmla="*/ 6249 w 1743385"/>
                <a:gd name="connsiteY5" fmla="*/ 105156 h 1932730"/>
                <a:gd name="connsiteX6" fmla="*/ 486309 w 1743385"/>
                <a:gd name="connsiteY6" fmla="*/ 0 h 1932730"/>
                <a:gd name="connsiteX7" fmla="*/ 1464333 w 1743385"/>
                <a:gd name="connsiteY7" fmla="*/ 136342 h 1932730"/>
                <a:gd name="connsiteX8" fmla="*/ 1743385 w 1743385"/>
                <a:gd name="connsiteY8" fmla="*/ 709703 h 1932730"/>
                <a:gd name="connsiteX9" fmla="*/ 1739025 w 1743385"/>
                <a:gd name="connsiteY9" fmla="*/ 1283065 h 1932730"/>
                <a:gd name="connsiteX10" fmla="*/ 1658362 w 1743385"/>
                <a:gd name="connsiteY10" fmla="*/ 1629699 h 1932730"/>
                <a:gd name="connsiteX11" fmla="*/ 1241966 w 1743385"/>
                <a:gd name="connsiteY11" fmla="*/ 1932730 h 1932730"/>
                <a:gd name="connsiteX12" fmla="*/ 980356 w 1743385"/>
                <a:gd name="connsiteY12" fmla="*/ 1751784 h 1932730"/>
                <a:gd name="connsiteX13" fmla="*/ 973816 w 1743385"/>
                <a:gd name="connsiteY13" fmla="*/ 1435672 h 1932730"/>
                <a:gd name="connsiteX14" fmla="*/ 99636 w 1743385"/>
                <a:gd name="connsiteY14" fmla="*/ 1358597 h 1932730"/>
                <a:gd name="connsiteX0" fmla="*/ 79289 w 1743385"/>
                <a:gd name="connsiteY0" fmla="*/ 1091173 h 1932730"/>
                <a:gd name="connsiteX1" fmla="*/ 361363 w 1743385"/>
                <a:gd name="connsiteY1" fmla="*/ 1164240 h 1932730"/>
                <a:gd name="connsiteX2" fmla="*/ 465011 w 1743385"/>
                <a:gd name="connsiteY2" fmla="*/ 848525 h 1932730"/>
                <a:gd name="connsiteX3" fmla="*/ 316145 w 1743385"/>
                <a:gd name="connsiteY3" fmla="*/ 514966 h 1932730"/>
                <a:gd name="connsiteX4" fmla="*/ 0 w 1743385"/>
                <a:gd name="connsiteY4" fmla="*/ 459678 h 1932730"/>
                <a:gd name="connsiteX5" fmla="*/ 6249 w 1743385"/>
                <a:gd name="connsiteY5" fmla="*/ 105156 h 1932730"/>
                <a:gd name="connsiteX6" fmla="*/ 486309 w 1743385"/>
                <a:gd name="connsiteY6" fmla="*/ 0 h 1932730"/>
                <a:gd name="connsiteX7" fmla="*/ 1464333 w 1743385"/>
                <a:gd name="connsiteY7" fmla="*/ 136342 h 1932730"/>
                <a:gd name="connsiteX8" fmla="*/ 1743385 w 1743385"/>
                <a:gd name="connsiteY8" fmla="*/ 709703 h 1932730"/>
                <a:gd name="connsiteX9" fmla="*/ 1739025 w 1743385"/>
                <a:gd name="connsiteY9" fmla="*/ 1283065 h 1932730"/>
                <a:gd name="connsiteX10" fmla="*/ 1658362 w 1743385"/>
                <a:gd name="connsiteY10" fmla="*/ 1629699 h 1932730"/>
                <a:gd name="connsiteX11" fmla="*/ 1241966 w 1743385"/>
                <a:gd name="connsiteY11" fmla="*/ 1932730 h 1932730"/>
                <a:gd name="connsiteX12" fmla="*/ 980356 w 1743385"/>
                <a:gd name="connsiteY12" fmla="*/ 1751784 h 1932730"/>
                <a:gd name="connsiteX13" fmla="*/ 973816 w 1743385"/>
                <a:gd name="connsiteY13" fmla="*/ 1435672 h 1932730"/>
                <a:gd name="connsiteX14" fmla="*/ 79289 w 1743385"/>
                <a:gd name="connsiteY14" fmla="*/ 1091173 h 1932730"/>
                <a:gd name="connsiteX0" fmla="*/ 215862 w 1879958"/>
                <a:gd name="connsiteY0" fmla="*/ 1091173 h 1932730"/>
                <a:gd name="connsiteX1" fmla="*/ 497936 w 1879958"/>
                <a:gd name="connsiteY1" fmla="*/ 1164240 h 1932730"/>
                <a:gd name="connsiteX2" fmla="*/ 601584 w 1879958"/>
                <a:gd name="connsiteY2" fmla="*/ 848525 h 1932730"/>
                <a:gd name="connsiteX3" fmla="*/ 452718 w 1879958"/>
                <a:gd name="connsiteY3" fmla="*/ 514966 h 1932730"/>
                <a:gd name="connsiteX4" fmla="*/ 136573 w 1879958"/>
                <a:gd name="connsiteY4" fmla="*/ 459678 h 1932730"/>
                <a:gd name="connsiteX5" fmla="*/ 142822 w 1879958"/>
                <a:gd name="connsiteY5" fmla="*/ 105156 h 1932730"/>
                <a:gd name="connsiteX6" fmla="*/ 622882 w 1879958"/>
                <a:gd name="connsiteY6" fmla="*/ 0 h 1932730"/>
                <a:gd name="connsiteX7" fmla="*/ 1600906 w 1879958"/>
                <a:gd name="connsiteY7" fmla="*/ 136342 h 1932730"/>
                <a:gd name="connsiteX8" fmla="*/ 1879958 w 1879958"/>
                <a:gd name="connsiteY8" fmla="*/ 709703 h 1932730"/>
                <a:gd name="connsiteX9" fmla="*/ 1875598 w 1879958"/>
                <a:gd name="connsiteY9" fmla="*/ 1283065 h 1932730"/>
                <a:gd name="connsiteX10" fmla="*/ 1794935 w 1879958"/>
                <a:gd name="connsiteY10" fmla="*/ 1629699 h 1932730"/>
                <a:gd name="connsiteX11" fmla="*/ 1378539 w 1879958"/>
                <a:gd name="connsiteY11" fmla="*/ 1932730 h 1932730"/>
                <a:gd name="connsiteX12" fmla="*/ 1116929 w 1879958"/>
                <a:gd name="connsiteY12" fmla="*/ 1751784 h 1932730"/>
                <a:gd name="connsiteX13" fmla="*/ 0 w 1879958"/>
                <a:gd name="connsiteY13" fmla="*/ 1275799 h 1932730"/>
                <a:gd name="connsiteX14" fmla="*/ 215862 w 1879958"/>
                <a:gd name="connsiteY14" fmla="*/ 1091173 h 1932730"/>
                <a:gd name="connsiteX0" fmla="*/ 215862 w 1879958"/>
                <a:gd name="connsiteY0" fmla="*/ 1091173 h 1932730"/>
                <a:gd name="connsiteX1" fmla="*/ 497936 w 1879958"/>
                <a:gd name="connsiteY1" fmla="*/ 1164240 h 1932730"/>
                <a:gd name="connsiteX2" fmla="*/ 601584 w 1879958"/>
                <a:gd name="connsiteY2" fmla="*/ 848525 h 1932730"/>
                <a:gd name="connsiteX3" fmla="*/ 452718 w 1879958"/>
                <a:gd name="connsiteY3" fmla="*/ 514966 h 1932730"/>
                <a:gd name="connsiteX4" fmla="*/ 136573 w 1879958"/>
                <a:gd name="connsiteY4" fmla="*/ 459678 h 1932730"/>
                <a:gd name="connsiteX5" fmla="*/ 142822 w 1879958"/>
                <a:gd name="connsiteY5" fmla="*/ 105156 h 1932730"/>
                <a:gd name="connsiteX6" fmla="*/ 622882 w 1879958"/>
                <a:gd name="connsiteY6" fmla="*/ 0 h 1932730"/>
                <a:gd name="connsiteX7" fmla="*/ 1600906 w 1879958"/>
                <a:gd name="connsiteY7" fmla="*/ 136342 h 1932730"/>
                <a:gd name="connsiteX8" fmla="*/ 1879958 w 1879958"/>
                <a:gd name="connsiteY8" fmla="*/ 709703 h 1932730"/>
                <a:gd name="connsiteX9" fmla="*/ 1875598 w 1879958"/>
                <a:gd name="connsiteY9" fmla="*/ 1283065 h 1932730"/>
                <a:gd name="connsiteX10" fmla="*/ 1794935 w 1879958"/>
                <a:gd name="connsiteY10" fmla="*/ 1629699 h 1932730"/>
                <a:gd name="connsiteX11" fmla="*/ 1378539 w 1879958"/>
                <a:gd name="connsiteY11" fmla="*/ 1932730 h 1932730"/>
                <a:gd name="connsiteX12" fmla="*/ 140252 w 1879958"/>
                <a:gd name="connsiteY12" fmla="*/ 1769225 h 1932730"/>
                <a:gd name="connsiteX13" fmla="*/ 0 w 1879958"/>
                <a:gd name="connsiteY13" fmla="*/ 1275799 h 1932730"/>
                <a:gd name="connsiteX14" fmla="*/ 215862 w 1879958"/>
                <a:gd name="connsiteY14" fmla="*/ 1091173 h 1932730"/>
                <a:gd name="connsiteX0" fmla="*/ 215862 w 1879958"/>
                <a:gd name="connsiteY0" fmla="*/ 1091173 h 1976701"/>
                <a:gd name="connsiteX1" fmla="*/ 497936 w 1879958"/>
                <a:gd name="connsiteY1" fmla="*/ 1164240 h 1976701"/>
                <a:gd name="connsiteX2" fmla="*/ 601584 w 1879958"/>
                <a:gd name="connsiteY2" fmla="*/ 848525 h 1976701"/>
                <a:gd name="connsiteX3" fmla="*/ 452718 w 1879958"/>
                <a:gd name="connsiteY3" fmla="*/ 514966 h 1976701"/>
                <a:gd name="connsiteX4" fmla="*/ 136573 w 1879958"/>
                <a:gd name="connsiteY4" fmla="*/ 459678 h 1976701"/>
                <a:gd name="connsiteX5" fmla="*/ 142822 w 1879958"/>
                <a:gd name="connsiteY5" fmla="*/ 105156 h 1976701"/>
                <a:gd name="connsiteX6" fmla="*/ 622882 w 1879958"/>
                <a:gd name="connsiteY6" fmla="*/ 0 h 1976701"/>
                <a:gd name="connsiteX7" fmla="*/ 1600906 w 1879958"/>
                <a:gd name="connsiteY7" fmla="*/ 136342 h 1976701"/>
                <a:gd name="connsiteX8" fmla="*/ 1879958 w 1879958"/>
                <a:gd name="connsiteY8" fmla="*/ 709703 h 1976701"/>
                <a:gd name="connsiteX9" fmla="*/ 1875598 w 1879958"/>
                <a:gd name="connsiteY9" fmla="*/ 1283065 h 1976701"/>
                <a:gd name="connsiteX10" fmla="*/ 1794935 w 1879958"/>
                <a:gd name="connsiteY10" fmla="*/ 1629699 h 1976701"/>
                <a:gd name="connsiteX11" fmla="*/ 1378539 w 1879958"/>
                <a:gd name="connsiteY11" fmla="*/ 1932730 h 1976701"/>
                <a:gd name="connsiteX12" fmla="*/ 576267 w 1879958"/>
                <a:gd name="connsiteY12" fmla="*/ 1971245 h 1976701"/>
                <a:gd name="connsiteX13" fmla="*/ 140252 w 1879958"/>
                <a:gd name="connsiteY13" fmla="*/ 1769225 h 1976701"/>
                <a:gd name="connsiteX14" fmla="*/ 0 w 1879958"/>
                <a:gd name="connsiteY14" fmla="*/ 1275799 h 1976701"/>
                <a:gd name="connsiteX15" fmla="*/ 215862 w 1879958"/>
                <a:gd name="connsiteY15" fmla="*/ 1091173 h 1976701"/>
                <a:gd name="connsiteX0" fmla="*/ 215862 w 1879958"/>
                <a:gd name="connsiteY0" fmla="*/ 1091173 h 2010372"/>
                <a:gd name="connsiteX1" fmla="*/ 497936 w 1879958"/>
                <a:gd name="connsiteY1" fmla="*/ 1164240 h 2010372"/>
                <a:gd name="connsiteX2" fmla="*/ 601584 w 1879958"/>
                <a:gd name="connsiteY2" fmla="*/ 848525 h 2010372"/>
                <a:gd name="connsiteX3" fmla="*/ 452718 w 1879958"/>
                <a:gd name="connsiteY3" fmla="*/ 514966 h 2010372"/>
                <a:gd name="connsiteX4" fmla="*/ 136573 w 1879958"/>
                <a:gd name="connsiteY4" fmla="*/ 459678 h 2010372"/>
                <a:gd name="connsiteX5" fmla="*/ 142822 w 1879958"/>
                <a:gd name="connsiteY5" fmla="*/ 105156 h 2010372"/>
                <a:gd name="connsiteX6" fmla="*/ 622882 w 1879958"/>
                <a:gd name="connsiteY6" fmla="*/ 0 h 2010372"/>
                <a:gd name="connsiteX7" fmla="*/ 1600906 w 1879958"/>
                <a:gd name="connsiteY7" fmla="*/ 136342 h 2010372"/>
                <a:gd name="connsiteX8" fmla="*/ 1879958 w 1879958"/>
                <a:gd name="connsiteY8" fmla="*/ 709703 h 2010372"/>
                <a:gd name="connsiteX9" fmla="*/ 1875598 w 1879958"/>
                <a:gd name="connsiteY9" fmla="*/ 1283065 h 2010372"/>
                <a:gd name="connsiteX10" fmla="*/ 1794935 w 1879958"/>
                <a:gd name="connsiteY10" fmla="*/ 1629699 h 2010372"/>
                <a:gd name="connsiteX11" fmla="*/ 1378539 w 1879958"/>
                <a:gd name="connsiteY11" fmla="*/ 1932730 h 2010372"/>
                <a:gd name="connsiteX12" fmla="*/ 1151809 w 1879958"/>
                <a:gd name="connsiteY12" fmla="*/ 2009033 h 2010372"/>
                <a:gd name="connsiteX13" fmla="*/ 576267 w 1879958"/>
                <a:gd name="connsiteY13" fmla="*/ 1971245 h 2010372"/>
                <a:gd name="connsiteX14" fmla="*/ 140252 w 1879958"/>
                <a:gd name="connsiteY14" fmla="*/ 1769225 h 2010372"/>
                <a:gd name="connsiteX15" fmla="*/ 0 w 1879958"/>
                <a:gd name="connsiteY15" fmla="*/ 1275799 h 2010372"/>
                <a:gd name="connsiteX16" fmla="*/ 215862 w 1879958"/>
                <a:gd name="connsiteY16" fmla="*/ 1091173 h 201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79958" h="2010372">
                  <a:moveTo>
                    <a:pt x="215862" y="1091173"/>
                  </a:moveTo>
                  <a:lnTo>
                    <a:pt x="497936" y="1164240"/>
                  </a:lnTo>
                  <a:lnTo>
                    <a:pt x="601584" y="848525"/>
                  </a:lnTo>
                  <a:lnTo>
                    <a:pt x="452718" y="514966"/>
                  </a:lnTo>
                  <a:lnTo>
                    <a:pt x="136573" y="459678"/>
                  </a:lnTo>
                  <a:lnTo>
                    <a:pt x="142822" y="105156"/>
                  </a:lnTo>
                  <a:lnTo>
                    <a:pt x="622882" y="0"/>
                  </a:lnTo>
                  <a:cubicBezTo>
                    <a:pt x="1015746" y="222034"/>
                    <a:pt x="1208042" y="-85692"/>
                    <a:pt x="1600906" y="136342"/>
                  </a:cubicBezTo>
                  <a:lnTo>
                    <a:pt x="1879958" y="709703"/>
                  </a:lnTo>
                  <a:cubicBezTo>
                    <a:pt x="1878505" y="900824"/>
                    <a:pt x="1877051" y="1091944"/>
                    <a:pt x="1875598" y="1283065"/>
                  </a:cubicBezTo>
                  <a:lnTo>
                    <a:pt x="1794935" y="1629699"/>
                  </a:lnTo>
                  <a:lnTo>
                    <a:pt x="1378539" y="1932730"/>
                  </a:lnTo>
                  <a:cubicBezTo>
                    <a:pt x="1278618" y="1982872"/>
                    <a:pt x="1285521" y="2002614"/>
                    <a:pt x="1151809" y="2009033"/>
                  </a:cubicBezTo>
                  <a:cubicBezTo>
                    <a:pt x="1018097" y="2015452"/>
                    <a:pt x="752127" y="1998133"/>
                    <a:pt x="576267" y="1971245"/>
                  </a:cubicBezTo>
                  <a:lnTo>
                    <a:pt x="140252" y="1769225"/>
                  </a:lnTo>
                  <a:lnTo>
                    <a:pt x="0" y="1275799"/>
                  </a:lnTo>
                  <a:lnTo>
                    <a:pt x="215862" y="1091173"/>
                  </a:lnTo>
                  <a:close/>
                </a:path>
              </a:pathLst>
            </a:cu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7" name="Freeform: Shape 6">
            <a:extLst>
              <a:ext uri="{FF2B5EF4-FFF2-40B4-BE49-F238E27FC236}">
                <a16:creationId xmlns:a16="http://schemas.microsoft.com/office/drawing/2014/main" id="{E3B70A9F-48BC-E3CD-E32C-4FBBDF03BDB2}"/>
              </a:ext>
              <a:ext uri="{C183D7F6-B498-43B3-948B-1728B52AA6E4}">
                <adec:decorative xmlns:adec="http://schemas.microsoft.com/office/drawing/2017/decorative" val="1"/>
              </a:ext>
            </a:extLst>
          </p:cNvPr>
          <p:cNvSpPr/>
          <p:nvPr/>
        </p:nvSpPr>
        <p:spPr>
          <a:xfrm>
            <a:off x="4001653" y="1734754"/>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5D0CEC3-F9A6-5D9A-DC41-42FC33C23EB9}"/>
              </a:ext>
              <a:ext uri="{C183D7F6-B498-43B3-948B-1728B52AA6E4}">
                <adec:decorative xmlns:adec="http://schemas.microsoft.com/office/drawing/2017/decorative" val="1"/>
              </a:ext>
            </a:extLst>
          </p:cNvPr>
          <p:cNvSpPr txBox="1"/>
          <p:nvPr/>
        </p:nvSpPr>
        <p:spPr>
          <a:xfrm>
            <a:off x="4511824" y="1597212"/>
            <a:ext cx="1789272" cy="461665"/>
          </a:xfrm>
          <a:prstGeom prst="rect">
            <a:avLst/>
          </a:prstGeom>
          <a:noFill/>
        </p:spPr>
        <p:txBody>
          <a:bodyPr wrap="none" rtlCol="0">
            <a:spAutoFit/>
          </a:bodyPr>
          <a:lstStyle/>
          <a:p>
            <a:r>
              <a:rPr lang="en-US" sz="1200">
                <a:solidFill>
                  <a:schemeClr val="bg1">
                    <a:lumMod val="50000"/>
                  </a:schemeClr>
                </a:solidFill>
                <a:latin typeface="+mj-lt"/>
              </a:rPr>
              <a:t>Reference to a specific </a:t>
            </a:r>
          </a:p>
          <a:p>
            <a:r>
              <a:rPr lang="en-US" sz="1200">
                <a:solidFill>
                  <a:schemeClr val="bg1">
                    <a:lumMod val="50000"/>
                  </a:schemeClr>
                </a:solidFill>
                <a:latin typeface="+mj-lt"/>
              </a:rPr>
              <a:t>social media network</a:t>
            </a:r>
          </a:p>
        </p:txBody>
      </p:sp>
      <p:sp>
        <p:nvSpPr>
          <p:cNvPr id="10" name="Freeform: Shape 9">
            <a:extLst>
              <a:ext uri="{FF2B5EF4-FFF2-40B4-BE49-F238E27FC236}">
                <a16:creationId xmlns:a16="http://schemas.microsoft.com/office/drawing/2014/main" id="{51EB95C6-EF32-F07C-B06C-F9CE9D7481BB}"/>
              </a:ext>
              <a:ext uri="{C183D7F6-B498-43B3-948B-1728B52AA6E4}">
                <adec:decorative xmlns:adec="http://schemas.microsoft.com/office/drawing/2017/decorative" val="1"/>
              </a:ext>
            </a:extLst>
          </p:cNvPr>
          <p:cNvSpPr/>
          <p:nvPr/>
        </p:nvSpPr>
        <p:spPr>
          <a:xfrm>
            <a:off x="7150997" y="1734754"/>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4DA2699-26E0-75D4-FE0A-C29FB8C1976D}"/>
              </a:ext>
              <a:ext uri="{C183D7F6-B498-43B3-948B-1728B52AA6E4}">
                <adec:decorative xmlns:adec="http://schemas.microsoft.com/office/drawing/2017/decorative" val="1"/>
              </a:ext>
            </a:extLst>
          </p:cNvPr>
          <p:cNvSpPr txBox="1"/>
          <p:nvPr/>
        </p:nvSpPr>
        <p:spPr>
          <a:xfrm>
            <a:off x="7661168" y="1597212"/>
            <a:ext cx="517065" cy="276999"/>
          </a:xfrm>
          <a:prstGeom prst="rect">
            <a:avLst/>
          </a:prstGeom>
          <a:noFill/>
        </p:spPr>
        <p:txBody>
          <a:bodyPr wrap="none" rtlCol="0">
            <a:spAutoFit/>
          </a:bodyPr>
          <a:lstStyle/>
          <a:p>
            <a:r>
              <a:rPr lang="en-US" sz="1200">
                <a:solidFill>
                  <a:schemeClr val="bg1">
                    <a:lumMod val="50000"/>
                  </a:schemeClr>
                </a:solidFill>
                <a:latin typeface="+mj-lt"/>
              </a:rPr>
              <a:t>Tone</a:t>
            </a:r>
          </a:p>
        </p:txBody>
      </p:sp>
      <p:sp>
        <p:nvSpPr>
          <p:cNvPr id="20" name="Freeform: Shape 19">
            <a:extLst>
              <a:ext uri="{FF2B5EF4-FFF2-40B4-BE49-F238E27FC236}">
                <a16:creationId xmlns:a16="http://schemas.microsoft.com/office/drawing/2014/main" id="{34070325-C903-0ECE-372D-624A3E6BCC2E}"/>
              </a:ext>
              <a:ext uri="{C183D7F6-B498-43B3-948B-1728B52AA6E4}">
                <adec:decorative xmlns:adec="http://schemas.microsoft.com/office/drawing/2017/decorative" val="1"/>
              </a:ext>
            </a:extLst>
          </p:cNvPr>
          <p:cNvSpPr/>
          <p:nvPr/>
        </p:nvSpPr>
        <p:spPr>
          <a:xfrm flipH="1">
            <a:off x="9701466" y="1734754"/>
            <a:ext cx="529181" cy="421640"/>
          </a:xfrm>
          <a:custGeom>
            <a:avLst/>
            <a:gdLst>
              <a:gd name="connsiteX0" fmla="*/ 570785 w 570785"/>
              <a:gd name="connsiteY0" fmla="*/ 0 h 563880"/>
              <a:gd name="connsiteX1" fmla="*/ 88185 w 570785"/>
              <a:gd name="connsiteY1" fmla="*/ 355600 h 563880"/>
              <a:gd name="connsiteX2" fmla="*/ 1825 w 570785"/>
              <a:gd name="connsiteY2" fmla="*/ 513080 h 563880"/>
              <a:gd name="connsiteX3" fmla="*/ 27225 w 570785"/>
              <a:gd name="connsiteY3" fmla="*/ 513080 h 563880"/>
              <a:gd name="connsiteX4" fmla="*/ 509825 w 570785"/>
              <a:gd name="connsiteY4" fmla="*/ 563880 h 563880"/>
              <a:gd name="connsiteX0" fmla="*/ 570785 w 570785"/>
              <a:gd name="connsiteY0" fmla="*/ 0 h 524745"/>
              <a:gd name="connsiteX1" fmla="*/ 88185 w 570785"/>
              <a:gd name="connsiteY1" fmla="*/ 355600 h 524745"/>
              <a:gd name="connsiteX2" fmla="*/ 1825 w 570785"/>
              <a:gd name="connsiteY2" fmla="*/ 513080 h 524745"/>
              <a:gd name="connsiteX3" fmla="*/ 27225 w 570785"/>
              <a:gd name="connsiteY3" fmla="*/ 513080 h 524745"/>
              <a:gd name="connsiteX0" fmla="*/ 568960 w 568960"/>
              <a:gd name="connsiteY0" fmla="*/ 0 h 513080"/>
              <a:gd name="connsiteX1" fmla="*/ 86360 w 568960"/>
              <a:gd name="connsiteY1" fmla="*/ 355600 h 513080"/>
              <a:gd name="connsiteX2" fmla="*/ 0 w 568960"/>
              <a:gd name="connsiteY2" fmla="*/ 513080 h 513080"/>
              <a:gd name="connsiteX0" fmla="*/ 568960 w 568960"/>
              <a:gd name="connsiteY0" fmla="*/ 0 h 513080"/>
              <a:gd name="connsiteX1" fmla="*/ 96520 w 568960"/>
              <a:gd name="connsiteY1" fmla="*/ 309880 h 513080"/>
              <a:gd name="connsiteX2" fmla="*/ 0 w 568960"/>
              <a:gd name="connsiteY2" fmla="*/ 513080 h 51308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96520 w 528320"/>
              <a:gd name="connsiteY1" fmla="*/ 218440 h 421640"/>
              <a:gd name="connsiteX2" fmla="*/ 0 w 528320"/>
              <a:gd name="connsiteY2" fmla="*/ 421640 h 421640"/>
              <a:gd name="connsiteX0" fmla="*/ 528320 w 528320"/>
              <a:gd name="connsiteY0" fmla="*/ 0 h 421640"/>
              <a:gd name="connsiteX1" fmla="*/ 0 w 528320"/>
              <a:gd name="connsiteY1" fmla="*/ 421640 h 421640"/>
              <a:gd name="connsiteX0" fmla="*/ 528320 w 528320"/>
              <a:gd name="connsiteY0" fmla="*/ 0 h 421640"/>
              <a:gd name="connsiteX1" fmla="*/ 0 w 528320"/>
              <a:gd name="connsiteY1" fmla="*/ 421640 h 421640"/>
              <a:gd name="connsiteX0" fmla="*/ 529181 w 529181"/>
              <a:gd name="connsiteY0" fmla="*/ 0 h 421640"/>
              <a:gd name="connsiteX1" fmla="*/ 861 w 529181"/>
              <a:gd name="connsiteY1" fmla="*/ 421640 h 421640"/>
            </a:gdLst>
            <a:ahLst/>
            <a:cxnLst>
              <a:cxn ang="0">
                <a:pos x="connsiteX0" y="connsiteY0"/>
              </a:cxn>
              <a:cxn ang="0">
                <a:pos x="connsiteX1" y="connsiteY1"/>
              </a:cxn>
            </a:cxnLst>
            <a:rect l="l" t="t" r="r" b="b"/>
            <a:pathLst>
              <a:path w="529181" h="421640">
                <a:moveTo>
                  <a:pt x="529181" y="0"/>
                </a:moveTo>
                <a:cubicBezTo>
                  <a:pt x="-104126" y="69427"/>
                  <a:pt x="14408" y="199813"/>
                  <a:pt x="861" y="421640"/>
                </a:cubicBezTo>
              </a:path>
            </a:pathLst>
          </a:custGeom>
          <a:noFill/>
          <a:ln>
            <a:solidFill>
              <a:schemeClr val="tx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96BB382-5805-EDF8-7DDA-8768DF4FA6DA}"/>
              </a:ext>
              <a:ext uri="{C183D7F6-B498-43B3-948B-1728B52AA6E4}">
                <adec:decorative xmlns:adec="http://schemas.microsoft.com/office/drawing/2017/decorative" val="1"/>
              </a:ext>
            </a:extLst>
          </p:cNvPr>
          <p:cNvSpPr txBox="1"/>
          <p:nvPr/>
        </p:nvSpPr>
        <p:spPr>
          <a:xfrm>
            <a:off x="9168837" y="1597212"/>
            <a:ext cx="526106" cy="276999"/>
          </a:xfrm>
          <a:prstGeom prst="rect">
            <a:avLst/>
          </a:prstGeom>
          <a:noFill/>
        </p:spPr>
        <p:txBody>
          <a:bodyPr wrap="none" rtlCol="0">
            <a:spAutoFit/>
          </a:bodyPr>
          <a:lstStyle/>
          <a:p>
            <a:r>
              <a:rPr lang="en-US" sz="1200">
                <a:solidFill>
                  <a:schemeClr val="bg1">
                    <a:lumMod val="50000"/>
                  </a:schemeClr>
                </a:solidFill>
                <a:latin typeface="+mj-lt"/>
              </a:rPr>
              <a:t>Style</a:t>
            </a:r>
          </a:p>
        </p:txBody>
      </p:sp>
      <p:sp>
        <p:nvSpPr>
          <p:cNvPr id="22" name="Slide Number Placeholder 21">
            <a:extLst>
              <a:ext uri="{FF2B5EF4-FFF2-40B4-BE49-F238E27FC236}">
                <a16:creationId xmlns:a16="http://schemas.microsoft.com/office/drawing/2014/main" id="{84E1851C-0DBA-31E2-FCFE-5916E1D464E3}"/>
              </a:ext>
              <a:ext uri="{C183D7F6-B498-43B3-948B-1728B52AA6E4}">
                <adec:decorative xmlns:adec="http://schemas.microsoft.com/office/drawing/2017/decorative" val="1"/>
              </a:ext>
            </a:extLst>
          </p:cNvPr>
          <p:cNvSpPr>
            <a:spLocks noGrp="1"/>
          </p:cNvSpPr>
          <p:nvPr>
            <p:ph type="sldNum" sz="quarter" idx="12"/>
          </p:nvPr>
        </p:nvSpPr>
        <p:spPr/>
        <p:txBody>
          <a:bodyPr/>
          <a:lstStyle/>
          <a:p>
            <a:fld id="{D701140D-C14F-41CA-99FC-0EF83E8DA40A}" type="slidenum">
              <a:rPr lang="fi-FI" smtClean="0"/>
              <a:t>35</a:t>
            </a:fld>
            <a:endParaRPr lang="fi-FI"/>
          </a:p>
        </p:txBody>
      </p:sp>
      <p:sp>
        <p:nvSpPr>
          <p:cNvPr id="3" name="Date Placeholder 2">
            <a:extLst>
              <a:ext uri="{FF2B5EF4-FFF2-40B4-BE49-F238E27FC236}">
                <a16:creationId xmlns:a16="http://schemas.microsoft.com/office/drawing/2014/main" id="{29D12B91-09E5-A9DE-EE11-9FFC986ABAD5}"/>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FEF61BDE-0C79-54B1-FE13-A8C7A6FC6241}"/>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4168254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EA3B1A99-1186-5D4B-13A3-B79166C09599}"/>
              </a:ext>
            </a:extLst>
          </p:cNvPr>
          <p:cNvPicPr>
            <a:picLocks noChangeAspect="1"/>
          </p:cNvPicPr>
          <p:nvPr/>
        </p:nvPicPr>
        <p:blipFill>
          <a:blip r:embed="rId2"/>
          <a:stretch>
            <a:fillRect/>
          </a:stretch>
        </p:blipFill>
        <p:spPr>
          <a:xfrm>
            <a:off x="1679346" y="1139112"/>
            <a:ext cx="8833308" cy="4734432"/>
          </a:xfrm>
          <a:prstGeom prst="rect">
            <a:avLst/>
          </a:prstGeom>
          <a:effectLst>
            <a:outerShdw blurRad="63500" sx="102000" sy="102000" algn="ctr" rotWithShape="0">
              <a:prstClr val="black">
                <a:alpha val="40000"/>
              </a:prstClr>
            </a:outerShdw>
          </a:effectLst>
        </p:spPr>
      </p:pic>
      <p:sp>
        <p:nvSpPr>
          <p:cNvPr id="2" name="Title 1">
            <a:extLst>
              <a:ext uri="{FF2B5EF4-FFF2-40B4-BE49-F238E27FC236}">
                <a16:creationId xmlns:a16="http://schemas.microsoft.com/office/drawing/2014/main" id="{E2CDACFA-0BEF-2907-B775-FDDDBC20111E}"/>
              </a:ext>
            </a:extLst>
          </p:cNvPr>
          <p:cNvSpPr>
            <a:spLocks noGrp="1"/>
          </p:cNvSpPr>
          <p:nvPr>
            <p:ph type="title"/>
          </p:nvPr>
        </p:nvSpPr>
        <p:spPr/>
        <p:txBody>
          <a:bodyPr/>
          <a:lstStyle/>
          <a:p>
            <a:r>
              <a:rPr lang="en-US"/>
              <a:t>AI typical window (</a:t>
            </a:r>
            <a:r>
              <a:rPr lang="en-US" u="sng"/>
              <a:t>duck.ai</a:t>
            </a:r>
            <a:r>
              <a:rPr lang="en-US"/>
              <a:t> example)</a:t>
            </a:r>
          </a:p>
        </p:txBody>
      </p:sp>
      <p:sp>
        <p:nvSpPr>
          <p:cNvPr id="3" name="Date Placeholder 2">
            <a:extLst>
              <a:ext uri="{FF2B5EF4-FFF2-40B4-BE49-F238E27FC236}">
                <a16:creationId xmlns:a16="http://schemas.microsoft.com/office/drawing/2014/main" id="{BFD11C2C-3021-5066-FB7E-D52888789025}"/>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E5FC01D1-509B-A070-22F7-B297EAB56F8B}"/>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9" name="Slide Number Placeholder 8">
            <a:extLst>
              <a:ext uri="{FF2B5EF4-FFF2-40B4-BE49-F238E27FC236}">
                <a16:creationId xmlns:a16="http://schemas.microsoft.com/office/drawing/2014/main" id="{99FBBE57-497D-CB20-609F-78557070336A}"/>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t>36</a:t>
            </a:fld>
            <a:endParaRPr lang="fi-FI"/>
          </a:p>
        </p:txBody>
      </p:sp>
      <p:grpSp>
        <p:nvGrpSpPr>
          <p:cNvPr id="28" name="Group 27">
            <a:extLst>
              <a:ext uri="{FF2B5EF4-FFF2-40B4-BE49-F238E27FC236}">
                <a16:creationId xmlns:a16="http://schemas.microsoft.com/office/drawing/2014/main" id="{21259E6E-AD41-9D94-E081-77485EA35FBF}"/>
              </a:ext>
            </a:extLst>
          </p:cNvPr>
          <p:cNvGrpSpPr/>
          <p:nvPr/>
        </p:nvGrpSpPr>
        <p:grpSpPr>
          <a:xfrm>
            <a:off x="4578578" y="5137744"/>
            <a:ext cx="4769353" cy="657842"/>
            <a:chOff x="4578578" y="5137744"/>
            <a:chExt cx="4769353" cy="657842"/>
          </a:xfrm>
        </p:grpSpPr>
        <p:sp>
          <p:nvSpPr>
            <p:cNvPr id="21" name="Rectangle 20">
              <a:extLst>
                <a:ext uri="{FF2B5EF4-FFF2-40B4-BE49-F238E27FC236}">
                  <a16:creationId xmlns:a16="http://schemas.microsoft.com/office/drawing/2014/main" id="{F0358E33-CE2E-59F3-13CA-17BD18F78820}"/>
                </a:ext>
              </a:extLst>
            </p:cNvPr>
            <p:cNvSpPr/>
            <p:nvPr/>
          </p:nvSpPr>
          <p:spPr>
            <a:xfrm>
              <a:off x="4578578" y="5137744"/>
              <a:ext cx="4769353" cy="657842"/>
            </a:xfrm>
            <a:prstGeom prst="rect">
              <a:avLst/>
            </a:prstGeom>
            <a:solidFill>
              <a:srgbClr val="FEA1A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3" name="TextBox 22">
              <a:extLst>
                <a:ext uri="{FF2B5EF4-FFF2-40B4-BE49-F238E27FC236}">
                  <a16:creationId xmlns:a16="http://schemas.microsoft.com/office/drawing/2014/main" id="{F9C00AB4-6AA3-C25C-A008-7AF6141AC59D}"/>
                </a:ext>
              </a:extLst>
            </p:cNvPr>
            <p:cNvSpPr txBox="1"/>
            <p:nvPr/>
          </p:nvSpPr>
          <p:spPr>
            <a:xfrm>
              <a:off x="8055159" y="5189666"/>
              <a:ext cx="1209434" cy="276999"/>
            </a:xfrm>
            <a:prstGeom prst="rect">
              <a:avLst/>
            </a:prstGeom>
            <a:noFill/>
          </p:spPr>
          <p:txBody>
            <a:bodyPr wrap="none" rtlCol="0">
              <a:spAutoFit/>
            </a:bodyPr>
            <a:lstStyle/>
            <a:p>
              <a:pPr algn="l"/>
              <a:r>
                <a:rPr lang="en-US" sz="1200" b="1">
                  <a:latin typeface="+mj-lt"/>
                </a:rPr>
                <a:t>PROMPT BOX</a:t>
              </a:r>
            </a:p>
          </p:txBody>
        </p:sp>
      </p:grpSp>
      <p:grpSp>
        <p:nvGrpSpPr>
          <p:cNvPr id="30" name="Group 29">
            <a:extLst>
              <a:ext uri="{FF2B5EF4-FFF2-40B4-BE49-F238E27FC236}">
                <a16:creationId xmlns:a16="http://schemas.microsoft.com/office/drawing/2014/main" id="{15F10A90-BC20-A814-C3F4-FBF79525A408}"/>
              </a:ext>
            </a:extLst>
          </p:cNvPr>
          <p:cNvGrpSpPr/>
          <p:nvPr/>
        </p:nvGrpSpPr>
        <p:grpSpPr>
          <a:xfrm>
            <a:off x="1698661" y="2606149"/>
            <a:ext cx="1669489" cy="2268457"/>
            <a:chOff x="4578578" y="5137743"/>
            <a:chExt cx="1669489" cy="2268457"/>
          </a:xfrm>
        </p:grpSpPr>
        <p:sp>
          <p:nvSpPr>
            <p:cNvPr id="31" name="Rectangle 30">
              <a:extLst>
                <a:ext uri="{FF2B5EF4-FFF2-40B4-BE49-F238E27FC236}">
                  <a16:creationId xmlns:a16="http://schemas.microsoft.com/office/drawing/2014/main" id="{6BF4E1D8-D9F8-803E-0234-3907E210DD73}"/>
                </a:ext>
              </a:extLst>
            </p:cNvPr>
            <p:cNvSpPr/>
            <p:nvPr/>
          </p:nvSpPr>
          <p:spPr>
            <a:xfrm>
              <a:off x="4578578" y="5137743"/>
              <a:ext cx="1669489" cy="2268457"/>
            </a:xfrm>
            <a:prstGeom prst="rect">
              <a:avLst/>
            </a:prstGeom>
            <a:solidFill>
              <a:srgbClr val="FEA1A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32" name="TextBox 31">
              <a:extLst>
                <a:ext uri="{FF2B5EF4-FFF2-40B4-BE49-F238E27FC236}">
                  <a16:creationId xmlns:a16="http://schemas.microsoft.com/office/drawing/2014/main" id="{34B5D903-9606-F00A-569E-CA32918BDED0}"/>
                </a:ext>
              </a:extLst>
            </p:cNvPr>
            <p:cNvSpPr txBox="1"/>
            <p:nvPr/>
          </p:nvSpPr>
          <p:spPr>
            <a:xfrm>
              <a:off x="5038633" y="7110562"/>
              <a:ext cx="1205586" cy="276999"/>
            </a:xfrm>
            <a:prstGeom prst="rect">
              <a:avLst/>
            </a:prstGeom>
            <a:noFill/>
          </p:spPr>
          <p:txBody>
            <a:bodyPr wrap="none" rtlCol="0">
              <a:spAutoFit/>
            </a:bodyPr>
            <a:lstStyle/>
            <a:p>
              <a:pPr algn="l"/>
              <a:r>
                <a:rPr lang="en-US" sz="1200" b="1">
                  <a:latin typeface="+mj-lt"/>
                </a:rPr>
                <a:t>HISTORY TAB</a:t>
              </a:r>
            </a:p>
          </p:txBody>
        </p:sp>
      </p:grpSp>
      <p:grpSp>
        <p:nvGrpSpPr>
          <p:cNvPr id="33" name="Group 32">
            <a:extLst>
              <a:ext uri="{FF2B5EF4-FFF2-40B4-BE49-F238E27FC236}">
                <a16:creationId xmlns:a16="http://schemas.microsoft.com/office/drawing/2014/main" id="{B79F64CC-D4C5-A7D9-C6C4-3D4FF2519608}"/>
              </a:ext>
            </a:extLst>
          </p:cNvPr>
          <p:cNvGrpSpPr/>
          <p:nvPr/>
        </p:nvGrpSpPr>
        <p:grpSpPr>
          <a:xfrm>
            <a:off x="4265546" y="1755340"/>
            <a:ext cx="5082386" cy="3310041"/>
            <a:chOff x="4715537" y="5137743"/>
            <a:chExt cx="1532530" cy="3310041"/>
          </a:xfrm>
        </p:grpSpPr>
        <p:sp>
          <p:nvSpPr>
            <p:cNvPr id="34" name="Rectangle 33">
              <a:extLst>
                <a:ext uri="{FF2B5EF4-FFF2-40B4-BE49-F238E27FC236}">
                  <a16:creationId xmlns:a16="http://schemas.microsoft.com/office/drawing/2014/main" id="{646D1273-2BEB-896C-DFDA-377A5252F975}"/>
                </a:ext>
              </a:extLst>
            </p:cNvPr>
            <p:cNvSpPr/>
            <p:nvPr/>
          </p:nvSpPr>
          <p:spPr>
            <a:xfrm>
              <a:off x="4716697" y="5137743"/>
              <a:ext cx="1531370" cy="3310041"/>
            </a:xfrm>
            <a:prstGeom prst="rect">
              <a:avLst/>
            </a:prstGeom>
            <a:solidFill>
              <a:srgbClr val="FEA1A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35" name="TextBox 34">
              <a:extLst>
                <a:ext uri="{FF2B5EF4-FFF2-40B4-BE49-F238E27FC236}">
                  <a16:creationId xmlns:a16="http://schemas.microsoft.com/office/drawing/2014/main" id="{5CCF4731-AAFB-308C-C356-B1569638146A}"/>
                </a:ext>
              </a:extLst>
            </p:cNvPr>
            <p:cNvSpPr txBox="1"/>
            <p:nvPr/>
          </p:nvSpPr>
          <p:spPr>
            <a:xfrm>
              <a:off x="4715537" y="8163760"/>
              <a:ext cx="212765" cy="276999"/>
            </a:xfrm>
            <a:prstGeom prst="rect">
              <a:avLst/>
            </a:prstGeom>
            <a:noFill/>
          </p:spPr>
          <p:txBody>
            <a:bodyPr wrap="none" rtlCol="0">
              <a:spAutoFit/>
            </a:bodyPr>
            <a:lstStyle/>
            <a:p>
              <a:pPr algn="l"/>
              <a:r>
                <a:rPr lang="en-US" sz="1200" b="1">
                  <a:latin typeface="+mj-lt"/>
                </a:rPr>
                <a:t>REPLY </a:t>
              </a:r>
            </a:p>
          </p:txBody>
        </p:sp>
      </p:grpSp>
      <p:grpSp>
        <p:nvGrpSpPr>
          <p:cNvPr id="38" name="Group 37">
            <a:extLst>
              <a:ext uri="{FF2B5EF4-FFF2-40B4-BE49-F238E27FC236}">
                <a16:creationId xmlns:a16="http://schemas.microsoft.com/office/drawing/2014/main" id="{AD84762F-5D15-B4E4-9644-0B2C3AB27D06}"/>
              </a:ext>
            </a:extLst>
          </p:cNvPr>
          <p:cNvGrpSpPr/>
          <p:nvPr/>
        </p:nvGrpSpPr>
        <p:grpSpPr>
          <a:xfrm>
            <a:off x="3448318" y="1691852"/>
            <a:ext cx="750302" cy="647310"/>
            <a:chOff x="4552261" y="5137743"/>
            <a:chExt cx="750302" cy="647310"/>
          </a:xfrm>
        </p:grpSpPr>
        <p:sp>
          <p:nvSpPr>
            <p:cNvPr id="39" name="Rectangle 38">
              <a:extLst>
                <a:ext uri="{FF2B5EF4-FFF2-40B4-BE49-F238E27FC236}">
                  <a16:creationId xmlns:a16="http://schemas.microsoft.com/office/drawing/2014/main" id="{D8EC82EA-CB07-76C6-03DD-CBE5CA80572F}"/>
                </a:ext>
              </a:extLst>
            </p:cNvPr>
            <p:cNvSpPr/>
            <p:nvPr/>
          </p:nvSpPr>
          <p:spPr>
            <a:xfrm>
              <a:off x="4578578" y="5137743"/>
              <a:ext cx="723985" cy="632619"/>
            </a:xfrm>
            <a:prstGeom prst="rect">
              <a:avLst/>
            </a:prstGeom>
            <a:solidFill>
              <a:srgbClr val="FEA1A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40" name="TextBox 39">
              <a:extLst>
                <a:ext uri="{FF2B5EF4-FFF2-40B4-BE49-F238E27FC236}">
                  <a16:creationId xmlns:a16="http://schemas.microsoft.com/office/drawing/2014/main" id="{20F1E37E-DC9A-5E0E-B002-37192A5D3AC6}"/>
                </a:ext>
              </a:extLst>
            </p:cNvPr>
            <p:cNvSpPr txBox="1"/>
            <p:nvPr/>
          </p:nvSpPr>
          <p:spPr>
            <a:xfrm>
              <a:off x="4552261" y="5508054"/>
              <a:ext cx="740908" cy="276999"/>
            </a:xfrm>
            <a:prstGeom prst="rect">
              <a:avLst/>
            </a:prstGeom>
            <a:noFill/>
          </p:spPr>
          <p:txBody>
            <a:bodyPr wrap="none" rtlCol="0">
              <a:spAutoFit/>
            </a:bodyPr>
            <a:lstStyle/>
            <a:p>
              <a:pPr algn="l"/>
              <a:r>
                <a:rPr lang="en-US" sz="1200" b="1">
                  <a:latin typeface="+mj-lt"/>
                </a:rPr>
                <a:t>MODEL</a:t>
              </a:r>
            </a:p>
          </p:txBody>
        </p:sp>
      </p:grpSp>
    </p:spTree>
    <p:extLst>
      <p:ext uri="{BB962C8B-B14F-4D97-AF65-F5344CB8AC3E}">
        <p14:creationId xmlns:p14="http://schemas.microsoft.com/office/powerpoint/2010/main" val="26471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47D75-8446-AC32-B99A-4A5833304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5763F0-CD84-964B-0412-877F69748185}"/>
              </a:ext>
            </a:extLst>
          </p:cNvPr>
          <p:cNvSpPr>
            <a:spLocks noGrp="1"/>
          </p:cNvSpPr>
          <p:nvPr>
            <p:ph type="title"/>
          </p:nvPr>
        </p:nvSpPr>
        <p:spPr/>
        <p:txBody>
          <a:bodyPr/>
          <a:lstStyle/>
          <a:p>
            <a:r>
              <a:rPr lang="en-US"/>
              <a:t>AI typical window (</a:t>
            </a:r>
            <a:r>
              <a:rPr lang="en-US" u="sng"/>
              <a:t>duck.ai</a:t>
            </a:r>
            <a:r>
              <a:rPr lang="en-US"/>
              <a:t> example) II</a:t>
            </a:r>
          </a:p>
        </p:txBody>
      </p:sp>
      <p:sp>
        <p:nvSpPr>
          <p:cNvPr id="3" name="Date Placeholder 2">
            <a:extLst>
              <a:ext uri="{FF2B5EF4-FFF2-40B4-BE49-F238E27FC236}">
                <a16:creationId xmlns:a16="http://schemas.microsoft.com/office/drawing/2014/main" id="{9071EC92-F5B6-DA8C-62DF-9FEE95668083}"/>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CC343AD9-DCF8-789E-1707-437EEB06E90B}"/>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9" name="Slide Number Placeholder 8">
            <a:extLst>
              <a:ext uri="{FF2B5EF4-FFF2-40B4-BE49-F238E27FC236}">
                <a16:creationId xmlns:a16="http://schemas.microsoft.com/office/drawing/2014/main" id="{3C4094A3-7DB0-40BA-773A-62AF03CF4BEA}"/>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t>37</a:t>
            </a:fld>
            <a:endParaRPr lang="fi-FI"/>
          </a:p>
        </p:txBody>
      </p:sp>
      <p:pic>
        <p:nvPicPr>
          <p:cNvPr id="19" name="Picture 18">
            <a:extLst>
              <a:ext uri="{FF2B5EF4-FFF2-40B4-BE49-F238E27FC236}">
                <a16:creationId xmlns:a16="http://schemas.microsoft.com/office/drawing/2014/main" id="{870DCA76-0376-4DC2-4369-FD2457EB97C4}"/>
              </a:ext>
            </a:extLst>
          </p:cNvPr>
          <p:cNvPicPr>
            <a:picLocks noChangeAspect="1"/>
          </p:cNvPicPr>
          <p:nvPr/>
        </p:nvPicPr>
        <p:blipFill>
          <a:blip r:embed="rId2"/>
          <a:stretch>
            <a:fillRect/>
          </a:stretch>
        </p:blipFill>
        <p:spPr>
          <a:xfrm>
            <a:off x="1679346" y="1167365"/>
            <a:ext cx="8833308" cy="4709560"/>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5B24B22E-44F0-5BEA-5641-FC14997B219D}"/>
              </a:ext>
            </a:extLst>
          </p:cNvPr>
          <p:cNvSpPr txBox="1"/>
          <p:nvPr/>
        </p:nvSpPr>
        <p:spPr>
          <a:xfrm>
            <a:off x="3468790" y="4549866"/>
            <a:ext cx="758541" cy="461665"/>
          </a:xfrm>
          <a:prstGeom prst="rect">
            <a:avLst/>
          </a:prstGeom>
          <a:noFill/>
        </p:spPr>
        <p:txBody>
          <a:bodyPr wrap="none" rtlCol="0">
            <a:spAutoFit/>
          </a:bodyPr>
          <a:lstStyle/>
          <a:p>
            <a:pPr algn="l"/>
            <a:r>
              <a:rPr lang="en-US" sz="1200" b="1">
                <a:latin typeface="+mj-lt"/>
              </a:rPr>
              <a:t>Search</a:t>
            </a:r>
          </a:p>
          <a:p>
            <a:pPr algn="l"/>
            <a:r>
              <a:rPr lang="en-US" sz="1200" b="1">
                <a:latin typeface="+mj-lt"/>
              </a:rPr>
              <a:t>the web</a:t>
            </a:r>
          </a:p>
        </p:txBody>
      </p:sp>
      <p:sp>
        <p:nvSpPr>
          <p:cNvPr id="8" name="TextBox 7">
            <a:extLst>
              <a:ext uri="{FF2B5EF4-FFF2-40B4-BE49-F238E27FC236}">
                <a16:creationId xmlns:a16="http://schemas.microsoft.com/office/drawing/2014/main" id="{719E2E89-B057-1A0C-1EC9-BDF323756E43}"/>
              </a:ext>
            </a:extLst>
          </p:cNvPr>
          <p:cNvSpPr txBox="1"/>
          <p:nvPr/>
        </p:nvSpPr>
        <p:spPr>
          <a:xfrm>
            <a:off x="3966613" y="6118821"/>
            <a:ext cx="1013419" cy="276999"/>
          </a:xfrm>
          <a:prstGeom prst="rect">
            <a:avLst/>
          </a:prstGeom>
          <a:noFill/>
        </p:spPr>
        <p:txBody>
          <a:bodyPr wrap="none" rtlCol="0">
            <a:spAutoFit/>
          </a:bodyPr>
          <a:lstStyle/>
          <a:p>
            <a:pPr algn="l"/>
            <a:r>
              <a:rPr lang="en-US" sz="1200" b="1">
                <a:latin typeface="+mj-lt"/>
              </a:rPr>
              <a:t>Attach files</a:t>
            </a:r>
          </a:p>
        </p:txBody>
      </p:sp>
      <p:pic>
        <p:nvPicPr>
          <p:cNvPr id="11" name="Picture 10">
            <a:extLst>
              <a:ext uri="{FF2B5EF4-FFF2-40B4-BE49-F238E27FC236}">
                <a16:creationId xmlns:a16="http://schemas.microsoft.com/office/drawing/2014/main" id="{60485F0F-347C-ECB9-2081-2C4F0D8EBD36}"/>
              </a:ext>
            </a:extLst>
          </p:cNvPr>
          <p:cNvPicPr>
            <a:picLocks noChangeAspect="1"/>
          </p:cNvPicPr>
          <p:nvPr/>
        </p:nvPicPr>
        <p:blipFill>
          <a:blip r:embed="rId3"/>
          <a:srcRect l="6791" t="4095" r="5082" b="2187"/>
          <a:stretch/>
        </p:blipFill>
        <p:spPr>
          <a:xfrm>
            <a:off x="7280522" y="571171"/>
            <a:ext cx="2918142" cy="4651550"/>
          </a:xfrm>
          <a:prstGeom prst="roundRect">
            <a:avLst>
              <a:gd name="adj" fmla="val 5669"/>
            </a:avLst>
          </a:prstGeom>
          <a:effectLst>
            <a:outerShdw blurRad="63500" sx="102000" sy="102000" algn="ctr" rotWithShape="0">
              <a:prstClr val="black">
                <a:alpha val="40000"/>
              </a:prstClr>
            </a:outerShdw>
          </a:effectLst>
        </p:spPr>
      </p:pic>
      <p:cxnSp>
        <p:nvCxnSpPr>
          <p:cNvPr id="14" name="Straight Arrow Connector 13">
            <a:extLst>
              <a:ext uri="{FF2B5EF4-FFF2-40B4-BE49-F238E27FC236}">
                <a16:creationId xmlns:a16="http://schemas.microsoft.com/office/drawing/2014/main" id="{D29780F5-3AA7-3523-E066-37E929FD4E6D}"/>
              </a:ext>
            </a:extLst>
          </p:cNvPr>
          <p:cNvCxnSpPr>
            <a:cxnSpLocks/>
            <a:stCxn id="6" idx="2"/>
          </p:cNvCxnSpPr>
          <p:nvPr/>
        </p:nvCxnSpPr>
        <p:spPr>
          <a:xfrm>
            <a:off x="3848061" y="5011531"/>
            <a:ext cx="954184" cy="48802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A79AC8D0-E261-84E6-6543-596CA7041F36}"/>
              </a:ext>
            </a:extLst>
          </p:cNvPr>
          <p:cNvCxnSpPr>
            <a:cxnSpLocks/>
            <a:stCxn id="8" idx="0"/>
          </p:cNvCxnSpPr>
          <p:nvPr/>
        </p:nvCxnSpPr>
        <p:spPr>
          <a:xfrm flipV="1">
            <a:off x="4473323" y="5637704"/>
            <a:ext cx="953871" cy="4811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DB369EA5-CB58-74A0-D093-C9656B2FA99D}"/>
              </a:ext>
            </a:extLst>
          </p:cNvPr>
          <p:cNvCxnSpPr>
            <a:cxnSpLocks/>
            <a:stCxn id="11" idx="1"/>
          </p:cNvCxnSpPr>
          <p:nvPr/>
        </p:nvCxnSpPr>
        <p:spPr>
          <a:xfrm flipH="1">
            <a:off x="5256155" y="2896946"/>
            <a:ext cx="2024367" cy="26026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4D4E51C4-D6EB-220A-B12A-B976EF45A073}"/>
              </a:ext>
            </a:extLst>
          </p:cNvPr>
          <p:cNvSpPr txBox="1"/>
          <p:nvPr/>
        </p:nvSpPr>
        <p:spPr>
          <a:xfrm>
            <a:off x="7704475" y="204001"/>
            <a:ext cx="2209259" cy="276999"/>
          </a:xfrm>
          <a:prstGeom prst="rect">
            <a:avLst/>
          </a:prstGeom>
          <a:noFill/>
        </p:spPr>
        <p:txBody>
          <a:bodyPr wrap="none" rtlCol="0">
            <a:spAutoFit/>
          </a:bodyPr>
          <a:lstStyle/>
          <a:p>
            <a:pPr algn="l"/>
            <a:r>
              <a:rPr lang="en-US" sz="1200" b="1">
                <a:latin typeface="+mj-lt"/>
              </a:rPr>
              <a:t>Customization / Parameters</a:t>
            </a:r>
          </a:p>
        </p:txBody>
      </p:sp>
      <p:grpSp>
        <p:nvGrpSpPr>
          <p:cNvPr id="26" name="Group 25">
            <a:extLst>
              <a:ext uri="{FF2B5EF4-FFF2-40B4-BE49-F238E27FC236}">
                <a16:creationId xmlns:a16="http://schemas.microsoft.com/office/drawing/2014/main" id="{7029679F-9B2F-C034-CF7E-358BCC160091}"/>
              </a:ext>
            </a:extLst>
          </p:cNvPr>
          <p:cNvGrpSpPr/>
          <p:nvPr/>
        </p:nvGrpSpPr>
        <p:grpSpPr>
          <a:xfrm>
            <a:off x="7323565" y="3695701"/>
            <a:ext cx="2818655" cy="601980"/>
            <a:chOff x="4716697" y="7078104"/>
            <a:chExt cx="2132224" cy="601980"/>
          </a:xfrm>
        </p:grpSpPr>
        <p:sp>
          <p:nvSpPr>
            <p:cNvPr id="27" name="Rectangle 26">
              <a:extLst>
                <a:ext uri="{FF2B5EF4-FFF2-40B4-BE49-F238E27FC236}">
                  <a16:creationId xmlns:a16="http://schemas.microsoft.com/office/drawing/2014/main" id="{AC4FAA52-AAB6-C55D-C199-A2485EB0F82E}"/>
                </a:ext>
              </a:extLst>
            </p:cNvPr>
            <p:cNvSpPr/>
            <p:nvPr/>
          </p:nvSpPr>
          <p:spPr>
            <a:xfrm>
              <a:off x="4716697" y="7078104"/>
              <a:ext cx="2132224" cy="601980"/>
            </a:xfrm>
            <a:prstGeom prst="rect">
              <a:avLst/>
            </a:prstGeom>
            <a:solidFill>
              <a:srgbClr val="FEA1A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9" name="TextBox 28">
              <a:extLst>
                <a:ext uri="{FF2B5EF4-FFF2-40B4-BE49-F238E27FC236}">
                  <a16:creationId xmlns:a16="http://schemas.microsoft.com/office/drawing/2014/main" id="{3472F7EF-58D2-6994-1749-B0E8B285ABB7}"/>
                </a:ext>
              </a:extLst>
            </p:cNvPr>
            <p:cNvSpPr txBox="1"/>
            <p:nvPr/>
          </p:nvSpPr>
          <p:spPr>
            <a:xfrm>
              <a:off x="4716697" y="7403004"/>
              <a:ext cx="1149808" cy="276999"/>
            </a:xfrm>
            <a:prstGeom prst="rect">
              <a:avLst/>
            </a:prstGeom>
            <a:noFill/>
          </p:spPr>
          <p:txBody>
            <a:bodyPr wrap="none" rtlCol="0">
              <a:spAutoFit/>
            </a:bodyPr>
            <a:lstStyle/>
            <a:p>
              <a:pPr algn="l"/>
              <a:r>
                <a:rPr lang="en-US" sz="1200" b="1">
                  <a:latin typeface="+mj-lt"/>
                </a:rPr>
                <a:t>SYSTEM PROMPT</a:t>
              </a:r>
            </a:p>
          </p:txBody>
        </p:sp>
      </p:grpSp>
    </p:spTree>
    <p:extLst>
      <p:ext uri="{BB962C8B-B14F-4D97-AF65-F5344CB8AC3E}">
        <p14:creationId xmlns:p14="http://schemas.microsoft.com/office/powerpoint/2010/main" val="1864171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DACFA-0BEF-2907-B775-FDDDBC20111E}"/>
              </a:ext>
            </a:extLst>
          </p:cNvPr>
          <p:cNvSpPr>
            <a:spLocks noGrp="1"/>
          </p:cNvSpPr>
          <p:nvPr>
            <p:ph type="title"/>
          </p:nvPr>
        </p:nvSpPr>
        <p:spPr/>
        <p:txBody>
          <a:bodyPr/>
          <a:lstStyle/>
          <a:p>
            <a:r>
              <a:rPr lang="en-US"/>
              <a:t>Examples of system prompts to try</a:t>
            </a:r>
          </a:p>
        </p:txBody>
      </p:sp>
      <p:sp>
        <p:nvSpPr>
          <p:cNvPr id="3" name="Date Placeholder 2">
            <a:extLst>
              <a:ext uri="{FF2B5EF4-FFF2-40B4-BE49-F238E27FC236}">
                <a16:creationId xmlns:a16="http://schemas.microsoft.com/office/drawing/2014/main" id="{BFD11C2C-3021-5066-FB7E-D52888789025}"/>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E5FC01D1-509B-A070-22F7-B297EAB56F8B}"/>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9" name="Slide Number Placeholder 8">
            <a:extLst>
              <a:ext uri="{FF2B5EF4-FFF2-40B4-BE49-F238E27FC236}">
                <a16:creationId xmlns:a16="http://schemas.microsoft.com/office/drawing/2014/main" id="{99FBBE57-497D-CB20-609F-78557070336A}"/>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t>38</a:t>
            </a:fld>
            <a:endParaRPr lang="fi-FI"/>
          </a:p>
        </p:txBody>
      </p:sp>
      <p:sp>
        <p:nvSpPr>
          <p:cNvPr id="8" name="TextBox 7">
            <a:extLst>
              <a:ext uri="{FF2B5EF4-FFF2-40B4-BE49-F238E27FC236}">
                <a16:creationId xmlns:a16="http://schemas.microsoft.com/office/drawing/2014/main" id="{0761C31E-8B4D-D3C8-0B76-CDD8B78346F7}"/>
              </a:ext>
            </a:extLst>
          </p:cNvPr>
          <p:cNvSpPr txBox="1"/>
          <p:nvPr/>
        </p:nvSpPr>
        <p:spPr>
          <a:xfrm>
            <a:off x="1417157" y="5876925"/>
            <a:ext cx="6094378" cy="369332"/>
          </a:xfrm>
          <a:prstGeom prst="rect">
            <a:avLst/>
          </a:prstGeom>
          <a:noFill/>
        </p:spPr>
        <p:txBody>
          <a:bodyPr wrap="square">
            <a:spAutoFit/>
          </a:bodyPr>
          <a:lstStyle/>
          <a:p>
            <a:r>
              <a:rPr lang="en-US">
                <a:hlinkClick r:id="rId2"/>
              </a:rPr>
              <a:t>Prompt engineering - OpenAI API</a:t>
            </a:r>
            <a:endParaRPr lang="en-US"/>
          </a:p>
        </p:txBody>
      </p:sp>
      <p:graphicFrame>
        <p:nvGraphicFramePr>
          <p:cNvPr id="7" name="Table 6">
            <a:extLst>
              <a:ext uri="{FF2B5EF4-FFF2-40B4-BE49-F238E27FC236}">
                <a16:creationId xmlns:a16="http://schemas.microsoft.com/office/drawing/2014/main" id="{51611BA0-1829-069E-4B92-7217EF9B13B8}"/>
              </a:ext>
            </a:extLst>
          </p:cNvPr>
          <p:cNvGraphicFramePr>
            <a:graphicFrameLocks noGrp="1"/>
          </p:cNvGraphicFramePr>
          <p:nvPr>
            <p:extLst>
              <p:ext uri="{D42A27DB-BD31-4B8C-83A1-F6EECF244321}">
                <p14:modId xmlns:p14="http://schemas.microsoft.com/office/powerpoint/2010/main" val="556030584"/>
              </p:ext>
            </p:extLst>
          </p:nvPr>
        </p:nvGraphicFramePr>
        <p:xfrm>
          <a:off x="731837" y="1089030"/>
          <a:ext cx="10728326" cy="4756364"/>
        </p:xfrm>
        <a:graphic>
          <a:graphicData uri="http://schemas.openxmlformats.org/drawingml/2006/table">
            <a:tbl>
              <a:tblPr firstRow="1" bandRow="1">
                <a:tableStyleId>{68D230F3-CF80-4859-8CE7-A43EE81993B5}</a:tableStyleId>
              </a:tblPr>
              <a:tblGrid>
                <a:gridCol w="5954712">
                  <a:extLst>
                    <a:ext uri="{9D8B030D-6E8A-4147-A177-3AD203B41FA5}">
                      <a16:colId xmlns:a16="http://schemas.microsoft.com/office/drawing/2014/main" val="1979573953"/>
                    </a:ext>
                  </a:extLst>
                </a:gridCol>
                <a:gridCol w="4773614">
                  <a:extLst>
                    <a:ext uri="{9D8B030D-6E8A-4147-A177-3AD203B41FA5}">
                      <a16:colId xmlns:a16="http://schemas.microsoft.com/office/drawing/2014/main" val="1348689056"/>
                    </a:ext>
                  </a:extLst>
                </a:gridCol>
              </a:tblGrid>
              <a:tr h="360000">
                <a:tc>
                  <a:txBody>
                    <a:bodyPr/>
                    <a:lstStyle/>
                    <a:p>
                      <a:pPr algn="ctr"/>
                      <a:r>
                        <a:rPr lang="en-US" sz="1400">
                          <a:solidFill>
                            <a:schemeClr val="tx1"/>
                          </a:solidFill>
                        </a:rPr>
                        <a:t>System prompt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a:solidFill>
                            <a:schemeClr val="tx1"/>
                          </a:solidFill>
                        </a:rPr>
                        <a:t>What is the melting temperature of water?</a:t>
                      </a:r>
                      <a:endParaRPr lang="en-US" sz="1400" b="1" kern="1200">
                        <a:solidFill>
                          <a:schemeClr val="tx1"/>
                        </a:solidFill>
                        <a:latin typeface="+mn-lt"/>
                        <a:ea typeface="+mn-ea"/>
                        <a:cs typeface="+mn-cs"/>
                      </a:endParaRPr>
                    </a:p>
                  </a:txBody>
                  <a:tcPr/>
                </a:tc>
                <a:extLst>
                  <a:ext uri="{0D108BD9-81ED-4DB2-BD59-A6C34878D82A}">
                    <a16:rowId xmlns:a16="http://schemas.microsoft.com/office/drawing/2014/main" val="2450492659"/>
                  </a:ext>
                </a:extLst>
              </a:tr>
              <a:tr h="722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You are a dino. The only words you know are </a:t>
                      </a:r>
                      <a:r>
                        <a:rPr lang="en-US" sz="1400" i="1"/>
                        <a:t>graaauurr</a:t>
                      </a:r>
                      <a:r>
                        <a:rPr lang="en-US" sz="1400"/>
                        <a:t> and </a:t>
                      </a:r>
                      <a:r>
                        <a:rPr lang="en-US" sz="1400" i="1"/>
                        <a:t>gaurrr</a:t>
                      </a:r>
                      <a:r>
                        <a:rPr lang="en-US" sz="1400"/>
                        <a:t>.</a:t>
                      </a:r>
                    </a:p>
                    <a:p>
                      <a:endParaRPr lang="en-US" sz="1400">
                        <a:solidFill>
                          <a:schemeClr val="tx1"/>
                        </a:solidFill>
                      </a:endParaRPr>
                    </a:p>
                  </a:txBody>
                  <a:tcPr/>
                </a:tc>
                <a:tc>
                  <a:txBody>
                    <a:bodyPr/>
                    <a:lstStyle/>
                    <a:p>
                      <a:r>
                        <a:rPr lang="en-US" sz="1400" b="0" i="0" kern="1200" err="1">
                          <a:solidFill>
                            <a:schemeClr val="tx1"/>
                          </a:solidFill>
                          <a:effectLst/>
                          <a:latin typeface="Consolas" panose="020B0609020204030204" pitchFamily="49" charset="0"/>
                          <a:ea typeface="+mn-ea"/>
                          <a:cs typeface="+mn-cs"/>
                        </a:rPr>
                        <a:t>Graaauurr</a:t>
                      </a:r>
                      <a:endParaRPr lang="en-US" sz="1400">
                        <a:solidFill>
                          <a:schemeClr val="tx1"/>
                        </a:solidFill>
                        <a:latin typeface="Consolas" panose="020B0609020204030204" pitchFamily="49" charset="0"/>
                      </a:endParaRPr>
                    </a:p>
                  </a:txBody>
                  <a:tcPr/>
                </a:tc>
                <a:extLst>
                  <a:ext uri="{0D108BD9-81ED-4DB2-BD59-A6C34878D82A}">
                    <a16:rowId xmlns:a16="http://schemas.microsoft.com/office/drawing/2014/main" val="3703511845"/>
                  </a:ext>
                </a:extLst>
              </a:tr>
              <a:tr h="722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You are Ronny Chieng, the Malaysian comedian, actor, and correspondent from The Daily Show. You speak with intense energy, sharp sarcasm, and zero tolerance for nonsense. You're highly intelligent, often frustrated by incompetence, and hilariously blunt. You combine observational humor with brutal honesty. You don’t sugarcoat anything. When responding, be quick-witted, cutting, and confident. Inject rants where appropriate. </a:t>
                      </a:r>
                    </a:p>
                  </a:txBody>
                  <a:tcPr>
                    <a:solidFill>
                      <a:schemeClr val="accent2">
                        <a:lumMod val="20000"/>
                        <a:lumOff val="80000"/>
                      </a:schemeClr>
                    </a:solidFill>
                  </a:tcPr>
                </a:tc>
                <a:tc>
                  <a:txBody>
                    <a:bodyPr/>
                    <a:lstStyle/>
                    <a:p>
                      <a:r>
                        <a:rPr lang="en-US" sz="1400" b="0" i="0" kern="1200">
                          <a:solidFill>
                            <a:schemeClr val="tx1"/>
                          </a:solidFill>
                          <a:effectLst/>
                          <a:latin typeface="Consolas" panose="020B0609020204030204" pitchFamily="49" charset="0"/>
                          <a:ea typeface="+mn-ea"/>
                          <a:cs typeface="+mn-cs"/>
                        </a:rPr>
                        <a:t>Oh, for crying out loud, it's 0 degrees Celsius or 32 degrees Fahrenheit. You know, the temperature where ice turns into water. It's not rocket science, people.</a:t>
                      </a:r>
                      <a:endParaRPr lang="en-US" sz="1400">
                        <a:solidFill>
                          <a:schemeClr val="tx1"/>
                        </a:solidFill>
                        <a:latin typeface="Consolas" panose="020B0609020204030204" pitchFamily="49" charset="0"/>
                      </a:endParaRPr>
                    </a:p>
                  </a:txBody>
                  <a:tcPr>
                    <a:solidFill>
                      <a:schemeClr val="accent2">
                        <a:lumMod val="20000"/>
                        <a:lumOff val="80000"/>
                      </a:schemeClr>
                    </a:solidFill>
                  </a:tcPr>
                </a:tc>
                <a:extLst>
                  <a:ext uri="{0D108BD9-81ED-4DB2-BD59-A6C34878D82A}">
                    <a16:rowId xmlns:a16="http://schemas.microsoft.com/office/drawing/2014/main" val="2857314844"/>
                  </a:ext>
                </a:extLst>
              </a:tr>
              <a:tr h="722444">
                <a:tc>
                  <a:txBody>
                    <a:bodyPr/>
                    <a:lstStyle/>
                    <a:p>
                      <a:pPr algn="just"/>
                      <a:r>
                        <a:rPr lang="en-US" sz="1400"/>
                        <a:t>You are a highly capable, thoughtful, and precise assistant. Your goal is to deeply understand the user's intent, ask clarifying questions when needed, think step-by-step through complex problems, provide clear and accurate answers, and proactively anticipate helpful follow-up information. Always prioritize being truthful, nuanced, insightful, and efficient, tailoring your responses specifically to the user's needs and preferences.</a:t>
                      </a:r>
                    </a:p>
                  </a:txBody>
                  <a:tcPr/>
                </a:tc>
                <a:tc>
                  <a:txBody>
                    <a:bodyPr/>
                    <a:lstStyle/>
                    <a:p>
                      <a:r>
                        <a:rPr lang="en-US" sz="1400" b="0" i="0" kern="1200">
                          <a:solidFill>
                            <a:schemeClr val="tx1"/>
                          </a:solidFill>
                          <a:effectLst/>
                          <a:latin typeface="Consolas" panose="020B0609020204030204" pitchFamily="49" charset="0"/>
                          <a:ea typeface="+mn-ea"/>
                          <a:cs typeface="+mn-cs"/>
                        </a:rPr>
                        <a:t>The melting temperature of water is 0 degrees Celsius (32 degrees Fahrenheit) at standard atmospheric pressure. This is the temperature at which ice transitions to liquid water. If you need the melting point at different pressures, it can vary, but at standard conditions, 0°C (32°F) is the correct value.</a:t>
                      </a:r>
                      <a:endParaRPr lang="en-US" sz="1400">
                        <a:solidFill>
                          <a:schemeClr val="tx1"/>
                        </a:solidFill>
                        <a:latin typeface="Consolas" panose="020B0609020204030204" pitchFamily="49" charset="0"/>
                      </a:endParaRPr>
                    </a:p>
                  </a:txBody>
                  <a:tcPr/>
                </a:tc>
                <a:extLst>
                  <a:ext uri="{0D108BD9-81ED-4DB2-BD59-A6C34878D82A}">
                    <a16:rowId xmlns:a16="http://schemas.microsoft.com/office/drawing/2014/main" val="3259453728"/>
                  </a:ext>
                </a:extLst>
              </a:tr>
              <a:tr h="50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Be the most succinct possible in your replies.</a:t>
                      </a:r>
                      <a:endParaRPr lang="en-US" sz="1400">
                        <a:solidFill>
                          <a:schemeClr val="tx1"/>
                        </a:solidFill>
                      </a:endParaRPr>
                    </a:p>
                  </a:txBody>
                  <a:tcPr>
                    <a:solidFill>
                      <a:schemeClr val="accent2">
                        <a:lumMod val="20000"/>
                        <a:lumOff val="80000"/>
                      </a:schemeClr>
                    </a:solidFill>
                  </a:tcPr>
                </a:tc>
                <a:tc>
                  <a:txBody>
                    <a:bodyPr/>
                    <a:lstStyle/>
                    <a:p>
                      <a:r>
                        <a:rPr lang="en-US" sz="1400" b="0" i="0" kern="1200">
                          <a:solidFill>
                            <a:schemeClr val="tx1"/>
                          </a:solidFill>
                          <a:effectLst/>
                          <a:latin typeface="Consolas" panose="020B0609020204030204" pitchFamily="49" charset="0"/>
                          <a:ea typeface="+mn-ea"/>
                          <a:cs typeface="+mn-cs"/>
                        </a:rPr>
                        <a:t>0°C or 32°F</a:t>
                      </a:r>
                      <a:endParaRPr lang="en-US" sz="1400">
                        <a:solidFill>
                          <a:schemeClr val="tx1"/>
                        </a:solidFill>
                        <a:latin typeface="Consolas" panose="020B0609020204030204" pitchFamily="49" charset="0"/>
                      </a:endParaRPr>
                    </a:p>
                  </a:txBody>
                  <a:tcPr>
                    <a:solidFill>
                      <a:schemeClr val="accent2">
                        <a:lumMod val="20000"/>
                        <a:lumOff val="80000"/>
                      </a:schemeClr>
                    </a:solidFill>
                  </a:tcPr>
                </a:tc>
                <a:extLst>
                  <a:ext uri="{0D108BD9-81ED-4DB2-BD59-A6C34878D82A}">
                    <a16:rowId xmlns:a16="http://schemas.microsoft.com/office/drawing/2014/main" val="3264106009"/>
                  </a:ext>
                </a:extLst>
              </a:tr>
            </a:tbl>
          </a:graphicData>
        </a:graphic>
      </p:graphicFrame>
    </p:spTree>
    <p:extLst>
      <p:ext uri="{BB962C8B-B14F-4D97-AF65-F5344CB8AC3E}">
        <p14:creationId xmlns:p14="http://schemas.microsoft.com/office/powerpoint/2010/main" val="3534063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1660BA-8B88-AA50-036E-B74C3D18F5F8}"/>
              </a:ext>
            </a:extLst>
          </p:cNvPr>
          <p:cNvSpPr>
            <a:spLocks noGrp="1"/>
          </p:cNvSpPr>
          <p:nvPr>
            <p:ph type="sldNum" sz="quarter" idx="12"/>
          </p:nvPr>
        </p:nvSpPr>
        <p:spPr/>
        <p:txBody>
          <a:bodyPr/>
          <a:lstStyle/>
          <a:p>
            <a:fld id="{D701140D-C14F-41CA-99FC-0EF83E8DA40A}" type="slidenum">
              <a:rPr lang="fi-FI" smtClean="0"/>
              <a:pPr/>
              <a:t>39</a:t>
            </a:fld>
            <a:endParaRPr lang="fi-FI"/>
          </a:p>
        </p:txBody>
      </p:sp>
      <p:sp>
        <p:nvSpPr>
          <p:cNvPr id="3" name="Title 2">
            <a:extLst>
              <a:ext uri="{FF2B5EF4-FFF2-40B4-BE49-F238E27FC236}">
                <a16:creationId xmlns:a16="http://schemas.microsoft.com/office/drawing/2014/main" id="{02A13589-D130-4450-3F99-EF0326715DC7}"/>
              </a:ext>
            </a:extLst>
          </p:cNvPr>
          <p:cNvSpPr>
            <a:spLocks noGrp="1"/>
          </p:cNvSpPr>
          <p:nvPr>
            <p:ph type="ctrTitle"/>
          </p:nvPr>
        </p:nvSpPr>
        <p:spPr/>
        <p:txBody>
          <a:bodyPr/>
          <a:lstStyle/>
          <a:p>
            <a:r>
              <a:rPr lang="en-US"/>
              <a:t>BREAK (10 minutes)</a:t>
            </a:r>
          </a:p>
        </p:txBody>
      </p:sp>
      <p:sp>
        <p:nvSpPr>
          <p:cNvPr id="4" name="Date Placeholder 3">
            <a:extLst>
              <a:ext uri="{FF2B5EF4-FFF2-40B4-BE49-F238E27FC236}">
                <a16:creationId xmlns:a16="http://schemas.microsoft.com/office/drawing/2014/main" id="{12FFB80A-9923-B7BA-77B8-31021B5A3AA7}"/>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6090EFD5-EC5A-3424-0B0F-63657A9A8D63}"/>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8661160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D9431D-2C5F-05E7-74E4-416519F18202}"/>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B8909AAA-4848-FC5B-C057-D9A2ABFE24E7}"/>
              </a:ext>
            </a:extLst>
          </p:cNvPr>
          <p:cNvPicPr>
            <a:picLocks noChangeAspect="1"/>
          </p:cNvPicPr>
          <p:nvPr/>
        </p:nvPicPr>
        <p:blipFill>
          <a:blip r:embed="rId2">
            <a:alphaModFix/>
          </a:blip>
          <a:stretch>
            <a:fillRect/>
          </a:stretch>
        </p:blipFill>
        <p:spPr>
          <a:xfrm>
            <a:off x="1926310" y="1876704"/>
            <a:ext cx="554000" cy="202423"/>
          </a:xfrm>
          <a:prstGeom prst="rect">
            <a:avLst/>
          </a:prstGeom>
        </p:spPr>
      </p:pic>
      <p:pic>
        <p:nvPicPr>
          <p:cNvPr id="24" name="Picture 23">
            <a:extLst>
              <a:ext uri="{FF2B5EF4-FFF2-40B4-BE49-F238E27FC236}">
                <a16:creationId xmlns:a16="http://schemas.microsoft.com/office/drawing/2014/main" id="{798582C3-792A-1A51-2204-97716F54EEA8}"/>
              </a:ext>
            </a:extLst>
          </p:cNvPr>
          <p:cNvPicPr>
            <a:picLocks noChangeAspect="1"/>
          </p:cNvPicPr>
          <p:nvPr/>
        </p:nvPicPr>
        <p:blipFill>
          <a:blip r:embed="rId3"/>
          <a:stretch>
            <a:fillRect/>
          </a:stretch>
        </p:blipFill>
        <p:spPr>
          <a:xfrm>
            <a:off x="3724666" y="5353861"/>
            <a:ext cx="4385614" cy="699290"/>
          </a:xfrm>
          <a:prstGeom prst="rect">
            <a:avLst/>
          </a:prstGeom>
        </p:spPr>
      </p:pic>
      <p:pic>
        <p:nvPicPr>
          <p:cNvPr id="22" name="Picture 21">
            <a:extLst>
              <a:ext uri="{FF2B5EF4-FFF2-40B4-BE49-F238E27FC236}">
                <a16:creationId xmlns:a16="http://schemas.microsoft.com/office/drawing/2014/main" id="{90973A4C-7499-BCB7-6347-F61DDA62CAE6}"/>
              </a:ext>
            </a:extLst>
          </p:cNvPr>
          <p:cNvPicPr>
            <a:picLocks noChangeAspect="1"/>
          </p:cNvPicPr>
          <p:nvPr/>
        </p:nvPicPr>
        <p:blipFill>
          <a:blip r:embed="rId4"/>
          <a:stretch>
            <a:fillRect/>
          </a:stretch>
        </p:blipFill>
        <p:spPr>
          <a:xfrm>
            <a:off x="382164" y="1573011"/>
            <a:ext cx="1491528" cy="1551374"/>
          </a:xfrm>
          <a:prstGeom prst="rect">
            <a:avLst/>
          </a:prstGeom>
        </p:spPr>
      </p:pic>
      <p:pic>
        <p:nvPicPr>
          <p:cNvPr id="20" name="Picture 19">
            <a:extLst>
              <a:ext uri="{FF2B5EF4-FFF2-40B4-BE49-F238E27FC236}">
                <a16:creationId xmlns:a16="http://schemas.microsoft.com/office/drawing/2014/main" id="{335609A0-965C-27A2-0F94-6896B78EEAEC}"/>
              </a:ext>
            </a:extLst>
          </p:cNvPr>
          <p:cNvPicPr>
            <a:picLocks noChangeAspect="1"/>
          </p:cNvPicPr>
          <p:nvPr/>
        </p:nvPicPr>
        <p:blipFill>
          <a:blip r:embed="rId5"/>
          <a:stretch>
            <a:fillRect/>
          </a:stretch>
        </p:blipFill>
        <p:spPr>
          <a:xfrm>
            <a:off x="1877419" y="1809131"/>
            <a:ext cx="5526402" cy="3475858"/>
          </a:xfrm>
          <a:prstGeom prst="rect">
            <a:avLst/>
          </a:prstGeom>
          <a:effectLst>
            <a:outerShdw blurRad="63500" sx="102000" sy="102000" algn="ctr" rotWithShape="0">
              <a:prstClr val="black">
                <a:alpha val="40000"/>
              </a:prstClr>
            </a:outerShdw>
          </a:effectLst>
        </p:spPr>
      </p:pic>
      <p:sp>
        <p:nvSpPr>
          <p:cNvPr id="2" name="Title 1">
            <a:extLst>
              <a:ext uri="{FF2B5EF4-FFF2-40B4-BE49-F238E27FC236}">
                <a16:creationId xmlns:a16="http://schemas.microsoft.com/office/drawing/2014/main" id="{0F006C24-8272-6837-E8D2-1D9AD22C76E6}"/>
              </a:ext>
            </a:extLst>
          </p:cNvPr>
          <p:cNvSpPr>
            <a:spLocks noGrp="1"/>
          </p:cNvSpPr>
          <p:nvPr>
            <p:ph type="title"/>
          </p:nvPr>
        </p:nvSpPr>
        <p:spPr/>
        <p:txBody>
          <a:bodyPr/>
          <a:lstStyle/>
          <a:p>
            <a:r>
              <a:rPr lang="en-US"/>
              <a:t>AI typical window (Aalto AI Assistance example)</a:t>
            </a:r>
          </a:p>
        </p:txBody>
      </p:sp>
      <p:sp>
        <p:nvSpPr>
          <p:cNvPr id="3" name="Date Placeholder 2">
            <a:extLst>
              <a:ext uri="{FF2B5EF4-FFF2-40B4-BE49-F238E27FC236}">
                <a16:creationId xmlns:a16="http://schemas.microsoft.com/office/drawing/2014/main" id="{D852BEEF-9092-05D8-9016-2C925C47D5BB}"/>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1FC1AE16-218A-2BD9-8E80-11B0B68CA15D}"/>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9" name="Slide Number Placeholder 8">
            <a:extLst>
              <a:ext uri="{FF2B5EF4-FFF2-40B4-BE49-F238E27FC236}">
                <a16:creationId xmlns:a16="http://schemas.microsoft.com/office/drawing/2014/main" id="{584455C1-53D1-E146-458E-613541F74D85}"/>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t>40</a:t>
            </a:fld>
            <a:endParaRPr lang="fi-FI"/>
          </a:p>
        </p:txBody>
      </p:sp>
      <p:pic>
        <p:nvPicPr>
          <p:cNvPr id="15" name="Picture 14">
            <a:extLst>
              <a:ext uri="{FF2B5EF4-FFF2-40B4-BE49-F238E27FC236}">
                <a16:creationId xmlns:a16="http://schemas.microsoft.com/office/drawing/2014/main" id="{351F1508-46C5-9228-B9CC-F802994FC82A}"/>
              </a:ext>
            </a:extLst>
          </p:cNvPr>
          <p:cNvPicPr>
            <a:picLocks noChangeAspect="1"/>
          </p:cNvPicPr>
          <p:nvPr/>
        </p:nvPicPr>
        <p:blipFill>
          <a:blip r:embed="rId6"/>
          <a:stretch>
            <a:fillRect/>
          </a:stretch>
        </p:blipFill>
        <p:spPr>
          <a:xfrm>
            <a:off x="6730481" y="2157883"/>
            <a:ext cx="3637968" cy="3146726"/>
          </a:xfrm>
          <a:prstGeom prst="rect">
            <a:avLst/>
          </a:prstGeom>
          <a:effectLst>
            <a:outerShdw blurRad="63500" sx="102000" sy="102000" algn="ctr" rotWithShape="0">
              <a:prstClr val="black">
                <a:alpha val="40000"/>
              </a:prstClr>
            </a:outerShdw>
          </a:effectLst>
        </p:spPr>
      </p:pic>
      <p:sp>
        <p:nvSpPr>
          <p:cNvPr id="16" name="Rectangle: Rounded Corners 15">
            <a:extLst>
              <a:ext uri="{FF2B5EF4-FFF2-40B4-BE49-F238E27FC236}">
                <a16:creationId xmlns:a16="http://schemas.microsoft.com/office/drawing/2014/main" id="{9BB6E004-894A-A44D-1B64-B8027881B42E}"/>
              </a:ext>
            </a:extLst>
          </p:cNvPr>
          <p:cNvSpPr/>
          <p:nvPr/>
        </p:nvSpPr>
        <p:spPr>
          <a:xfrm>
            <a:off x="1907177" y="1907177"/>
            <a:ext cx="496389" cy="171950"/>
          </a:xfrm>
          <a:custGeom>
            <a:avLst/>
            <a:gdLst>
              <a:gd name="csX0" fmla="*/ 0 w 496389"/>
              <a:gd name="csY0" fmla="*/ 28659 h 171950"/>
              <a:gd name="csX1" fmla="*/ 28659 w 496389"/>
              <a:gd name="csY1" fmla="*/ 0 h 171950"/>
              <a:gd name="csX2" fmla="*/ 467730 w 496389"/>
              <a:gd name="csY2" fmla="*/ 0 h 171950"/>
              <a:gd name="csX3" fmla="*/ 496389 w 496389"/>
              <a:gd name="csY3" fmla="*/ 28659 h 171950"/>
              <a:gd name="csX4" fmla="*/ 496389 w 496389"/>
              <a:gd name="csY4" fmla="*/ 143291 h 171950"/>
              <a:gd name="csX5" fmla="*/ 467730 w 496389"/>
              <a:gd name="csY5" fmla="*/ 171950 h 171950"/>
              <a:gd name="csX6" fmla="*/ 28659 w 496389"/>
              <a:gd name="csY6" fmla="*/ 171950 h 171950"/>
              <a:gd name="csX7" fmla="*/ 0 w 496389"/>
              <a:gd name="csY7" fmla="*/ 143291 h 171950"/>
              <a:gd name="csX8" fmla="*/ 0 w 496389"/>
              <a:gd name="csY8" fmla="*/ 28659 h 171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6389" h="171950" extrusionOk="0">
                <a:moveTo>
                  <a:pt x="0" y="28659"/>
                </a:moveTo>
                <a:cubicBezTo>
                  <a:pt x="203" y="12292"/>
                  <a:pt x="12402" y="722"/>
                  <a:pt x="28659" y="0"/>
                </a:cubicBezTo>
                <a:cubicBezTo>
                  <a:pt x="127026" y="-9486"/>
                  <a:pt x="281802" y="2040"/>
                  <a:pt x="467730" y="0"/>
                </a:cubicBezTo>
                <a:cubicBezTo>
                  <a:pt x="486000" y="640"/>
                  <a:pt x="496513" y="13141"/>
                  <a:pt x="496389" y="28659"/>
                </a:cubicBezTo>
                <a:cubicBezTo>
                  <a:pt x="491322" y="48856"/>
                  <a:pt x="488767" y="88151"/>
                  <a:pt x="496389" y="143291"/>
                </a:cubicBezTo>
                <a:cubicBezTo>
                  <a:pt x="495476" y="160836"/>
                  <a:pt x="486439" y="171161"/>
                  <a:pt x="467730" y="171950"/>
                </a:cubicBezTo>
                <a:cubicBezTo>
                  <a:pt x="412339" y="166002"/>
                  <a:pt x="158173" y="208819"/>
                  <a:pt x="28659" y="171950"/>
                </a:cubicBezTo>
                <a:cubicBezTo>
                  <a:pt x="14356" y="174341"/>
                  <a:pt x="-283" y="159176"/>
                  <a:pt x="0" y="143291"/>
                </a:cubicBezTo>
                <a:cubicBezTo>
                  <a:pt x="-3296" y="97775"/>
                  <a:pt x="6782" y="64243"/>
                  <a:pt x="0" y="28659"/>
                </a:cubicBezTo>
                <a:close/>
              </a:path>
            </a:pathLst>
          </a:custGeom>
          <a:noFill/>
          <a:ln w="28575">
            <a:solidFill>
              <a:schemeClr val="accent2"/>
            </a:solidFill>
            <a:extLst>
              <a:ext uri="{C807C97D-BFC1-408E-A445-0C87EB9F89A2}">
                <ask:lineSketchStyleProps xmlns:ask="http://schemas.microsoft.com/office/drawing/2018/sketchyshapes" sd="1182209032">
                  <a:prstGeom prst="round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5" name="Arrow: Down 4">
            <a:extLst>
              <a:ext uri="{FF2B5EF4-FFF2-40B4-BE49-F238E27FC236}">
                <a16:creationId xmlns:a16="http://schemas.microsoft.com/office/drawing/2014/main" id="{33A2DED8-8557-E4E9-2D02-2F9FEACA0FCC}"/>
              </a:ext>
            </a:extLst>
          </p:cNvPr>
          <p:cNvSpPr/>
          <p:nvPr/>
        </p:nvSpPr>
        <p:spPr>
          <a:xfrm rot="3600000">
            <a:off x="2455763" y="1579119"/>
            <a:ext cx="403860" cy="353714"/>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6" name="Arrow: Down 5">
            <a:extLst>
              <a:ext uri="{FF2B5EF4-FFF2-40B4-BE49-F238E27FC236}">
                <a16:creationId xmlns:a16="http://schemas.microsoft.com/office/drawing/2014/main" id="{300EA42C-6D76-8747-945D-137D9CFA5E90}"/>
              </a:ext>
            </a:extLst>
          </p:cNvPr>
          <p:cNvSpPr/>
          <p:nvPr/>
        </p:nvSpPr>
        <p:spPr>
          <a:xfrm rot="6135856" flipH="1">
            <a:off x="6896650" y="5799068"/>
            <a:ext cx="403860" cy="353714"/>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7" name="TextBox 6">
            <a:extLst>
              <a:ext uri="{FF2B5EF4-FFF2-40B4-BE49-F238E27FC236}">
                <a16:creationId xmlns:a16="http://schemas.microsoft.com/office/drawing/2014/main" id="{9C1375EB-BBB9-053C-A7AB-A652FCC4A52C}"/>
              </a:ext>
            </a:extLst>
          </p:cNvPr>
          <p:cNvSpPr txBox="1"/>
          <p:nvPr/>
        </p:nvSpPr>
        <p:spPr>
          <a:xfrm>
            <a:off x="7303611" y="5741035"/>
            <a:ext cx="1245854" cy="584775"/>
          </a:xfrm>
          <a:prstGeom prst="rect">
            <a:avLst/>
          </a:prstGeom>
          <a:noFill/>
        </p:spPr>
        <p:txBody>
          <a:bodyPr wrap="none" rtlCol="0">
            <a:spAutoFit/>
          </a:bodyPr>
          <a:lstStyle/>
          <a:p>
            <a:pPr algn="l"/>
            <a:r>
              <a:rPr lang="en-US" sz="1600">
                <a:latin typeface="+mj-lt"/>
              </a:rPr>
              <a:t>Parameters</a:t>
            </a:r>
          </a:p>
          <a:p>
            <a:pPr algn="l"/>
            <a:r>
              <a:rPr lang="en-US" sz="1600">
                <a:latin typeface="+mj-lt"/>
              </a:rPr>
              <a:t>controls</a:t>
            </a:r>
          </a:p>
        </p:txBody>
      </p:sp>
      <p:sp>
        <p:nvSpPr>
          <p:cNvPr id="8" name="TextBox 7">
            <a:extLst>
              <a:ext uri="{FF2B5EF4-FFF2-40B4-BE49-F238E27FC236}">
                <a16:creationId xmlns:a16="http://schemas.microsoft.com/office/drawing/2014/main" id="{D80BC4E7-2BE9-D300-3973-8EBAF44BFF87}"/>
              </a:ext>
            </a:extLst>
          </p:cNvPr>
          <p:cNvSpPr txBox="1"/>
          <p:nvPr/>
        </p:nvSpPr>
        <p:spPr>
          <a:xfrm>
            <a:off x="2911924" y="1311875"/>
            <a:ext cx="1608133" cy="338554"/>
          </a:xfrm>
          <a:prstGeom prst="rect">
            <a:avLst/>
          </a:prstGeom>
          <a:noFill/>
        </p:spPr>
        <p:txBody>
          <a:bodyPr wrap="none" rtlCol="0">
            <a:spAutoFit/>
          </a:bodyPr>
          <a:lstStyle/>
          <a:p>
            <a:pPr algn="l"/>
            <a:r>
              <a:rPr lang="en-US" sz="1600">
                <a:latin typeface="+mj-lt"/>
              </a:rPr>
              <a:t>Model selection</a:t>
            </a:r>
          </a:p>
        </p:txBody>
      </p:sp>
      <p:sp>
        <p:nvSpPr>
          <p:cNvPr id="10" name="Arrow: Down 9">
            <a:extLst>
              <a:ext uri="{FF2B5EF4-FFF2-40B4-BE49-F238E27FC236}">
                <a16:creationId xmlns:a16="http://schemas.microsoft.com/office/drawing/2014/main" id="{3B2DB4B2-E6C0-18ED-5691-80ACEA0E0521}"/>
              </a:ext>
            </a:extLst>
          </p:cNvPr>
          <p:cNvSpPr/>
          <p:nvPr/>
        </p:nvSpPr>
        <p:spPr>
          <a:xfrm rot="3600000" flipH="1" flipV="1">
            <a:off x="3389582" y="5517534"/>
            <a:ext cx="403860" cy="353714"/>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12" name="TextBox 11">
            <a:extLst>
              <a:ext uri="{FF2B5EF4-FFF2-40B4-BE49-F238E27FC236}">
                <a16:creationId xmlns:a16="http://schemas.microsoft.com/office/drawing/2014/main" id="{115504E9-9270-5782-7258-361B0966FE80}"/>
              </a:ext>
            </a:extLst>
          </p:cNvPr>
          <p:cNvSpPr txBox="1"/>
          <p:nvPr/>
        </p:nvSpPr>
        <p:spPr>
          <a:xfrm>
            <a:off x="2161350" y="5637372"/>
            <a:ext cx="1234633" cy="338554"/>
          </a:xfrm>
          <a:prstGeom prst="rect">
            <a:avLst/>
          </a:prstGeom>
          <a:noFill/>
        </p:spPr>
        <p:txBody>
          <a:bodyPr wrap="square" rtlCol="0">
            <a:spAutoFit/>
          </a:bodyPr>
          <a:lstStyle/>
          <a:p>
            <a:pPr algn="l"/>
            <a:r>
              <a:rPr lang="en-US" sz="1600">
                <a:latin typeface="+mj-lt"/>
              </a:rPr>
              <a:t>Prompt box</a:t>
            </a:r>
          </a:p>
        </p:txBody>
      </p:sp>
      <p:sp>
        <p:nvSpPr>
          <p:cNvPr id="14" name="Arrow: Down 13">
            <a:extLst>
              <a:ext uri="{FF2B5EF4-FFF2-40B4-BE49-F238E27FC236}">
                <a16:creationId xmlns:a16="http://schemas.microsoft.com/office/drawing/2014/main" id="{111777F8-B4B4-E17C-DB97-BEF23BB8FA96}"/>
              </a:ext>
            </a:extLst>
          </p:cNvPr>
          <p:cNvSpPr/>
          <p:nvPr/>
        </p:nvSpPr>
        <p:spPr>
          <a:xfrm flipH="1" flipV="1">
            <a:off x="753729" y="3278817"/>
            <a:ext cx="403860" cy="353714"/>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18" name="TextBox 17">
            <a:extLst>
              <a:ext uri="{FF2B5EF4-FFF2-40B4-BE49-F238E27FC236}">
                <a16:creationId xmlns:a16="http://schemas.microsoft.com/office/drawing/2014/main" id="{04232FBA-6D50-8362-7721-17276AC75D49}"/>
              </a:ext>
            </a:extLst>
          </p:cNvPr>
          <p:cNvSpPr txBox="1"/>
          <p:nvPr/>
        </p:nvSpPr>
        <p:spPr>
          <a:xfrm>
            <a:off x="407987" y="3669541"/>
            <a:ext cx="1165704" cy="338554"/>
          </a:xfrm>
          <a:prstGeom prst="rect">
            <a:avLst/>
          </a:prstGeom>
          <a:noFill/>
        </p:spPr>
        <p:txBody>
          <a:bodyPr wrap="none" rtlCol="0">
            <a:spAutoFit/>
          </a:bodyPr>
          <a:lstStyle/>
          <a:p>
            <a:pPr algn="l"/>
            <a:r>
              <a:rPr lang="en-US" sz="1600">
                <a:latin typeface="+mj-lt"/>
              </a:rPr>
              <a:t>History tab</a:t>
            </a:r>
          </a:p>
        </p:txBody>
      </p:sp>
      <p:sp>
        <p:nvSpPr>
          <p:cNvPr id="25" name="Arrow: Down 24">
            <a:extLst>
              <a:ext uri="{FF2B5EF4-FFF2-40B4-BE49-F238E27FC236}">
                <a16:creationId xmlns:a16="http://schemas.microsoft.com/office/drawing/2014/main" id="{14D57ABA-6AA5-6A1B-1664-22AA3BCBB3D8}"/>
              </a:ext>
            </a:extLst>
          </p:cNvPr>
          <p:cNvSpPr/>
          <p:nvPr/>
        </p:nvSpPr>
        <p:spPr>
          <a:xfrm rot="3600000" flipH="1" flipV="1">
            <a:off x="4590916" y="5951542"/>
            <a:ext cx="403860" cy="353714"/>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6" name="TextBox 25">
            <a:extLst>
              <a:ext uri="{FF2B5EF4-FFF2-40B4-BE49-F238E27FC236}">
                <a16:creationId xmlns:a16="http://schemas.microsoft.com/office/drawing/2014/main" id="{BC1EE693-90F8-E252-E3C1-CE3E4EC9C68C}"/>
              </a:ext>
            </a:extLst>
          </p:cNvPr>
          <p:cNvSpPr txBox="1"/>
          <p:nvPr/>
        </p:nvSpPr>
        <p:spPr>
          <a:xfrm>
            <a:off x="2702826" y="6053151"/>
            <a:ext cx="2202632" cy="338554"/>
          </a:xfrm>
          <a:prstGeom prst="rect">
            <a:avLst/>
          </a:prstGeom>
          <a:noFill/>
        </p:spPr>
        <p:txBody>
          <a:bodyPr wrap="square" rtlCol="0">
            <a:spAutoFit/>
          </a:bodyPr>
          <a:lstStyle/>
          <a:p>
            <a:pPr algn="l"/>
            <a:r>
              <a:rPr lang="en-US" sz="1600">
                <a:latin typeface="+mj-lt"/>
              </a:rPr>
              <a:t>No chat save mode</a:t>
            </a:r>
          </a:p>
        </p:txBody>
      </p:sp>
      <p:sp>
        <p:nvSpPr>
          <p:cNvPr id="27" name="Rectangle: Rounded Corners 26">
            <a:extLst>
              <a:ext uri="{FF2B5EF4-FFF2-40B4-BE49-F238E27FC236}">
                <a16:creationId xmlns:a16="http://schemas.microsoft.com/office/drawing/2014/main" id="{C63E7CC0-2E9E-65AE-F73C-4C6DBEB6907B}"/>
              </a:ext>
            </a:extLst>
          </p:cNvPr>
          <p:cNvSpPr/>
          <p:nvPr/>
        </p:nvSpPr>
        <p:spPr>
          <a:xfrm>
            <a:off x="5861026" y="5856892"/>
            <a:ext cx="901017" cy="142888"/>
          </a:xfrm>
          <a:custGeom>
            <a:avLst/>
            <a:gdLst>
              <a:gd name="csX0" fmla="*/ 0 w 901017"/>
              <a:gd name="csY0" fmla="*/ 23815 h 142888"/>
              <a:gd name="csX1" fmla="*/ 23815 w 901017"/>
              <a:gd name="csY1" fmla="*/ 0 h 142888"/>
              <a:gd name="csX2" fmla="*/ 877202 w 901017"/>
              <a:gd name="csY2" fmla="*/ 0 h 142888"/>
              <a:gd name="csX3" fmla="*/ 901017 w 901017"/>
              <a:gd name="csY3" fmla="*/ 23815 h 142888"/>
              <a:gd name="csX4" fmla="*/ 901017 w 901017"/>
              <a:gd name="csY4" fmla="*/ 119073 h 142888"/>
              <a:gd name="csX5" fmla="*/ 877202 w 901017"/>
              <a:gd name="csY5" fmla="*/ 142888 h 142888"/>
              <a:gd name="csX6" fmla="*/ 23815 w 901017"/>
              <a:gd name="csY6" fmla="*/ 142888 h 142888"/>
              <a:gd name="csX7" fmla="*/ 0 w 901017"/>
              <a:gd name="csY7" fmla="*/ 119073 h 142888"/>
              <a:gd name="csX8" fmla="*/ 0 w 901017"/>
              <a:gd name="csY8" fmla="*/ 23815 h 1428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01017" h="142888" extrusionOk="0">
                <a:moveTo>
                  <a:pt x="0" y="23815"/>
                </a:moveTo>
                <a:cubicBezTo>
                  <a:pt x="305" y="9850"/>
                  <a:pt x="10305" y="600"/>
                  <a:pt x="23815" y="0"/>
                </a:cubicBezTo>
                <a:cubicBezTo>
                  <a:pt x="378625" y="14779"/>
                  <a:pt x="724110" y="23071"/>
                  <a:pt x="877202" y="0"/>
                </a:cubicBezTo>
                <a:cubicBezTo>
                  <a:pt x="892684" y="610"/>
                  <a:pt x="901324" y="11428"/>
                  <a:pt x="901017" y="23815"/>
                </a:cubicBezTo>
                <a:cubicBezTo>
                  <a:pt x="905396" y="52276"/>
                  <a:pt x="908874" y="73143"/>
                  <a:pt x="901017" y="119073"/>
                </a:cubicBezTo>
                <a:cubicBezTo>
                  <a:pt x="900264" y="133642"/>
                  <a:pt x="891210" y="142654"/>
                  <a:pt x="877202" y="142888"/>
                </a:cubicBezTo>
                <a:cubicBezTo>
                  <a:pt x="451137" y="122419"/>
                  <a:pt x="411289" y="187529"/>
                  <a:pt x="23815" y="142888"/>
                </a:cubicBezTo>
                <a:cubicBezTo>
                  <a:pt x="11546" y="144274"/>
                  <a:pt x="-238" y="132274"/>
                  <a:pt x="0" y="119073"/>
                </a:cubicBezTo>
                <a:cubicBezTo>
                  <a:pt x="3941" y="90941"/>
                  <a:pt x="5802" y="54473"/>
                  <a:pt x="0" y="23815"/>
                </a:cubicBezTo>
                <a:close/>
              </a:path>
            </a:pathLst>
          </a:custGeom>
          <a:noFill/>
          <a:ln w="28575">
            <a:solidFill>
              <a:schemeClr val="accent2"/>
            </a:solidFill>
            <a:extLst>
              <a:ext uri="{C807C97D-BFC1-408E-A445-0C87EB9F89A2}">
                <ask:lineSketchStyleProps xmlns:ask="http://schemas.microsoft.com/office/drawing/2018/sketchyshapes" sd="1182209032">
                  <a:prstGeom prst="round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Tree>
    <p:extLst>
      <p:ext uri="{BB962C8B-B14F-4D97-AF65-F5344CB8AC3E}">
        <p14:creationId xmlns:p14="http://schemas.microsoft.com/office/powerpoint/2010/main" val="3457711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7"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01CE39D-3426-5EBD-15FD-2F6AF023D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0C36A-A5E3-972D-353D-C2FB6DB6DCAA}"/>
              </a:ext>
            </a:extLst>
          </p:cNvPr>
          <p:cNvSpPr>
            <a:spLocks noGrp="1"/>
          </p:cNvSpPr>
          <p:nvPr>
            <p:ph type="title"/>
          </p:nvPr>
        </p:nvSpPr>
        <p:spPr/>
        <p:txBody>
          <a:bodyPr/>
          <a:lstStyle/>
          <a:p>
            <a:r>
              <a:rPr lang="en-US"/>
              <a:t>Suggest your prompts</a:t>
            </a:r>
          </a:p>
        </p:txBody>
      </p:sp>
      <p:sp>
        <p:nvSpPr>
          <p:cNvPr id="3" name="Date Placeholder 2">
            <a:extLst>
              <a:ext uri="{FF2B5EF4-FFF2-40B4-BE49-F238E27FC236}">
                <a16:creationId xmlns:a16="http://schemas.microsoft.com/office/drawing/2014/main" id="{6F219BA7-9579-3442-0270-13BDEC930982}"/>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D65EABD3-47BC-925E-FF96-0DFD75A8D8C2}"/>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9" name="Slide Number Placeholder 8">
            <a:extLst>
              <a:ext uri="{FF2B5EF4-FFF2-40B4-BE49-F238E27FC236}">
                <a16:creationId xmlns:a16="http://schemas.microsoft.com/office/drawing/2014/main" id="{DDBAA330-0E20-EF8E-507C-3D7C6553CD6C}"/>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t>41</a:t>
            </a:fld>
            <a:endParaRPr lang="fi-FI"/>
          </a:p>
        </p:txBody>
      </p:sp>
      <p:pic>
        <p:nvPicPr>
          <p:cNvPr id="12" name="Picture 11">
            <a:extLst>
              <a:ext uri="{FF2B5EF4-FFF2-40B4-BE49-F238E27FC236}">
                <a16:creationId xmlns:a16="http://schemas.microsoft.com/office/drawing/2014/main" id="{AA7429D3-327E-20F3-791F-047C2195D18D}"/>
              </a:ext>
            </a:extLst>
          </p:cNvPr>
          <p:cNvPicPr>
            <a:picLocks noChangeAspect="1"/>
          </p:cNvPicPr>
          <p:nvPr/>
        </p:nvPicPr>
        <p:blipFill>
          <a:blip r:embed="rId2"/>
          <a:stretch>
            <a:fillRect/>
          </a:stretch>
        </p:blipFill>
        <p:spPr>
          <a:xfrm>
            <a:off x="2628900" y="1484784"/>
            <a:ext cx="6934200" cy="4211466"/>
          </a:xfrm>
          <a:custGeom>
            <a:avLst/>
            <a:gdLst>
              <a:gd name="csX0" fmla="*/ 0 w 6934200"/>
              <a:gd name="csY0" fmla="*/ 0 h 4211466"/>
              <a:gd name="csX1" fmla="*/ 554736 w 6934200"/>
              <a:gd name="csY1" fmla="*/ 0 h 4211466"/>
              <a:gd name="csX2" fmla="*/ 1109472 w 6934200"/>
              <a:gd name="csY2" fmla="*/ 0 h 4211466"/>
              <a:gd name="csX3" fmla="*/ 1733550 w 6934200"/>
              <a:gd name="csY3" fmla="*/ 0 h 4211466"/>
              <a:gd name="csX4" fmla="*/ 2426970 w 6934200"/>
              <a:gd name="csY4" fmla="*/ 0 h 4211466"/>
              <a:gd name="csX5" fmla="*/ 3189732 w 6934200"/>
              <a:gd name="csY5" fmla="*/ 0 h 4211466"/>
              <a:gd name="csX6" fmla="*/ 3952494 w 6934200"/>
              <a:gd name="csY6" fmla="*/ 0 h 4211466"/>
              <a:gd name="csX7" fmla="*/ 4784598 w 6934200"/>
              <a:gd name="csY7" fmla="*/ 0 h 4211466"/>
              <a:gd name="csX8" fmla="*/ 5269992 w 6934200"/>
              <a:gd name="csY8" fmla="*/ 0 h 4211466"/>
              <a:gd name="csX9" fmla="*/ 5963412 w 6934200"/>
              <a:gd name="csY9" fmla="*/ 0 h 4211466"/>
              <a:gd name="csX10" fmla="*/ 6934200 w 6934200"/>
              <a:gd name="csY10" fmla="*/ 0 h 4211466"/>
              <a:gd name="csX11" fmla="*/ 6934200 w 6934200"/>
              <a:gd name="csY11" fmla="*/ 685867 h 4211466"/>
              <a:gd name="csX12" fmla="*/ 6934200 w 6934200"/>
              <a:gd name="csY12" fmla="*/ 1203276 h 4211466"/>
              <a:gd name="csX13" fmla="*/ 6934200 w 6934200"/>
              <a:gd name="csY13" fmla="*/ 1720685 h 4211466"/>
              <a:gd name="csX14" fmla="*/ 6934200 w 6934200"/>
              <a:gd name="csY14" fmla="*/ 2364437 h 4211466"/>
              <a:gd name="csX15" fmla="*/ 6934200 w 6934200"/>
              <a:gd name="csY15" fmla="*/ 3008190 h 4211466"/>
              <a:gd name="csX16" fmla="*/ 6934200 w 6934200"/>
              <a:gd name="csY16" fmla="*/ 3651943 h 4211466"/>
              <a:gd name="csX17" fmla="*/ 6934200 w 6934200"/>
              <a:gd name="csY17" fmla="*/ 4211466 h 4211466"/>
              <a:gd name="csX18" fmla="*/ 6448806 w 6934200"/>
              <a:gd name="csY18" fmla="*/ 4211466 h 4211466"/>
              <a:gd name="csX19" fmla="*/ 5963412 w 6934200"/>
              <a:gd name="csY19" fmla="*/ 4211466 h 4211466"/>
              <a:gd name="csX20" fmla="*/ 5269992 w 6934200"/>
              <a:gd name="csY20" fmla="*/ 4211466 h 4211466"/>
              <a:gd name="csX21" fmla="*/ 4576572 w 6934200"/>
              <a:gd name="csY21" fmla="*/ 4211466 h 4211466"/>
              <a:gd name="csX22" fmla="*/ 4091178 w 6934200"/>
              <a:gd name="csY22" fmla="*/ 4211466 h 4211466"/>
              <a:gd name="csX23" fmla="*/ 3397758 w 6934200"/>
              <a:gd name="csY23" fmla="*/ 4211466 h 4211466"/>
              <a:gd name="csX24" fmla="*/ 2565654 w 6934200"/>
              <a:gd name="csY24" fmla="*/ 4211466 h 4211466"/>
              <a:gd name="csX25" fmla="*/ 2010918 w 6934200"/>
              <a:gd name="csY25" fmla="*/ 4211466 h 4211466"/>
              <a:gd name="csX26" fmla="*/ 1525524 w 6934200"/>
              <a:gd name="csY26" fmla="*/ 4211466 h 4211466"/>
              <a:gd name="csX27" fmla="*/ 901446 w 6934200"/>
              <a:gd name="csY27" fmla="*/ 4211466 h 4211466"/>
              <a:gd name="csX28" fmla="*/ 0 w 6934200"/>
              <a:gd name="csY28" fmla="*/ 4211466 h 4211466"/>
              <a:gd name="csX29" fmla="*/ 0 w 6934200"/>
              <a:gd name="csY29" fmla="*/ 3694057 h 4211466"/>
              <a:gd name="csX30" fmla="*/ 0 w 6934200"/>
              <a:gd name="csY30" fmla="*/ 3050305 h 4211466"/>
              <a:gd name="csX31" fmla="*/ 0 w 6934200"/>
              <a:gd name="csY31" fmla="*/ 2406552 h 4211466"/>
              <a:gd name="csX32" fmla="*/ 0 w 6934200"/>
              <a:gd name="csY32" fmla="*/ 1931258 h 4211466"/>
              <a:gd name="csX33" fmla="*/ 0 w 6934200"/>
              <a:gd name="csY33" fmla="*/ 1371735 h 4211466"/>
              <a:gd name="csX34" fmla="*/ 0 w 6934200"/>
              <a:gd name="csY34" fmla="*/ 685867 h 4211466"/>
              <a:gd name="csX35" fmla="*/ 0 w 6934200"/>
              <a:gd name="csY35" fmla="*/ 0 h 4211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6934200" h="4211466" fill="none" extrusionOk="0">
                <a:moveTo>
                  <a:pt x="0" y="0"/>
                </a:moveTo>
                <a:cubicBezTo>
                  <a:pt x="153603" y="-11833"/>
                  <a:pt x="394898" y="27438"/>
                  <a:pt x="554736" y="0"/>
                </a:cubicBezTo>
                <a:cubicBezTo>
                  <a:pt x="714574" y="-27438"/>
                  <a:pt x="842055" y="-11803"/>
                  <a:pt x="1109472" y="0"/>
                </a:cubicBezTo>
                <a:cubicBezTo>
                  <a:pt x="1376889" y="11803"/>
                  <a:pt x="1494773" y="-4273"/>
                  <a:pt x="1733550" y="0"/>
                </a:cubicBezTo>
                <a:cubicBezTo>
                  <a:pt x="1972327" y="4273"/>
                  <a:pt x="2189935" y="-25535"/>
                  <a:pt x="2426970" y="0"/>
                </a:cubicBezTo>
                <a:cubicBezTo>
                  <a:pt x="2664005" y="25535"/>
                  <a:pt x="2889005" y="-35893"/>
                  <a:pt x="3189732" y="0"/>
                </a:cubicBezTo>
                <a:cubicBezTo>
                  <a:pt x="3490459" y="35893"/>
                  <a:pt x="3628883" y="-15046"/>
                  <a:pt x="3952494" y="0"/>
                </a:cubicBezTo>
                <a:cubicBezTo>
                  <a:pt x="4276105" y="15046"/>
                  <a:pt x="4533559" y="6265"/>
                  <a:pt x="4784598" y="0"/>
                </a:cubicBezTo>
                <a:cubicBezTo>
                  <a:pt x="5035637" y="-6265"/>
                  <a:pt x="5112343" y="-14970"/>
                  <a:pt x="5269992" y="0"/>
                </a:cubicBezTo>
                <a:cubicBezTo>
                  <a:pt x="5427641" y="14970"/>
                  <a:pt x="5649670" y="-2591"/>
                  <a:pt x="5963412" y="0"/>
                </a:cubicBezTo>
                <a:cubicBezTo>
                  <a:pt x="6277154" y="2591"/>
                  <a:pt x="6667672" y="-5364"/>
                  <a:pt x="6934200" y="0"/>
                </a:cubicBezTo>
                <a:cubicBezTo>
                  <a:pt x="6961052" y="253598"/>
                  <a:pt x="6935989" y="445646"/>
                  <a:pt x="6934200" y="685867"/>
                </a:cubicBezTo>
                <a:cubicBezTo>
                  <a:pt x="6932411" y="926088"/>
                  <a:pt x="6954571" y="946911"/>
                  <a:pt x="6934200" y="1203276"/>
                </a:cubicBezTo>
                <a:cubicBezTo>
                  <a:pt x="6913829" y="1459641"/>
                  <a:pt x="6941912" y="1571328"/>
                  <a:pt x="6934200" y="1720685"/>
                </a:cubicBezTo>
                <a:cubicBezTo>
                  <a:pt x="6926488" y="1870042"/>
                  <a:pt x="6936897" y="2079193"/>
                  <a:pt x="6934200" y="2364437"/>
                </a:cubicBezTo>
                <a:cubicBezTo>
                  <a:pt x="6931503" y="2649681"/>
                  <a:pt x="6940081" y="2870938"/>
                  <a:pt x="6934200" y="3008190"/>
                </a:cubicBezTo>
                <a:cubicBezTo>
                  <a:pt x="6928319" y="3145442"/>
                  <a:pt x="6930884" y="3435157"/>
                  <a:pt x="6934200" y="3651943"/>
                </a:cubicBezTo>
                <a:cubicBezTo>
                  <a:pt x="6937516" y="3868729"/>
                  <a:pt x="6922229" y="3953138"/>
                  <a:pt x="6934200" y="4211466"/>
                </a:cubicBezTo>
                <a:cubicBezTo>
                  <a:pt x="6726826" y="4222659"/>
                  <a:pt x="6550024" y="4198605"/>
                  <a:pt x="6448806" y="4211466"/>
                </a:cubicBezTo>
                <a:cubicBezTo>
                  <a:pt x="6347588" y="4224327"/>
                  <a:pt x="6143553" y="4217421"/>
                  <a:pt x="5963412" y="4211466"/>
                </a:cubicBezTo>
                <a:cubicBezTo>
                  <a:pt x="5783271" y="4205511"/>
                  <a:pt x="5510429" y="4177409"/>
                  <a:pt x="5269992" y="4211466"/>
                </a:cubicBezTo>
                <a:cubicBezTo>
                  <a:pt x="5029555" y="4245523"/>
                  <a:pt x="4899282" y="4205868"/>
                  <a:pt x="4576572" y="4211466"/>
                </a:cubicBezTo>
                <a:cubicBezTo>
                  <a:pt x="4253862" y="4217064"/>
                  <a:pt x="4228607" y="4205563"/>
                  <a:pt x="4091178" y="4211466"/>
                </a:cubicBezTo>
                <a:cubicBezTo>
                  <a:pt x="3953749" y="4217369"/>
                  <a:pt x="3665576" y="4237890"/>
                  <a:pt x="3397758" y="4211466"/>
                </a:cubicBezTo>
                <a:cubicBezTo>
                  <a:pt x="3129940" y="4185042"/>
                  <a:pt x="2763800" y="4199511"/>
                  <a:pt x="2565654" y="4211466"/>
                </a:cubicBezTo>
                <a:cubicBezTo>
                  <a:pt x="2367508" y="4223421"/>
                  <a:pt x="2224670" y="4217912"/>
                  <a:pt x="2010918" y="4211466"/>
                </a:cubicBezTo>
                <a:cubicBezTo>
                  <a:pt x="1797166" y="4205020"/>
                  <a:pt x="1744355" y="4221663"/>
                  <a:pt x="1525524" y="4211466"/>
                </a:cubicBezTo>
                <a:cubicBezTo>
                  <a:pt x="1306693" y="4201269"/>
                  <a:pt x="1186635" y="4213266"/>
                  <a:pt x="901446" y="4211466"/>
                </a:cubicBezTo>
                <a:cubicBezTo>
                  <a:pt x="616257" y="4209666"/>
                  <a:pt x="320462" y="4170415"/>
                  <a:pt x="0" y="4211466"/>
                </a:cubicBezTo>
                <a:cubicBezTo>
                  <a:pt x="1330" y="4104692"/>
                  <a:pt x="17766" y="3887318"/>
                  <a:pt x="0" y="3694057"/>
                </a:cubicBezTo>
                <a:cubicBezTo>
                  <a:pt x="-17766" y="3500796"/>
                  <a:pt x="-10555" y="3223395"/>
                  <a:pt x="0" y="3050305"/>
                </a:cubicBezTo>
                <a:cubicBezTo>
                  <a:pt x="10555" y="2877215"/>
                  <a:pt x="-17594" y="2587937"/>
                  <a:pt x="0" y="2406552"/>
                </a:cubicBezTo>
                <a:cubicBezTo>
                  <a:pt x="17594" y="2225167"/>
                  <a:pt x="8973" y="2132104"/>
                  <a:pt x="0" y="1931258"/>
                </a:cubicBezTo>
                <a:cubicBezTo>
                  <a:pt x="-8973" y="1730412"/>
                  <a:pt x="2744" y="1492297"/>
                  <a:pt x="0" y="1371735"/>
                </a:cubicBezTo>
                <a:cubicBezTo>
                  <a:pt x="-2744" y="1251173"/>
                  <a:pt x="5966" y="837272"/>
                  <a:pt x="0" y="685867"/>
                </a:cubicBezTo>
                <a:cubicBezTo>
                  <a:pt x="-5966" y="534462"/>
                  <a:pt x="-9777" y="324952"/>
                  <a:pt x="0" y="0"/>
                </a:cubicBezTo>
                <a:close/>
              </a:path>
              <a:path w="6934200" h="4211466" stroke="0" extrusionOk="0">
                <a:moveTo>
                  <a:pt x="0" y="0"/>
                </a:moveTo>
                <a:cubicBezTo>
                  <a:pt x="185708" y="-38505"/>
                  <a:pt x="425538" y="-41145"/>
                  <a:pt x="832104" y="0"/>
                </a:cubicBezTo>
                <a:cubicBezTo>
                  <a:pt x="1238670" y="41145"/>
                  <a:pt x="1219258" y="15072"/>
                  <a:pt x="1317498" y="0"/>
                </a:cubicBezTo>
                <a:cubicBezTo>
                  <a:pt x="1415738" y="-15072"/>
                  <a:pt x="1834189" y="-16459"/>
                  <a:pt x="2149602" y="0"/>
                </a:cubicBezTo>
                <a:cubicBezTo>
                  <a:pt x="2465015" y="16459"/>
                  <a:pt x="2525657" y="5144"/>
                  <a:pt x="2704338" y="0"/>
                </a:cubicBezTo>
                <a:cubicBezTo>
                  <a:pt x="2883019" y="-5144"/>
                  <a:pt x="3342830" y="-23084"/>
                  <a:pt x="3536442" y="0"/>
                </a:cubicBezTo>
                <a:cubicBezTo>
                  <a:pt x="3730054" y="23084"/>
                  <a:pt x="4027275" y="29058"/>
                  <a:pt x="4229862" y="0"/>
                </a:cubicBezTo>
                <a:cubicBezTo>
                  <a:pt x="4432449" y="-29058"/>
                  <a:pt x="4662051" y="-26794"/>
                  <a:pt x="4992624" y="0"/>
                </a:cubicBezTo>
                <a:cubicBezTo>
                  <a:pt x="5323197" y="26794"/>
                  <a:pt x="5520472" y="-17552"/>
                  <a:pt x="5686044" y="0"/>
                </a:cubicBezTo>
                <a:cubicBezTo>
                  <a:pt x="5851616" y="17552"/>
                  <a:pt x="6009072" y="-4033"/>
                  <a:pt x="6171438" y="0"/>
                </a:cubicBezTo>
                <a:cubicBezTo>
                  <a:pt x="6333804" y="4033"/>
                  <a:pt x="6589553" y="14640"/>
                  <a:pt x="6934200" y="0"/>
                </a:cubicBezTo>
                <a:cubicBezTo>
                  <a:pt x="6958880" y="244759"/>
                  <a:pt x="6954704" y="397903"/>
                  <a:pt x="6934200" y="601638"/>
                </a:cubicBezTo>
                <a:cubicBezTo>
                  <a:pt x="6913696" y="805373"/>
                  <a:pt x="6952976" y="903450"/>
                  <a:pt x="6934200" y="1119047"/>
                </a:cubicBezTo>
                <a:cubicBezTo>
                  <a:pt x="6915424" y="1334644"/>
                  <a:pt x="6928190" y="1499316"/>
                  <a:pt x="6934200" y="1636455"/>
                </a:cubicBezTo>
                <a:cubicBezTo>
                  <a:pt x="6940210" y="1773594"/>
                  <a:pt x="6934164" y="2073936"/>
                  <a:pt x="6934200" y="2238093"/>
                </a:cubicBezTo>
                <a:cubicBezTo>
                  <a:pt x="6934236" y="2402250"/>
                  <a:pt x="6922662" y="2539963"/>
                  <a:pt x="6934200" y="2797617"/>
                </a:cubicBezTo>
                <a:cubicBezTo>
                  <a:pt x="6945738" y="3055271"/>
                  <a:pt x="6934551" y="3164805"/>
                  <a:pt x="6934200" y="3272911"/>
                </a:cubicBezTo>
                <a:cubicBezTo>
                  <a:pt x="6933849" y="3381017"/>
                  <a:pt x="6918261" y="3893118"/>
                  <a:pt x="6934200" y="4211466"/>
                </a:cubicBezTo>
                <a:cubicBezTo>
                  <a:pt x="6740955" y="4211803"/>
                  <a:pt x="6431077" y="4236024"/>
                  <a:pt x="6240780" y="4211466"/>
                </a:cubicBezTo>
                <a:cubicBezTo>
                  <a:pt x="6050483" y="4186908"/>
                  <a:pt x="5903109" y="4189253"/>
                  <a:pt x="5755386" y="4211466"/>
                </a:cubicBezTo>
                <a:cubicBezTo>
                  <a:pt x="5607663" y="4233679"/>
                  <a:pt x="5293706" y="4238424"/>
                  <a:pt x="4923282" y="4211466"/>
                </a:cubicBezTo>
                <a:cubicBezTo>
                  <a:pt x="4552858" y="4184508"/>
                  <a:pt x="4562053" y="4201918"/>
                  <a:pt x="4437888" y="4211466"/>
                </a:cubicBezTo>
                <a:cubicBezTo>
                  <a:pt x="4313723" y="4221014"/>
                  <a:pt x="4162332" y="4195240"/>
                  <a:pt x="3952494" y="4211466"/>
                </a:cubicBezTo>
                <a:cubicBezTo>
                  <a:pt x="3742656" y="4227692"/>
                  <a:pt x="3677518" y="4211969"/>
                  <a:pt x="3467100" y="4211466"/>
                </a:cubicBezTo>
                <a:cubicBezTo>
                  <a:pt x="3256682" y="4210963"/>
                  <a:pt x="3213685" y="4212238"/>
                  <a:pt x="2981706" y="4211466"/>
                </a:cubicBezTo>
                <a:cubicBezTo>
                  <a:pt x="2749727" y="4210694"/>
                  <a:pt x="2591343" y="4189071"/>
                  <a:pt x="2426970" y="4211466"/>
                </a:cubicBezTo>
                <a:cubicBezTo>
                  <a:pt x="2262597" y="4233861"/>
                  <a:pt x="1917817" y="4174633"/>
                  <a:pt x="1594866" y="4211466"/>
                </a:cubicBezTo>
                <a:cubicBezTo>
                  <a:pt x="1271915" y="4248299"/>
                  <a:pt x="1235996" y="4225070"/>
                  <a:pt x="1109472" y="4211466"/>
                </a:cubicBezTo>
                <a:cubicBezTo>
                  <a:pt x="982948" y="4197862"/>
                  <a:pt x="514992" y="4238775"/>
                  <a:pt x="0" y="4211466"/>
                </a:cubicBezTo>
                <a:cubicBezTo>
                  <a:pt x="-12439" y="4046223"/>
                  <a:pt x="-7669" y="3718731"/>
                  <a:pt x="0" y="3525599"/>
                </a:cubicBezTo>
                <a:cubicBezTo>
                  <a:pt x="7669" y="3332467"/>
                  <a:pt x="15270" y="3126701"/>
                  <a:pt x="0" y="3008190"/>
                </a:cubicBezTo>
                <a:cubicBezTo>
                  <a:pt x="-15270" y="2889679"/>
                  <a:pt x="-9791" y="2551423"/>
                  <a:pt x="0" y="2322323"/>
                </a:cubicBezTo>
                <a:cubicBezTo>
                  <a:pt x="9791" y="2093223"/>
                  <a:pt x="-27269" y="1922132"/>
                  <a:pt x="0" y="1720685"/>
                </a:cubicBezTo>
                <a:cubicBezTo>
                  <a:pt x="27269" y="1519238"/>
                  <a:pt x="33749" y="1283719"/>
                  <a:pt x="0" y="1034817"/>
                </a:cubicBezTo>
                <a:cubicBezTo>
                  <a:pt x="-33749" y="785915"/>
                  <a:pt x="-33810" y="297288"/>
                  <a:pt x="0" y="0"/>
                </a:cubicBezTo>
                <a:close/>
              </a:path>
            </a:pathLst>
          </a:custGeom>
          <a:ln w="57150">
            <a:solidFill>
              <a:schemeClr val="accent2"/>
            </a:solidFill>
            <a:extLst>
              <a:ext uri="{C807C97D-BFC1-408E-A445-0C87EB9F89A2}">
                <ask:lineSketchStyleProps xmlns:ask="http://schemas.microsoft.com/office/drawing/2018/sketchyshapes" sd="1036067380">
                  <a:prstGeom prst="rect">
                    <a:avLst/>
                  </a:prstGeom>
                  <ask:type>
                    <ask:lineSketchFreehand/>
                  </ask:type>
                </ask:lineSketchStyleProps>
              </a:ext>
            </a:extLst>
          </a:ln>
          <a:effectLst>
            <a:outerShdw blurRad="63500" sx="102000" sy="102000" algn="ctr" rotWithShape="0">
              <a:prstClr val="black">
                <a:alpha val="40000"/>
              </a:prstClr>
            </a:outerShdw>
            <a:softEdge rad="31750"/>
          </a:effectLst>
        </p:spPr>
      </p:pic>
      <p:pic>
        <p:nvPicPr>
          <p:cNvPr id="14" name="Picture 13">
            <a:extLst>
              <a:ext uri="{FF2B5EF4-FFF2-40B4-BE49-F238E27FC236}">
                <a16:creationId xmlns:a16="http://schemas.microsoft.com/office/drawing/2014/main" id="{05BC3BDD-040E-0A12-BB28-6CDD81629A5A}"/>
              </a:ext>
            </a:extLst>
          </p:cNvPr>
          <p:cNvPicPr>
            <a:picLocks noChangeAspect="1"/>
          </p:cNvPicPr>
          <p:nvPr/>
        </p:nvPicPr>
        <p:blipFill>
          <a:blip r:embed="rId3"/>
          <a:stretch>
            <a:fillRect/>
          </a:stretch>
        </p:blipFill>
        <p:spPr>
          <a:xfrm>
            <a:off x="6244271" y="404813"/>
            <a:ext cx="4892042" cy="486274"/>
          </a:xfrm>
          <a:prstGeom prst="rect">
            <a:avLst/>
          </a:prstGeom>
        </p:spPr>
      </p:pic>
      <p:sp>
        <p:nvSpPr>
          <p:cNvPr id="15" name="Rectangle: Rounded Corners 14">
            <a:extLst>
              <a:ext uri="{FF2B5EF4-FFF2-40B4-BE49-F238E27FC236}">
                <a16:creationId xmlns:a16="http://schemas.microsoft.com/office/drawing/2014/main" id="{81B08712-AC5A-72F7-2819-395CDF288712}"/>
              </a:ext>
            </a:extLst>
          </p:cNvPr>
          <p:cNvSpPr/>
          <p:nvPr/>
        </p:nvSpPr>
        <p:spPr>
          <a:xfrm>
            <a:off x="8442097" y="561974"/>
            <a:ext cx="983843" cy="230505"/>
          </a:xfrm>
          <a:custGeom>
            <a:avLst/>
            <a:gdLst>
              <a:gd name="csX0" fmla="*/ 0 w 983843"/>
              <a:gd name="csY0" fmla="*/ 38418 h 230505"/>
              <a:gd name="csX1" fmla="*/ 38418 w 983843"/>
              <a:gd name="csY1" fmla="*/ 0 h 230505"/>
              <a:gd name="csX2" fmla="*/ 945425 w 983843"/>
              <a:gd name="csY2" fmla="*/ 0 h 230505"/>
              <a:gd name="csX3" fmla="*/ 983843 w 983843"/>
              <a:gd name="csY3" fmla="*/ 38418 h 230505"/>
              <a:gd name="csX4" fmla="*/ 983843 w 983843"/>
              <a:gd name="csY4" fmla="*/ 192087 h 230505"/>
              <a:gd name="csX5" fmla="*/ 945425 w 983843"/>
              <a:gd name="csY5" fmla="*/ 230505 h 230505"/>
              <a:gd name="csX6" fmla="*/ 38418 w 983843"/>
              <a:gd name="csY6" fmla="*/ 230505 h 230505"/>
              <a:gd name="csX7" fmla="*/ 0 w 983843"/>
              <a:gd name="csY7" fmla="*/ 192087 h 230505"/>
              <a:gd name="csX8" fmla="*/ 0 w 983843"/>
              <a:gd name="csY8" fmla="*/ 38418 h 2305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83843" h="230505" extrusionOk="0">
                <a:moveTo>
                  <a:pt x="0" y="38418"/>
                </a:moveTo>
                <a:cubicBezTo>
                  <a:pt x="1423" y="13416"/>
                  <a:pt x="16916" y="478"/>
                  <a:pt x="38418" y="0"/>
                </a:cubicBezTo>
                <a:cubicBezTo>
                  <a:pt x="147378" y="-33601"/>
                  <a:pt x="765122" y="-13085"/>
                  <a:pt x="945425" y="0"/>
                </a:cubicBezTo>
                <a:cubicBezTo>
                  <a:pt x="969327" y="703"/>
                  <a:pt x="984229" y="18163"/>
                  <a:pt x="983843" y="38418"/>
                </a:cubicBezTo>
                <a:cubicBezTo>
                  <a:pt x="991423" y="111884"/>
                  <a:pt x="983855" y="174615"/>
                  <a:pt x="983843" y="192087"/>
                </a:cubicBezTo>
                <a:cubicBezTo>
                  <a:pt x="981915" y="216932"/>
                  <a:pt x="966948" y="230422"/>
                  <a:pt x="945425" y="230505"/>
                </a:cubicBezTo>
                <a:cubicBezTo>
                  <a:pt x="669804" y="277176"/>
                  <a:pt x="232378" y="168270"/>
                  <a:pt x="38418" y="230505"/>
                </a:cubicBezTo>
                <a:cubicBezTo>
                  <a:pt x="18205" y="232081"/>
                  <a:pt x="-2261" y="213759"/>
                  <a:pt x="0" y="192087"/>
                </a:cubicBezTo>
                <a:cubicBezTo>
                  <a:pt x="-6589" y="153515"/>
                  <a:pt x="-1283" y="98624"/>
                  <a:pt x="0" y="38418"/>
                </a:cubicBezTo>
                <a:close/>
              </a:path>
            </a:pathLst>
          </a:custGeom>
          <a:noFill/>
          <a:ln w="28575">
            <a:solidFill>
              <a:schemeClr val="accent2"/>
            </a:solidFill>
            <a:extLst>
              <a:ext uri="{C807C97D-BFC1-408E-A445-0C87EB9F89A2}">
                <ask:lineSketchStyleProps xmlns:ask="http://schemas.microsoft.com/office/drawing/2018/sketchyshapes" sd="1182209032">
                  <a:prstGeom prst="round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Tree>
    <p:extLst>
      <p:ext uri="{BB962C8B-B14F-4D97-AF65-F5344CB8AC3E}">
        <p14:creationId xmlns:p14="http://schemas.microsoft.com/office/powerpoint/2010/main" val="3463427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B928607-4B1D-2114-C330-28A8BB7E1308}"/>
              </a:ext>
            </a:extLst>
          </p:cNvPr>
          <p:cNvSpPr>
            <a:spLocks noGrp="1"/>
          </p:cNvSpPr>
          <p:nvPr>
            <p:ph type="title"/>
          </p:nvPr>
        </p:nvSpPr>
        <p:spPr/>
        <p:txBody>
          <a:bodyPr/>
          <a:lstStyle/>
          <a:p>
            <a:r>
              <a:rPr lang="en-US"/>
              <a:t>4. Beyond text generation</a:t>
            </a:r>
          </a:p>
        </p:txBody>
      </p:sp>
      <p:pic>
        <p:nvPicPr>
          <p:cNvPr id="8" name="Picture Placeholder 10" descr="Illustration of a scientist portrayed symbolically, with a modern gadget. The gadget consists of simplified icons: a diagnostic tool for debugging, a pie chart for data analysis, a broom for data cleaning, and a sketch pad for design.&#10;">
            <a:extLst>
              <a:ext uri="{FF2B5EF4-FFF2-40B4-BE49-F238E27FC236}">
                <a16:creationId xmlns:a16="http://schemas.microsoft.com/office/drawing/2014/main" id="{D52E0AD2-9D40-2EC3-7A6D-55FF641C0853}"/>
              </a:ext>
            </a:extLst>
          </p:cNvPr>
          <p:cNvPicPr>
            <a:picLocks noGrp="1" noChangeAspect="1"/>
          </p:cNvPicPr>
          <p:nvPr>
            <p:ph type="pic" sz="quarter" idx="13"/>
          </p:nvPr>
        </p:nvPicPr>
        <p:blipFill>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l="5556" r="5556"/>
          <a:stretch>
            <a:fillRect/>
          </a:stretch>
        </p:blipFill>
        <p:spPr>
          <a:xfrm>
            <a:off x="6096000" y="0"/>
            <a:ext cx="6096000" cy="6858000"/>
          </a:xfrm>
        </p:spPr>
      </p:pic>
      <p:sp>
        <p:nvSpPr>
          <p:cNvPr id="4" name="Slide Number Placeholder 3">
            <a:extLst>
              <a:ext uri="{FF2B5EF4-FFF2-40B4-BE49-F238E27FC236}">
                <a16:creationId xmlns:a16="http://schemas.microsoft.com/office/drawing/2014/main" id="{A14704BA-09DA-EBC7-7DA2-DC2543918504}"/>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pPr/>
              <a:t>42</a:t>
            </a:fld>
            <a:endParaRPr lang="fi-FI"/>
          </a:p>
        </p:txBody>
      </p:sp>
      <p:sp>
        <p:nvSpPr>
          <p:cNvPr id="2" name="Date Placeholder 1">
            <a:extLst>
              <a:ext uri="{FF2B5EF4-FFF2-40B4-BE49-F238E27FC236}">
                <a16:creationId xmlns:a16="http://schemas.microsoft.com/office/drawing/2014/main" id="{A80B248D-9646-DA8C-C2C1-54487580EA86}"/>
              </a:ext>
            </a:extLst>
          </p:cNvPr>
          <p:cNvSpPr>
            <a:spLocks noGrp="1"/>
          </p:cNvSpPr>
          <p:nvPr>
            <p:ph type="dt" sz="half" idx="17"/>
          </p:nvPr>
        </p:nvSpPr>
        <p:spPr/>
        <p:txBody>
          <a:bodyPr/>
          <a:lstStyle/>
          <a:p>
            <a:r>
              <a:rPr lang="fi-FI"/>
              <a:t>28.04.2026</a:t>
            </a:r>
          </a:p>
        </p:txBody>
      </p:sp>
      <p:sp>
        <p:nvSpPr>
          <p:cNvPr id="5" name="Footer Placeholder 4">
            <a:extLst>
              <a:ext uri="{FF2B5EF4-FFF2-40B4-BE49-F238E27FC236}">
                <a16:creationId xmlns:a16="http://schemas.microsoft.com/office/drawing/2014/main" id="{C7F7429D-9350-84F4-7F11-53D36897EC93}"/>
              </a:ext>
            </a:extLst>
          </p:cNvPr>
          <p:cNvSpPr>
            <a:spLocks noGrp="1"/>
          </p:cNvSpPr>
          <p:nvPr>
            <p:ph type="ftr" sz="quarter" idx="18"/>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0117218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35B51-3888-5C03-3643-22940446D5A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DA3FBB-25F2-B492-521D-C006E1150E6D}"/>
              </a:ext>
            </a:extLst>
          </p:cNvPr>
          <p:cNvSpPr>
            <a:spLocks noGrp="1"/>
          </p:cNvSpPr>
          <p:nvPr>
            <p:ph type="sldNum" sz="quarter" idx="12"/>
          </p:nvPr>
        </p:nvSpPr>
        <p:spPr/>
        <p:txBody>
          <a:bodyPr/>
          <a:lstStyle/>
          <a:p>
            <a:fld id="{D701140D-C14F-41CA-99FC-0EF83E8DA40A}" type="slidenum">
              <a:rPr lang="fi-FI" smtClean="0"/>
              <a:pPr/>
              <a:t>43</a:t>
            </a:fld>
            <a:endParaRPr lang="fi-FI"/>
          </a:p>
        </p:txBody>
      </p:sp>
      <p:sp>
        <p:nvSpPr>
          <p:cNvPr id="3" name="Title 2">
            <a:extLst>
              <a:ext uri="{FF2B5EF4-FFF2-40B4-BE49-F238E27FC236}">
                <a16:creationId xmlns:a16="http://schemas.microsoft.com/office/drawing/2014/main" id="{2A6B5276-FED2-C109-AA9C-0F1CD285EB11}"/>
              </a:ext>
            </a:extLst>
          </p:cNvPr>
          <p:cNvSpPr>
            <a:spLocks noGrp="1"/>
          </p:cNvSpPr>
          <p:nvPr>
            <p:ph type="ctrTitle"/>
          </p:nvPr>
        </p:nvSpPr>
        <p:spPr/>
        <p:txBody>
          <a:bodyPr/>
          <a:lstStyle/>
          <a:p>
            <a:r>
              <a:rPr lang="en-FI"/>
              <a:t>4. Beyond prompt generation</a:t>
            </a:r>
          </a:p>
        </p:txBody>
      </p:sp>
      <p:sp>
        <p:nvSpPr>
          <p:cNvPr id="4" name="Date Placeholder 3">
            <a:extLst>
              <a:ext uri="{FF2B5EF4-FFF2-40B4-BE49-F238E27FC236}">
                <a16:creationId xmlns:a16="http://schemas.microsoft.com/office/drawing/2014/main" id="{8C13492D-864D-1267-F0BB-E8CF996C9C81}"/>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001AE801-92BA-F1C6-E56A-0A2015EE9EC6}"/>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41348597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9DE22-1079-8C11-33AA-3DC350C93468}"/>
              </a:ext>
            </a:extLst>
          </p:cNvPr>
          <p:cNvSpPr>
            <a:spLocks noGrp="1"/>
          </p:cNvSpPr>
          <p:nvPr>
            <p:ph type="title"/>
          </p:nvPr>
        </p:nvSpPr>
        <p:spPr/>
        <p:txBody>
          <a:bodyPr/>
          <a:lstStyle/>
          <a:p>
            <a:r>
              <a:rPr lang="en-US"/>
              <a:t>4. Beyond text generation</a:t>
            </a:r>
          </a:p>
        </p:txBody>
      </p:sp>
      <p:sp>
        <p:nvSpPr>
          <p:cNvPr id="6" name="Text Placeholder 5">
            <a:extLst>
              <a:ext uri="{FF2B5EF4-FFF2-40B4-BE49-F238E27FC236}">
                <a16:creationId xmlns:a16="http://schemas.microsoft.com/office/drawing/2014/main" id="{92F3E8D3-B87D-673A-776C-12D9463769B7}"/>
              </a:ext>
            </a:extLst>
          </p:cNvPr>
          <p:cNvSpPr>
            <a:spLocks noGrp="1"/>
          </p:cNvSpPr>
          <p:nvPr>
            <p:ph type="body" sz="quarter" idx="13"/>
          </p:nvPr>
        </p:nvSpPr>
        <p:spPr/>
        <p:txBody>
          <a:bodyPr/>
          <a:lstStyle/>
          <a:p>
            <a:pPr marL="457200" indent="-457200">
              <a:buFont typeface="+mj-lt"/>
              <a:buAutoNum type="arabicPeriod"/>
            </a:pPr>
            <a:r>
              <a:rPr lang="en-US" sz="2000" b="1"/>
              <a:t>Image generation</a:t>
            </a:r>
            <a:r>
              <a:rPr lang="en-US" sz="2000"/>
              <a:t>: Midjourney, Dall-e, …</a:t>
            </a:r>
          </a:p>
          <a:p>
            <a:pPr marL="457200" indent="-457200">
              <a:buFont typeface="+mj-lt"/>
              <a:buAutoNum type="arabicPeriod"/>
            </a:pPr>
            <a:r>
              <a:rPr lang="en-US" sz="2000" b="1"/>
              <a:t>Other tools for academics</a:t>
            </a:r>
          </a:p>
          <a:p>
            <a:pPr marL="457200" indent="-457200">
              <a:buFont typeface="+mj-lt"/>
              <a:buAutoNum type="arabicPeriod"/>
            </a:pPr>
            <a:r>
              <a:rPr lang="en-US" sz="2000" b="1"/>
              <a:t>Advanced prompting techniques</a:t>
            </a:r>
          </a:p>
          <a:p>
            <a:pPr marL="457200" indent="-457200">
              <a:buFont typeface="+mj-lt"/>
              <a:buAutoNum type="arabicPeriod"/>
            </a:pPr>
            <a:r>
              <a:rPr lang="en-US" sz="2000" b="1"/>
              <a:t>Local open source LLMs </a:t>
            </a:r>
            <a:r>
              <a:rPr lang="en-US" sz="2000"/>
              <a:t>for increased privacy, safety, and reproducibility</a:t>
            </a:r>
          </a:p>
          <a:p>
            <a:pPr marL="457200" indent="-457200">
              <a:buFont typeface="+mj-lt"/>
              <a:buAutoNum type="arabicPeriod"/>
            </a:pPr>
            <a:r>
              <a:rPr lang="en-US" sz="2000" b="1"/>
              <a:t>Develop</a:t>
            </a:r>
            <a:r>
              <a:rPr lang="en-US" sz="2000"/>
              <a:t> your AI application (paid APIs, local fine-tuning with OSS)</a:t>
            </a:r>
          </a:p>
          <a:p>
            <a:pPr marL="457200" indent="-457200">
              <a:buFont typeface="+mj-lt"/>
              <a:buAutoNum type="arabicPeriod"/>
            </a:pPr>
            <a:r>
              <a:rPr lang="en-US" sz="2000" b="1"/>
              <a:t>Coding with LLMs</a:t>
            </a:r>
          </a:p>
          <a:p>
            <a:endParaRPr lang="en-US" sz="2000"/>
          </a:p>
          <a:p>
            <a:endParaRPr lang="en-US" sz="2000"/>
          </a:p>
        </p:txBody>
      </p:sp>
      <p:sp>
        <p:nvSpPr>
          <p:cNvPr id="7" name="Slide Number Placeholder 6">
            <a:extLst>
              <a:ext uri="{FF2B5EF4-FFF2-40B4-BE49-F238E27FC236}">
                <a16:creationId xmlns:a16="http://schemas.microsoft.com/office/drawing/2014/main" id="{9CCC4E7A-F520-1E60-27B4-95CCACF4F581}"/>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44</a:t>
            </a:fld>
            <a:endParaRPr lang="fi-FI"/>
          </a:p>
        </p:txBody>
      </p:sp>
      <p:sp>
        <p:nvSpPr>
          <p:cNvPr id="3" name="Date Placeholder 2">
            <a:extLst>
              <a:ext uri="{FF2B5EF4-FFF2-40B4-BE49-F238E27FC236}">
                <a16:creationId xmlns:a16="http://schemas.microsoft.com/office/drawing/2014/main" id="{FA2CB571-C392-C7DE-F36F-1DB305227A0F}"/>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102EF65B-EE24-9C75-3D42-0A2CF111BABC}"/>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5178237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4B9FBA1-A193-4443-0992-6B31C0488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88B8B-8F24-8AA8-4D44-8B5AA38D29DE}"/>
              </a:ext>
            </a:extLst>
          </p:cNvPr>
          <p:cNvSpPr>
            <a:spLocks noGrp="1"/>
          </p:cNvSpPr>
          <p:nvPr>
            <p:ph type="title"/>
          </p:nvPr>
        </p:nvSpPr>
        <p:spPr>
          <a:xfrm>
            <a:off x="407987" y="404813"/>
            <a:ext cx="11376026" cy="1079971"/>
          </a:xfrm>
        </p:spPr>
        <p:txBody>
          <a:bodyPr anchor="t">
            <a:normAutofit/>
          </a:bodyPr>
          <a:lstStyle/>
          <a:p>
            <a:r>
              <a:rPr lang="en-US"/>
              <a:t>4.3. Beyond text – AI can be used for generate images</a:t>
            </a:r>
          </a:p>
        </p:txBody>
      </p:sp>
      <p:sp>
        <p:nvSpPr>
          <p:cNvPr id="7" name="Slide Number Placeholder 6">
            <a:extLst>
              <a:ext uri="{FF2B5EF4-FFF2-40B4-BE49-F238E27FC236}">
                <a16:creationId xmlns:a16="http://schemas.microsoft.com/office/drawing/2014/main" id="{1D1C94D6-A5C8-2E11-DE98-5ACC8DF50EAC}"/>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45</a:t>
            </a:fld>
            <a:endParaRPr lang="fi-FI"/>
          </a:p>
        </p:txBody>
      </p:sp>
      <p:sp>
        <p:nvSpPr>
          <p:cNvPr id="3" name="Date Placeholder 2">
            <a:extLst>
              <a:ext uri="{FF2B5EF4-FFF2-40B4-BE49-F238E27FC236}">
                <a16:creationId xmlns:a16="http://schemas.microsoft.com/office/drawing/2014/main" id="{E8FF1661-2945-753C-C1E4-AD5E63BF981C}"/>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FC247044-2B58-B4CA-6348-9E6F19C2759E}"/>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9" name="TextBox 8">
            <a:extLst>
              <a:ext uri="{FF2B5EF4-FFF2-40B4-BE49-F238E27FC236}">
                <a16:creationId xmlns:a16="http://schemas.microsoft.com/office/drawing/2014/main" id="{007F5368-6661-CB97-8D66-39B7CC4AFD6E}"/>
              </a:ext>
            </a:extLst>
          </p:cNvPr>
          <p:cNvSpPr txBox="1"/>
          <p:nvPr/>
        </p:nvSpPr>
        <p:spPr>
          <a:xfrm>
            <a:off x="10200456" y="5677624"/>
            <a:ext cx="6096000" cy="276999"/>
          </a:xfrm>
          <a:prstGeom prst="rect">
            <a:avLst/>
          </a:prstGeom>
          <a:noFill/>
        </p:spPr>
        <p:txBody>
          <a:bodyPr wrap="square">
            <a:spAutoFit/>
          </a:bodyPr>
          <a:lstStyle/>
          <a:p>
            <a:r>
              <a:rPr lang="en-US" sz="1200"/>
              <a:t>Dall-E 3 generation</a:t>
            </a:r>
          </a:p>
        </p:txBody>
      </p:sp>
      <p:pic>
        <p:nvPicPr>
          <p:cNvPr id="12" name="Picture 11">
            <a:extLst>
              <a:ext uri="{FF2B5EF4-FFF2-40B4-BE49-F238E27FC236}">
                <a16:creationId xmlns:a16="http://schemas.microsoft.com/office/drawing/2014/main" id="{C5158F85-109F-D5CF-1374-00734584F8FF}"/>
              </a:ext>
            </a:extLst>
          </p:cNvPr>
          <p:cNvPicPr>
            <a:picLocks noChangeAspect="1"/>
          </p:cNvPicPr>
          <p:nvPr/>
        </p:nvPicPr>
        <p:blipFill>
          <a:blip r:embed="rId2"/>
          <a:stretch>
            <a:fillRect/>
          </a:stretch>
        </p:blipFill>
        <p:spPr>
          <a:xfrm>
            <a:off x="6256366" y="1306365"/>
            <a:ext cx="5527646" cy="4373138"/>
          </a:xfrm>
          <a:prstGeom prst="rect">
            <a:avLst/>
          </a:prstGeom>
          <a:ln>
            <a:noFill/>
          </a:ln>
          <a:effectLst>
            <a:outerShdw blurRad="190500" algn="tl" rotWithShape="0">
              <a:srgbClr val="000000">
                <a:alpha val="70000"/>
              </a:srgbClr>
            </a:outerShdw>
          </a:effectLst>
        </p:spPr>
      </p:pic>
      <p:pic>
        <p:nvPicPr>
          <p:cNvPr id="13" name="Picture 12" descr="Panel of Dall-E 3">
            <a:extLst>
              <a:ext uri="{FF2B5EF4-FFF2-40B4-BE49-F238E27FC236}">
                <a16:creationId xmlns:a16="http://schemas.microsoft.com/office/drawing/2014/main" id="{DBCEA887-5955-C89C-40EF-303085064A06}"/>
              </a:ext>
            </a:extLst>
          </p:cNvPr>
          <p:cNvPicPr>
            <a:picLocks noChangeAspect="1"/>
          </p:cNvPicPr>
          <p:nvPr/>
        </p:nvPicPr>
        <p:blipFill>
          <a:blip r:embed="rId3"/>
          <a:srcRect t="14783"/>
          <a:stretch/>
        </p:blipFill>
        <p:spPr>
          <a:xfrm>
            <a:off x="407988" y="1306368"/>
            <a:ext cx="5477246" cy="437204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id="{A1872ADB-951C-F228-C310-662176D80040}"/>
              </a:ext>
            </a:extLst>
          </p:cNvPr>
          <p:cNvSpPr txBox="1"/>
          <p:nvPr/>
        </p:nvSpPr>
        <p:spPr>
          <a:xfrm>
            <a:off x="1055688" y="5876925"/>
            <a:ext cx="6096000" cy="369332"/>
          </a:xfrm>
          <a:prstGeom prst="rect">
            <a:avLst/>
          </a:prstGeom>
          <a:noFill/>
        </p:spPr>
        <p:txBody>
          <a:bodyPr wrap="square">
            <a:spAutoFit/>
          </a:bodyPr>
          <a:lstStyle/>
          <a:p>
            <a:r>
              <a:rPr lang="en-US">
                <a:hlinkClick r:id="rId4"/>
              </a:rPr>
              <a:t>What's new with DALL·E 3? | OpenAI Cookbook</a:t>
            </a:r>
            <a:endParaRPr lang="en-US"/>
          </a:p>
        </p:txBody>
      </p:sp>
      <p:pic>
        <p:nvPicPr>
          <p:cNvPr id="15" name="Graphic 14" descr="Gravestone with solid fill">
            <a:extLst>
              <a:ext uri="{FF2B5EF4-FFF2-40B4-BE49-F238E27FC236}">
                <a16:creationId xmlns:a16="http://schemas.microsoft.com/office/drawing/2014/main" id="{3542C4A7-6C87-B45E-93FC-5FEDCF8D044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86366" y="3657176"/>
            <a:ext cx="2120490" cy="2120490"/>
          </a:xfrm>
          <a:prstGeom prst="rect">
            <a:avLst/>
          </a:prstGeom>
        </p:spPr>
      </p:pic>
      <p:cxnSp>
        <p:nvCxnSpPr>
          <p:cNvPr id="16" name="Straight Connector 15">
            <a:extLst>
              <a:ext uri="{FF2B5EF4-FFF2-40B4-BE49-F238E27FC236}">
                <a16:creationId xmlns:a16="http://schemas.microsoft.com/office/drawing/2014/main" id="{685BEEC2-7E54-351F-2E05-592CF0B6BAD5}"/>
              </a:ext>
            </a:extLst>
          </p:cNvPr>
          <p:cNvCxnSpPr>
            <a:cxnSpLocks/>
          </p:cNvCxnSpPr>
          <p:nvPr/>
        </p:nvCxnSpPr>
        <p:spPr>
          <a:xfrm>
            <a:off x="263352" y="1241336"/>
            <a:ext cx="5766518" cy="4491920"/>
          </a:xfrm>
          <a:prstGeom prst="line">
            <a:avLst/>
          </a:prstGeom>
          <a:ln w="57150"/>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F3273F3C-0370-4205-39D3-F685D18A8A0B}"/>
              </a:ext>
            </a:extLst>
          </p:cNvPr>
          <p:cNvCxnSpPr>
            <a:cxnSpLocks/>
          </p:cNvCxnSpPr>
          <p:nvPr/>
        </p:nvCxnSpPr>
        <p:spPr>
          <a:xfrm flipV="1">
            <a:off x="263352" y="1241336"/>
            <a:ext cx="5766518" cy="4491920"/>
          </a:xfrm>
          <a:prstGeom prst="line">
            <a:avLst/>
          </a:prstGeom>
          <a:ln w="57150"/>
        </p:spPr>
        <p:style>
          <a:lnRef idx="1">
            <a:schemeClr val="accent2"/>
          </a:lnRef>
          <a:fillRef idx="0">
            <a:schemeClr val="accent2"/>
          </a:fillRef>
          <a:effectRef idx="0">
            <a:schemeClr val="accent2"/>
          </a:effectRef>
          <a:fontRef idx="minor">
            <a:schemeClr val="tx1"/>
          </a:fontRef>
        </p:style>
      </p:cxnSp>
      <p:sp>
        <p:nvSpPr>
          <p:cNvPr id="18" name="TextBox 17">
            <a:extLst>
              <a:ext uri="{FF2B5EF4-FFF2-40B4-BE49-F238E27FC236}">
                <a16:creationId xmlns:a16="http://schemas.microsoft.com/office/drawing/2014/main" id="{D527B297-D082-337B-3001-BD7FC5B9853C}"/>
              </a:ext>
            </a:extLst>
          </p:cNvPr>
          <p:cNvSpPr txBox="1"/>
          <p:nvPr/>
        </p:nvSpPr>
        <p:spPr>
          <a:xfrm>
            <a:off x="2530096" y="5319465"/>
            <a:ext cx="1233030" cy="338554"/>
          </a:xfrm>
          <a:prstGeom prst="rect">
            <a:avLst/>
          </a:prstGeom>
          <a:noFill/>
        </p:spPr>
        <p:txBody>
          <a:bodyPr wrap="none" rtlCol="0">
            <a:spAutoFit/>
          </a:bodyPr>
          <a:lstStyle/>
          <a:p>
            <a:pPr algn="l"/>
            <a:r>
              <a:rPr lang="en-US" sz="1600">
                <a:solidFill>
                  <a:schemeClr val="bg1"/>
                </a:solidFill>
                <a:latin typeface="+mj-lt"/>
              </a:rPr>
              <a:t>2026-02-18</a:t>
            </a:r>
          </a:p>
        </p:txBody>
      </p:sp>
    </p:spTree>
    <p:extLst>
      <p:ext uri="{BB962C8B-B14F-4D97-AF65-F5344CB8AC3E}">
        <p14:creationId xmlns:p14="http://schemas.microsoft.com/office/powerpoint/2010/main" val="1629512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4AE42C-1125-8A74-4F0C-72F8581B092C}"/>
              </a:ext>
            </a:extLst>
          </p:cNvPr>
          <p:cNvSpPr>
            <a:spLocks noGrp="1"/>
          </p:cNvSpPr>
          <p:nvPr>
            <p:ph type="sldNum" sz="quarter" idx="12"/>
          </p:nvPr>
        </p:nvSpPr>
        <p:spPr/>
        <p:txBody>
          <a:bodyPr/>
          <a:lstStyle/>
          <a:p>
            <a:fld id="{D701140D-C14F-41CA-99FC-0EF83E8DA40A}" type="slidenum">
              <a:rPr lang="fi-FI" smtClean="0"/>
              <a:pPr/>
              <a:t>46</a:t>
            </a:fld>
            <a:endParaRPr lang="fi-FI"/>
          </a:p>
        </p:txBody>
      </p:sp>
      <p:sp>
        <p:nvSpPr>
          <p:cNvPr id="3" name="Title 2">
            <a:extLst>
              <a:ext uri="{FF2B5EF4-FFF2-40B4-BE49-F238E27FC236}">
                <a16:creationId xmlns:a16="http://schemas.microsoft.com/office/drawing/2014/main" id="{DA72ADB9-22B7-54CB-34CA-D9A26A4E278E}"/>
              </a:ext>
            </a:extLst>
          </p:cNvPr>
          <p:cNvSpPr>
            <a:spLocks noGrp="1"/>
          </p:cNvSpPr>
          <p:nvPr>
            <p:ph type="ctrTitle"/>
          </p:nvPr>
        </p:nvSpPr>
        <p:spPr/>
        <p:txBody>
          <a:bodyPr/>
          <a:lstStyle/>
          <a:p>
            <a:r>
              <a:rPr lang="en-FI"/>
              <a:t>4.1 Image generation</a:t>
            </a:r>
          </a:p>
        </p:txBody>
      </p:sp>
      <p:sp>
        <p:nvSpPr>
          <p:cNvPr id="4" name="Date Placeholder 3">
            <a:extLst>
              <a:ext uri="{FF2B5EF4-FFF2-40B4-BE49-F238E27FC236}">
                <a16:creationId xmlns:a16="http://schemas.microsoft.com/office/drawing/2014/main" id="{D8485CC0-5991-4B68-1F2B-74840D35CAC1}"/>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A9FC4CA2-678B-88AD-9360-5826448D907B}"/>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314730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CEB7F-CF27-BEBF-4FE3-E0FFF53DA93C}"/>
            </a:ext>
          </a:extLst>
        </p:cNvPr>
        <p:cNvGrpSpPr/>
        <p:nvPr/>
      </p:nvGrpSpPr>
      <p:grpSpPr>
        <a:xfrm>
          <a:off x="0" y="0"/>
          <a:ext cx="0" cy="0"/>
          <a:chOff x="0" y="0"/>
          <a:chExt cx="0" cy="0"/>
        </a:xfrm>
      </p:grpSpPr>
      <p:pic>
        <p:nvPicPr>
          <p:cNvPr id="16" name="Picture 15" descr="Sketch of microscopes with increasing complexity.">
            <a:extLst>
              <a:ext uri="{FF2B5EF4-FFF2-40B4-BE49-F238E27FC236}">
                <a16:creationId xmlns:a16="http://schemas.microsoft.com/office/drawing/2014/main" id="{33A5F871-C863-94AD-E143-E75F0C8790A2}"/>
              </a:ext>
            </a:extLst>
          </p:cNvPr>
          <p:cNvPicPr>
            <a:picLocks noChangeAspect="1"/>
          </p:cNvPicPr>
          <p:nvPr/>
        </p:nvPicPr>
        <p:blipFill>
          <a:blip r:embed="rId2"/>
          <a:stretch>
            <a:fillRect/>
          </a:stretch>
        </p:blipFill>
        <p:spPr>
          <a:xfrm>
            <a:off x="2496000" y="1413176"/>
            <a:ext cx="7200000" cy="3600000"/>
          </a:xfrm>
          <a:prstGeom prst="rect">
            <a:avLst/>
          </a:prstGeom>
        </p:spPr>
      </p:pic>
      <p:sp>
        <p:nvSpPr>
          <p:cNvPr id="2" name="Title 1">
            <a:extLst>
              <a:ext uri="{FF2B5EF4-FFF2-40B4-BE49-F238E27FC236}">
                <a16:creationId xmlns:a16="http://schemas.microsoft.com/office/drawing/2014/main" id="{62D3AFEF-C7BE-E8FA-7499-4C9F54503EF3}"/>
              </a:ext>
            </a:extLst>
          </p:cNvPr>
          <p:cNvSpPr>
            <a:spLocks noGrp="1"/>
          </p:cNvSpPr>
          <p:nvPr>
            <p:ph type="title"/>
          </p:nvPr>
        </p:nvSpPr>
        <p:spPr/>
        <p:txBody>
          <a:bodyPr/>
          <a:lstStyle/>
          <a:p>
            <a:r>
              <a:rPr lang="en-US"/>
              <a:t>4.1. A human workflow for drawing images</a:t>
            </a:r>
          </a:p>
        </p:txBody>
      </p:sp>
      <p:sp>
        <p:nvSpPr>
          <p:cNvPr id="5" name="Slide Number Placeholder 4">
            <a:extLst>
              <a:ext uri="{FF2B5EF4-FFF2-40B4-BE49-F238E27FC236}">
                <a16:creationId xmlns:a16="http://schemas.microsoft.com/office/drawing/2014/main" id="{75B90752-8751-2D37-7D3B-32CC52C9B26B}"/>
              </a:ext>
            </a:extLst>
          </p:cNvPr>
          <p:cNvSpPr>
            <a:spLocks noGrp="1"/>
          </p:cNvSpPr>
          <p:nvPr>
            <p:ph type="sldNum" sz="quarter" idx="12"/>
          </p:nvPr>
        </p:nvSpPr>
        <p:spPr/>
        <p:txBody>
          <a:bodyPr/>
          <a:lstStyle/>
          <a:p>
            <a:fld id="{D701140D-C14F-41CA-99FC-0EF83E8DA40A}" type="slidenum">
              <a:rPr lang="fi-FI" smtClean="0"/>
              <a:pPr/>
              <a:t>47</a:t>
            </a:fld>
            <a:endParaRPr lang="fi-FI"/>
          </a:p>
        </p:txBody>
      </p:sp>
      <p:sp>
        <p:nvSpPr>
          <p:cNvPr id="6" name="Date Placeholder 5">
            <a:extLst>
              <a:ext uri="{FF2B5EF4-FFF2-40B4-BE49-F238E27FC236}">
                <a16:creationId xmlns:a16="http://schemas.microsoft.com/office/drawing/2014/main" id="{89B27625-DC39-2A72-A65C-348FFCF5F1BA}"/>
              </a:ext>
            </a:extLst>
          </p:cNvPr>
          <p:cNvSpPr>
            <a:spLocks noGrp="1"/>
          </p:cNvSpPr>
          <p:nvPr>
            <p:ph type="dt" sz="half" idx="13"/>
          </p:nvPr>
        </p:nvSpPr>
        <p:spPr/>
        <p:txBody>
          <a:bodyPr/>
          <a:lstStyle/>
          <a:p>
            <a:r>
              <a:rPr lang="fi-FI"/>
              <a:t>28.04.2026</a:t>
            </a:r>
          </a:p>
        </p:txBody>
      </p:sp>
      <p:cxnSp>
        <p:nvCxnSpPr>
          <p:cNvPr id="13" name="Straight Arrow Connector 12">
            <a:extLst>
              <a:ext uri="{FF2B5EF4-FFF2-40B4-BE49-F238E27FC236}">
                <a16:creationId xmlns:a16="http://schemas.microsoft.com/office/drawing/2014/main" id="{6534C58A-7E8B-D321-C4B1-FD7B0FDCAB86}"/>
              </a:ext>
              <a:ext uri="{C183D7F6-B498-43B3-948B-1728B52AA6E4}">
                <adec:decorative xmlns:adec="http://schemas.microsoft.com/office/drawing/2017/decorative" val="1"/>
              </a:ext>
            </a:extLst>
          </p:cNvPr>
          <p:cNvCxnSpPr>
            <a:cxnSpLocks/>
          </p:cNvCxnSpPr>
          <p:nvPr/>
        </p:nvCxnSpPr>
        <p:spPr>
          <a:xfrm>
            <a:off x="2063552" y="4509120"/>
            <a:ext cx="8064896"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C0AB0A66-76F0-8C4B-F660-6ECE05CF85D7}"/>
              </a:ext>
            </a:extLst>
          </p:cNvPr>
          <p:cNvSpPr txBox="1"/>
          <p:nvPr/>
        </p:nvSpPr>
        <p:spPr>
          <a:xfrm>
            <a:off x="7968208" y="4509120"/>
            <a:ext cx="2132315" cy="338554"/>
          </a:xfrm>
          <a:prstGeom prst="rect">
            <a:avLst/>
          </a:prstGeom>
          <a:noFill/>
        </p:spPr>
        <p:txBody>
          <a:bodyPr wrap="none" rtlCol="0">
            <a:spAutoFit/>
          </a:bodyPr>
          <a:lstStyle/>
          <a:p>
            <a:pPr algn="l"/>
            <a:r>
              <a:rPr lang="en-US" sz="1600">
                <a:latin typeface="+mj-lt"/>
              </a:rPr>
              <a:t>Complexity increases</a:t>
            </a:r>
          </a:p>
        </p:txBody>
      </p:sp>
      <p:sp>
        <p:nvSpPr>
          <p:cNvPr id="3" name="Footer Placeholder 2">
            <a:extLst>
              <a:ext uri="{FF2B5EF4-FFF2-40B4-BE49-F238E27FC236}">
                <a16:creationId xmlns:a16="http://schemas.microsoft.com/office/drawing/2014/main" id="{4EE50E44-7C1E-B177-F9C4-C7154FBAD68E}"/>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2450141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8EBBA-1ABF-AC62-0658-D81DCA489589}"/>
              </a:ext>
            </a:extLst>
          </p:cNvPr>
          <p:cNvSpPr>
            <a:spLocks noGrp="1"/>
          </p:cNvSpPr>
          <p:nvPr>
            <p:ph type="title"/>
          </p:nvPr>
        </p:nvSpPr>
        <p:spPr>
          <a:xfrm>
            <a:off x="407987" y="404813"/>
            <a:ext cx="11376026" cy="1079971"/>
          </a:xfrm>
        </p:spPr>
        <p:txBody>
          <a:bodyPr anchor="t">
            <a:normAutofit/>
          </a:bodyPr>
          <a:lstStyle/>
          <a:p>
            <a:r>
              <a:rPr lang="en-US"/>
              <a:t>4.1. How does AI generate images? (diffusion model)</a:t>
            </a:r>
          </a:p>
        </p:txBody>
      </p:sp>
      <p:sp>
        <p:nvSpPr>
          <p:cNvPr id="7" name="Slide Number Placeholder 6">
            <a:extLst>
              <a:ext uri="{FF2B5EF4-FFF2-40B4-BE49-F238E27FC236}">
                <a16:creationId xmlns:a16="http://schemas.microsoft.com/office/drawing/2014/main" id="{5F4A46F2-35F8-DFC0-6A32-65865079A325}"/>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48</a:t>
            </a:fld>
            <a:endParaRPr lang="fi-FI"/>
          </a:p>
        </p:txBody>
      </p:sp>
      <p:sp>
        <p:nvSpPr>
          <p:cNvPr id="3" name="Date Placeholder 2">
            <a:extLst>
              <a:ext uri="{FF2B5EF4-FFF2-40B4-BE49-F238E27FC236}">
                <a16:creationId xmlns:a16="http://schemas.microsoft.com/office/drawing/2014/main" id="{4D49C77A-2A5C-239A-A040-497FEC43643E}"/>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131EFE58-4D84-9BA0-DC9C-9E7D76F20E9A}"/>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11" name="Rectangle: Rounded Corners 10">
            <a:extLst>
              <a:ext uri="{FF2B5EF4-FFF2-40B4-BE49-F238E27FC236}">
                <a16:creationId xmlns:a16="http://schemas.microsoft.com/office/drawing/2014/main" id="{1ED8103C-E690-D0BA-49EF-0D49AFF29EA9}"/>
              </a:ext>
              <a:ext uri="{C183D7F6-B498-43B3-948B-1728B52AA6E4}">
                <adec:decorative xmlns:adec="http://schemas.microsoft.com/office/drawing/2017/decorative" val="1"/>
              </a:ext>
            </a:extLst>
          </p:cNvPr>
          <p:cNvSpPr/>
          <p:nvPr/>
        </p:nvSpPr>
        <p:spPr>
          <a:xfrm>
            <a:off x="263352" y="980728"/>
            <a:ext cx="11665296" cy="3816424"/>
          </a:xfrm>
          <a:prstGeom prst="roundRect">
            <a:avLst>
              <a:gd name="adj" fmla="val 868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12" name="Rectangle: Rounded Corners 11">
            <a:extLst>
              <a:ext uri="{FF2B5EF4-FFF2-40B4-BE49-F238E27FC236}">
                <a16:creationId xmlns:a16="http://schemas.microsoft.com/office/drawing/2014/main" id="{C632F2B7-0AA5-9A69-AD16-7D001B692F6D}"/>
              </a:ext>
              <a:ext uri="{C183D7F6-B498-43B3-948B-1728B52AA6E4}">
                <adec:decorative xmlns:adec="http://schemas.microsoft.com/office/drawing/2017/decorative" val="1"/>
              </a:ext>
            </a:extLst>
          </p:cNvPr>
          <p:cNvSpPr/>
          <p:nvPr/>
        </p:nvSpPr>
        <p:spPr>
          <a:xfrm flipV="1">
            <a:off x="3215688" y="4650761"/>
            <a:ext cx="5760626" cy="1612146"/>
          </a:xfrm>
          <a:prstGeom prst="roundRect">
            <a:avLst>
              <a:gd name="adj" fmla="val 8680"/>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pic>
        <p:nvPicPr>
          <p:cNvPr id="13" name="Picture 12" descr="A cat is sitting in a room with a speaker. Multiple steps of noise applied.">
            <a:extLst>
              <a:ext uri="{FF2B5EF4-FFF2-40B4-BE49-F238E27FC236}">
                <a16:creationId xmlns:a16="http://schemas.microsoft.com/office/drawing/2014/main" id="{C6A7472A-A25C-CBCC-CC9C-443B8FC86AD7}"/>
              </a:ext>
            </a:extLst>
          </p:cNvPr>
          <p:cNvPicPr>
            <a:picLocks noChangeAspect="1"/>
          </p:cNvPicPr>
          <p:nvPr/>
        </p:nvPicPr>
        <p:blipFill>
          <a:blip r:embed="rId2"/>
          <a:stretch>
            <a:fillRect/>
          </a:stretch>
        </p:blipFill>
        <p:spPr>
          <a:xfrm>
            <a:off x="8976313" y="1269000"/>
            <a:ext cx="2160000" cy="2160000"/>
          </a:xfrm>
          <a:prstGeom prst="rect">
            <a:avLst/>
          </a:prstGeom>
        </p:spPr>
      </p:pic>
      <p:pic>
        <p:nvPicPr>
          <p:cNvPr id="14" name="Content Placeholder 7" descr="A cat is sitting in a room with a speaker. No noise applied.">
            <a:extLst>
              <a:ext uri="{FF2B5EF4-FFF2-40B4-BE49-F238E27FC236}">
                <a16:creationId xmlns:a16="http://schemas.microsoft.com/office/drawing/2014/main" id="{89B3EF3C-7976-500E-0B50-7649D4629D5D}"/>
              </a:ext>
            </a:extLst>
          </p:cNvPr>
          <p:cNvPicPr>
            <a:picLocks noChangeAspect="1"/>
          </p:cNvPicPr>
          <p:nvPr/>
        </p:nvPicPr>
        <p:blipFill>
          <a:blip r:embed="rId3"/>
          <a:srcRect l="4585" t="20564" r="44011" b="2330"/>
          <a:stretch/>
        </p:blipFill>
        <p:spPr>
          <a:xfrm>
            <a:off x="407986" y="1272687"/>
            <a:ext cx="2160000" cy="2160000"/>
          </a:xfrm>
          <a:prstGeom prst="rect">
            <a:avLst/>
          </a:prstGeom>
        </p:spPr>
      </p:pic>
      <p:pic>
        <p:nvPicPr>
          <p:cNvPr id="15" name="Picture 14" descr="A cat is sitting in a room with a speaker. 1 step of noise applied.">
            <a:extLst>
              <a:ext uri="{FF2B5EF4-FFF2-40B4-BE49-F238E27FC236}">
                <a16:creationId xmlns:a16="http://schemas.microsoft.com/office/drawing/2014/main" id="{B53114B8-02E7-4BFD-E0E8-DE6A5E12C6BC}"/>
              </a:ext>
            </a:extLst>
          </p:cNvPr>
          <p:cNvPicPr>
            <a:picLocks noChangeAspect="1"/>
          </p:cNvPicPr>
          <p:nvPr/>
        </p:nvPicPr>
        <p:blipFill>
          <a:blip r:embed="rId4"/>
          <a:stretch>
            <a:fillRect/>
          </a:stretch>
        </p:blipFill>
        <p:spPr>
          <a:xfrm>
            <a:off x="2927957" y="1272687"/>
            <a:ext cx="2160000" cy="2160000"/>
          </a:xfrm>
          <a:prstGeom prst="rect">
            <a:avLst/>
          </a:prstGeom>
        </p:spPr>
      </p:pic>
      <p:pic>
        <p:nvPicPr>
          <p:cNvPr id="16" name="Picture 15" descr="A cat is sitting in a room with a speaker. 2 steps of noise applied.">
            <a:extLst>
              <a:ext uri="{FF2B5EF4-FFF2-40B4-BE49-F238E27FC236}">
                <a16:creationId xmlns:a16="http://schemas.microsoft.com/office/drawing/2014/main" id="{72EDA3CC-7011-D52E-901E-269EBD35E565}"/>
              </a:ext>
            </a:extLst>
          </p:cNvPr>
          <p:cNvPicPr>
            <a:picLocks noChangeAspect="1"/>
          </p:cNvPicPr>
          <p:nvPr/>
        </p:nvPicPr>
        <p:blipFill>
          <a:blip r:embed="rId5"/>
          <a:stretch>
            <a:fillRect/>
          </a:stretch>
        </p:blipFill>
        <p:spPr>
          <a:xfrm>
            <a:off x="5447928" y="1272687"/>
            <a:ext cx="2160000" cy="2160000"/>
          </a:xfrm>
          <a:prstGeom prst="rect">
            <a:avLst/>
          </a:prstGeom>
        </p:spPr>
      </p:pic>
      <p:sp>
        <p:nvSpPr>
          <p:cNvPr id="17" name="TextBox 16">
            <a:extLst>
              <a:ext uri="{FF2B5EF4-FFF2-40B4-BE49-F238E27FC236}">
                <a16:creationId xmlns:a16="http://schemas.microsoft.com/office/drawing/2014/main" id="{BC95CFB6-E8EE-7EC0-C953-90DC9EDDDCAF}"/>
              </a:ext>
            </a:extLst>
          </p:cNvPr>
          <p:cNvSpPr txBox="1"/>
          <p:nvPr/>
        </p:nvSpPr>
        <p:spPr>
          <a:xfrm>
            <a:off x="2332454" y="1361318"/>
            <a:ext cx="995526" cy="672525"/>
          </a:xfrm>
          <a:prstGeom prst="rightArrow">
            <a:avLst/>
          </a:prstGeom>
          <a:solidFill>
            <a:schemeClr val="bg1">
              <a:alpha val="75000"/>
            </a:schemeClr>
          </a:solidFill>
          <a:effectLst>
            <a:outerShdw blurRad="50800" sx="102000" sy="102000" algn="ctr" rotWithShape="0">
              <a:prstClr val="black">
                <a:alpha val="75000"/>
              </a:prstClr>
            </a:outerShdw>
          </a:effectLst>
        </p:spPr>
        <p:txBody>
          <a:bodyPr wrap="none" rtlCol="0">
            <a:spAutoFit/>
          </a:bodyPr>
          <a:lstStyle/>
          <a:p>
            <a:pPr algn="l"/>
            <a:r>
              <a:rPr lang="en-US" sz="1600">
                <a:latin typeface="+mj-lt"/>
              </a:rPr>
              <a:t>+Noise</a:t>
            </a:r>
          </a:p>
        </p:txBody>
      </p:sp>
      <p:sp>
        <p:nvSpPr>
          <p:cNvPr id="18" name="TextBox 17">
            <a:extLst>
              <a:ext uri="{FF2B5EF4-FFF2-40B4-BE49-F238E27FC236}">
                <a16:creationId xmlns:a16="http://schemas.microsoft.com/office/drawing/2014/main" id="{57981B04-5536-1874-2171-7981A26390F3}"/>
              </a:ext>
            </a:extLst>
          </p:cNvPr>
          <p:cNvSpPr txBox="1"/>
          <p:nvPr/>
        </p:nvSpPr>
        <p:spPr>
          <a:xfrm>
            <a:off x="8435359" y="1361318"/>
            <a:ext cx="995526" cy="672525"/>
          </a:xfrm>
          <a:prstGeom prst="rightArrow">
            <a:avLst/>
          </a:prstGeom>
          <a:solidFill>
            <a:schemeClr val="bg1">
              <a:alpha val="75000"/>
            </a:schemeClr>
          </a:solidFill>
          <a:effectLst>
            <a:outerShdw blurRad="50800" sx="102000" sy="102000" algn="ctr" rotWithShape="0">
              <a:prstClr val="black">
                <a:alpha val="75000"/>
              </a:prstClr>
            </a:outerShdw>
          </a:effectLst>
        </p:spPr>
        <p:txBody>
          <a:bodyPr wrap="none" rtlCol="0">
            <a:spAutoFit/>
          </a:bodyPr>
          <a:lstStyle/>
          <a:p>
            <a:pPr algn="l"/>
            <a:r>
              <a:rPr lang="en-US" sz="1600">
                <a:latin typeface="+mj-lt"/>
              </a:rPr>
              <a:t>+Noise</a:t>
            </a:r>
          </a:p>
        </p:txBody>
      </p:sp>
      <p:sp>
        <p:nvSpPr>
          <p:cNvPr id="19" name="TextBox 18">
            <a:extLst>
              <a:ext uri="{FF2B5EF4-FFF2-40B4-BE49-F238E27FC236}">
                <a16:creationId xmlns:a16="http://schemas.microsoft.com/office/drawing/2014/main" id="{952D018D-90A8-A599-5BA7-035487E9AB96}"/>
              </a:ext>
            </a:extLst>
          </p:cNvPr>
          <p:cNvSpPr txBox="1"/>
          <p:nvPr/>
        </p:nvSpPr>
        <p:spPr>
          <a:xfrm>
            <a:off x="4848210" y="1361318"/>
            <a:ext cx="995526" cy="672525"/>
          </a:xfrm>
          <a:prstGeom prst="rightArrow">
            <a:avLst/>
          </a:prstGeom>
          <a:solidFill>
            <a:schemeClr val="bg1">
              <a:alpha val="75000"/>
            </a:schemeClr>
          </a:solidFill>
          <a:effectLst>
            <a:outerShdw blurRad="50800" sx="102000" sy="102000" algn="ctr" rotWithShape="0">
              <a:prstClr val="black">
                <a:alpha val="75000"/>
              </a:prstClr>
            </a:outerShdw>
          </a:effectLst>
        </p:spPr>
        <p:txBody>
          <a:bodyPr wrap="none" rtlCol="0">
            <a:spAutoFit/>
          </a:bodyPr>
          <a:lstStyle/>
          <a:p>
            <a:pPr algn="l"/>
            <a:r>
              <a:rPr lang="en-US" sz="1600">
                <a:latin typeface="+mj-lt"/>
              </a:rPr>
              <a:t>+Noise</a:t>
            </a:r>
          </a:p>
        </p:txBody>
      </p:sp>
      <p:sp>
        <p:nvSpPr>
          <p:cNvPr id="20" name="Oval 19">
            <a:extLst>
              <a:ext uri="{FF2B5EF4-FFF2-40B4-BE49-F238E27FC236}">
                <a16:creationId xmlns:a16="http://schemas.microsoft.com/office/drawing/2014/main" id="{26FDCD97-3EFC-F2E9-36E8-A95AD279AA6A}"/>
              </a:ext>
              <a:ext uri="{C183D7F6-B498-43B3-948B-1728B52AA6E4}">
                <adec:decorative xmlns:adec="http://schemas.microsoft.com/office/drawing/2017/decorative" val="1"/>
              </a:ext>
            </a:extLst>
          </p:cNvPr>
          <p:cNvSpPr/>
          <p:nvPr/>
        </p:nvSpPr>
        <p:spPr>
          <a:xfrm>
            <a:off x="8040216" y="2708920"/>
            <a:ext cx="144016" cy="144016"/>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1" name="Oval 20">
            <a:extLst>
              <a:ext uri="{FF2B5EF4-FFF2-40B4-BE49-F238E27FC236}">
                <a16:creationId xmlns:a16="http://schemas.microsoft.com/office/drawing/2014/main" id="{994834EA-DE8A-C80D-72D0-C8A2177C57A3}"/>
              </a:ext>
              <a:ext uri="{C183D7F6-B498-43B3-948B-1728B52AA6E4}">
                <adec:decorative xmlns:adec="http://schemas.microsoft.com/office/drawing/2017/decorative" val="1"/>
              </a:ext>
            </a:extLst>
          </p:cNvPr>
          <p:cNvSpPr/>
          <p:nvPr/>
        </p:nvSpPr>
        <p:spPr>
          <a:xfrm>
            <a:off x="8220236" y="2708920"/>
            <a:ext cx="144016" cy="144016"/>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22" name="Oval 21">
            <a:extLst>
              <a:ext uri="{FF2B5EF4-FFF2-40B4-BE49-F238E27FC236}">
                <a16:creationId xmlns:a16="http://schemas.microsoft.com/office/drawing/2014/main" id="{A9C7B580-9FBC-5158-846E-1F7B8C1CBFEB}"/>
              </a:ext>
              <a:ext uri="{C183D7F6-B498-43B3-948B-1728B52AA6E4}">
                <adec:decorative xmlns:adec="http://schemas.microsoft.com/office/drawing/2017/decorative" val="1"/>
              </a:ext>
            </a:extLst>
          </p:cNvPr>
          <p:cNvSpPr/>
          <p:nvPr/>
        </p:nvSpPr>
        <p:spPr>
          <a:xfrm>
            <a:off x="8400256" y="2708920"/>
            <a:ext cx="144016" cy="144016"/>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pic>
        <p:nvPicPr>
          <p:cNvPr id="23" name="Picture 22" descr="Representation of a neural network.">
            <a:extLst>
              <a:ext uri="{FF2B5EF4-FFF2-40B4-BE49-F238E27FC236}">
                <a16:creationId xmlns:a16="http://schemas.microsoft.com/office/drawing/2014/main" id="{C4090122-F5FF-3A45-608F-841B82EA6643}"/>
              </a:ext>
            </a:extLst>
          </p:cNvPr>
          <p:cNvPicPr>
            <a:picLocks noChangeAspect="1"/>
          </p:cNvPicPr>
          <p:nvPr/>
        </p:nvPicPr>
        <p:blipFill>
          <a:blip r:embed="rId6"/>
          <a:stretch>
            <a:fillRect/>
          </a:stretch>
        </p:blipFill>
        <p:spPr>
          <a:xfrm>
            <a:off x="2374660" y="3560061"/>
            <a:ext cx="695050" cy="1080000"/>
          </a:xfrm>
          <a:prstGeom prst="rect">
            <a:avLst/>
          </a:prstGeom>
          <a:effectLst>
            <a:outerShdw blurRad="63500" sx="102000" sy="102000" algn="ctr" rotWithShape="0">
              <a:prstClr val="black">
                <a:alpha val="40000"/>
              </a:prstClr>
            </a:outerShdw>
          </a:effectLst>
        </p:spPr>
      </p:pic>
      <p:cxnSp>
        <p:nvCxnSpPr>
          <p:cNvPr id="24" name="Connector: Elbow 23">
            <a:extLst>
              <a:ext uri="{FF2B5EF4-FFF2-40B4-BE49-F238E27FC236}">
                <a16:creationId xmlns:a16="http://schemas.microsoft.com/office/drawing/2014/main" id="{0FBC9AFC-41EC-FA14-C332-DA16F1692BC8}"/>
              </a:ext>
              <a:ext uri="{C183D7F6-B498-43B3-948B-1728B52AA6E4}">
                <adec:decorative xmlns:adec="http://schemas.microsoft.com/office/drawing/2017/decorative" val="1"/>
              </a:ext>
            </a:extLst>
          </p:cNvPr>
          <p:cNvCxnSpPr>
            <a:cxnSpLocks/>
            <a:endCxn id="23" idx="3"/>
          </p:cNvCxnSpPr>
          <p:nvPr/>
        </p:nvCxnSpPr>
        <p:spPr>
          <a:xfrm rot="5400000">
            <a:off x="3040211" y="3458500"/>
            <a:ext cx="671061" cy="61206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5" name="Connector: Elbow 24">
            <a:extLst>
              <a:ext uri="{FF2B5EF4-FFF2-40B4-BE49-F238E27FC236}">
                <a16:creationId xmlns:a16="http://schemas.microsoft.com/office/drawing/2014/main" id="{732ECF4D-8B2B-BE85-1E34-920798C9FED9}"/>
              </a:ext>
              <a:ext uri="{C183D7F6-B498-43B3-948B-1728B52AA6E4}">
                <adec:decorative xmlns:adec="http://schemas.microsoft.com/office/drawing/2017/decorative" val="1"/>
              </a:ext>
            </a:extLst>
          </p:cNvPr>
          <p:cNvCxnSpPr>
            <a:cxnSpLocks/>
            <a:stCxn id="23" idx="1"/>
            <a:endCxn id="14" idx="2"/>
          </p:cNvCxnSpPr>
          <p:nvPr/>
        </p:nvCxnSpPr>
        <p:spPr>
          <a:xfrm rot="10800000">
            <a:off x="1487986" y="3432687"/>
            <a:ext cx="886674" cy="66737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pic>
        <p:nvPicPr>
          <p:cNvPr id="26" name="Picture 25" descr="Representation of a neural network.">
            <a:extLst>
              <a:ext uri="{FF2B5EF4-FFF2-40B4-BE49-F238E27FC236}">
                <a16:creationId xmlns:a16="http://schemas.microsoft.com/office/drawing/2014/main" id="{F513545C-86E5-02C3-BDF4-93E484DBE606}"/>
              </a:ext>
            </a:extLst>
          </p:cNvPr>
          <p:cNvPicPr>
            <a:picLocks noChangeAspect="1"/>
          </p:cNvPicPr>
          <p:nvPr/>
        </p:nvPicPr>
        <p:blipFill>
          <a:blip r:embed="rId6"/>
          <a:stretch>
            <a:fillRect/>
          </a:stretch>
        </p:blipFill>
        <p:spPr>
          <a:xfrm>
            <a:off x="4900174" y="3560061"/>
            <a:ext cx="695050" cy="1080000"/>
          </a:xfrm>
          <a:prstGeom prst="rect">
            <a:avLst/>
          </a:prstGeom>
          <a:effectLst>
            <a:outerShdw blurRad="63500" sx="102000" sy="102000" algn="ctr" rotWithShape="0">
              <a:prstClr val="black">
                <a:alpha val="40000"/>
              </a:prstClr>
            </a:outerShdw>
          </a:effectLst>
        </p:spPr>
      </p:pic>
      <p:pic>
        <p:nvPicPr>
          <p:cNvPr id="27" name="Picture 26" descr="Representation of a neural network.">
            <a:extLst>
              <a:ext uri="{FF2B5EF4-FFF2-40B4-BE49-F238E27FC236}">
                <a16:creationId xmlns:a16="http://schemas.microsoft.com/office/drawing/2014/main" id="{20C27933-8C91-4166-AF59-05E57D570D57}"/>
              </a:ext>
            </a:extLst>
          </p:cNvPr>
          <p:cNvPicPr>
            <a:picLocks noChangeAspect="1"/>
          </p:cNvPicPr>
          <p:nvPr/>
        </p:nvPicPr>
        <p:blipFill>
          <a:blip r:embed="rId6"/>
          <a:stretch>
            <a:fillRect/>
          </a:stretch>
        </p:blipFill>
        <p:spPr>
          <a:xfrm>
            <a:off x="7471951" y="3560061"/>
            <a:ext cx="695050" cy="1080000"/>
          </a:xfrm>
          <a:prstGeom prst="rect">
            <a:avLst/>
          </a:prstGeom>
          <a:effectLst>
            <a:outerShdw blurRad="63500" sx="102000" sy="102000" algn="ctr" rotWithShape="0">
              <a:prstClr val="black">
                <a:alpha val="40000"/>
              </a:prstClr>
            </a:outerShdw>
          </a:effectLst>
        </p:spPr>
      </p:pic>
      <p:cxnSp>
        <p:nvCxnSpPr>
          <p:cNvPr id="28" name="Connector: Elbow 27">
            <a:extLst>
              <a:ext uri="{FF2B5EF4-FFF2-40B4-BE49-F238E27FC236}">
                <a16:creationId xmlns:a16="http://schemas.microsoft.com/office/drawing/2014/main" id="{B8113306-3F17-FBB0-469B-752962002B66}"/>
              </a:ext>
              <a:ext uri="{C183D7F6-B498-43B3-948B-1728B52AA6E4}">
                <adec:decorative xmlns:adec="http://schemas.microsoft.com/office/drawing/2017/decorative" val="1"/>
              </a:ext>
            </a:extLst>
          </p:cNvPr>
          <p:cNvCxnSpPr>
            <a:cxnSpLocks/>
            <a:stCxn id="26" idx="1"/>
            <a:endCxn id="15" idx="2"/>
          </p:cNvCxnSpPr>
          <p:nvPr/>
        </p:nvCxnSpPr>
        <p:spPr>
          <a:xfrm rot="10800000">
            <a:off x="4007958" y="3432687"/>
            <a:ext cx="892217" cy="66737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9" name="Connector: Elbow 28">
            <a:extLst>
              <a:ext uri="{FF2B5EF4-FFF2-40B4-BE49-F238E27FC236}">
                <a16:creationId xmlns:a16="http://schemas.microsoft.com/office/drawing/2014/main" id="{8A9E45A0-B779-3D30-8956-2924D4087932}"/>
              </a:ext>
              <a:ext uri="{C183D7F6-B498-43B3-948B-1728B52AA6E4}">
                <adec:decorative xmlns:adec="http://schemas.microsoft.com/office/drawing/2017/decorative" val="1"/>
              </a:ext>
            </a:extLst>
          </p:cNvPr>
          <p:cNvCxnSpPr>
            <a:cxnSpLocks/>
            <a:endCxn id="26" idx="3"/>
          </p:cNvCxnSpPr>
          <p:nvPr/>
        </p:nvCxnSpPr>
        <p:spPr>
          <a:xfrm rot="10800000" flipV="1">
            <a:off x="5595225" y="3428999"/>
            <a:ext cx="792081" cy="671061"/>
          </a:xfrm>
          <a:prstGeom prst="bentConnector3">
            <a:avLst>
              <a:gd name="adj1" fmla="val 35570"/>
            </a:avLst>
          </a:prstGeom>
          <a:ln>
            <a:tailEnd type="triangle"/>
          </a:ln>
        </p:spPr>
        <p:style>
          <a:lnRef idx="1">
            <a:schemeClr val="dk1"/>
          </a:lnRef>
          <a:fillRef idx="0">
            <a:schemeClr val="dk1"/>
          </a:fillRef>
          <a:effectRef idx="0">
            <a:schemeClr val="dk1"/>
          </a:effectRef>
          <a:fontRef idx="minor">
            <a:schemeClr val="tx1"/>
          </a:fontRef>
        </p:style>
      </p:cxnSp>
      <p:cxnSp>
        <p:nvCxnSpPr>
          <p:cNvPr id="30" name="Connector: Elbow 29">
            <a:extLst>
              <a:ext uri="{FF2B5EF4-FFF2-40B4-BE49-F238E27FC236}">
                <a16:creationId xmlns:a16="http://schemas.microsoft.com/office/drawing/2014/main" id="{283118BD-BB81-AC5F-8A01-5A6FE96D5668}"/>
              </a:ext>
              <a:ext uri="{C183D7F6-B498-43B3-948B-1728B52AA6E4}">
                <adec:decorative xmlns:adec="http://schemas.microsoft.com/office/drawing/2017/decorative" val="1"/>
              </a:ext>
            </a:extLst>
          </p:cNvPr>
          <p:cNvCxnSpPr>
            <a:cxnSpLocks/>
            <a:stCxn id="27" idx="1"/>
            <a:endCxn id="16" idx="2"/>
          </p:cNvCxnSpPr>
          <p:nvPr/>
        </p:nvCxnSpPr>
        <p:spPr>
          <a:xfrm rot="10800000">
            <a:off x="6527929" y="3432687"/>
            <a:ext cx="944023" cy="66737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1" name="Connector: Elbow 30">
            <a:extLst>
              <a:ext uri="{FF2B5EF4-FFF2-40B4-BE49-F238E27FC236}">
                <a16:creationId xmlns:a16="http://schemas.microsoft.com/office/drawing/2014/main" id="{8143C2DD-429D-9DD3-B97B-7BF5C47A0F87}"/>
              </a:ext>
              <a:ext uri="{C183D7F6-B498-43B3-948B-1728B52AA6E4}">
                <adec:decorative xmlns:adec="http://schemas.microsoft.com/office/drawing/2017/decorative" val="1"/>
              </a:ext>
            </a:extLst>
          </p:cNvPr>
          <p:cNvCxnSpPr>
            <a:cxnSpLocks/>
          </p:cNvCxnSpPr>
          <p:nvPr/>
        </p:nvCxnSpPr>
        <p:spPr>
          <a:xfrm rot="5400000">
            <a:off x="8946813" y="3458500"/>
            <a:ext cx="671061" cy="61206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2" name="Oval 31">
            <a:extLst>
              <a:ext uri="{FF2B5EF4-FFF2-40B4-BE49-F238E27FC236}">
                <a16:creationId xmlns:a16="http://schemas.microsoft.com/office/drawing/2014/main" id="{FD626387-5BCD-D281-EA2D-E70CA2A04FA8}"/>
              </a:ext>
              <a:ext uri="{C183D7F6-B498-43B3-948B-1728B52AA6E4}">
                <adec:decorative xmlns:adec="http://schemas.microsoft.com/office/drawing/2017/decorative" val="1"/>
              </a:ext>
            </a:extLst>
          </p:cNvPr>
          <p:cNvSpPr/>
          <p:nvPr/>
        </p:nvSpPr>
        <p:spPr>
          <a:xfrm>
            <a:off x="8292910" y="4046060"/>
            <a:ext cx="108000" cy="108000"/>
          </a:xfrm>
          <a:prstGeom prst="ellipse">
            <a:avLst/>
          </a:prstGeom>
          <a:solidFill>
            <a:schemeClr val="bg2">
              <a:lumMod val="2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33" name="Oval 32">
            <a:extLst>
              <a:ext uri="{FF2B5EF4-FFF2-40B4-BE49-F238E27FC236}">
                <a16:creationId xmlns:a16="http://schemas.microsoft.com/office/drawing/2014/main" id="{5740B92E-E158-353C-3A0F-EA4BB0923DC1}"/>
              </a:ext>
              <a:ext uri="{C183D7F6-B498-43B3-948B-1728B52AA6E4}">
                <adec:decorative xmlns:adec="http://schemas.microsoft.com/office/drawing/2017/decorative" val="1"/>
              </a:ext>
            </a:extLst>
          </p:cNvPr>
          <p:cNvSpPr/>
          <p:nvPr/>
        </p:nvSpPr>
        <p:spPr>
          <a:xfrm>
            <a:off x="8472930" y="4046060"/>
            <a:ext cx="108000" cy="108000"/>
          </a:xfrm>
          <a:prstGeom prst="ellipse">
            <a:avLst/>
          </a:prstGeom>
          <a:solidFill>
            <a:schemeClr val="bg2">
              <a:lumMod val="2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34" name="Oval 33">
            <a:extLst>
              <a:ext uri="{FF2B5EF4-FFF2-40B4-BE49-F238E27FC236}">
                <a16:creationId xmlns:a16="http://schemas.microsoft.com/office/drawing/2014/main" id="{13FA1DA0-B602-31E8-236B-6AEC93359745}"/>
              </a:ext>
              <a:ext uri="{C183D7F6-B498-43B3-948B-1728B52AA6E4}">
                <adec:decorative xmlns:adec="http://schemas.microsoft.com/office/drawing/2017/decorative" val="1"/>
              </a:ext>
            </a:extLst>
          </p:cNvPr>
          <p:cNvSpPr/>
          <p:nvPr/>
        </p:nvSpPr>
        <p:spPr>
          <a:xfrm>
            <a:off x="8652950" y="4046060"/>
            <a:ext cx="108000" cy="108000"/>
          </a:xfrm>
          <a:prstGeom prst="ellipse">
            <a:avLst/>
          </a:prstGeom>
          <a:solidFill>
            <a:schemeClr val="bg2">
              <a:lumMod val="2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35" name="TextBox 34">
            <a:extLst>
              <a:ext uri="{FF2B5EF4-FFF2-40B4-BE49-F238E27FC236}">
                <a16:creationId xmlns:a16="http://schemas.microsoft.com/office/drawing/2014/main" id="{DF86B3DD-4F1D-DD11-1DD6-79C622416230}"/>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grpSp>
        <p:nvGrpSpPr>
          <p:cNvPr id="36" name="Group 35">
            <a:extLst>
              <a:ext uri="{FF2B5EF4-FFF2-40B4-BE49-F238E27FC236}">
                <a16:creationId xmlns:a16="http://schemas.microsoft.com/office/drawing/2014/main" id="{DAE1A57D-BC06-79F8-4516-4C19EDE3D09A}"/>
              </a:ext>
              <a:ext uri="{C183D7F6-B498-43B3-948B-1728B52AA6E4}">
                <adec:decorative xmlns:adec="http://schemas.microsoft.com/office/drawing/2017/decorative" val="1"/>
              </a:ext>
            </a:extLst>
          </p:cNvPr>
          <p:cNvGrpSpPr/>
          <p:nvPr/>
        </p:nvGrpSpPr>
        <p:grpSpPr>
          <a:xfrm>
            <a:off x="3516378" y="4841496"/>
            <a:ext cx="5159244" cy="1262074"/>
            <a:chOff x="3215680" y="4994398"/>
            <a:chExt cx="5904656" cy="1444419"/>
          </a:xfrm>
        </p:grpSpPr>
        <p:pic>
          <p:nvPicPr>
            <p:cNvPr id="37" name="Picture 36" descr="Image with random generated noise.">
              <a:extLst>
                <a:ext uri="{FF2B5EF4-FFF2-40B4-BE49-F238E27FC236}">
                  <a16:creationId xmlns:a16="http://schemas.microsoft.com/office/drawing/2014/main" id="{7EF2448D-A08B-9E31-4DD8-DE8C8B5E103C}"/>
                </a:ext>
              </a:extLst>
            </p:cNvPr>
            <p:cNvPicPr>
              <a:picLocks noChangeAspect="1"/>
            </p:cNvPicPr>
            <p:nvPr/>
          </p:nvPicPr>
          <p:blipFill>
            <a:blip r:embed="rId2"/>
            <a:stretch>
              <a:fillRect/>
            </a:stretch>
          </p:blipFill>
          <p:spPr>
            <a:xfrm>
              <a:off x="3215680" y="4998817"/>
              <a:ext cx="1440000" cy="1440000"/>
            </a:xfrm>
            <a:prstGeom prst="rect">
              <a:avLst/>
            </a:prstGeom>
          </p:spPr>
        </p:pic>
        <p:pic>
          <p:nvPicPr>
            <p:cNvPr id="38" name="Content Placeholder 7" descr="A cat sitting in a room with a speaker.">
              <a:extLst>
                <a:ext uri="{FF2B5EF4-FFF2-40B4-BE49-F238E27FC236}">
                  <a16:creationId xmlns:a16="http://schemas.microsoft.com/office/drawing/2014/main" id="{532461B5-4579-A51A-157D-DCA827B0DFED}"/>
                </a:ext>
              </a:extLst>
            </p:cNvPr>
            <p:cNvPicPr>
              <a:picLocks noChangeAspect="1"/>
            </p:cNvPicPr>
            <p:nvPr/>
          </p:nvPicPr>
          <p:blipFill>
            <a:blip r:embed="rId3"/>
            <a:srcRect l="4585" t="20564" r="44011" b="2330"/>
            <a:stretch/>
          </p:blipFill>
          <p:spPr>
            <a:xfrm>
              <a:off x="7680336" y="4994398"/>
              <a:ext cx="1440000" cy="1440000"/>
            </a:xfrm>
            <a:prstGeom prst="rect">
              <a:avLst/>
            </a:prstGeom>
          </p:spPr>
        </p:pic>
        <p:cxnSp>
          <p:nvCxnSpPr>
            <p:cNvPr id="39" name="Straight Arrow Connector 38">
              <a:extLst>
                <a:ext uri="{FF2B5EF4-FFF2-40B4-BE49-F238E27FC236}">
                  <a16:creationId xmlns:a16="http://schemas.microsoft.com/office/drawing/2014/main" id="{A9C735E7-B785-2E99-3AA1-F790E5690ECE}"/>
                </a:ext>
              </a:extLst>
            </p:cNvPr>
            <p:cNvCxnSpPr>
              <a:stCxn id="37" idx="3"/>
              <a:endCxn id="38" idx="1"/>
            </p:cNvCxnSpPr>
            <p:nvPr/>
          </p:nvCxnSpPr>
          <p:spPr>
            <a:xfrm flipV="1">
              <a:off x="4655680" y="5714398"/>
              <a:ext cx="3024656" cy="441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pic>
        <p:nvPicPr>
          <p:cNvPr id="40" name="Picture 39" descr="Representation of a neural network.">
            <a:extLst>
              <a:ext uri="{FF2B5EF4-FFF2-40B4-BE49-F238E27FC236}">
                <a16:creationId xmlns:a16="http://schemas.microsoft.com/office/drawing/2014/main" id="{98E1C404-C54D-45C2-C751-018ECD8EA469}"/>
              </a:ext>
            </a:extLst>
          </p:cNvPr>
          <p:cNvPicPr>
            <a:picLocks noChangeAspect="1"/>
          </p:cNvPicPr>
          <p:nvPr/>
        </p:nvPicPr>
        <p:blipFill>
          <a:blip r:embed="rId6">
            <a:duotone>
              <a:schemeClr val="accent2">
                <a:shade val="45000"/>
                <a:satMod val="135000"/>
              </a:schemeClr>
              <a:prstClr val="white"/>
            </a:duotone>
          </a:blip>
          <a:stretch>
            <a:fillRect/>
          </a:stretch>
        </p:blipFill>
        <p:spPr>
          <a:xfrm>
            <a:off x="5933859" y="5685674"/>
            <a:ext cx="308606" cy="479526"/>
          </a:xfrm>
          <a:prstGeom prst="rect">
            <a:avLst/>
          </a:prstGeom>
          <a:effectLst>
            <a:outerShdw blurRad="63500" sx="102000" sy="102000" algn="ctr" rotWithShape="0">
              <a:prstClr val="black">
                <a:alpha val="40000"/>
              </a:prstClr>
            </a:outerShdw>
          </a:effectLst>
        </p:spPr>
      </p:pic>
      <p:sp>
        <p:nvSpPr>
          <p:cNvPr id="41" name="TextBox 40">
            <a:extLst>
              <a:ext uri="{FF2B5EF4-FFF2-40B4-BE49-F238E27FC236}">
                <a16:creationId xmlns:a16="http://schemas.microsoft.com/office/drawing/2014/main" id="{71934486-4381-B87C-FAB5-734C5CC90970}"/>
              </a:ext>
            </a:extLst>
          </p:cNvPr>
          <p:cNvSpPr txBox="1"/>
          <p:nvPr/>
        </p:nvSpPr>
        <p:spPr>
          <a:xfrm>
            <a:off x="9612291" y="4942669"/>
            <a:ext cx="2171722" cy="646331"/>
          </a:xfrm>
          <a:prstGeom prst="rect">
            <a:avLst/>
          </a:prstGeom>
          <a:noFill/>
        </p:spPr>
        <p:txBody>
          <a:bodyPr wrap="square" rtlCol="0">
            <a:spAutoFit/>
          </a:bodyPr>
          <a:lstStyle/>
          <a:p>
            <a:pPr algn="l"/>
            <a:r>
              <a:rPr lang="en-US" sz="1200">
                <a:solidFill>
                  <a:schemeClr val="tx1">
                    <a:lumMod val="50000"/>
                    <a:lumOff val="50000"/>
                  </a:schemeClr>
                </a:solidFill>
                <a:latin typeface="+mj-lt"/>
              </a:rPr>
              <a:t>Disclaimer: this is a simplified explanation, not exactly how modern AI works!</a:t>
            </a:r>
          </a:p>
        </p:txBody>
      </p:sp>
      <p:sp>
        <p:nvSpPr>
          <p:cNvPr id="5" name="TextBox 4">
            <a:extLst>
              <a:ext uri="{FF2B5EF4-FFF2-40B4-BE49-F238E27FC236}">
                <a16:creationId xmlns:a16="http://schemas.microsoft.com/office/drawing/2014/main" id="{53C8BBE0-E6BC-3ACE-DABA-E087CF65DAD2}"/>
              </a:ext>
            </a:extLst>
          </p:cNvPr>
          <p:cNvSpPr txBox="1"/>
          <p:nvPr/>
        </p:nvSpPr>
        <p:spPr>
          <a:xfrm>
            <a:off x="4989159" y="5112322"/>
            <a:ext cx="2213683" cy="461665"/>
          </a:xfrm>
          <a:prstGeom prst="rect">
            <a:avLst/>
          </a:prstGeom>
          <a:noFill/>
        </p:spPr>
        <p:txBody>
          <a:bodyPr wrap="none" rtlCol="0">
            <a:spAutoFit/>
          </a:bodyPr>
          <a:lstStyle/>
          <a:p>
            <a:pPr algn="l"/>
            <a:r>
              <a:rPr lang="en-US" sz="2400" b="1">
                <a:latin typeface="+mj-lt"/>
              </a:rPr>
              <a:t>GENERATION</a:t>
            </a:r>
          </a:p>
        </p:txBody>
      </p:sp>
    </p:spTree>
    <p:extLst>
      <p:ext uri="{BB962C8B-B14F-4D97-AF65-F5344CB8AC3E}">
        <p14:creationId xmlns:p14="http://schemas.microsoft.com/office/powerpoint/2010/main" val="4723948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97E06-E342-BD48-5424-EFBC39FDD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0F5DD-944F-6955-2F0A-9FD1ED11E7DC}"/>
              </a:ext>
            </a:extLst>
          </p:cNvPr>
          <p:cNvSpPr>
            <a:spLocks noGrp="1"/>
          </p:cNvSpPr>
          <p:nvPr>
            <p:ph type="title"/>
          </p:nvPr>
        </p:nvSpPr>
        <p:spPr>
          <a:xfrm>
            <a:off x="407987" y="404813"/>
            <a:ext cx="11376026" cy="1079971"/>
          </a:xfrm>
        </p:spPr>
        <p:txBody>
          <a:bodyPr anchor="t">
            <a:normAutofit/>
          </a:bodyPr>
          <a:lstStyle/>
          <a:p>
            <a:r>
              <a:rPr lang="en-US"/>
              <a:t>4.1. Going deeper on how AI images and video generation work</a:t>
            </a:r>
          </a:p>
        </p:txBody>
      </p:sp>
      <p:sp>
        <p:nvSpPr>
          <p:cNvPr id="7" name="Slide Number Placeholder 6">
            <a:extLst>
              <a:ext uri="{FF2B5EF4-FFF2-40B4-BE49-F238E27FC236}">
                <a16:creationId xmlns:a16="http://schemas.microsoft.com/office/drawing/2014/main" id="{867473BE-476F-4997-0A55-F44AAF642FC2}"/>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49</a:t>
            </a:fld>
            <a:endParaRPr lang="fi-FI"/>
          </a:p>
        </p:txBody>
      </p:sp>
      <p:sp>
        <p:nvSpPr>
          <p:cNvPr id="3" name="Date Placeholder 2">
            <a:extLst>
              <a:ext uri="{FF2B5EF4-FFF2-40B4-BE49-F238E27FC236}">
                <a16:creationId xmlns:a16="http://schemas.microsoft.com/office/drawing/2014/main" id="{CD9C2191-55F6-FD68-9EB7-EDC3866B1896}"/>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83FB998D-38D9-72B2-E199-CDDAFC34C424}"/>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BF11FCB8-1E2E-C189-84B6-F88ED5C80D8A}"/>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sp>
        <p:nvSpPr>
          <p:cNvPr id="5" name="Content Placeholder 2">
            <a:extLst>
              <a:ext uri="{FF2B5EF4-FFF2-40B4-BE49-F238E27FC236}">
                <a16:creationId xmlns:a16="http://schemas.microsoft.com/office/drawing/2014/main" id="{4A63FAC7-145C-6500-AAEC-540113827008}"/>
              </a:ext>
            </a:extLst>
          </p:cNvPr>
          <p:cNvSpPr>
            <a:spLocks noGrp="1"/>
          </p:cNvSpPr>
          <p:nvPr>
            <p:ph sz="half" idx="1"/>
          </p:nvPr>
        </p:nvSpPr>
        <p:spPr>
          <a:xfrm>
            <a:off x="1055688" y="1852522"/>
            <a:ext cx="4896296" cy="3671887"/>
          </a:xfrm>
        </p:spPr>
        <p:txBody>
          <a:bodyPr/>
          <a:lstStyle/>
          <a:p>
            <a:pPr marL="342900" indent="-342900">
              <a:buFont typeface="Arial" panose="020B0604020202020204" pitchFamily="34" charset="0"/>
              <a:buChar char="•"/>
            </a:pPr>
            <a:r>
              <a:rPr lang="en-US" sz="1800"/>
              <a:t>AI image generators don’t “copy” images – instead, they learn patterns from </a:t>
            </a:r>
            <a:r>
              <a:rPr lang="en-US" sz="2400"/>
              <a:t>huge </a:t>
            </a:r>
            <a:r>
              <a:rPr lang="en-US" sz="1800"/>
              <a:t>datasets</a:t>
            </a:r>
          </a:p>
          <a:p>
            <a:pPr marL="342900" indent="-342900">
              <a:buFont typeface="Arial" panose="020B0604020202020204" pitchFamily="34" charset="0"/>
              <a:buChar char="•"/>
            </a:pPr>
            <a:r>
              <a:rPr lang="en-US" sz="1800"/>
              <a:t>When you type a description (a </a:t>
            </a:r>
            <a:r>
              <a:rPr lang="en-US" sz="1800" b="1"/>
              <a:t>prompt</a:t>
            </a:r>
            <a:r>
              <a:rPr lang="en-US" sz="1800"/>
              <a:t>), the model creates a new image step by step</a:t>
            </a:r>
          </a:p>
          <a:p>
            <a:pPr marL="342900" indent="-342900">
              <a:buFont typeface="Arial" panose="020B0604020202020204" pitchFamily="34" charset="0"/>
              <a:buChar char="•"/>
            </a:pPr>
            <a:r>
              <a:rPr lang="en-US" sz="1800"/>
              <a:t>Currently, there are two main types of models:</a:t>
            </a:r>
          </a:p>
          <a:p>
            <a:pPr marL="609600" lvl="1" indent="-342900"/>
            <a:r>
              <a:rPr lang="en-US" sz="1800" b="1"/>
              <a:t>Diffusion</a:t>
            </a:r>
            <a:r>
              <a:rPr lang="en-US" sz="1800"/>
              <a:t> models (start with noise, gradually denoise into an image)</a:t>
            </a:r>
          </a:p>
          <a:p>
            <a:pPr marL="609600" lvl="1" indent="-342900"/>
            <a:r>
              <a:rPr lang="en-US" sz="1800" b="1"/>
              <a:t>Autoregressive</a:t>
            </a:r>
            <a:r>
              <a:rPr lang="en-US" sz="1800"/>
              <a:t> models (predict pixels one at a time, like text prediction but adjusted for images</a:t>
            </a:r>
          </a:p>
        </p:txBody>
      </p:sp>
      <p:sp>
        <p:nvSpPr>
          <p:cNvPr id="6" name="Content Placeholder 3">
            <a:extLst>
              <a:ext uri="{FF2B5EF4-FFF2-40B4-BE49-F238E27FC236}">
                <a16:creationId xmlns:a16="http://schemas.microsoft.com/office/drawing/2014/main" id="{2BF4AAC5-5C50-7F52-0D9B-731879D354BE}"/>
              </a:ext>
            </a:extLst>
          </p:cNvPr>
          <p:cNvSpPr>
            <a:spLocks noGrp="1"/>
          </p:cNvSpPr>
          <p:nvPr>
            <p:ph sz="half" idx="2"/>
          </p:nvPr>
        </p:nvSpPr>
        <p:spPr>
          <a:xfrm>
            <a:off x="6240016" y="1852522"/>
            <a:ext cx="4896296" cy="3671887"/>
          </a:xfrm>
        </p:spPr>
        <p:txBody>
          <a:bodyPr/>
          <a:lstStyle/>
          <a:p>
            <a:r>
              <a:rPr lang="en-US"/>
              <a:t>YouTube videos:</a:t>
            </a:r>
          </a:p>
          <a:p>
            <a:r>
              <a:rPr lang="en-US" b="1"/>
              <a:t>@Welch Labs &amp; @3Blue1Brown</a:t>
            </a:r>
          </a:p>
          <a:p>
            <a:r>
              <a:rPr lang="en-US" b="1">
                <a:hlinkClick r:id="rId2"/>
              </a:rPr>
              <a:t>https://youtu.be/iv-5mZ_9CPY</a:t>
            </a:r>
            <a:endParaRPr lang="en-US" b="1"/>
          </a:p>
          <a:p>
            <a:endParaRPr lang="en-US"/>
          </a:p>
          <a:p>
            <a:r>
              <a:rPr lang="en-US"/>
              <a:t>@Algorithmic Simplicity </a:t>
            </a:r>
            <a:r>
              <a:rPr lang="en-US">
                <a:hlinkClick r:id="rId3"/>
              </a:rPr>
              <a:t>https://youtu.be/zc5NTeJbk-k</a:t>
            </a:r>
            <a:endParaRPr lang="en-US"/>
          </a:p>
          <a:p>
            <a:endParaRPr lang="en-US"/>
          </a:p>
          <a:p>
            <a:r>
              <a:rPr lang="en-US"/>
              <a:t>@Render Realm</a:t>
            </a:r>
          </a:p>
          <a:p>
            <a:r>
              <a:rPr lang="en-US">
                <a:hlinkClick r:id="rId4"/>
              </a:rPr>
              <a:t>https://youtu.be/QdRP9pO89MY</a:t>
            </a:r>
            <a:endParaRPr lang="en-US"/>
          </a:p>
          <a:p>
            <a:endParaRPr lang="en-US"/>
          </a:p>
          <a:p>
            <a:endParaRPr lang="en-US"/>
          </a:p>
          <a:p>
            <a:endParaRPr lang="en-US"/>
          </a:p>
        </p:txBody>
      </p:sp>
      <p:sp>
        <p:nvSpPr>
          <p:cNvPr id="8" name="TextBox 7">
            <a:extLst>
              <a:ext uri="{FF2B5EF4-FFF2-40B4-BE49-F238E27FC236}">
                <a16:creationId xmlns:a16="http://schemas.microsoft.com/office/drawing/2014/main" id="{A43FB884-BB10-5383-63A2-F11CAD91C41E}"/>
              </a:ext>
            </a:extLst>
          </p:cNvPr>
          <p:cNvSpPr txBox="1"/>
          <p:nvPr/>
        </p:nvSpPr>
        <p:spPr>
          <a:xfrm>
            <a:off x="1654859" y="5777506"/>
            <a:ext cx="3816424" cy="646331"/>
          </a:xfrm>
          <a:prstGeom prst="rect">
            <a:avLst/>
          </a:prstGeom>
          <a:noFill/>
        </p:spPr>
        <p:txBody>
          <a:bodyPr wrap="square">
            <a:spAutoFit/>
          </a:bodyPr>
          <a:lstStyle/>
          <a:p>
            <a:r>
              <a:rPr lang="en-US">
                <a:hlinkClick r:id="rId5"/>
              </a:rPr>
              <a:t>Diffusion Explainer: Stable Diffusion Explained with Visualization</a:t>
            </a:r>
            <a:endParaRPr lang="en-US"/>
          </a:p>
        </p:txBody>
      </p:sp>
    </p:spTree>
    <p:extLst>
      <p:ext uri="{BB962C8B-B14F-4D97-AF65-F5344CB8AC3E}">
        <p14:creationId xmlns:p14="http://schemas.microsoft.com/office/powerpoint/2010/main" val="7199798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E3EB5-0FBE-0F69-8E33-D7EEFB56FF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4247A-388F-3996-A94B-28FF9182982D}"/>
              </a:ext>
            </a:extLst>
          </p:cNvPr>
          <p:cNvSpPr>
            <a:spLocks noGrp="1"/>
          </p:cNvSpPr>
          <p:nvPr>
            <p:ph type="title"/>
          </p:nvPr>
        </p:nvSpPr>
        <p:spPr>
          <a:xfrm>
            <a:off x="407987" y="404813"/>
            <a:ext cx="11376026" cy="1079971"/>
          </a:xfrm>
        </p:spPr>
        <p:txBody>
          <a:bodyPr anchor="t">
            <a:normAutofit/>
          </a:bodyPr>
          <a:lstStyle/>
          <a:p>
            <a:r>
              <a:rPr lang="en-US"/>
              <a:t>4.1. Current landscape of image generation tools</a:t>
            </a:r>
          </a:p>
        </p:txBody>
      </p:sp>
      <p:sp>
        <p:nvSpPr>
          <p:cNvPr id="7" name="Slide Number Placeholder 6">
            <a:extLst>
              <a:ext uri="{FF2B5EF4-FFF2-40B4-BE49-F238E27FC236}">
                <a16:creationId xmlns:a16="http://schemas.microsoft.com/office/drawing/2014/main" id="{D69D6699-B57E-3C78-6E72-A27B2554B124}"/>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50</a:t>
            </a:fld>
            <a:endParaRPr lang="fi-FI"/>
          </a:p>
        </p:txBody>
      </p:sp>
      <p:sp>
        <p:nvSpPr>
          <p:cNvPr id="3" name="Date Placeholder 2">
            <a:extLst>
              <a:ext uri="{FF2B5EF4-FFF2-40B4-BE49-F238E27FC236}">
                <a16:creationId xmlns:a16="http://schemas.microsoft.com/office/drawing/2014/main" id="{0C127CEE-F077-42DA-D49F-532DE2B9FFCA}"/>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79D5D2B8-353F-1ED1-9C6B-12C98E537287}"/>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F870883E-E741-4EF6-3ABC-E9453C9BC475}"/>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graphicFrame>
        <p:nvGraphicFramePr>
          <p:cNvPr id="17" name="Table 16">
            <a:extLst>
              <a:ext uri="{FF2B5EF4-FFF2-40B4-BE49-F238E27FC236}">
                <a16:creationId xmlns:a16="http://schemas.microsoft.com/office/drawing/2014/main" id="{4D82E9D9-2269-4881-8C30-EFECF1B0548E}"/>
              </a:ext>
            </a:extLst>
          </p:cNvPr>
          <p:cNvGraphicFramePr>
            <a:graphicFrameLocks noGrp="1"/>
          </p:cNvGraphicFramePr>
          <p:nvPr>
            <p:extLst>
              <p:ext uri="{D42A27DB-BD31-4B8C-83A1-F6EECF244321}">
                <p14:modId xmlns:p14="http://schemas.microsoft.com/office/powerpoint/2010/main" val="2441405094"/>
              </p:ext>
            </p:extLst>
          </p:nvPr>
        </p:nvGraphicFramePr>
        <p:xfrm>
          <a:off x="407987" y="1484784"/>
          <a:ext cx="11376027" cy="4333240"/>
        </p:xfrm>
        <a:graphic>
          <a:graphicData uri="http://schemas.openxmlformats.org/drawingml/2006/table">
            <a:tbl>
              <a:tblPr firstRow="1" bandRow="1">
                <a:tableStyleId>{F5AB1C69-6EDB-4FF4-983F-18BD219EF322}</a:tableStyleId>
              </a:tblPr>
              <a:tblGrid>
                <a:gridCol w="3792009">
                  <a:extLst>
                    <a:ext uri="{9D8B030D-6E8A-4147-A177-3AD203B41FA5}">
                      <a16:colId xmlns:a16="http://schemas.microsoft.com/office/drawing/2014/main" val="2139803066"/>
                    </a:ext>
                  </a:extLst>
                </a:gridCol>
                <a:gridCol w="3792009">
                  <a:extLst>
                    <a:ext uri="{9D8B030D-6E8A-4147-A177-3AD203B41FA5}">
                      <a16:colId xmlns:a16="http://schemas.microsoft.com/office/drawing/2014/main" val="3082905844"/>
                    </a:ext>
                  </a:extLst>
                </a:gridCol>
                <a:gridCol w="3792009">
                  <a:extLst>
                    <a:ext uri="{9D8B030D-6E8A-4147-A177-3AD203B41FA5}">
                      <a16:colId xmlns:a16="http://schemas.microsoft.com/office/drawing/2014/main" val="2284421820"/>
                    </a:ext>
                  </a:extLst>
                </a:gridCol>
              </a:tblGrid>
              <a:tr h="370840">
                <a:tc>
                  <a:txBody>
                    <a:bodyPr/>
                    <a:lstStyle/>
                    <a:p>
                      <a:r>
                        <a:rPr lang="en-US">
                          <a:solidFill>
                            <a:schemeClr val="tx1"/>
                          </a:solidFill>
                        </a:rPr>
                        <a:t>Tool</a:t>
                      </a:r>
                    </a:p>
                  </a:txBody>
                  <a:tcPr/>
                </a:tc>
                <a:tc>
                  <a:txBody>
                    <a:bodyPr/>
                    <a:lstStyle/>
                    <a:p>
                      <a:r>
                        <a:rPr lang="en-US">
                          <a:solidFill>
                            <a:schemeClr val="tx1"/>
                          </a:solidFill>
                        </a:rPr>
                        <a:t>Strengths</a:t>
                      </a:r>
                    </a:p>
                  </a:txBody>
                  <a:tcPr/>
                </a:tc>
                <a:tc>
                  <a:txBody>
                    <a:bodyPr/>
                    <a:lstStyle/>
                    <a:p>
                      <a:r>
                        <a:rPr lang="en-US">
                          <a:solidFill>
                            <a:schemeClr val="tx1"/>
                          </a:solidFill>
                        </a:rPr>
                        <a:t>Typical use case</a:t>
                      </a:r>
                    </a:p>
                  </a:txBody>
                  <a:tcPr/>
                </a:tc>
                <a:extLst>
                  <a:ext uri="{0D108BD9-81ED-4DB2-BD59-A6C34878D82A}">
                    <a16:rowId xmlns:a16="http://schemas.microsoft.com/office/drawing/2014/main" val="1406847558"/>
                  </a:ext>
                </a:extLst>
              </a:tr>
              <a:tr h="370840">
                <a:tc>
                  <a:txBody>
                    <a:bodyPr/>
                    <a:lstStyle/>
                    <a:p>
                      <a:r>
                        <a:rPr lang="en-US">
                          <a:solidFill>
                            <a:schemeClr val="tx1"/>
                          </a:solidFill>
                        </a:rPr>
                        <a:t>ChatGPT</a:t>
                      </a:r>
                      <a:br>
                        <a:rPr lang="en-US">
                          <a:solidFill>
                            <a:schemeClr val="tx1"/>
                          </a:solidFill>
                        </a:rPr>
                      </a:br>
                      <a:r>
                        <a:rPr lang="en-US">
                          <a:solidFill>
                            <a:schemeClr val="tx1"/>
                          </a:solidFill>
                        </a:rPr>
                        <a:t>(</a:t>
                      </a:r>
                      <a:r>
                        <a:rPr lang="en-US">
                          <a:solidFill>
                            <a:schemeClr val="tx1"/>
                          </a:solidFill>
                          <a:hlinkClick r:id="rId2">
                            <a:extLst>
                              <a:ext uri="{A12FA001-AC4F-418D-AE19-62706E023703}">
                                <ahyp:hlinkClr xmlns:ahyp="http://schemas.microsoft.com/office/drawing/2018/hyperlinkcolor" val="tx"/>
                              </a:ext>
                            </a:extLst>
                          </a:hlinkClick>
                        </a:rPr>
                        <a:t>image generator</a:t>
                      </a:r>
                      <a:r>
                        <a:rPr lang="en-US">
                          <a:solidFill>
                            <a:schemeClr val="tx1"/>
                          </a:solidFill>
                        </a:rPr>
                        <a:t> &amp; </a:t>
                      </a:r>
                      <a:r>
                        <a:rPr lang="en-US">
                          <a:solidFill>
                            <a:schemeClr val="tx1"/>
                          </a:solidFill>
                          <a:hlinkClick r:id="rId3">
                            <a:extLst>
                              <a:ext uri="{A12FA001-AC4F-418D-AE19-62706E023703}">
                                <ahyp:hlinkClr xmlns:ahyp="http://schemas.microsoft.com/office/drawing/2018/hyperlinkcolor" val="tx"/>
                              </a:ext>
                            </a:extLst>
                          </a:hlinkClick>
                        </a:rPr>
                        <a:t>Dall-E 3</a:t>
                      </a:r>
                      <a:r>
                        <a:rPr lang="en-US">
                          <a:solidFill>
                            <a:schemeClr val="tx1"/>
                          </a:solidFill>
                        </a:rPr>
                        <a:t>)</a:t>
                      </a:r>
                    </a:p>
                  </a:txBody>
                  <a:tcPr/>
                </a:tc>
                <a:tc>
                  <a:txBody>
                    <a:bodyPr/>
                    <a:lstStyle/>
                    <a:p>
                      <a:r>
                        <a:rPr lang="en-US" sz="1400">
                          <a:solidFill>
                            <a:schemeClr val="tx1"/>
                          </a:solidFill>
                        </a:rPr>
                        <a:t>Integrated chat-based workflow, understands text labels and scientific context, strong for diagrams and schematics</a:t>
                      </a:r>
                    </a:p>
                  </a:txBody>
                  <a:tcPr/>
                </a:tc>
                <a:tc>
                  <a:txBody>
                    <a:bodyPr/>
                    <a:lstStyle/>
                    <a:p>
                      <a:r>
                        <a:rPr lang="en-US" sz="1400">
                          <a:solidFill>
                            <a:schemeClr val="tx1"/>
                          </a:solidFill>
                        </a:rPr>
                        <a:t>Concept sketches, labeled figures, ideation, multi-turn refinement</a:t>
                      </a:r>
                    </a:p>
                  </a:txBody>
                  <a:tcPr/>
                </a:tc>
                <a:extLst>
                  <a:ext uri="{0D108BD9-81ED-4DB2-BD59-A6C34878D82A}">
                    <a16:rowId xmlns:a16="http://schemas.microsoft.com/office/drawing/2014/main" val="4019473572"/>
                  </a:ext>
                </a:extLst>
              </a:tr>
              <a:tr h="370840">
                <a:tc>
                  <a:txBody>
                    <a:bodyPr/>
                    <a:lstStyle/>
                    <a:p>
                      <a:r>
                        <a:rPr lang="en-US">
                          <a:solidFill>
                            <a:schemeClr val="tx1"/>
                          </a:solidFill>
                          <a:hlinkClick r:id="rId4">
                            <a:extLst>
                              <a:ext uri="{A12FA001-AC4F-418D-AE19-62706E023703}">
                                <ahyp:hlinkClr xmlns:ahyp="http://schemas.microsoft.com/office/drawing/2018/hyperlinkcolor" val="tx"/>
                              </a:ext>
                            </a:extLst>
                          </a:hlinkClick>
                        </a:rPr>
                        <a:t>Adobe Firefly</a:t>
                      </a:r>
                      <a:endParaRPr lang="en-US">
                        <a:solidFill>
                          <a:schemeClr val="tx1"/>
                        </a:solidFill>
                      </a:endParaRPr>
                    </a:p>
                  </a:txBody>
                  <a:tcPr/>
                </a:tc>
                <a:tc>
                  <a:txBody>
                    <a:bodyPr/>
                    <a:lstStyle/>
                    <a:p>
                      <a:r>
                        <a:rPr lang="en-US" sz="1400">
                          <a:solidFill>
                            <a:schemeClr val="tx1"/>
                          </a:solidFill>
                        </a:rPr>
                        <a:t>Professional-grade editing, safe licensing, integrates into Photoshop/Illustrator, supports Generative Fill/Expand</a:t>
                      </a:r>
                    </a:p>
                  </a:txBody>
                  <a:tcPr/>
                </a:tc>
                <a:tc>
                  <a:txBody>
                    <a:bodyPr/>
                    <a:lstStyle/>
                    <a:p>
                      <a:r>
                        <a:rPr lang="en-US" sz="1400">
                          <a:solidFill>
                            <a:schemeClr val="tx1"/>
                          </a:solidFill>
                        </a:rPr>
                        <a:t>Publication-ready graphics, figure editing, reproducible vector outputs</a:t>
                      </a:r>
                    </a:p>
                  </a:txBody>
                  <a:tcPr/>
                </a:tc>
                <a:extLst>
                  <a:ext uri="{0D108BD9-81ED-4DB2-BD59-A6C34878D82A}">
                    <a16:rowId xmlns:a16="http://schemas.microsoft.com/office/drawing/2014/main" val="1050426337"/>
                  </a:ext>
                </a:extLst>
              </a:tr>
              <a:tr h="370840">
                <a:tc>
                  <a:txBody>
                    <a:bodyPr/>
                    <a:lstStyle/>
                    <a:p>
                      <a:r>
                        <a:rPr lang="en-US">
                          <a:solidFill>
                            <a:schemeClr val="tx1"/>
                          </a:solidFill>
                          <a:hlinkClick r:id="rId5">
                            <a:extLst>
                              <a:ext uri="{A12FA001-AC4F-418D-AE19-62706E023703}">
                                <ahyp:hlinkClr xmlns:ahyp="http://schemas.microsoft.com/office/drawing/2018/hyperlinkcolor" val="tx"/>
                              </a:ext>
                            </a:extLst>
                          </a:hlinkClick>
                        </a:rPr>
                        <a:t>Midjourney</a:t>
                      </a:r>
                      <a:endParaRPr lang="en-US">
                        <a:solidFill>
                          <a:schemeClr val="tx1"/>
                        </a:solidFill>
                      </a:endParaRPr>
                    </a:p>
                  </a:txBody>
                  <a:tcPr/>
                </a:tc>
                <a:tc>
                  <a:txBody>
                    <a:bodyPr/>
                    <a:lstStyle/>
                    <a:p>
                      <a:r>
                        <a:rPr lang="en-US" sz="1400">
                          <a:solidFill>
                            <a:schemeClr val="tx1"/>
                          </a:solidFill>
                        </a:rPr>
                        <a:t>Highly aesthetic and detailed, strong visual coherence, creative control via “Remix” and “Vary Region”</a:t>
                      </a:r>
                    </a:p>
                  </a:txBody>
                  <a:tcPr/>
                </a:tc>
                <a:tc>
                  <a:txBody>
                    <a:bodyPr/>
                    <a:lstStyle/>
                    <a:p>
                      <a:r>
                        <a:rPr lang="en-US" sz="1400">
                          <a:solidFill>
                            <a:schemeClr val="tx1"/>
                          </a:solidFill>
                        </a:rPr>
                        <a:t>Concept art, realistic lab scenes, speculative designs</a:t>
                      </a:r>
                    </a:p>
                  </a:txBody>
                  <a:tcPr/>
                </a:tc>
                <a:extLst>
                  <a:ext uri="{0D108BD9-81ED-4DB2-BD59-A6C34878D82A}">
                    <a16:rowId xmlns:a16="http://schemas.microsoft.com/office/drawing/2014/main" val="3152625375"/>
                  </a:ext>
                </a:extLst>
              </a:tr>
              <a:tr h="370840">
                <a:tc>
                  <a:txBody>
                    <a:bodyPr/>
                    <a:lstStyle/>
                    <a:p>
                      <a:r>
                        <a:rPr lang="en-US">
                          <a:solidFill>
                            <a:schemeClr val="tx1"/>
                          </a:solidFill>
                        </a:rPr>
                        <a:t>Stable diffusion / </a:t>
                      </a:r>
                      <a:r>
                        <a:rPr lang="en-US">
                          <a:solidFill>
                            <a:schemeClr val="tx1"/>
                          </a:solidFill>
                          <a:hlinkClick r:id="rId6">
                            <a:extLst>
                              <a:ext uri="{A12FA001-AC4F-418D-AE19-62706E023703}">
                                <ahyp:hlinkClr xmlns:ahyp="http://schemas.microsoft.com/office/drawing/2018/hyperlinkcolor" val="tx"/>
                              </a:ext>
                            </a:extLst>
                          </a:hlinkClick>
                        </a:rPr>
                        <a:t>ComfyUI</a:t>
                      </a:r>
                      <a:endParaRPr lang="en-US">
                        <a:solidFill>
                          <a:schemeClr val="tx1"/>
                        </a:solidFill>
                      </a:endParaRPr>
                    </a:p>
                  </a:txBody>
                  <a:tcPr/>
                </a:tc>
                <a:tc>
                  <a:txBody>
                    <a:bodyPr/>
                    <a:lstStyle/>
                    <a:p>
                      <a:r>
                        <a:rPr lang="en-US" sz="1400">
                          <a:solidFill>
                            <a:schemeClr val="tx1"/>
                          </a:solidFill>
                        </a:rPr>
                        <a:t>Open source, full parameter control, local reproducibility, modular workflows (ControlNet, </a:t>
                      </a:r>
                      <a:r>
                        <a:rPr lang="en-US" sz="1400" err="1">
                          <a:solidFill>
                            <a:schemeClr val="tx1"/>
                          </a:solidFill>
                        </a:rPr>
                        <a:t>LoRA</a:t>
                      </a:r>
                      <a:r>
                        <a:rPr lang="en-US" sz="1400">
                          <a:solidFill>
                            <a:schemeClr val="tx1"/>
                          </a:solidFill>
                        </a:rPr>
                        <a:t>)</a:t>
                      </a:r>
                    </a:p>
                  </a:txBody>
                  <a:tcPr/>
                </a:tc>
                <a:tc>
                  <a:txBody>
                    <a:bodyPr/>
                    <a:lstStyle/>
                    <a:p>
                      <a:r>
                        <a:rPr lang="en-US" sz="1400">
                          <a:solidFill>
                            <a:schemeClr val="tx1"/>
                          </a:solidFill>
                        </a:rPr>
                        <a:t>Method development, reproducible image pipelines, controlled experiments</a:t>
                      </a:r>
                    </a:p>
                  </a:txBody>
                  <a:tcPr/>
                </a:tc>
                <a:extLst>
                  <a:ext uri="{0D108BD9-81ED-4DB2-BD59-A6C34878D82A}">
                    <a16:rowId xmlns:a16="http://schemas.microsoft.com/office/drawing/2014/main" val="756336179"/>
                  </a:ext>
                </a:extLst>
              </a:tr>
              <a:tr h="370840">
                <a:tc>
                  <a:txBody>
                    <a:bodyPr/>
                    <a:lstStyle/>
                    <a:p>
                      <a:r>
                        <a:rPr lang="en-US">
                          <a:solidFill>
                            <a:schemeClr val="tx1"/>
                          </a:solidFill>
                          <a:hlinkClick r:id="rId7">
                            <a:extLst>
                              <a:ext uri="{A12FA001-AC4F-418D-AE19-62706E023703}">
                                <ahyp:hlinkClr xmlns:ahyp="http://schemas.microsoft.com/office/drawing/2018/hyperlinkcolor" val="tx"/>
                              </a:ext>
                            </a:extLst>
                          </a:hlinkClick>
                        </a:rPr>
                        <a:t>Ideogram</a:t>
                      </a:r>
                      <a:endParaRPr lang="en-US">
                        <a:solidFill>
                          <a:schemeClr val="tx1"/>
                        </a:solidFill>
                      </a:endParaRPr>
                    </a:p>
                  </a:txBody>
                  <a:tcPr/>
                </a:tc>
                <a:tc>
                  <a:txBody>
                    <a:bodyPr/>
                    <a:lstStyle/>
                    <a:p>
                      <a:r>
                        <a:rPr lang="en-US" sz="1400">
                          <a:solidFill>
                            <a:schemeClr val="tx1"/>
                          </a:solidFill>
                        </a:rPr>
                        <a:t>Best-in-class text rendering and layout control, consistent typography</a:t>
                      </a:r>
                    </a:p>
                  </a:txBody>
                  <a:tcPr/>
                </a:tc>
                <a:tc>
                  <a:txBody>
                    <a:bodyPr/>
                    <a:lstStyle/>
                    <a:p>
                      <a:r>
                        <a:rPr lang="en-US" sz="1400">
                          <a:solidFill>
                            <a:schemeClr val="tx1"/>
                          </a:solidFill>
                        </a:rPr>
                        <a:t>Posters, headers, infographics, presentation visuals</a:t>
                      </a:r>
                    </a:p>
                  </a:txBody>
                  <a:tcPr/>
                </a:tc>
                <a:extLst>
                  <a:ext uri="{0D108BD9-81ED-4DB2-BD59-A6C34878D82A}">
                    <a16:rowId xmlns:a16="http://schemas.microsoft.com/office/drawing/2014/main" val="1002245812"/>
                  </a:ext>
                </a:extLst>
              </a:tr>
              <a:tr h="370840">
                <a:tc>
                  <a:txBody>
                    <a:bodyPr/>
                    <a:lstStyle/>
                    <a:p>
                      <a:r>
                        <a:rPr lang="en-US">
                          <a:solidFill>
                            <a:schemeClr val="tx1"/>
                          </a:solidFill>
                          <a:hlinkClick r:id="rId8">
                            <a:extLst>
                              <a:ext uri="{A12FA001-AC4F-418D-AE19-62706E023703}">
                                <ahyp:hlinkClr xmlns:ahyp="http://schemas.microsoft.com/office/drawing/2018/hyperlinkcolor" val="tx"/>
                              </a:ext>
                            </a:extLst>
                          </a:hlinkClick>
                        </a:rPr>
                        <a:t>Flux.1</a:t>
                      </a:r>
                      <a:endParaRPr lang="en-US">
                        <a:solidFill>
                          <a:schemeClr val="tx1"/>
                        </a:solidFill>
                      </a:endParaRPr>
                    </a:p>
                  </a:txBody>
                  <a:tcPr/>
                </a:tc>
                <a:tc>
                  <a:txBody>
                    <a:bodyPr/>
                    <a:lstStyle/>
                    <a:p>
                      <a:r>
                        <a:rPr lang="en-US" sz="1400">
                          <a:solidFill>
                            <a:schemeClr val="tx1"/>
                          </a:solidFill>
                        </a:rPr>
                        <a:t>Open-weight, research-friendly, strong realism, suitable for local inference</a:t>
                      </a:r>
                    </a:p>
                  </a:txBody>
                  <a:tcPr/>
                </a:tc>
                <a:tc>
                  <a:txBody>
                    <a:bodyPr/>
                    <a:lstStyle/>
                    <a:p>
                      <a:r>
                        <a:rPr lang="en-US" sz="1400">
                          <a:solidFill>
                            <a:schemeClr val="tx1"/>
                          </a:solidFill>
                        </a:rPr>
                        <a:t>Scientific visualization with flexible licensing and reproducibility</a:t>
                      </a:r>
                    </a:p>
                  </a:txBody>
                  <a:tcPr/>
                </a:tc>
                <a:extLst>
                  <a:ext uri="{0D108BD9-81ED-4DB2-BD59-A6C34878D82A}">
                    <a16:rowId xmlns:a16="http://schemas.microsoft.com/office/drawing/2014/main" val="1646441987"/>
                  </a:ext>
                </a:extLst>
              </a:tr>
            </a:tbl>
          </a:graphicData>
        </a:graphic>
      </p:graphicFrame>
    </p:spTree>
    <p:extLst>
      <p:ext uri="{BB962C8B-B14F-4D97-AF65-F5344CB8AC3E}">
        <p14:creationId xmlns:p14="http://schemas.microsoft.com/office/powerpoint/2010/main" val="10142206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A633C-869C-78C1-11C1-E0AB3EB7F5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0BD6D-F390-61DB-9983-1CA3074B636F}"/>
              </a:ext>
            </a:extLst>
          </p:cNvPr>
          <p:cNvSpPr>
            <a:spLocks noGrp="1"/>
          </p:cNvSpPr>
          <p:nvPr>
            <p:ph type="title"/>
          </p:nvPr>
        </p:nvSpPr>
        <p:spPr>
          <a:xfrm>
            <a:off x="407987" y="404813"/>
            <a:ext cx="11376026" cy="1079971"/>
          </a:xfrm>
        </p:spPr>
        <p:txBody>
          <a:bodyPr anchor="t">
            <a:normAutofit/>
          </a:bodyPr>
          <a:lstStyle/>
          <a:p>
            <a:r>
              <a:rPr lang="en-US"/>
              <a:t>4.1. “Best” text-to-image tools (April 2026)</a:t>
            </a:r>
          </a:p>
        </p:txBody>
      </p:sp>
      <p:sp>
        <p:nvSpPr>
          <p:cNvPr id="7" name="Slide Number Placeholder 6">
            <a:extLst>
              <a:ext uri="{FF2B5EF4-FFF2-40B4-BE49-F238E27FC236}">
                <a16:creationId xmlns:a16="http://schemas.microsoft.com/office/drawing/2014/main" id="{DA15410B-1DBB-5B8A-C817-37A7A257CA74}"/>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51</a:t>
            </a:fld>
            <a:endParaRPr lang="fi-FI"/>
          </a:p>
        </p:txBody>
      </p:sp>
      <p:sp>
        <p:nvSpPr>
          <p:cNvPr id="3" name="Date Placeholder 2">
            <a:extLst>
              <a:ext uri="{FF2B5EF4-FFF2-40B4-BE49-F238E27FC236}">
                <a16:creationId xmlns:a16="http://schemas.microsoft.com/office/drawing/2014/main" id="{104BBD69-7B44-F08F-5ADC-E2AC11BDC531}"/>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0393B96F-3F0A-06E1-E021-D7D9BB628244}"/>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A579D414-296D-1099-A71F-7C64BFFE6763}"/>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pic>
        <p:nvPicPr>
          <p:cNvPr id="5" name="Picture 4">
            <a:extLst>
              <a:ext uri="{FF2B5EF4-FFF2-40B4-BE49-F238E27FC236}">
                <a16:creationId xmlns:a16="http://schemas.microsoft.com/office/drawing/2014/main" id="{2F4361F8-6E90-8E9F-6982-8F5CDD7550BD}"/>
              </a:ext>
            </a:extLst>
          </p:cNvPr>
          <p:cNvPicPr>
            <a:picLocks noChangeAspect="1"/>
          </p:cNvPicPr>
          <p:nvPr/>
        </p:nvPicPr>
        <p:blipFill>
          <a:blip r:embed="rId2"/>
          <a:stretch>
            <a:fillRect/>
          </a:stretch>
        </p:blipFill>
        <p:spPr>
          <a:xfrm>
            <a:off x="9307232" y="1484784"/>
            <a:ext cx="1786448" cy="1170530"/>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197AA2B8-8FDB-970A-AAB0-055A1BCD2AC9}"/>
              </a:ext>
            </a:extLst>
          </p:cNvPr>
          <p:cNvSpPr txBox="1"/>
          <p:nvPr/>
        </p:nvSpPr>
        <p:spPr>
          <a:xfrm>
            <a:off x="1634953" y="6196588"/>
            <a:ext cx="6094378" cy="369332"/>
          </a:xfrm>
          <a:prstGeom prst="rect">
            <a:avLst/>
          </a:prstGeom>
          <a:noFill/>
        </p:spPr>
        <p:txBody>
          <a:bodyPr wrap="square">
            <a:spAutoFit/>
          </a:bodyPr>
          <a:lstStyle/>
          <a:p>
            <a:r>
              <a:rPr lang="en-US">
                <a:hlinkClick r:id="rId3"/>
              </a:rPr>
              <a:t>Text-to-Image Arena | </a:t>
            </a:r>
            <a:r>
              <a:rPr lang="en-US" err="1">
                <a:hlinkClick r:id="rId3"/>
              </a:rPr>
              <a:t>LMArena</a:t>
            </a:r>
            <a:endParaRPr lang="en-US"/>
          </a:p>
        </p:txBody>
      </p:sp>
      <p:sp>
        <p:nvSpPr>
          <p:cNvPr id="9" name="TextBox 8">
            <a:extLst>
              <a:ext uri="{FF2B5EF4-FFF2-40B4-BE49-F238E27FC236}">
                <a16:creationId xmlns:a16="http://schemas.microsoft.com/office/drawing/2014/main" id="{13C94CFC-8210-F971-12DA-DC0262DB89DD}"/>
              </a:ext>
            </a:extLst>
          </p:cNvPr>
          <p:cNvSpPr txBox="1"/>
          <p:nvPr/>
        </p:nvSpPr>
        <p:spPr>
          <a:xfrm>
            <a:off x="9307232" y="2285982"/>
            <a:ext cx="1598295" cy="369332"/>
          </a:xfrm>
          <a:prstGeom prst="rect">
            <a:avLst/>
          </a:prstGeom>
          <a:noFill/>
        </p:spPr>
        <p:txBody>
          <a:bodyPr wrap="square">
            <a:spAutoFit/>
          </a:bodyPr>
          <a:lstStyle/>
          <a:p>
            <a:r>
              <a:rPr lang="en-US"/>
              <a:t>October 2025</a:t>
            </a:r>
          </a:p>
        </p:txBody>
      </p:sp>
      <p:pic>
        <p:nvPicPr>
          <p:cNvPr id="10" name="Picture 9">
            <a:extLst>
              <a:ext uri="{FF2B5EF4-FFF2-40B4-BE49-F238E27FC236}">
                <a16:creationId xmlns:a16="http://schemas.microsoft.com/office/drawing/2014/main" id="{B20407C1-61A4-DB9C-05CB-E6851A61280B}"/>
              </a:ext>
            </a:extLst>
          </p:cNvPr>
          <p:cNvPicPr>
            <a:picLocks noChangeAspect="1"/>
          </p:cNvPicPr>
          <p:nvPr/>
        </p:nvPicPr>
        <p:blipFill>
          <a:blip r:embed="rId4"/>
          <a:stretch>
            <a:fillRect/>
          </a:stretch>
        </p:blipFill>
        <p:spPr>
          <a:xfrm>
            <a:off x="1227741" y="1250894"/>
            <a:ext cx="6908802" cy="435621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7644986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2639404-DEB0-5FA9-D6BD-183E437BA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2026C2-E7FB-59FF-CF70-F84C45497A31}"/>
              </a:ext>
            </a:extLst>
          </p:cNvPr>
          <p:cNvSpPr>
            <a:spLocks noGrp="1"/>
          </p:cNvSpPr>
          <p:nvPr>
            <p:ph type="title"/>
          </p:nvPr>
        </p:nvSpPr>
        <p:spPr>
          <a:xfrm>
            <a:off x="407987" y="404813"/>
            <a:ext cx="11376026" cy="1079971"/>
          </a:xfrm>
        </p:spPr>
        <p:txBody>
          <a:bodyPr anchor="t">
            <a:normAutofit/>
          </a:bodyPr>
          <a:lstStyle/>
          <a:p>
            <a:r>
              <a:rPr lang="en-US"/>
              <a:t>4.1. Basics of AI image tools available at Aalto</a:t>
            </a:r>
          </a:p>
        </p:txBody>
      </p:sp>
      <p:sp>
        <p:nvSpPr>
          <p:cNvPr id="7" name="Slide Number Placeholder 6">
            <a:extLst>
              <a:ext uri="{FF2B5EF4-FFF2-40B4-BE49-F238E27FC236}">
                <a16:creationId xmlns:a16="http://schemas.microsoft.com/office/drawing/2014/main" id="{81C9E9A8-B6CA-C790-6D2E-CCAC9BE17DDF}"/>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52</a:t>
            </a:fld>
            <a:endParaRPr lang="fi-FI"/>
          </a:p>
        </p:txBody>
      </p:sp>
      <p:sp>
        <p:nvSpPr>
          <p:cNvPr id="3" name="Date Placeholder 2">
            <a:extLst>
              <a:ext uri="{FF2B5EF4-FFF2-40B4-BE49-F238E27FC236}">
                <a16:creationId xmlns:a16="http://schemas.microsoft.com/office/drawing/2014/main" id="{F785E9B5-426C-2288-1A02-EBAF67023BF4}"/>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92B6ECB2-BFC2-117B-9B4D-1EC12ADCBAD5}"/>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2D731BD7-BF42-557E-E53A-8E6715B84891}"/>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pic>
        <p:nvPicPr>
          <p:cNvPr id="5" name="Picture 4" descr="Panel of Dall-E 3">
            <a:extLst>
              <a:ext uri="{FF2B5EF4-FFF2-40B4-BE49-F238E27FC236}">
                <a16:creationId xmlns:a16="http://schemas.microsoft.com/office/drawing/2014/main" id="{5E17D332-4F62-849D-DF4C-10C906B535A8}"/>
              </a:ext>
            </a:extLst>
          </p:cNvPr>
          <p:cNvPicPr>
            <a:picLocks noChangeAspect="1"/>
          </p:cNvPicPr>
          <p:nvPr/>
        </p:nvPicPr>
        <p:blipFill>
          <a:blip r:embed="rId2"/>
          <a:srcRect t="14783"/>
          <a:stretch/>
        </p:blipFill>
        <p:spPr>
          <a:xfrm>
            <a:off x="407988" y="1306368"/>
            <a:ext cx="5477246" cy="4372040"/>
          </a:xfrm>
          <a:prstGeom prst="rect">
            <a:avLst/>
          </a:prstGeom>
          <a:effectLst>
            <a:outerShdw blurRad="63500" sx="102000" sy="102000" algn="ctr" rotWithShape="0">
              <a:prstClr val="black">
                <a:alpha val="40000"/>
              </a:prstClr>
            </a:outerShdw>
          </a:effectLst>
        </p:spPr>
      </p:pic>
      <p:pic>
        <p:nvPicPr>
          <p:cNvPr id="6" name="Picture 5" descr="Panel of adobe firefly.">
            <a:extLst>
              <a:ext uri="{FF2B5EF4-FFF2-40B4-BE49-F238E27FC236}">
                <a16:creationId xmlns:a16="http://schemas.microsoft.com/office/drawing/2014/main" id="{46412A74-29EA-3E10-2F7F-D5E4370F4174}"/>
              </a:ext>
            </a:extLst>
          </p:cNvPr>
          <p:cNvPicPr>
            <a:picLocks noChangeAspect="1"/>
          </p:cNvPicPr>
          <p:nvPr/>
        </p:nvPicPr>
        <p:blipFill>
          <a:blip r:embed="rId3"/>
          <a:stretch>
            <a:fillRect/>
          </a:stretch>
        </p:blipFill>
        <p:spPr>
          <a:xfrm>
            <a:off x="6256367" y="1306366"/>
            <a:ext cx="5527646" cy="4372041"/>
          </a:xfrm>
          <a:prstGeom prst="rect">
            <a:avLst/>
          </a:prstGeom>
          <a:effectLst>
            <a:outerShdw blurRad="63500" sx="102000" sy="102000" algn="ctr" rotWithShape="0">
              <a:prstClr val="black">
                <a:alpha val="40000"/>
              </a:prstClr>
            </a:outerShdw>
          </a:effectLst>
        </p:spPr>
      </p:pic>
      <p:sp>
        <p:nvSpPr>
          <p:cNvPr id="8" name="TextBox 7">
            <a:extLst>
              <a:ext uri="{FF2B5EF4-FFF2-40B4-BE49-F238E27FC236}">
                <a16:creationId xmlns:a16="http://schemas.microsoft.com/office/drawing/2014/main" id="{5DAB6101-4726-92D4-C288-BB8D23D86C7E}"/>
              </a:ext>
            </a:extLst>
          </p:cNvPr>
          <p:cNvSpPr txBox="1"/>
          <p:nvPr/>
        </p:nvSpPr>
        <p:spPr>
          <a:xfrm>
            <a:off x="1055688" y="5876925"/>
            <a:ext cx="6096000" cy="369332"/>
          </a:xfrm>
          <a:prstGeom prst="rect">
            <a:avLst/>
          </a:prstGeom>
          <a:noFill/>
        </p:spPr>
        <p:txBody>
          <a:bodyPr wrap="square">
            <a:spAutoFit/>
          </a:bodyPr>
          <a:lstStyle/>
          <a:p>
            <a:r>
              <a:rPr lang="en-US">
                <a:hlinkClick r:id="rId4"/>
              </a:rPr>
              <a:t>What's new with DALL·E 3? | OpenAI Cookbook</a:t>
            </a:r>
            <a:endParaRPr lang="en-US"/>
          </a:p>
        </p:txBody>
      </p:sp>
    </p:spTree>
    <p:extLst>
      <p:ext uri="{BB962C8B-B14F-4D97-AF65-F5344CB8AC3E}">
        <p14:creationId xmlns:p14="http://schemas.microsoft.com/office/powerpoint/2010/main" val="27482442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ECAC4-7D56-A6D2-C220-1C27D22A4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079C6A-8C9E-3151-F3A6-D88E0E39FA11}"/>
              </a:ext>
            </a:extLst>
          </p:cNvPr>
          <p:cNvSpPr>
            <a:spLocks noGrp="1"/>
          </p:cNvSpPr>
          <p:nvPr>
            <p:ph type="title"/>
          </p:nvPr>
        </p:nvSpPr>
        <p:spPr>
          <a:xfrm>
            <a:off x="407987" y="404813"/>
            <a:ext cx="11376026" cy="1079971"/>
          </a:xfrm>
        </p:spPr>
        <p:txBody>
          <a:bodyPr anchor="t">
            <a:normAutofit/>
          </a:bodyPr>
          <a:lstStyle/>
          <a:p>
            <a:r>
              <a:rPr lang="en-US"/>
              <a:t>4.1. Building good prompts</a:t>
            </a:r>
          </a:p>
        </p:txBody>
      </p:sp>
      <p:sp>
        <p:nvSpPr>
          <p:cNvPr id="7" name="Slide Number Placeholder 6">
            <a:extLst>
              <a:ext uri="{FF2B5EF4-FFF2-40B4-BE49-F238E27FC236}">
                <a16:creationId xmlns:a16="http://schemas.microsoft.com/office/drawing/2014/main" id="{4E88688D-5212-0549-10AF-D0693C5ED6E5}"/>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53</a:t>
            </a:fld>
            <a:endParaRPr lang="fi-FI"/>
          </a:p>
        </p:txBody>
      </p:sp>
      <p:sp>
        <p:nvSpPr>
          <p:cNvPr id="3" name="Date Placeholder 2">
            <a:extLst>
              <a:ext uri="{FF2B5EF4-FFF2-40B4-BE49-F238E27FC236}">
                <a16:creationId xmlns:a16="http://schemas.microsoft.com/office/drawing/2014/main" id="{515E12E3-6747-ACBB-8227-38CAB22013A6}"/>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AF5B526F-CB74-DE1B-D573-DA59DC2D1D58}"/>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C594894D-53F3-3CD0-9014-F04B18AE9AE9}"/>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sp>
        <p:nvSpPr>
          <p:cNvPr id="5" name="Text Placeholder 5">
            <a:extLst>
              <a:ext uri="{FF2B5EF4-FFF2-40B4-BE49-F238E27FC236}">
                <a16:creationId xmlns:a16="http://schemas.microsoft.com/office/drawing/2014/main" id="{BADE4CD2-7119-0425-3AB9-D970F070E0AE}"/>
              </a:ext>
            </a:extLst>
          </p:cNvPr>
          <p:cNvSpPr>
            <a:spLocks noGrp="1"/>
          </p:cNvSpPr>
          <p:nvPr>
            <p:ph sz="half" idx="1"/>
          </p:nvPr>
        </p:nvSpPr>
        <p:spPr>
          <a:xfrm>
            <a:off x="1055688" y="2205037"/>
            <a:ext cx="4833879" cy="3671887"/>
          </a:xfrm>
        </p:spPr>
        <p:txBody>
          <a:bodyPr anchor="t">
            <a:normAutofit/>
          </a:bodyPr>
          <a:lstStyle/>
          <a:p>
            <a:pPr>
              <a:lnSpc>
                <a:spcPct val="90000"/>
              </a:lnSpc>
            </a:pPr>
            <a:r>
              <a:rPr lang="en-US" sz="1600" b="1"/>
              <a:t>👎 </a:t>
            </a:r>
            <a:r>
              <a:rPr lang="en-US" sz="1600" i="1">
                <a:solidFill>
                  <a:schemeClr val="accent2">
                    <a:lumMod val="75000"/>
                  </a:schemeClr>
                </a:solidFill>
              </a:rPr>
              <a:t>Show me a picture of lots of blooming California poppies, make them bright, vibrant orange, and draw them in an illustrated style with colored pencils</a:t>
            </a:r>
          </a:p>
          <a:p>
            <a:pPr>
              <a:lnSpc>
                <a:spcPct val="90000"/>
              </a:lnSpc>
            </a:pPr>
            <a:r>
              <a:rPr lang="en-US" sz="1600" b="1"/>
              <a:t>👍 </a:t>
            </a:r>
            <a:r>
              <a:rPr lang="en-US" sz="1600" i="1">
                <a:solidFill>
                  <a:srgbClr val="00B050"/>
                </a:solidFill>
              </a:rPr>
              <a:t>Colored pencil illustration of bright orange California poppies</a:t>
            </a:r>
          </a:p>
          <a:p>
            <a:pPr marL="342900" indent="-342900">
              <a:lnSpc>
                <a:spcPct val="90000"/>
              </a:lnSpc>
              <a:buFont typeface="+mj-lt"/>
              <a:buAutoNum type="arabicPeriod"/>
            </a:pPr>
            <a:r>
              <a:rPr lang="en-US" sz="1600"/>
              <a:t>Choose the right words (big, huge, gigantic, enormous yield different results)</a:t>
            </a:r>
          </a:p>
          <a:p>
            <a:pPr marL="342900" indent="-342900">
              <a:lnSpc>
                <a:spcPct val="90000"/>
              </a:lnSpc>
              <a:buFont typeface="+mj-lt"/>
              <a:buAutoNum type="arabicPeriod"/>
            </a:pPr>
            <a:r>
              <a:rPr lang="en-US" sz="1600"/>
              <a:t>Be specific with numbers (cats vs three cats)</a:t>
            </a:r>
          </a:p>
          <a:p>
            <a:pPr marL="342900" indent="-342900">
              <a:lnSpc>
                <a:spcPct val="90000"/>
              </a:lnSpc>
              <a:buFont typeface="+mj-lt"/>
              <a:buAutoNum type="arabicPeriod"/>
            </a:pPr>
            <a:r>
              <a:rPr lang="en-US" sz="1600"/>
              <a:t>Focus on what you want</a:t>
            </a:r>
          </a:p>
          <a:p>
            <a:pPr marL="342900" indent="-342900">
              <a:lnSpc>
                <a:spcPct val="90000"/>
              </a:lnSpc>
              <a:buFont typeface="+mj-lt"/>
              <a:buAutoNum type="arabicPeriod"/>
            </a:pPr>
            <a:r>
              <a:rPr lang="en-US" sz="1600"/>
              <a:t>Prompt can be simple (AI fills the blanks). You can be clear about (parameters):</a:t>
            </a:r>
          </a:p>
          <a:p>
            <a:pPr>
              <a:lnSpc>
                <a:spcPct val="90000"/>
              </a:lnSpc>
            </a:pPr>
            <a:r>
              <a:rPr lang="en-US" sz="1600"/>
              <a:t>     • subject • medium • environment • lighting • color </a:t>
            </a:r>
            <a:br>
              <a:rPr lang="en-US" sz="1600"/>
            </a:br>
            <a:r>
              <a:rPr lang="en-US" sz="1600"/>
              <a:t>     • mood • composition</a:t>
            </a:r>
          </a:p>
          <a:p>
            <a:pPr>
              <a:lnSpc>
                <a:spcPct val="90000"/>
              </a:lnSpc>
            </a:pPr>
            <a:endParaRPr lang="en-US" sz="1600"/>
          </a:p>
          <a:p>
            <a:pPr marL="342900" indent="-342900">
              <a:lnSpc>
                <a:spcPct val="90000"/>
              </a:lnSpc>
              <a:buFont typeface="+mj-lt"/>
              <a:buAutoNum type="arabicPeriod"/>
            </a:pPr>
            <a:endParaRPr lang="en-US" sz="1600"/>
          </a:p>
        </p:txBody>
      </p:sp>
      <p:sp>
        <p:nvSpPr>
          <p:cNvPr id="6" name="TextBox 5">
            <a:extLst>
              <a:ext uri="{FF2B5EF4-FFF2-40B4-BE49-F238E27FC236}">
                <a16:creationId xmlns:a16="http://schemas.microsoft.com/office/drawing/2014/main" id="{DB91D12F-A7E5-066C-9401-8B47421F8083}"/>
              </a:ext>
            </a:extLst>
          </p:cNvPr>
          <p:cNvSpPr txBox="1"/>
          <p:nvPr/>
        </p:nvSpPr>
        <p:spPr>
          <a:xfrm>
            <a:off x="1055688" y="5881726"/>
            <a:ext cx="6095306" cy="369332"/>
          </a:xfrm>
          <a:prstGeom prst="rect">
            <a:avLst/>
          </a:prstGeom>
          <a:noFill/>
        </p:spPr>
        <p:txBody>
          <a:bodyPr wrap="square">
            <a:spAutoFit/>
          </a:bodyPr>
          <a:lstStyle/>
          <a:p>
            <a:r>
              <a:rPr lang="en-US">
                <a:hlinkClick r:id="rId2"/>
              </a:rPr>
              <a:t>Prompt Basics – Midjourney</a:t>
            </a:r>
            <a:endParaRPr lang="en-US"/>
          </a:p>
        </p:txBody>
      </p:sp>
      <p:sp>
        <p:nvSpPr>
          <p:cNvPr id="8" name="Rectangle 4">
            <a:extLst>
              <a:ext uri="{FF2B5EF4-FFF2-40B4-BE49-F238E27FC236}">
                <a16:creationId xmlns:a16="http://schemas.microsoft.com/office/drawing/2014/main" id="{0B7A0387-DF84-CD99-4DB3-033480D758B2}"/>
              </a:ext>
            </a:extLst>
          </p:cNvPr>
          <p:cNvSpPr>
            <a:spLocks noChangeArrowheads="1"/>
          </p:cNvSpPr>
          <p:nvPr/>
        </p:nvSpPr>
        <p:spPr bwMode="auto">
          <a:xfrm>
            <a:off x="8823960" y="5406846"/>
            <a:ext cx="2654894" cy="69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err="1">
                <a:ln>
                  <a:noFill/>
                </a:ln>
                <a:solidFill>
                  <a:schemeClr val="tx1"/>
                </a:solidFill>
                <a:effectLst/>
                <a:latin typeface="Arial" panose="020B0604020202020204" pitchFamily="34" charset="0"/>
              </a:rPr>
              <a:t>hawaian</a:t>
            </a:r>
            <a:r>
              <a:rPr kumimoji="0" lang="en-US" altLang="en-US" sz="1600" b="0" i="1" u="none" strike="noStrike" cap="none" normalizeH="0" baseline="0">
                <a:ln>
                  <a:noFill/>
                </a:ln>
                <a:solidFill>
                  <a:schemeClr val="tx1"/>
                </a:solidFill>
                <a:effectLst/>
                <a:latin typeface="Arial" panose="020B0604020202020204" pitchFamily="34" charset="0"/>
              </a:rPr>
              <a:t> pizza. no </a:t>
            </a:r>
            <a:r>
              <a:rPr kumimoji="0" lang="en-US" altLang="en-US" sz="1600" b="0" i="1" u="none" strike="noStrike" cap="none" normalizeH="0" baseline="0" err="1">
                <a:ln>
                  <a:noFill/>
                </a:ln>
                <a:solidFill>
                  <a:schemeClr val="tx1"/>
                </a:solidFill>
                <a:effectLst/>
                <a:latin typeface="Arial" panose="020B0604020202020204" pitchFamily="34" charset="0"/>
              </a:rPr>
              <a:t>pinapple</a:t>
            </a:r>
            <a:endParaRPr kumimoji="0" lang="en-US" altLang="en-US" sz="1600" b="0" i="1"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1" u="none" strike="noStrike" cap="none" normalizeH="0" baseline="0">
              <a:ln>
                <a:noFill/>
              </a:ln>
              <a:solidFill>
                <a:schemeClr val="tx1"/>
              </a:solidFill>
              <a:effectLst/>
              <a:latin typeface="Arial" panose="020B0604020202020204" pitchFamily="34" charset="0"/>
            </a:endParaRPr>
          </a:p>
        </p:txBody>
      </p:sp>
      <p:pic>
        <p:nvPicPr>
          <p:cNvPr id="9" name="Picture 8" descr="A pizza with pineapples on a table">
            <a:extLst>
              <a:ext uri="{FF2B5EF4-FFF2-40B4-BE49-F238E27FC236}">
                <a16:creationId xmlns:a16="http://schemas.microsoft.com/office/drawing/2014/main" id="{EB6BC0A4-E7C2-23DD-4561-143AA672C1DB}"/>
              </a:ext>
            </a:extLst>
          </p:cNvPr>
          <p:cNvPicPr>
            <a:picLocks noChangeAspect="1"/>
          </p:cNvPicPr>
          <p:nvPr/>
        </p:nvPicPr>
        <p:blipFill>
          <a:blip r:embed="rId3"/>
          <a:stretch>
            <a:fillRect/>
          </a:stretch>
        </p:blipFill>
        <p:spPr>
          <a:xfrm>
            <a:off x="8972230" y="3809384"/>
            <a:ext cx="2164082" cy="1683174"/>
          </a:xfrm>
          <a:prstGeom prst="rect">
            <a:avLst/>
          </a:prstGeom>
        </p:spPr>
      </p:pic>
      <p:pic>
        <p:nvPicPr>
          <p:cNvPr id="10" name="Picture 9" descr="A cat lying on a grass field">
            <a:extLst>
              <a:ext uri="{FF2B5EF4-FFF2-40B4-BE49-F238E27FC236}">
                <a16:creationId xmlns:a16="http://schemas.microsoft.com/office/drawing/2014/main" id="{1C216071-67D1-EDE1-97F9-A22FD6861EBF}"/>
              </a:ext>
            </a:extLst>
          </p:cNvPr>
          <p:cNvPicPr>
            <a:picLocks noChangeAspect="1"/>
          </p:cNvPicPr>
          <p:nvPr/>
        </p:nvPicPr>
        <p:blipFill>
          <a:blip r:embed="rId4"/>
          <a:stretch>
            <a:fillRect/>
          </a:stretch>
        </p:blipFill>
        <p:spPr>
          <a:xfrm>
            <a:off x="6412350" y="1001217"/>
            <a:ext cx="2160000" cy="2160000"/>
          </a:xfrm>
          <a:prstGeom prst="rect">
            <a:avLst/>
          </a:prstGeom>
        </p:spPr>
      </p:pic>
      <p:pic>
        <p:nvPicPr>
          <p:cNvPr id="11" name="Picture 10" descr="A cat standing on a colorful landscape">
            <a:extLst>
              <a:ext uri="{FF2B5EF4-FFF2-40B4-BE49-F238E27FC236}">
                <a16:creationId xmlns:a16="http://schemas.microsoft.com/office/drawing/2014/main" id="{B083C958-0456-A572-DE4C-58E3A051E4E2}"/>
              </a:ext>
            </a:extLst>
          </p:cNvPr>
          <p:cNvPicPr>
            <a:picLocks noChangeAspect="1"/>
          </p:cNvPicPr>
          <p:nvPr/>
        </p:nvPicPr>
        <p:blipFill>
          <a:blip r:embed="rId5"/>
          <a:stretch>
            <a:fillRect/>
          </a:stretch>
        </p:blipFill>
        <p:spPr>
          <a:xfrm>
            <a:off x="8616520" y="1001217"/>
            <a:ext cx="2160000" cy="2160000"/>
          </a:xfrm>
          <a:prstGeom prst="rect">
            <a:avLst/>
          </a:prstGeom>
        </p:spPr>
      </p:pic>
      <p:sp>
        <p:nvSpPr>
          <p:cNvPr id="12" name="Rectangle 4">
            <a:extLst>
              <a:ext uri="{FF2B5EF4-FFF2-40B4-BE49-F238E27FC236}">
                <a16:creationId xmlns:a16="http://schemas.microsoft.com/office/drawing/2014/main" id="{135435F6-37D0-1AAE-57E3-2B4F702843E4}"/>
              </a:ext>
            </a:extLst>
          </p:cNvPr>
          <p:cNvSpPr>
            <a:spLocks noChangeArrowheads="1"/>
          </p:cNvSpPr>
          <p:nvPr/>
        </p:nvSpPr>
        <p:spPr bwMode="auto">
          <a:xfrm>
            <a:off x="8982222" y="3090941"/>
            <a:ext cx="1428596" cy="451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a:ln>
                  <a:noFill/>
                </a:ln>
                <a:solidFill>
                  <a:schemeClr val="tx1"/>
                </a:solidFill>
                <a:effectLst/>
                <a:latin typeface="Arial" panose="020B0604020202020204" pitchFamily="34" charset="0"/>
              </a:rPr>
              <a:t>enormous cat</a:t>
            </a:r>
          </a:p>
        </p:txBody>
      </p:sp>
      <p:sp>
        <p:nvSpPr>
          <p:cNvPr id="13" name="Rectangle 4">
            <a:extLst>
              <a:ext uri="{FF2B5EF4-FFF2-40B4-BE49-F238E27FC236}">
                <a16:creationId xmlns:a16="http://schemas.microsoft.com/office/drawing/2014/main" id="{EBAEBED5-9460-8255-EB41-5A6F8BDA8151}"/>
              </a:ext>
            </a:extLst>
          </p:cNvPr>
          <p:cNvSpPr>
            <a:spLocks noChangeArrowheads="1"/>
          </p:cNvSpPr>
          <p:nvPr/>
        </p:nvSpPr>
        <p:spPr bwMode="auto">
          <a:xfrm>
            <a:off x="7006479" y="3090940"/>
            <a:ext cx="971741" cy="451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01568" rIns="9144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a:ln>
                  <a:noFill/>
                </a:ln>
                <a:solidFill>
                  <a:schemeClr val="tx1"/>
                </a:solidFill>
                <a:effectLst/>
                <a:latin typeface="Arial" panose="020B0604020202020204" pitchFamily="34" charset="0"/>
              </a:rPr>
              <a:t>huge cat</a:t>
            </a:r>
          </a:p>
        </p:txBody>
      </p:sp>
    </p:spTree>
    <p:extLst>
      <p:ext uri="{BB962C8B-B14F-4D97-AF65-F5344CB8AC3E}">
        <p14:creationId xmlns:p14="http://schemas.microsoft.com/office/powerpoint/2010/main" val="31066296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A8404-B527-BB7C-EFFE-C78C02CE6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B9E0D-68D2-B453-41CE-09A14AD28DFA}"/>
              </a:ext>
            </a:extLst>
          </p:cNvPr>
          <p:cNvSpPr>
            <a:spLocks noGrp="1"/>
          </p:cNvSpPr>
          <p:nvPr>
            <p:ph type="title"/>
          </p:nvPr>
        </p:nvSpPr>
        <p:spPr>
          <a:xfrm>
            <a:off x="407987" y="404813"/>
            <a:ext cx="11376026" cy="1079971"/>
          </a:xfrm>
        </p:spPr>
        <p:txBody>
          <a:bodyPr anchor="t">
            <a:normAutofit/>
          </a:bodyPr>
          <a:lstStyle/>
          <a:p>
            <a:r>
              <a:rPr lang="en-US"/>
              <a:t>4.1. Useful keywords for scientific image generation</a:t>
            </a:r>
          </a:p>
        </p:txBody>
      </p:sp>
      <p:sp>
        <p:nvSpPr>
          <p:cNvPr id="7" name="Slide Number Placeholder 6">
            <a:extLst>
              <a:ext uri="{FF2B5EF4-FFF2-40B4-BE49-F238E27FC236}">
                <a16:creationId xmlns:a16="http://schemas.microsoft.com/office/drawing/2014/main" id="{2DD05BC8-1576-E701-A883-E584A079AAD1}"/>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54</a:t>
            </a:fld>
            <a:endParaRPr lang="fi-FI"/>
          </a:p>
        </p:txBody>
      </p:sp>
      <p:sp>
        <p:nvSpPr>
          <p:cNvPr id="3" name="Date Placeholder 2">
            <a:extLst>
              <a:ext uri="{FF2B5EF4-FFF2-40B4-BE49-F238E27FC236}">
                <a16:creationId xmlns:a16="http://schemas.microsoft.com/office/drawing/2014/main" id="{C4D5036E-1EE2-041B-94DF-D06E53265789}"/>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1C3F9ED3-101D-DEF4-7042-120BA90737DB}"/>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FFB6D71C-C322-509C-2DA6-CD30BB7F878F}"/>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graphicFrame>
        <p:nvGraphicFramePr>
          <p:cNvPr id="5" name="Table 4">
            <a:extLst>
              <a:ext uri="{FF2B5EF4-FFF2-40B4-BE49-F238E27FC236}">
                <a16:creationId xmlns:a16="http://schemas.microsoft.com/office/drawing/2014/main" id="{AD6798C4-A72F-0CDE-1C40-ED0F5DC58161}"/>
              </a:ext>
            </a:extLst>
          </p:cNvPr>
          <p:cNvGraphicFramePr>
            <a:graphicFrameLocks noGrp="1"/>
          </p:cNvGraphicFramePr>
          <p:nvPr/>
        </p:nvGraphicFramePr>
        <p:xfrm>
          <a:off x="407987" y="1408764"/>
          <a:ext cx="11376029" cy="4480560"/>
        </p:xfrm>
        <a:graphic>
          <a:graphicData uri="http://schemas.openxmlformats.org/drawingml/2006/table">
            <a:tbl>
              <a:tblPr firstRow="1" bandRow="1">
                <a:tableStyleId>{93296810-A885-4BE3-A3E7-6D5BEEA58F35}</a:tableStyleId>
              </a:tblPr>
              <a:tblGrid>
                <a:gridCol w="1625147">
                  <a:extLst>
                    <a:ext uri="{9D8B030D-6E8A-4147-A177-3AD203B41FA5}">
                      <a16:colId xmlns:a16="http://schemas.microsoft.com/office/drawing/2014/main" val="1664431949"/>
                    </a:ext>
                  </a:extLst>
                </a:gridCol>
                <a:gridCol w="1752803">
                  <a:extLst>
                    <a:ext uri="{9D8B030D-6E8A-4147-A177-3AD203B41FA5}">
                      <a16:colId xmlns:a16="http://schemas.microsoft.com/office/drawing/2014/main" val="470652322"/>
                    </a:ext>
                  </a:extLst>
                </a:gridCol>
                <a:gridCol w="1497491">
                  <a:extLst>
                    <a:ext uri="{9D8B030D-6E8A-4147-A177-3AD203B41FA5}">
                      <a16:colId xmlns:a16="http://schemas.microsoft.com/office/drawing/2014/main" val="123479025"/>
                    </a:ext>
                  </a:extLst>
                </a:gridCol>
                <a:gridCol w="1406130">
                  <a:extLst>
                    <a:ext uri="{9D8B030D-6E8A-4147-A177-3AD203B41FA5}">
                      <a16:colId xmlns:a16="http://schemas.microsoft.com/office/drawing/2014/main" val="3697879413"/>
                    </a:ext>
                  </a:extLst>
                </a:gridCol>
                <a:gridCol w="1844164">
                  <a:extLst>
                    <a:ext uri="{9D8B030D-6E8A-4147-A177-3AD203B41FA5}">
                      <a16:colId xmlns:a16="http://schemas.microsoft.com/office/drawing/2014/main" val="4245588181"/>
                    </a:ext>
                  </a:extLst>
                </a:gridCol>
                <a:gridCol w="1625147">
                  <a:extLst>
                    <a:ext uri="{9D8B030D-6E8A-4147-A177-3AD203B41FA5}">
                      <a16:colId xmlns:a16="http://schemas.microsoft.com/office/drawing/2014/main" val="332560511"/>
                    </a:ext>
                  </a:extLst>
                </a:gridCol>
                <a:gridCol w="1625147">
                  <a:extLst>
                    <a:ext uri="{9D8B030D-6E8A-4147-A177-3AD203B41FA5}">
                      <a16:colId xmlns:a16="http://schemas.microsoft.com/office/drawing/2014/main" val="931394825"/>
                    </a:ext>
                  </a:extLst>
                </a:gridCol>
              </a:tblGrid>
              <a:tr h="370840">
                <a:tc>
                  <a:txBody>
                    <a:bodyPr/>
                    <a:lstStyle/>
                    <a:p>
                      <a:r>
                        <a:rPr lang="en-US">
                          <a:solidFill>
                            <a:schemeClr val="tx1"/>
                          </a:solidFill>
                        </a:rPr>
                        <a:t>Styles</a:t>
                      </a:r>
                    </a:p>
                  </a:txBody>
                  <a:tcPr/>
                </a:tc>
                <a:tc>
                  <a:txBody>
                    <a:bodyPr/>
                    <a:lstStyle/>
                    <a:p>
                      <a:r>
                        <a:rPr lang="en-US">
                          <a:solidFill>
                            <a:schemeClr val="tx1"/>
                          </a:solidFill>
                        </a:rPr>
                        <a:t>Minimal</a:t>
                      </a:r>
                    </a:p>
                  </a:txBody>
                  <a:tcPr/>
                </a:tc>
                <a:tc>
                  <a:txBody>
                    <a:bodyPr/>
                    <a:lstStyle/>
                    <a:p>
                      <a:r>
                        <a:rPr lang="en-US">
                          <a:solidFill>
                            <a:schemeClr val="tx1"/>
                          </a:solidFill>
                        </a:rPr>
                        <a:t>Specific styles</a:t>
                      </a:r>
                    </a:p>
                  </a:txBody>
                  <a:tcPr/>
                </a:tc>
                <a:tc>
                  <a:txBody>
                    <a:bodyPr/>
                    <a:lstStyle/>
                    <a:p>
                      <a:r>
                        <a:rPr lang="en-US">
                          <a:solidFill>
                            <a:schemeClr val="tx1"/>
                          </a:solidFill>
                        </a:rPr>
                        <a:t>Draft and conceptual</a:t>
                      </a:r>
                    </a:p>
                  </a:txBody>
                  <a:tcPr/>
                </a:tc>
                <a:tc>
                  <a:txBody>
                    <a:bodyPr/>
                    <a:lstStyle/>
                    <a:p>
                      <a:r>
                        <a:rPr lang="en-US">
                          <a:solidFill>
                            <a:schemeClr val="tx1"/>
                          </a:solidFill>
                        </a:rPr>
                        <a:t>Process representation</a:t>
                      </a:r>
                    </a:p>
                  </a:txBody>
                  <a:tcPr/>
                </a:tc>
                <a:tc>
                  <a:txBody>
                    <a:bodyPr/>
                    <a:lstStyle/>
                    <a:p>
                      <a:r>
                        <a:rPr lang="en-US">
                          <a:solidFill>
                            <a:schemeClr val="tx1"/>
                          </a:solidFill>
                        </a:rPr>
                        <a:t>3D &amp; structures</a:t>
                      </a:r>
                    </a:p>
                  </a:txBody>
                  <a:tcPr/>
                </a:tc>
                <a:tc>
                  <a:txBody>
                    <a:bodyPr/>
                    <a:lstStyle/>
                    <a:p>
                      <a:r>
                        <a:rPr lang="en-US">
                          <a:solidFill>
                            <a:schemeClr val="tx1"/>
                          </a:solidFill>
                        </a:rPr>
                        <a:t>Publication-ready</a:t>
                      </a:r>
                    </a:p>
                  </a:txBody>
                  <a:tcPr/>
                </a:tc>
                <a:extLst>
                  <a:ext uri="{0D108BD9-81ED-4DB2-BD59-A6C34878D82A}">
                    <a16:rowId xmlns:a16="http://schemas.microsoft.com/office/drawing/2014/main" val="3109982458"/>
                  </a:ext>
                </a:extLst>
              </a:tr>
              <a:tr h="370840">
                <a:tc>
                  <a:txBody>
                    <a:bodyPr/>
                    <a:lstStyle/>
                    <a:p>
                      <a:r>
                        <a:rPr lang="en-US">
                          <a:solidFill>
                            <a:schemeClr val="tx1"/>
                          </a:solidFill>
                        </a:rPr>
                        <a:t>Scientific diagram</a:t>
                      </a:r>
                    </a:p>
                  </a:txBody>
                  <a:tcPr/>
                </a:tc>
                <a:tc>
                  <a:txBody>
                    <a:bodyPr/>
                    <a:lstStyle/>
                    <a:p>
                      <a:r>
                        <a:rPr lang="en-US">
                          <a:solidFill>
                            <a:schemeClr val="tx1"/>
                          </a:solidFill>
                        </a:rPr>
                        <a:t>Flat illustration</a:t>
                      </a:r>
                    </a:p>
                  </a:txBody>
                  <a:tcPr/>
                </a:tc>
                <a:tc>
                  <a:txBody>
                    <a:bodyPr/>
                    <a:lstStyle/>
                    <a:p>
                      <a:r>
                        <a:rPr lang="en-US">
                          <a:solidFill>
                            <a:schemeClr val="tx1"/>
                          </a:solidFill>
                        </a:rPr>
                        <a:t>Medical illustration</a:t>
                      </a:r>
                    </a:p>
                  </a:txBody>
                  <a:tcPr/>
                </a:tc>
                <a:tc>
                  <a:txBody>
                    <a:bodyPr/>
                    <a:lstStyle/>
                    <a:p>
                      <a:r>
                        <a:rPr lang="en-US">
                          <a:solidFill>
                            <a:schemeClr val="tx1"/>
                          </a:solidFill>
                        </a:rPr>
                        <a:t>Pencil sketch</a:t>
                      </a:r>
                    </a:p>
                  </a:txBody>
                  <a:tcPr/>
                </a:tc>
                <a:tc>
                  <a:txBody>
                    <a:bodyPr/>
                    <a:lstStyle/>
                    <a:p>
                      <a:r>
                        <a:rPr lang="en-US">
                          <a:solidFill>
                            <a:schemeClr val="tx1"/>
                          </a:solidFill>
                        </a:rPr>
                        <a:t>Flowchart style</a:t>
                      </a:r>
                    </a:p>
                  </a:txBody>
                  <a:tcPr/>
                </a:tc>
                <a:tc>
                  <a:txBody>
                    <a:bodyPr/>
                    <a:lstStyle/>
                    <a:p>
                      <a:r>
                        <a:rPr lang="en-US">
                          <a:solidFill>
                            <a:schemeClr val="tx1"/>
                          </a:solidFill>
                        </a:rPr>
                        <a:t>3D render</a:t>
                      </a:r>
                    </a:p>
                  </a:txBody>
                  <a:tcPr/>
                </a:tc>
                <a:tc>
                  <a:txBody>
                    <a:bodyPr/>
                    <a:lstStyle/>
                    <a:p>
                      <a:r>
                        <a:rPr lang="en-US">
                          <a:solidFill>
                            <a:schemeClr val="tx1"/>
                          </a:solidFill>
                        </a:rPr>
                        <a:t>High contrast line art</a:t>
                      </a:r>
                    </a:p>
                  </a:txBody>
                  <a:tcPr/>
                </a:tc>
                <a:extLst>
                  <a:ext uri="{0D108BD9-81ED-4DB2-BD59-A6C34878D82A}">
                    <a16:rowId xmlns:a16="http://schemas.microsoft.com/office/drawing/2014/main" val="345181140"/>
                  </a:ext>
                </a:extLst>
              </a:tr>
              <a:tr h="370840">
                <a:tc>
                  <a:txBody>
                    <a:bodyPr/>
                    <a:lstStyle/>
                    <a:p>
                      <a:r>
                        <a:rPr lang="en-US">
                          <a:solidFill>
                            <a:schemeClr val="tx1"/>
                          </a:solidFill>
                        </a:rPr>
                        <a:t>Schematic illustration</a:t>
                      </a:r>
                    </a:p>
                  </a:txBody>
                  <a:tcPr/>
                </a:tc>
                <a:tc>
                  <a:txBody>
                    <a:bodyPr/>
                    <a:lstStyle/>
                    <a:p>
                      <a:r>
                        <a:rPr lang="en-US">
                          <a:solidFill>
                            <a:schemeClr val="tx1"/>
                          </a:solidFill>
                        </a:rPr>
                        <a:t>Minimalist line art</a:t>
                      </a:r>
                    </a:p>
                  </a:txBody>
                  <a:tcPr/>
                </a:tc>
                <a:tc>
                  <a:txBody>
                    <a:bodyPr/>
                    <a:lstStyle/>
                    <a:p>
                      <a:r>
                        <a:rPr lang="en-US">
                          <a:solidFill>
                            <a:schemeClr val="tx1"/>
                          </a:solidFill>
                        </a:rPr>
                        <a:t>Anatomical drawing</a:t>
                      </a:r>
                    </a:p>
                  </a:txBody>
                  <a:tcPr/>
                </a:tc>
                <a:tc>
                  <a:txBody>
                    <a:bodyPr/>
                    <a:lstStyle/>
                    <a:p>
                      <a:r>
                        <a:rPr lang="en-US">
                          <a:solidFill>
                            <a:schemeClr val="tx1"/>
                          </a:solidFill>
                        </a:rPr>
                        <a:t>Charcoal sketch</a:t>
                      </a:r>
                    </a:p>
                  </a:txBody>
                  <a:tcPr/>
                </a:tc>
                <a:tc>
                  <a:txBody>
                    <a:bodyPr/>
                    <a:lstStyle/>
                    <a:p>
                      <a:r>
                        <a:rPr lang="en-US">
                          <a:solidFill>
                            <a:schemeClr val="tx1"/>
                          </a:solidFill>
                        </a:rPr>
                        <a:t>Block diagram</a:t>
                      </a:r>
                    </a:p>
                  </a:txBody>
                  <a:tcPr/>
                </a:tc>
                <a:tc>
                  <a:txBody>
                    <a:bodyPr/>
                    <a:lstStyle/>
                    <a:p>
                      <a:r>
                        <a:rPr lang="en-US">
                          <a:solidFill>
                            <a:schemeClr val="tx1"/>
                          </a:solidFill>
                        </a:rPr>
                        <a:t>Volumetric rendering</a:t>
                      </a:r>
                    </a:p>
                  </a:txBody>
                  <a:tcPr/>
                </a:tc>
                <a:tc>
                  <a:txBody>
                    <a:bodyPr/>
                    <a:lstStyle/>
                    <a:p>
                      <a:r>
                        <a:rPr lang="en-US">
                          <a:solidFill>
                            <a:schemeClr val="tx1"/>
                          </a:solidFill>
                        </a:rPr>
                        <a:t>Color-blind safe</a:t>
                      </a:r>
                    </a:p>
                  </a:txBody>
                  <a:tcPr/>
                </a:tc>
                <a:extLst>
                  <a:ext uri="{0D108BD9-81ED-4DB2-BD59-A6C34878D82A}">
                    <a16:rowId xmlns:a16="http://schemas.microsoft.com/office/drawing/2014/main" val="3418571937"/>
                  </a:ext>
                </a:extLst>
              </a:tr>
              <a:tr h="370840">
                <a:tc>
                  <a:txBody>
                    <a:bodyPr/>
                    <a:lstStyle/>
                    <a:p>
                      <a:r>
                        <a:rPr lang="en-US">
                          <a:solidFill>
                            <a:schemeClr val="tx1"/>
                          </a:solidFill>
                        </a:rPr>
                        <a:t>Blueprint style</a:t>
                      </a:r>
                    </a:p>
                  </a:txBody>
                  <a:tcPr/>
                </a:tc>
                <a:tc>
                  <a:txBody>
                    <a:bodyPr/>
                    <a:lstStyle/>
                    <a:p>
                      <a:r>
                        <a:rPr lang="en-US">
                          <a:solidFill>
                            <a:schemeClr val="tx1"/>
                          </a:solidFill>
                        </a:rPr>
                        <a:t>Iconographic</a:t>
                      </a:r>
                    </a:p>
                  </a:txBody>
                  <a:tcPr/>
                </a:tc>
                <a:tc>
                  <a:txBody>
                    <a:bodyPr/>
                    <a:lstStyle/>
                    <a:p>
                      <a:r>
                        <a:rPr lang="en-US">
                          <a:solidFill>
                            <a:schemeClr val="tx1"/>
                          </a:solidFill>
                        </a:rPr>
                        <a:t>Botanical</a:t>
                      </a:r>
                    </a:p>
                  </a:txBody>
                  <a:tcPr/>
                </a:tc>
                <a:tc>
                  <a:txBody>
                    <a:bodyPr/>
                    <a:lstStyle/>
                    <a:p>
                      <a:r>
                        <a:rPr lang="en-US">
                          <a:solidFill>
                            <a:schemeClr val="tx1"/>
                          </a:solidFill>
                        </a:rPr>
                        <a:t>Ink drawing</a:t>
                      </a:r>
                    </a:p>
                  </a:txBody>
                  <a:tcPr/>
                </a:tc>
                <a:tc>
                  <a:txBody>
                    <a:bodyPr/>
                    <a:lstStyle/>
                    <a:p>
                      <a:r>
                        <a:rPr lang="en-US">
                          <a:solidFill>
                            <a:schemeClr val="tx1"/>
                          </a:solidFill>
                        </a:rPr>
                        <a:t>Systems diagram</a:t>
                      </a:r>
                    </a:p>
                  </a:txBody>
                  <a:tcPr/>
                </a:tc>
                <a:tc>
                  <a:txBody>
                    <a:bodyPr/>
                    <a:lstStyle/>
                    <a:p>
                      <a:r>
                        <a:rPr lang="en-US">
                          <a:solidFill>
                            <a:schemeClr val="tx1"/>
                          </a:solidFill>
                        </a:rPr>
                        <a:t>Molecular visualization</a:t>
                      </a:r>
                    </a:p>
                  </a:txBody>
                  <a:tcPr/>
                </a:tc>
                <a:tc>
                  <a:txBody>
                    <a:bodyPr/>
                    <a:lstStyle/>
                    <a:p>
                      <a:r>
                        <a:rPr lang="en-US">
                          <a:solidFill>
                            <a:schemeClr val="tx1"/>
                          </a:solidFill>
                        </a:rPr>
                        <a:t>Engraving style</a:t>
                      </a:r>
                    </a:p>
                  </a:txBody>
                  <a:tcPr/>
                </a:tc>
                <a:extLst>
                  <a:ext uri="{0D108BD9-81ED-4DB2-BD59-A6C34878D82A}">
                    <a16:rowId xmlns:a16="http://schemas.microsoft.com/office/drawing/2014/main" val="1018061401"/>
                  </a:ext>
                </a:extLst>
              </a:tr>
              <a:tr h="370840">
                <a:tc>
                  <a:txBody>
                    <a:bodyPr/>
                    <a:lstStyle/>
                    <a:p>
                      <a:r>
                        <a:rPr lang="en-US">
                          <a:solidFill>
                            <a:schemeClr val="tx1"/>
                          </a:solidFill>
                        </a:rPr>
                        <a:t>Vector graphic</a:t>
                      </a:r>
                    </a:p>
                  </a:txBody>
                  <a:tcPr/>
                </a:tc>
                <a:tc>
                  <a:txBody>
                    <a:bodyPr/>
                    <a:lstStyle/>
                    <a:p>
                      <a:r>
                        <a:rPr lang="en-US">
                          <a:solidFill>
                            <a:schemeClr val="tx1"/>
                          </a:solidFill>
                        </a:rPr>
                        <a:t>Monochrome</a:t>
                      </a:r>
                    </a:p>
                  </a:txBody>
                  <a:tcPr/>
                </a:tc>
                <a:tc>
                  <a:txBody>
                    <a:bodyPr/>
                    <a:lstStyle/>
                    <a:p>
                      <a:r>
                        <a:rPr lang="en-US">
                          <a:solidFill>
                            <a:schemeClr val="tx1"/>
                          </a:solidFill>
                        </a:rPr>
                        <a:t>Field sketch</a:t>
                      </a:r>
                    </a:p>
                  </a:txBody>
                  <a:tcPr/>
                </a:tc>
                <a:tc>
                  <a:txBody>
                    <a:bodyPr/>
                    <a:lstStyle/>
                    <a:p>
                      <a:r>
                        <a:rPr lang="en-US">
                          <a:solidFill>
                            <a:schemeClr val="tx1"/>
                          </a:solidFill>
                        </a:rPr>
                        <a:t>Marker render</a:t>
                      </a:r>
                    </a:p>
                  </a:txBody>
                  <a:tcPr/>
                </a:tc>
                <a:tc>
                  <a:txBody>
                    <a:bodyPr/>
                    <a:lstStyle/>
                    <a:p>
                      <a:r>
                        <a:rPr lang="en-US">
                          <a:solidFill>
                            <a:schemeClr val="tx1"/>
                          </a:solidFill>
                        </a:rPr>
                        <a:t>Network graph style</a:t>
                      </a:r>
                    </a:p>
                  </a:txBody>
                  <a:tcPr/>
                </a:tc>
                <a:tc>
                  <a:txBody>
                    <a:bodyPr/>
                    <a:lstStyle/>
                    <a:p>
                      <a:endParaRPr lang="en-US">
                        <a:solidFill>
                          <a:schemeClr val="tx1"/>
                        </a:solidFill>
                      </a:endParaRPr>
                    </a:p>
                  </a:txBody>
                  <a:tcPr/>
                </a:tc>
                <a:tc>
                  <a:txBody>
                    <a:bodyPr/>
                    <a:lstStyle/>
                    <a:p>
                      <a:r>
                        <a:rPr lang="en-US">
                          <a:solidFill>
                            <a:schemeClr val="tx1"/>
                          </a:solidFill>
                        </a:rPr>
                        <a:t>Print-ready half-tone</a:t>
                      </a:r>
                    </a:p>
                  </a:txBody>
                  <a:tcPr/>
                </a:tc>
                <a:extLst>
                  <a:ext uri="{0D108BD9-81ED-4DB2-BD59-A6C34878D82A}">
                    <a16:rowId xmlns:a16="http://schemas.microsoft.com/office/drawing/2014/main" val="1041735415"/>
                  </a:ext>
                </a:extLst>
              </a:tr>
              <a:tr h="370840">
                <a:tc>
                  <a:txBody>
                    <a:bodyPr/>
                    <a:lstStyle/>
                    <a:p>
                      <a:r>
                        <a:rPr lang="en-US">
                          <a:solidFill>
                            <a:schemeClr val="tx1"/>
                          </a:solidFill>
                        </a:rPr>
                        <a:t>Isometric drawing</a:t>
                      </a:r>
                    </a:p>
                  </a:txBody>
                  <a:tcPr/>
                </a:tc>
                <a:tc>
                  <a:txBody>
                    <a:bodyPr/>
                    <a:lstStyle/>
                    <a:p>
                      <a:r>
                        <a:rPr lang="en-US">
                          <a:solidFill>
                            <a:schemeClr val="tx1"/>
                          </a:solidFill>
                        </a:rPr>
                        <a:t>Silhouette</a:t>
                      </a:r>
                    </a:p>
                  </a:txBody>
                  <a:tcPr/>
                </a:tc>
                <a:tc>
                  <a:txBody>
                    <a:bodyPr/>
                    <a:lstStyle/>
                    <a:p>
                      <a:r>
                        <a:rPr lang="en-US">
                          <a:solidFill>
                            <a:schemeClr val="tx1"/>
                          </a:solidFill>
                        </a:rPr>
                        <a:t>Atlas</a:t>
                      </a:r>
                    </a:p>
                  </a:txBody>
                  <a:tcPr/>
                </a:tc>
                <a:tc>
                  <a:txBody>
                    <a:bodyPr/>
                    <a:lstStyle/>
                    <a:p>
                      <a:r>
                        <a:rPr lang="en-US">
                          <a:solidFill>
                            <a:schemeClr val="tx1"/>
                          </a:solidFill>
                        </a:rPr>
                        <a:t>Notebook doodle</a:t>
                      </a:r>
                    </a:p>
                  </a:txBody>
                  <a:tcPr/>
                </a:tc>
                <a:tc>
                  <a:txBody>
                    <a:bodyPr/>
                    <a:lstStyle/>
                    <a:p>
                      <a:r>
                        <a:rPr lang="en-US">
                          <a:solidFill>
                            <a:schemeClr val="tx1"/>
                          </a:solidFill>
                        </a:rPr>
                        <a:t>Process map illustration</a:t>
                      </a:r>
                    </a:p>
                  </a:txBody>
                  <a:tcPr/>
                </a:tc>
                <a:tc>
                  <a:txBody>
                    <a:bodyPr/>
                    <a:lstStyle/>
                    <a:p>
                      <a:endParaRPr lang="en-US">
                        <a:solidFill>
                          <a:schemeClr val="tx1"/>
                        </a:solidFill>
                      </a:endParaRPr>
                    </a:p>
                  </a:txBody>
                  <a:tcPr/>
                </a:tc>
                <a:tc>
                  <a:txBody>
                    <a:bodyPr/>
                    <a:lstStyle/>
                    <a:p>
                      <a:endParaRPr lang="en-US">
                        <a:solidFill>
                          <a:schemeClr val="tx1"/>
                        </a:solidFill>
                      </a:endParaRPr>
                    </a:p>
                  </a:txBody>
                  <a:tcPr/>
                </a:tc>
                <a:extLst>
                  <a:ext uri="{0D108BD9-81ED-4DB2-BD59-A6C34878D82A}">
                    <a16:rowId xmlns:a16="http://schemas.microsoft.com/office/drawing/2014/main" val="11772072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Patent drawing</a:t>
                      </a:r>
                    </a:p>
                  </a:txBody>
                  <a:tcPr/>
                </a:tc>
                <a:tc>
                  <a:txBody>
                    <a:bodyPr/>
                    <a:lstStyle/>
                    <a:p>
                      <a:r>
                        <a:rPr lang="en-US">
                          <a:solidFill>
                            <a:schemeClr val="tx1"/>
                          </a:solidFill>
                        </a:rPr>
                        <a:t>Diagrammatic</a:t>
                      </a:r>
                    </a:p>
                  </a:txBody>
                  <a:tcPr/>
                </a:tc>
                <a:tc>
                  <a:txBody>
                    <a:bodyPr/>
                    <a:lstStyle/>
                    <a:p>
                      <a:endParaRPr lang="en-US">
                        <a:solidFill>
                          <a:schemeClr val="tx1"/>
                        </a:solidFill>
                      </a:endParaRPr>
                    </a:p>
                  </a:txBody>
                  <a:tcPr/>
                </a:tc>
                <a:tc>
                  <a:txBody>
                    <a:bodyPr/>
                    <a:lstStyle/>
                    <a:p>
                      <a:r>
                        <a:rPr lang="en-US">
                          <a:solidFill>
                            <a:schemeClr val="tx1"/>
                          </a:solidFill>
                        </a:rPr>
                        <a:t>Concept art style</a:t>
                      </a:r>
                    </a:p>
                  </a:txBody>
                  <a:tcPr/>
                </a:tc>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endParaRPr lang="en-US">
                        <a:solidFill>
                          <a:schemeClr val="tx1"/>
                        </a:solidFill>
                      </a:endParaRPr>
                    </a:p>
                  </a:txBody>
                  <a:tcPr/>
                </a:tc>
                <a:extLst>
                  <a:ext uri="{0D108BD9-81ED-4DB2-BD59-A6C34878D82A}">
                    <a16:rowId xmlns:a16="http://schemas.microsoft.com/office/drawing/2014/main" val="2606962345"/>
                  </a:ext>
                </a:extLst>
              </a:tr>
            </a:tbl>
          </a:graphicData>
        </a:graphic>
      </p:graphicFrame>
    </p:spTree>
    <p:extLst>
      <p:ext uri="{BB962C8B-B14F-4D97-AF65-F5344CB8AC3E}">
        <p14:creationId xmlns:p14="http://schemas.microsoft.com/office/powerpoint/2010/main" val="7686513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F2E4D-3C1D-8F75-9FFB-B248EE78F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E4A62-75CB-3617-DDA5-48E56ABF9BF2}"/>
              </a:ext>
            </a:extLst>
          </p:cNvPr>
          <p:cNvSpPr>
            <a:spLocks noGrp="1"/>
          </p:cNvSpPr>
          <p:nvPr>
            <p:ph type="title"/>
          </p:nvPr>
        </p:nvSpPr>
        <p:spPr>
          <a:xfrm>
            <a:off x="407987" y="404813"/>
            <a:ext cx="11376026" cy="1079971"/>
          </a:xfrm>
        </p:spPr>
        <p:txBody>
          <a:bodyPr anchor="t">
            <a:normAutofit/>
          </a:bodyPr>
          <a:lstStyle/>
          <a:p>
            <a:r>
              <a:rPr lang="en-US"/>
              <a:t>4.1. Side-by-side Dall-E 3 and Firefly</a:t>
            </a:r>
          </a:p>
        </p:txBody>
      </p:sp>
      <p:sp>
        <p:nvSpPr>
          <p:cNvPr id="7" name="Slide Number Placeholder 6">
            <a:extLst>
              <a:ext uri="{FF2B5EF4-FFF2-40B4-BE49-F238E27FC236}">
                <a16:creationId xmlns:a16="http://schemas.microsoft.com/office/drawing/2014/main" id="{D192E446-D04C-8CBF-639A-1315E2665D1A}"/>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55</a:t>
            </a:fld>
            <a:endParaRPr lang="fi-FI"/>
          </a:p>
        </p:txBody>
      </p:sp>
      <p:sp>
        <p:nvSpPr>
          <p:cNvPr id="3" name="Date Placeholder 2">
            <a:extLst>
              <a:ext uri="{FF2B5EF4-FFF2-40B4-BE49-F238E27FC236}">
                <a16:creationId xmlns:a16="http://schemas.microsoft.com/office/drawing/2014/main" id="{89AE96B3-916E-2647-01AE-E8B9B2CE74D1}"/>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A079CFFD-FCB9-508F-949E-3E374E461B0D}"/>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4DF77DB3-3224-7D0A-3DD3-CF1401A6A313}"/>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pic>
        <p:nvPicPr>
          <p:cNvPr id="5" name="Picture 4" descr="Scientific illustration showing a laboratory setup for a chemical reaction: a round-bottom flask on a heating plate connected to a condenser with circulating coolant tubes, visible vapors condensing back into liquid, clear glassware reflections, clean white background, labeled parts (A–E), flat vector-infographic style, color-blind-safe palette, minimal text, publication-ready composition.">
            <a:extLst>
              <a:ext uri="{FF2B5EF4-FFF2-40B4-BE49-F238E27FC236}">
                <a16:creationId xmlns:a16="http://schemas.microsoft.com/office/drawing/2014/main" id="{AF7EC0D0-4A9F-083F-4190-ED2F11BB394B}"/>
              </a:ext>
            </a:extLst>
          </p:cNvPr>
          <p:cNvPicPr>
            <a:picLocks noChangeAspect="1"/>
          </p:cNvPicPr>
          <p:nvPr/>
        </p:nvPicPr>
        <p:blipFill>
          <a:blip r:embed="rId2"/>
          <a:stretch>
            <a:fillRect/>
          </a:stretch>
        </p:blipFill>
        <p:spPr>
          <a:xfrm>
            <a:off x="263352" y="2492896"/>
            <a:ext cx="2520000" cy="2520000"/>
          </a:xfrm>
          <a:prstGeom prst="rect">
            <a:avLst/>
          </a:prstGeom>
        </p:spPr>
      </p:pic>
      <p:pic>
        <p:nvPicPr>
          <p:cNvPr id="6" name="Picture 5" descr="Scientific illustration showing a laboratory setup for a chemical reaction: a round-bottom flask on a heating plate connected to a condenser with circulating coolant tubes, visible vapors condensing back into liquid, clear glassware reflections, clean white background, labeled parts (A–E), flat vector-infographic style, color-blind-safe palette, minimal text, publication-ready composition.">
            <a:extLst>
              <a:ext uri="{FF2B5EF4-FFF2-40B4-BE49-F238E27FC236}">
                <a16:creationId xmlns:a16="http://schemas.microsoft.com/office/drawing/2014/main" id="{1C8FCBEE-2F1B-AB7D-F271-F4F99916CD29}"/>
              </a:ext>
            </a:extLst>
          </p:cNvPr>
          <p:cNvPicPr>
            <a:picLocks noChangeAspect="1"/>
          </p:cNvPicPr>
          <p:nvPr/>
        </p:nvPicPr>
        <p:blipFill>
          <a:blip r:embed="rId3"/>
          <a:stretch>
            <a:fillRect/>
          </a:stretch>
        </p:blipFill>
        <p:spPr>
          <a:xfrm>
            <a:off x="2294877" y="3573187"/>
            <a:ext cx="2520000" cy="2520000"/>
          </a:xfrm>
          <a:prstGeom prst="rect">
            <a:avLst/>
          </a:prstGeom>
        </p:spPr>
      </p:pic>
      <p:pic>
        <p:nvPicPr>
          <p:cNvPr id="8" name="Picture 7" descr="A group of glass flasks with different colored liquids">
            <a:extLst>
              <a:ext uri="{FF2B5EF4-FFF2-40B4-BE49-F238E27FC236}">
                <a16:creationId xmlns:a16="http://schemas.microsoft.com/office/drawing/2014/main" id="{960D09BD-9643-F992-616D-2A50CAA14E8F}"/>
              </a:ext>
            </a:extLst>
          </p:cNvPr>
          <p:cNvPicPr>
            <a:picLocks noChangeAspect="1"/>
          </p:cNvPicPr>
          <p:nvPr/>
        </p:nvPicPr>
        <p:blipFill>
          <a:blip r:embed="rId4"/>
          <a:stretch>
            <a:fillRect/>
          </a:stretch>
        </p:blipFill>
        <p:spPr>
          <a:xfrm>
            <a:off x="5663952" y="2250171"/>
            <a:ext cx="3240001" cy="2520000"/>
          </a:xfrm>
          <a:prstGeom prst="rect">
            <a:avLst/>
          </a:prstGeom>
        </p:spPr>
      </p:pic>
      <p:sp>
        <p:nvSpPr>
          <p:cNvPr id="9" name="TextBox 8">
            <a:extLst>
              <a:ext uri="{FF2B5EF4-FFF2-40B4-BE49-F238E27FC236}">
                <a16:creationId xmlns:a16="http://schemas.microsoft.com/office/drawing/2014/main" id="{C3FA6AC1-7377-A7BC-8727-0FCA63961AD7}"/>
              </a:ext>
            </a:extLst>
          </p:cNvPr>
          <p:cNvSpPr txBox="1"/>
          <p:nvPr/>
        </p:nvSpPr>
        <p:spPr>
          <a:xfrm>
            <a:off x="1023328" y="1257961"/>
            <a:ext cx="6096000" cy="1015663"/>
          </a:xfrm>
          <a:prstGeom prst="rect">
            <a:avLst/>
          </a:prstGeom>
          <a:noFill/>
        </p:spPr>
        <p:txBody>
          <a:bodyPr wrap="square">
            <a:spAutoFit/>
          </a:bodyPr>
          <a:lstStyle/>
          <a:p>
            <a:r>
              <a:rPr lang="en-US" sz="1200" b="1"/>
              <a:t>Prompt: </a:t>
            </a:r>
            <a:r>
              <a:rPr lang="en-US" sz="1200"/>
              <a:t>Scientific illustration showing a laboratory setup for a chemical reaction: a round-bottom flask on a heating plate connected to a condenser with circulating coolant tubes, visible vapors condensing back into liquid, clear glassware reflections, clean white background, labeled parts (A–E), flat vector-infographic style, color-blind-safe palette, minimal text, publication-ready composition.</a:t>
            </a:r>
          </a:p>
        </p:txBody>
      </p:sp>
      <p:pic>
        <p:nvPicPr>
          <p:cNvPr id="10" name="Graphic 9" descr="Scientific illustration showing a laboratory setup for a chemical reaction: a round-bottom flask on a heating plate connected to a condenser with circulating coolant tubes, visible vapors condensing back into liquid, clear glassware reflections, clean white background, labeled parts (A–E), flat vector-infographic style, color-blind-safe palette, minimal text, publication-ready composition.">
            <a:extLst>
              <a:ext uri="{FF2B5EF4-FFF2-40B4-BE49-F238E27FC236}">
                <a16:creationId xmlns:a16="http://schemas.microsoft.com/office/drawing/2014/main" id="{0D2CC3D6-7D63-EE7B-29F0-4BEFA1A48E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94975" y="3356925"/>
            <a:ext cx="2520000" cy="2520000"/>
          </a:xfrm>
          <a:prstGeom prst="rect">
            <a:avLst/>
          </a:prstGeom>
        </p:spPr>
      </p:pic>
      <p:sp>
        <p:nvSpPr>
          <p:cNvPr id="11" name="TextBox 10">
            <a:extLst>
              <a:ext uri="{FF2B5EF4-FFF2-40B4-BE49-F238E27FC236}">
                <a16:creationId xmlns:a16="http://schemas.microsoft.com/office/drawing/2014/main" id="{1AA5289D-BF5C-58A9-7AC7-B3751E1347A7}"/>
              </a:ext>
            </a:extLst>
          </p:cNvPr>
          <p:cNvSpPr txBox="1"/>
          <p:nvPr/>
        </p:nvSpPr>
        <p:spPr>
          <a:xfrm>
            <a:off x="7278232" y="2295717"/>
            <a:ext cx="1542410" cy="338554"/>
          </a:xfrm>
          <a:prstGeom prst="rect">
            <a:avLst/>
          </a:prstGeom>
          <a:noFill/>
        </p:spPr>
        <p:txBody>
          <a:bodyPr wrap="none" rtlCol="0">
            <a:spAutoFit/>
          </a:bodyPr>
          <a:lstStyle/>
          <a:p>
            <a:pPr algn="l"/>
            <a:r>
              <a:rPr lang="en-US" sz="1600">
                <a:latin typeface="+mj-lt"/>
              </a:rPr>
              <a:t>Firefly Image 4</a:t>
            </a:r>
          </a:p>
        </p:txBody>
      </p:sp>
      <p:sp>
        <p:nvSpPr>
          <p:cNvPr id="12" name="TextBox 11">
            <a:extLst>
              <a:ext uri="{FF2B5EF4-FFF2-40B4-BE49-F238E27FC236}">
                <a16:creationId xmlns:a16="http://schemas.microsoft.com/office/drawing/2014/main" id="{544E0101-D3DD-AF31-4F99-4852EB261F77}"/>
              </a:ext>
            </a:extLst>
          </p:cNvPr>
          <p:cNvSpPr txBox="1"/>
          <p:nvPr/>
        </p:nvSpPr>
        <p:spPr>
          <a:xfrm>
            <a:off x="9551860" y="3356924"/>
            <a:ext cx="1381981" cy="338554"/>
          </a:xfrm>
          <a:prstGeom prst="rect">
            <a:avLst/>
          </a:prstGeom>
          <a:noFill/>
        </p:spPr>
        <p:txBody>
          <a:bodyPr wrap="none" rtlCol="0">
            <a:spAutoFit/>
          </a:bodyPr>
          <a:lstStyle/>
          <a:p>
            <a:pPr algn="l"/>
            <a:r>
              <a:rPr lang="en-US" sz="1600">
                <a:latin typeface="+mj-lt"/>
              </a:rPr>
              <a:t>Firefly Vector</a:t>
            </a:r>
          </a:p>
        </p:txBody>
      </p:sp>
      <p:pic>
        <p:nvPicPr>
          <p:cNvPr id="13" name="Graphic 12" descr="Close up of the vector.">
            <a:extLst>
              <a:ext uri="{FF2B5EF4-FFF2-40B4-BE49-F238E27FC236}">
                <a16:creationId xmlns:a16="http://schemas.microsoft.com/office/drawing/2014/main" id="{DCE2D639-CA46-48D6-FC94-03D71452EBA1}"/>
              </a:ext>
            </a:extLst>
          </p:cNvPr>
          <p:cNvPicPr>
            <a:picLocks noChangeAspect="1"/>
          </p:cNvPicPr>
          <p:nvPr/>
        </p:nvPicPr>
        <p:blipFill>
          <a:blip>
            <a:extLst>
              <a:ext uri="{96DAC541-7B7A-43D3-8B79-37D633B846F1}">
                <asvg:svgBlip xmlns:asvg="http://schemas.microsoft.com/office/drawing/2016/SVG/main" r:embed="rId5"/>
              </a:ext>
            </a:extLst>
          </a:blip>
          <a:srcRect l="39398" t="59565" r="39564" b="19397"/>
          <a:stretch/>
        </p:blipFill>
        <p:spPr>
          <a:xfrm>
            <a:off x="9825199" y="1193553"/>
            <a:ext cx="1852932" cy="1852932"/>
          </a:xfrm>
          <a:prstGeom prst="ellipse">
            <a:avLst/>
          </a:prstGeom>
        </p:spPr>
      </p:pic>
    </p:spTree>
    <p:extLst>
      <p:ext uri="{BB962C8B-B14F-4D97-AF65-F5344CB8AC3E}">
        <p14:creationId xmlns:p14="http://schemas.microsoft.com/office/powerpoint/2010/main" val="33863504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928E3-7771-FA7A-A818-906FE249C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30892-42A0-37F6-E2BC-B735E555F719}"/>
              </a:ext>
            </a:extLst>
          </p:cNvPr>
          <p:cNvSpPr>
            <a:spLocks noGrp="1"/>
          </p:cNvSpPr>
          <p:nvPr>
            <p:ph type="title"/>
          </p:nvPr>
        </p:nvSpPr>
        <p:spPr>
          <a:xfrm>
            <a:off x="407987" y="404813"/>
            <a:ext cx="11376026" cy="1079971"/>
          </a:xfrm>
        </p:spPr>
        <p:txBody>
          <a:bodyPr anchor="t">
            <a:normAutofit/>
          </a:bodyPr>
          <a:lstStyle/>
          <a:p>
            <a:r>
              <a:rPr lang="en-US"/>
              <a:t>4.1. GPT image (4o image generation)</a:t>
            </a:r>
          </a:p>
        </p:txBody>
      </p:sp>
      <p:sp>
        <p:nvSpPr>
          <p:cNvPr id="7" name="Slide Number Placeholder 6">
            <a:extLst>
              <a:ext uri="{FF2B5EF4-FFF2-40B4-BE49-F238E27FC236}">
                <a16:creationId xmlns:a16="http://schemas.microsoft.com/office/drawing/2014/main" id="{56DE49DD-3C5C-82C6-AE43-13105935A25E}"/>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56</a:t>
            </a:fld>
            <a:endParaRPr lang="fi-FI"/>
          </a:p>
        </p:txBody>
      </p:sp>
      <p:sp>
        <p:nvSpPr>
          <p:cNvPr id="3" name="Date Placeholder 2">
            <a:extLst>
              <a:ext uri="{FF2B5EF4-FFF2-40B4-BE49-F238E27FC236}">
                <a16:creationId xmlns:a16="http://schemas.microsoft.com/office/drawing/2014/main" id="{6B82C0B0-F9A1-6320-661C-EC29883A9415}"/>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8B11D29E-C3FE-30A8-5232-507CC25FE00A}"/>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D9582CD0-118A-CE20-87F4-75BF06B2CEB7}"/>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grpSp>
        <p:nvGrpSpPr>
          <p:cNvPr id="5" name="Group 4">
            <a:extLst>
              <a:ext uri="{FF2B5EF4-FFF2-40B4-BE49-F238E27FC236}">
                <a16:creationId xmlns:a16="http://schemas.microsoft.com/office/drawing/2014/main" id="{0FC56CD2-4184-2E0B-4833-BB2E0B4AAC8A}"/>
              </a:ext>
              <a:ext uri="{C183D7F6-B498-43B3-948B-1728B52AA6E4}">
                <adec:decorative xmlns:adec="http://schemas.microsoft.com/office/drawing/2017/decorative" val="1"/>
              </a:ext>
            </a:extLst>
          </p:cNvPr>
          <p:cNvGrpSpPr/>
          <p:nvPr/>
        </p:nvGrpSpPr>
        <p:grpSpPr>
          <a:xfrm>
            <a:off x="5826324" y="1073562"/>
            <a:ext cx="5929584" cy="5112622"/>
            <a:chOff x="5206728" y="950426"/>
            <a:chExt cx="5929584" cy="5112622"/>
          </a:xfrm>
        </p:grpSpPr>
        <p:pic>
          <p:nvPicPr>
            <p:cNvPr id="6" name="Picture 6">
              <a:extLst>
                <a:ext uri="{FF2B5EF4-FFF2-40B4-BE49-F238E27FC236}">
                  <a16:creationId xmlns:a16="http://schemas.microsoft.com/office/drawing/2014/main" id="{68A87413-FDF1-9B76-2696-FE766587E4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0214" y="3663048"/>
              <a:ext cx="3600000" cy="2400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8511D3F-5F89-72FA-268A-B6681F9DD9A0}"/>
                </a:ext>
              </a:extLst>
            </p:cNvPr>
            <p:cNvSpPr txBox="1"/>
            <p:nvPr/>
          </p:nvSpPr>
          <p:spPr>
            <a:xfrm>
              <a:off x="5411010" y="1377813"/>
              <a:ext cx="190419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0" i="0">
                  <a:effectLst/>
                  <a:latin typeface="+mj-lt"/>
                </a:rPr>
                <a:t>Undergraduate Centre</a:t>
              </a:r>
              <a:endParaRPr lang="en-US">
                <a:latin typeface="+mj-lt"/>
              </a:endParaRPr>
            </a:p>
          </p:txBody>
        </p:sp>
        <p:sp>
          <p:nvSpPr>
            <p:cNvPr id="9" name="TextBox 8">
              <a:extLst>
                <a:ext uri="{FF2B5EF4-FFF2-40B4-BE49-F238E27FC236}">
                  <a16:creationId xmlns:a16="http://schemas.microsoft.com/office/drawing/2014/main" id="{02CA0800-14C4-5A1A-5C59-376FFB75A1FD}"/>
                </a:ext>
              </a:extLst>
            </p:cNvPr>
            <p:cNvSpPr txBox="1"/>
            <p:nvPr/>
          </p:nvSpPr>
          <p:spPr>
            <a:xfrm>
              <a:off x="7494674" y="1377813"/>
              <a:ext cx="1731082"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a:latin typeface="+mj-lt"/>
                </a:rPr>
                <a:t>Photo 1</a:t>
              </a:r>
            </a:p>
          </p:txBody>
        </p:sp>
        <p:sp>
          <p:nvSpPr>
            <p:cNvPr id="10" name="TextBox 9">
              <a:extLst>
                <a:ext uri="{FF2B5EF4-FFF2-40B4-BE49-F238E27FC236}">
                  <a16:creationId xmlns:a16="http://schemas.microsoft.com/office/drawing/2014/main" id="{4C66B4D5-1CCF-EEA9-E7D4-B91944439A79}"/>
                </a:ext>
              </a:extLst>
            </p:cNvPr>
            <p:cNvSpPr txBox="1"/>
            <p:nvPr/>
          </p:nvSpPr>
          <p:spPr>
            <a:xfrm>
              <a:off x="9405230" y="1377813"/>
              <a:ext cx="1731082"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a:latin typeface="+mj-lt"/>
                </a:rPr>
                <a:t>Photo 2</a:t>
              </a:r>
            </a:p>
          </p:txBody>
        </p:sp>
        <p:sp>
          <p:nvSpPr>
            <p:cNvPr id="11" name="TextBox 10">
              <a:extLst>
                <a:ext uri="{FF2B5EF4-FFF2-40B4-BE49-F238E27FC236}">
                  <a16:creationId xmlns:a16="http://schemas.microsoft.com/office/drawing/2014/main" id="{69220F3F-82F3-BA1F-4718-D87C5A9517F4}"/>
                </a:ext>
              </a:extLst>
            </p:cNvPr>
            <p:cNvSpPr txBox="1"/>
            <p:nvPr/>
          </p:nvSpPr>
          <p:spPr>
            <a:xfrm>
              <a:off x="5411010" y="2109923"/>
              <a:ext cx="5725302"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b="0" i="0">
                  <a:effectLst/>
                  <a:latin typeface="+mj-lt"/>
                </a:rPr>
                <a:t>Draw two researchers (pictures attached) from Aalto University (the image attached contains a landmark building), giving a webinar about Prompt Engineering. The artistic style should resemble a Lego movie.</a:t>
              </a:r>
              <a:endParaRPr lang="en-US">
                <a:latin typeface="+mj-lt"/>
              </a:endParaRPr>
            </a:p>
          </p:txBody>
        </p:sp>
        <p:sp>
          <p:nvSpPr>
            <p:cNvPr id="12" name="Arrow: Down 11">
              <a:extLst>
                <a:ext uri="{FF2B5EF4-FFF2-40B4-BE49-F238E27FC236}">
                  <a16:creationId xmlns:a16="http://schemas.microsoft.com/office/drawing/2014/main" id="{3868426A-D596-3894-E4D4-A667A044FBB4}"/>
                </a:ext>
              </a:extLst>
            </p:cNvPr>
            <p:cNvSpPr/>
            <p:nvPr/>
          </p:nvSpPr>
          <p:spPr>
            <a:xfrm>
              <a:off x="8196771" y="3357470"/>
              <a:ext cx="326887" cy="28289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13" name="TextBox 12">
              <a:extLst>
                <a:ext uri="{FF2B5EF4-FFF2-40B4-BE49-F238E27FC236}">
                  <a16:creationId xmlns:a16="http://schemas.microsoft.com/office/drawing/2014/main" id="{AE747AFA-2FA1-9609-5B08-2697A0960D6D}"/>
                </a:ext>
              </a:extLst>
            </p:cNvPr>
            <p:cNvSpPr txBox="1"/>
            <p:nvPr/>
          </p:nvSpPr>
          <p:spPr>
            <a:xfrm>
              <a:off x="5206728" y="950426"/>
              <a:ext cx="4689104" cy="338554"/>
            </a:xfrm>
            <a:prstGeom prst="rect">
              <a:avLst/>
            </a:prstGeom>
            <a:noFill/>
          </p:spPr>
          <p:txBody>
            <a:bodyPr wrap="none" rtlCol="0">
              <a:spAutoFit/>
            </a:bodyPr>
            <a:lstStyle/>
            <a:p>
              <a:pPr algn="l"/>
              <a:r>
                <a:rPr lang="en-US" sz="1600" b="1">
                  <a:latin typeface="+mj-lt"/>
                </a:rPr>
                <a:t>4o Image Generation</a:t>
              </a:r>
              <a:r>
                <a:rPr lang="en-US" sz="1600">
                  <a:latin typeface="+mj-lt"/>
                </a:rPr>
                <a:t> (only available on OpenAI)</a:t>
              </a:r>
            </a:p>
          </p:txBody>
        </p:sp>
      </p:grpSp>
      <p:sp>
        <p:nvSpPr>
          <p:cNvPr id="14" name="TextBox 13">
            <a:extLst>
              <a:ext uri="{FF2B5EF4-FFF2-40B4-BE49-F238E27FC236}">
                <a16:creationId xmlns:a16="http://schemas.microsoft.com/office/drawing/2014/main" id="{A4C0A552-045D-6A90-1D39-3EFB62C08699}"/>
              </a:ext>
            </a:extLst>
          </p:cNvPr>
          <p:cNvSpPr txBox="1"/>
          <p:nvPr/>
        </p:nvSpPr>
        <p:spPr>
          <a:xfrm>
            <a:off x="1055688" y="5881210"/>
            <a:ext cx="6094378" cy="369332"/>
          </a:xfrm>
          <a:prstGeom prst="rect">
            <a:avLst/>
          </a:prstGeom>
          <a:noFill/>
        </p:spPr>
        <p:txBody>
          <a:bodyPr wrap="square">
            <a:spAutoFit/>
          </a:bodyPr>
          <a:lstStyle/>
          <a:p>
            <a:r>
              <a:rPr lang="en-US">
                <a:hlinkClick r:id="rId3"/>
              </a:rPr>
              <a:t>Introducing 4o Image Generation | OpenAI</a:t>
            </a:r>
            <a:endParaRPr lang="en-US"/>
          </a:p>
        </p:txBody>
      </p:sp>
      <p:sp>
        <p:nvSpPr>
          <p:cNvPr id="15" name="TextBox 14">
            <a:extLst>
              <a:ext uri="{FF2B5EF4-FFF2-40B4-BE49-F238E27FC236}">
                <a16:creationId xmlns:a16="http://schemas.microsoft.com/office/drawing/2014/main" id="{9338F7FB-3C43-9FEF-F760-116D1F4FCF6A}"/>
              </a:ext>
            </a:extLst>
          </p:cNvPr>
          <p:cNvSpPr txBox="1"/>
          <p:nvPr/>
        </p:nvSpPr>
        <p:spPr>
          <a:xfrm>
            <a:off x="1167951" y="2338129"/>
            <a:ext cx="4415366" cy="2277547"/>
          </a:xfrm>
          <a:prstGeom prst="rect">
            <a:avLst/>
          </a:prstGeom>
          <a:noFill/>
        </p:spPr>
        <p:txBody>
          <a:bodyPr wrap="square">
            <a:spAutoFit/>
          </a:bodyPr>
          <a:lstStyle/>
          <a:p>
            <a:pPr marL="285750" indent="-285750">
              <a:buFont typeface="Arial" panose="020B0604020202020204" pitchFamily="34" charset="0"/>
              <a:buChar char="•"/>
            </a:pPr>
            <a:r>
              <a:rPr lang="en-US"/>
              <a:t>GPT‑Image‑1 employs an autoregressive model within the GPT‑4o family  (not diffusion)</a:t>
            </a:r>
          </a:p>
          <a:p>
            <a:pPr marL="285750" indent="-285750">
              <a:buFont typeface="Arial" panose="020B0604020202020204" pitchFamily="34" charset="0"/>
              <a:buChar char="•"/>
            </a:pPr>
            <a:r>
              <a:rPr lang="en-US"/>
              <a:t>Features:</a:t>
            </a:r>
          </a:p>
          <a:p>
            <a:pPr marL="742950" lvl="1" indent="-285750">
              <a:buFont typeface="Arial" panose="020B0604020202020204" pitchFamily="34" charset="0"/>
              <a:buChar char="•"/>
            </a:pPr>
            <a:r>
              <a:rPr lang="en-US" sz="1400"/>
              <a:t>Better text rendering</a:t>
            </a:r>
          </a:p>
          <a:p>
            <a:pPr marL="742950" lvl="1" indent="-285750">
              <a:buFont typeface="Arial" panose="020B0604020202020204" pitchFamily="34" charset="0"/>
              <a:buChar char="•"/>
            </a:pPr>
            <a:r>
              <a:rPr lang="en-US" sz="1400"/>
              <a:t>Multi-turn generation (building upon images and text is more consistent)</a:t>
            </a:r>
          </a:p>
          <a:p>
            <a:pPr marL="742950" lvl="1" indent="-285750">
              <a:buFont typeface="Arial" panose="020B0604020202020204" pitchFamily="34" charset="0"/>
              <a:buChar char="•"/>
            </a:pPr>
            <a:r>
              <a:rPr lang="en-US" sz="1400"/>
              <a:t>In-context learning (analyze and learn from uploaded images)</a:t>
            </a:r>
          </a:p>
        </p:txBody>
      </p:sp>
      <p:pic>
        <p:nvPicPr>
          <p:cNvPr id="17" name="Graphic 16" descr="Paperclip with solid fill">
            <a:extLst>
              <a:ext uri="{FF2B5EF4-FFF2-40B4-BE49-F238E27FC236}">
                <a16:creationId xmlns:a16="http://schemas.microsoft.com/office/drawing/2014/main" id="{C7092676-0199-F137-0717-35B62BE118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0767" y="1774894"/>
            <a:ext cx="321013" cy="321013"/>
          </a:xfrm>
          <a:prstGeom prst="rect">
            <a:avLst/>
          </a:prstGeom>
        </p:spPr>
      </p:pic>
      <p:pic>
        <p:nvPicPr>
          <p:cNvPr id="18" name="Graphic 17" descr="Paperclip with solid fill">
            <a:extLst>
              <a:ext uri="{FF2B5EF4-FFF2-40B4-BE49-F238E27FC236}">
                <a16:creationId xmlns:a16="http://schemas.microsoft.com/office/drawing/2014/main" id="{73EADAA8-57AD-392E-C96C-31D4ED72FB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64508" y="1535252"/>
            <a:ext cx="321013" cy="321013"/>
          </a:xfrm>
          <a:prstGeom prst="rect">
            <a:avLst/>
          </a:prstGeom>
        </p:spPr>
      </p:pic>
      <p:pic>
        <p:nvPicPr>
          <p:cNvPr id="19" name="Graphic 18" descr="Paperclip with solid fill">
            <a:extLst>
              <a:ext uri="{FF2B5EF4-FFF2-40B4-BE49-F238E27FC236}">
                <a16:creationId xmlns:a16="http://schemas.microsoft.com/office/drawing/2014/main" id="{1A66B082-B158-F46C-C578-CDEE13CFE3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63838" y="1535251"/>
            <a:ext cx="321013" cy="321013"/>
          </a:xfrm>
          <a:prstGeom prst="rect">
            <a:avLst/>
          </a:prstGeom>
        </p:spPr>
      </p:pic>
    </p:spTree>
    <p:extLst>
      <p:ext uri="{BB962C8B-B14F-4D97-AF65-F5344CB8AC3E}">
        <p14:creationId xmlns:p14="http://schemas.microsoft.com/office/powerpoint/2010/main" val="25054236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C70D5-EB5A-CC99-3E87-254F65F49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A4AEB-4A7E-3AC8-1B0F-24FA837BE0D2}"/>
              </a:ext>
            </a:extLst>
          </p:cNvPr>
          <p:cNvSpPr>
            <a:spLocks noGrp="1"/>
          </p:cNvSpPr>
          <p:nvPr>
            <p:ph type="title"/>
          </p:nvPr>
        </p:nvSpPr>
        <p:spPr>
          <a:xfrm>
            <a:off x="407987" y="404813"/>
            <a:ext cx="11376026" cy="1079971"/>
          </a:xfrm>
        </p:spPr>
        <p:txBody>
          <a:bodyPr anchor="t">
            <a:normAutofit/>
          </a:bodyPr>
          <a:lstStyle/>
          <a:p>
            <a:r>
              <a:rPr lang="en-US"/>
              <a:t>4.1. GPT image: high fidelity mode (remove content)</a:t>
            </a:r>
          </a:p>
        </p:txBody>
      </p:sp>
      <p:sp>
        <p:nvSpPr>
          <p:cNvPr id="7" name="Slide Number Placeholder 6">
            <a:extLst>
              <a:ext uri="{FF2B5EF4-FFF2-40B4-BE49-F238E27FC236}">
                <a16:creationId xmlns:a16="http://schemas.microsoft.com/office/drawing/2014/main" id="{820342CD-1840-3911-9EA0-16433F5C1FDD}"/>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57</a:t>
            </a:fld>
            <a:endParaRPr lang="fi-FI"/>
          </a:p>
        </p:txBody>
      </p:sp>
      <p:sp>
        <p:nvSpPr>
          <p:cNvPr id="3" name="Date Placeholder 2">
            <a:extLst>
              <a:ext uri="{FF2B5EF4-FFF2-40B4-BE49-F238E27FC236}">
                <a16:creationId xmlns:a16="http://schemas.microsoft.com/office/drawing/2014/main" id="{002BBCAA-F135-48B7-F5A3-B200B1053B3F}"/>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AF91C098-D7A0-BC6D-23E1-8ECF93AB10B5}"/>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1023C91A-2AB1-9B11-5440-DECD7141CB16}"/>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pic>
        <p:nvPicPr>
          <p:cNvPr id="5" name="Picture 4" descr="A machine on a table">
            <a:extLst>
              <a:ext uri="{FF2B5EF4-FFF2-40B4-BE49-F238E27FC236}">
                <a16:creationId xmlns:a16="http://schemas.microsoft.com/office/drawing/2014/main" id="{FBCBDC4E-B58F-2671-1F50-9569442A17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9026" y="1844995"/>
            <a:ext cx="3824566" cy="2880000"/>
          </a:xfrm>
          <a:prstGeom prst="rect">
            <a:avLst/>
          </a:prstGeom>
        </p:spPr>
      </p:pic>
      <p:sp>
        <p:nvSpPr>
          <p:cNvPr id="6" name="Arrow: Right 5">
            <a:extLst>
              <a:ext uri="{FF2B5EF4-FFF2-40B4-BE49-F238E27FC236}">
                <a16:creationId xmlns:a16="http://schemas.microsoft.com/office/drawing/2014/main" id="{9AF993CC-0C61-12F4-48E4-C94283570A03}"/>
              </a:ext>
              <a:ext uri="{C183D7F6-B498-43B3-948B-1728B52AA6E4}">
                <adec:decorative xmlns:adec="http://schemas.microsoft.com/office/drawing/2017/decorative" val="1"/>
              </a:ext>
            </a:extLst>
          </p:cNvPr>
          <p:cNvSpPr/>
          <p:nvPr/>
        </p:nvSpPr>
        <p:spPr>
          <a:xfrm>
            <a:off x="5735960" y="2901678"/>
            <a:ext cx="766634" cy="766634"/>
          </a:xfrm>
          <a:prstGeom prst="rightArrow">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00" err="1">
              <a:solidFill>
                <a:schemeClr val="tx1"/>
              </a:solidFill>
              <a:latin typeface="+mj-lt"/>
            </a:endParaRPr>
          </a:p>
        </p:txBody>
      </p:sp>
      <p:sp>
        <p:nvSpPr>
          <p:cNvPr id="8" name="TextBox 7">
            <a:extLst>
              <a:ext uri="{FF2B5EF4-FFF2-40B4-BE49-F238E27FC236}">
                <a16:creationId xmlns:a16="http://schemas.microsoft.com/office/drawing/2014/main" id="{9E51A555-3641-282D-EF74-357DFCF5F3E4}"/>
              </a:ext>
            </a:extLst>
          </p:cNvPr>
          <p:cNvSpPr txBox="1"/>
          <p:nvPr/>
        </p:nvSpPr>
        <p:spPr>
          <a:xfrm>
            <a:off x="1028944" y="4852749"/>
            <a:ext cx="10080625" cy="338554"/>
          </a:xfrm>
          <a:prstGeom prst="rect">
            <a:avLst/>
          </a:prstGeom>
          <a:noFill/>
        </p:spPr>
        <p:txBody>
          <a:bodyPr wrap="square">
            <a:spAutoFit/>
          </a:bodyPr>
          <a:lstStyle/>
          <a:p>
            <a:r>
              <a:rPr lang="en-US" sz="1600" b="1">
                <a:latin typeface="+mj-lt"/>
              </a:rPr>
              <a:t>PROMPT</a:t>
            </a:r>
            <a:r>
              <a:rPr lang="en-US" sz="1600">
                <a:latin typeface="+mj-lt"/>
              </a:rPr>
              <a:t>: Remove all cables, bottles and chemicals from the image.</a:t>
            </a:r>
          </a:p>
        </p:txBody>
      </p:sp>
      <p:pic>
        <p:nvPicPr>
          <p:cNvPr id="9" name="Picture 8" descr="A close-up of a machine">
            <a:extLst>
              <a:ext uri="{FF2B5EF4-FFF2-40B4-BE49-F238E27FC236}">
                <a16:creationId xmlns:a16="http://schemas.microsoft.com/office/drawing/2014/main" id="{2F783049-4718-EE07-F5D7-8C57E5BF19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8410" y="1844675"/>
            <a:ext cx="1920000" cy="2880000"/>
          </a:xfrm>
          <a:prstGeom prst="rect">
            <a:avLst/>
          </a:prstGeom>
        </p:spPr>
      </p:pic>
    </p:spTree>
    <p:extLst>
      <p:ext uri="{BB962C8B-B14F-4D97-AF65-F5344CB8AC3E}">
        <p14:creationId xmlns:p14="http://schemas.microsoft.com/office/powerpoint/2010/main" val="19862978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818AB-46CF-3D76-C013-2F1E5A510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FA2BFF-E977-F32C-3678-0260CD1B3053}"/>
              </a:ext>
            </a:extLst>
          </p:cNvPr>
          <p:cNvSpPr>
            <a:spLocks noGrp="1"/>
          </p:cNvSpPr>
          <p:nvPr>
            <p:ph type="title"/>
          </p:nvPr>
        </p:nvSpPr>
        <p:spPr>
          <a:xfrm>
            <a:off x="407987" y="404813"/>
            <a:ext cx="11376026" cy="1079971"/>
          </a:xfrm>
        </p:spPr>
        <p:txBody>
          <a:bodyPr anchor="t">
            <a:normAutofit/>
          </a:bodyPr>
          <a:lstStyle/>
          <a:p>
            <a:r>
              <a:rPr lang="en-US"/>
              <a:t>4.1. Nano Banana: reimagine the scene</a:t>
            </a:r>
          </a:p>
        </p:txBody>
      </p:sp>
      <p:sp>
        <p:nvSpPr>
          <p:cNvPr id="7" name="Slide Number Placeholder 6">
            <a:extLst>
              <a:ext uri="{FF2B5EF4-FFF2-40B4-BE49-F238E27FC236}">
                <a16:creationId xmlns:a16="http://schemas.microsoft.com/office/drawing/2014/main" id="{0E61E6FD-4746-7F51-E113-5B5E4BBF8F97}"/>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58</a:t>
            </a:fld>
            <a:endParaRPr lang="fi-FI"/>
          </a:p>
        </p:txBody>
      </p:sp>
      <p:sp>
        <p:nvSpPr>
          <p:cNvPr id="3" name="Date Placeholder 2">
            <a:extLst>
              <a:ext uri="{FF2B5EF4-FFF2-40B4-BE49-F238E27FC236}">
                <a16:creationId xmlns:a16="http://schemas.microsoft.com/office/drawing/2014/main" id="{BC2F90F6-DE06-FDEE-4468-BB90CB0F4FA6}"/>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A722A13E-3E22-BE2E-33A3-41C00AB9A5F4}"/>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F1E2D706-A01C-8BF4-0387-C900BE8203F4}"/>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pic>
        <p:nvPicPr>
          <p:cNvPr id="5" name="Picture 4">
            <a:extLst>
              <a:ext uri="{FF2B5EF4-FFF2-40B4-BE49-F238E27FC236}">
                <a16:creationId xmlns:a16="http://schemas.microsoft.com/office/drawing/2014/main" id="{64FAF41F-C407-2B46-7F4C-86A0C2610272}"/>
              </a:ext>
            </a:extLst>
          </p:cNvPr>
          <p:cNvPicPr>
            <a:picLocks noChangeAspect="1"/>
          </p:cNvPicPr>
          <p:nvPr/>
        </p:nvPicPr>
        <p:blipFill rotWithShape="1">
          <a:blip r:embed="rId2"/>
          <a:srcRect t="13514" b="13514"/>
          <a:stretch/>
        </p:blipFill>
        <p:spPr>
          <a:xfrm>
            <a:off x="6888408" y="1481603"/>
            <a:ext cx="2880000" cy="2880000"/>
          </a:xfrm>
          <a:prstGeom prst="rect">
            <a:avLst/>
          </a:prstGeom>
        </p:spPr>
      </p:pic>
      <p:pic>
        <p:nvPicPr>
          <p:cNvPr id="6" name="Picture 5" descr="A sign in front of a building&#10;&#10;AI-generated content may be incorrect.">
            <a:extLst>
              <a:ext uri="{FF2B5EF4-FFF2-40B4-BE49-F238E27FC236}">
                <a16:creationId xmlns:a16="http://schemas.microsoft.com/office/drawing/2014/main" id="{58CFCDFA-0B01-A5A3-A9C5-4394C22900C5}"/>
              </a:ext>
            </a:extLst>
          </p:cNvPr>
          <p:cNvPicPr>
            <a:picLocks noChangeAspect="1"/>
          </p:cNvPicPr>
          <p:nvPr/>
        </p:nvPicPr>
        <p:blipFill rotWithShape="1">
          <a:blip r:embed="rId3">
            <a:extLst>
              <a:ext uri="{28A0092B-C50C-407E-A947-70E740481C1C}">
                <a14:useLocalDpi xmlns:a14="http://schemas.microsoft.com/office/drawing/2010/main" val="0"/>
              </a:ext>
            </a:extLst>
          </a:blip>
          <a:srcRect t="12353" b="12353"/>
          <a:stretch/>
        </p:blipFill>
        <p:spPr>
          <a:xfrm>
            <a:off x="2423592" y="1484784"/>
            <a:ext cx="2880000" cy="2880000"/>
          </a:xfrm>
          <a:prstGeom prst="rect">
            <a:avLst/>
          </a:prstGeom>
        </p:spPr>
      </p:pic>
      <p:sp>
        <p:nvSpPr>
          <p:cNvPr id="8" name="Arrow: Right 7">
            <a:extLst>
              <a:ext uri="{FF2B5EF4-FFF2-40B4-BE49-F238E27FC236}">
                <a16:creationId xmlns:a16="http://schemas.microsoft.com/office/drawing/2014/main" id="{E0521D05-601B-E832-5941-8DA7A1DD3CEE}"/>
              </a:ext>
              <a:ext uri="{C183D7F6-B498-43B3-948B-1728B52AA6E4}">
                <adec:decorative xmlns:adec="http://schemas.microsoft.com/office/drawing/2017/decorative" val="1"/>
              </a:ext>
            </a:extLst>
          </p:cNvPr>
          <p:cNvSpPr/>
          <p:nvPr/>
        </p:nvSpPr>
        <p:spPr>
          <a:xfrm>
            <a:off x="5735960" y="2541787"/>
            <a:ext cx="766634" cy="766634"/>
          </a:xfrm>
          <a:prstGeom prst="rightArrow">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00" err="1">
              <a:solidFill>
                <a:schemeClr val="tx1"/>
              </a:solidFill>
              <a:latin typeface="+mj-lt"/>
            </a:endParaRPr>
          </a:p>
        </p:txBody>
      </p:sp>
      <p:sp>
        <p:nvSpPr>
          <p:cNvPr id="9" name="TextBox 8">
            <a:extLst>
              <a:ext uri="{FF2B5EF4-FFF2-40B4-BE49-F238E27FC236}">
                <a16:creationId xmlns:a16="http://schemas.microsoft.com/office/drawing/2014/main" id="{F81038AE-B0D2-8AD5-C33C-EE2AC5F7AE14}"/>
              </a:ext>
            </a:extLst>
          </p:cNvPr>
          <p:cNvSpPr txBox="1"/>
          <p:nvPr/>
        </p:nvSpPr>
        <p:spPr>
          <a:xfrm>
            <a:off x="1028944" y="4492858"/>
            <a:ext cx="10080625" cy="1323439"/>
          </a:xfrm>
          <a:prstGeom prst="rect">
            <a:avLst/>
          </a:prstGeom>
          <a:noFill/>
        </p:spPr>
        <p:txBody>
          <a:bodyPr wrap="square">
            <a:spAutoFit/>
          </a:bodyPr>
          <a:lstStyle/>
          <a:p>
            <a:r>
              <a:rPr lang="en-US" sz="1600" b="1">
                <a:latin typeface="+mj-lt"/>
              </a:rPr>
              <a:t>PROMPT</a:t>
            </a:r>
            <a:r>
              <a:rPr lang="en-US" sz="1600">
                <a:latin typeface="+mj-lt"/>
              </a:rPr>
              <a:t>: Turn the scene into nighttime while preserving the same buildings, layout, glass, flags, and perspective. Create a lively outdoor university party: small groups chatting, a few people dancing, subtle string lights, and warm ambient lighting (photorealistic, not overcrowded). Treat the A! sculpture as a bright white light source: it glows intensely and casts realistic spill light onto the nearby pavement, railings, façade, flagpoles, and people in the bottom-right area, with natural falloff and reflections in the windows.</a:t>
            </a:r>
          </a:p>
        </p:txBody>
      </p:sp>
      <p:sp>
        <p:nvSpPr>
          <p:cNvPr id="10" name="TextBox 9">
            <a:extLst>
              <a:ext uri="{FF2B5EF4-FFF2-40B4-BE49-F238E27FC236}">
                <a16:creationId xmlns:a16="http://schemas.microsoft.com/office/drawing/2014/main" id="{BCBABE62-CB73-0F1E-87FB-97C5F44F29E0}"/>
              </a:ext>
            </a:extLst>
          </p:cNvPr>
          <p:cNvSpPr txBox="1"/>
          <p:nvPr/>
        </p:nvSpPr>
        <p:spPr>
          <a:xfrm>
            <a:off x="1127448" y="5821044"/>
            <a:ext cx="8746756" cy="307777"/>
          </a:xfrm>
          <a:prstGeom prst="rect">
            <a:avLst/>
          </a:prstGeom>
          <a:noFill/>
        </p:spPr>
        <p:txBody>
          <a:bodyPr wrap="square">
            <a:spAutoFit/>
          </a:bodyPr>
          <a:lstStyle/>
          <a:p>
            <a:r>
              <a:rPr lang="en-US" sz="1400">
                <a:hlinkClick r:id="rId4"/>
              </a:rPr>
              <a:t>Image generation with Gemini (aka Nano Banana)  |  Gemini API  |  Google AI for Developers</a:t>
            </a:r>
            <a:endParaRPr lang="en-US" sz="1400"/>
          </a:p>
        </p:txBody>
      </p:sp>
    </p:spTree>
    <p:extLst>
      <p:ext uri="{BB962C8B-B14F-4D97-AF65-F5344CB8AC3E}">
        <p14:creationId xmlns:p14="http://schemas.microsoft.com/office/powerpoint/2010/main" val="11703330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C77D4-279F-86CF-BB57-D8312A010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F44D0-479B-AA4A-4219-FE87CCED712D}"/>
              </a:ext>
            </a:extLst>
          </p:cNvPr>
          <p:cNvSpPr>
            <a:spLocks noGrp="1"/>
          </p:cNvSpPr>
          <p:nvPr>
            <p:ph type="title"/>
          </p:nvPr>
        </p:nvSpPr>
        <p:spPr>
          <a:xfrm>
            <a:off x="407987" y="404813"/>
            <a:ext cx="11376026" cy="1079971"/>
          </a:xfrm>
        </p:spPr>
        <p:txBody>
          <a:bodyPr anchor="t">
            <a:normAutofit/>
          </a:bodyPr>
          <a:lstStyle/>
          <a:p>
            <a:r>
              <a:rPr lang="en-US"/>
              <a:t>4.1. GPT image: add a background to your research images</a:t>
            </a:r>
          </a:p>
        </p:txBody>
      </p:sp>
      <p:sp>
        <p:nvSpPr>
          <p:cNvPr id="7" name="Slide Number Placeholder 6">
            <a:extLst>
              <a:ext uri="{FF2B5EF4-FFF2-40B4-BE49-F238E27FC236}">
                <a16:creationId xmlns:a16="http://schemas.microsoft.com/office/drawing/2014/main" id="{7F062755-0BB8-2773-BD9F-74DBE8C0C4E1}"/>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59</a:t>
            </a:fld>
            <a:endParaRPr lang="fi-FI"/>
          </a:p>
        </p:txBody>
      </p:sp>
      <p:sp>
        <p:nvSpPr>
          <p:cNvPr id="3" name="Date Placeholder 2">
            <a:extLst>
              <a:ext uri="{FF2B5EF4-FFF2-40B4-BE49-F238E27FC236}">
                <a16:creationId xmlns:a16="http://schemas.microsoft.com/office/drawing/2014/main" id="{27A8559E-1D10-5253-22AE-9F3C29ED94F8}"/>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0FECE2EC-2CFD-955B-CCD5-B301FC30C0B8}"/>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443E2648-27DE-3049-CFE4-C28049F0EC7F}"/>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pic>
        <p:nvPicPr>
          <p:cNvPr id="5" name="Picture 4" descr="Butterflies on a purple flower">
            <a:extLst>
              <a:ext uri="{FF2B5EF4-FFF2-40B4-BE49-F238E27FC236}">
                <a16:creationId xmlns:a16="http://schemas.microsoft.com/office/drawing/2014/main" id="{830B0C58-C380-60D8-A3FB-F3718F434E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5984" y="1844675"/>
            <a:ext cx="4320000" cy="2880000"/>
          </a:xfrm>
          <a:prstGeom prst="rect">
            <a:avLst/>
          </a:prstGeom>
        </p:spPr>
      </p:pic>
      <p:pic>
        <p:nvPicPr>
          <p:cNvPr id="6" name="Picture 5" descr="A close-up of a lace">
            <a:extLst>
              <a:ext uri="{FF2B5EF4-FFF2-40B4-BE49-F238E27FC236}">
                <a16:creationId xmlns:a16="http://schemas.microsoft.com/office/drawing/2014/main" id="{976DDB71-F2B9-80AA-F71D-C7E70C1C59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570" y="1846613"/>
            <a:ext cx="5120000" cy="2880000"/>
          </a:xfrm>
          <a:prstGeom prst="rect">
            <a:avLst/>
          </a:prstGeom>
        </p:spPr>
      </p:pic>
      <p:sp>
        <p:nvSpPr>
          <p:cNvPr id="8" name="Arrow: Right 7">
            <a:extLst>
              <a:ext uri="{FF2B5EF4-FFF2-40B4-BE49-F238E27FC236}">
                <a16:creationId xmlns:a16="http://schemas.microsoft.com/office/drawing/2014/main" id="{4EABBBC7-A866-2C8F-76F5-65E7F7F3A5EE}"/>
              </a:ext>
              <a:ext uri="{C183D7F6-B498-43B3-948B-1728B52AA6E4}">
                <adec:decorative xmlns:adec="http://schemas.microsoft.com/office/drawing/2017/decorative" val="1"/>
              </a:ext>
            </a:extLst>
          </p:cNvPr>
          <p:cNvSpPr/>
          <p:nvPr/>
        </p:nvSpPr>
        <p:spPr>
          <a:xfrm>
            <a:off x="5735960" y="2903616"/>
            <a:ext cx="766634" cy="766634"/>
          </a:xfrm>
          <a:prstGeom prst="rightArrow">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00" err="1">
              <a:solidFill>
                <a:schemeClr val="tx1"/>
              </a:solidFill>
              <a:latin typeface="+mj-lt"/>
            </a:endParaRPr>
          </a:p>
        </p:txBody>
      </p:sp>
      <p:sp>
        <p:nvSpPr>
          <p:cNvPr id="9" name="TextBox 8">
            <a:extLst>
              <a:ext uri="{FF2B5EF4-FFF2-40B4-BE49-F238E27FC236}">
                <a16:creationId xmlns:a16="http://schemas.microsoft.com/office/drawing/2014/main" id="{484236C6-A20A-3FEE-67BF-033012799C7B}"/>
              </a:ext>
            </a:extLst>
          </p:cNvPr>
          <p:cNvSpPr txBox="1"/>
          <p:nvPr/>
        </p:nvSpPr>
        <p:spPr>
          <a:xfrm>
            <a:off x="1028944" y="4854687"/>
            <a:ext cx="10080625" cy="584775"/>
          </a:xfrm>
          <a:prstGeom prst="rect">
            <a:avLst/>
          </a:prstGeom>
          <a:noFill/>
        </p:spPr>
        <p:txBody>
          <a:bodyPr wrap="square">
            <a:spAutoFit/>
          </a:bodyPr>
          <a:lstStyle/>
          <a:p>
            <a:r>
              <a:rPr lang="en-US" sz="1600" b="1">
                <a:latin typeface="+mj-lt"/>
              </a:rPr>
              <a:t>PROMPT</a:t>
            </a:r>
            <a:r>
              <a:rPr lang="en-US" sz="1600">
                <a:latin typeface="+mj-lt"/>
              </a:rPr>
              <a:t>: Generate a beautiful realistic nature, featuring the butterfly actuator living among real ones. It should look natural, calm and symbiotic.</a:t>
            </a:r>
          </a:p>
        </p:txBody>
      </p:sp>
      <p:sp>
        <p:nvSpPr>
          <p:cNvPr id="10" name="TextBox 9">
            <a:extLst>
              <a:ext uri="{FF2B5EF4-FFF2-40B4-BE49-F238E27FC236}">
                <a16:creationId xmlns:a16="http://schemas.microsoft.com/office/drawing/2014/main" id="{5DA666AE-13BA-84A3-9BE1-E22EFEF2ACC9}"/>
              </a:ext>
            </a:extLst>
          </p:cNvPr>
          <p:cNvSpPr txBox="1"/>
          <p:nvPr/>
        </p:nvSpPr>
        <p:spPr>
          <a:xfrm>
            <a:off x="335360" y="3993848"/>
            <a:ext cx="4200128" cy="584775"/>
          </a:xfrm>
          <a:prstGeom prst="rect">
            <a:avLst/>
          </a:prstGeom>
          <a:noFill/>
        </p:spPr>
        <p:txBody>
          <a:bodyPr wrap="square">
            <a:spAutoFit/>
          </a:bodyPr>
          <a:lstStyle/>
          <a:p>
            <a:r>
              <a:rPr lang="en-US" sz="1600">
                <a:solidFill>
                  <a:schemeClr val="bg1"/>
                </a:solidFill>
                <a:hlinkClick r:id="rId4">
                  <a:extLst>
                    <a:ext uri="{A12FA001-AC4F-418D-AE19-62706E023703}">
                      <ahyp:hlinkClr xmlns:ahyp="http://schemas.microsoft.com/office/drawing/2018/hyperlinkcolor" val="tx"/>
                    </a:ext>
                  </a:extLst>
                </a:hlinkClick>
              </a:rPr>
              <a:t>The butterfly effect – bending and turning artificial muscles with light | Aalto University</a:t>
            </a:r>
            <a:endParaRPr lang="en-US" sz="1600">
              <a:solidFill>
                <a:schemeClr val="bg1"/>
              </a:solidFill>
            </a:endParaRPr>
          </a:p>
        </p:txBody>
      </p:sp>
    </p:spTree>
    <p:extLst>
      <p:ext uri="{BB962C8B-B14F-4D97-AF65-F5344CB8AC3E}">
        <p14:creationId xmlns:p14="http://schemas.microsoft.com/office/powerpoint/2010/main" val="34036993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FCF12-1D18-0954-D12D-14CA89E74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E062C-134B-EE61-56C6-73D9A6E0BBF6}"/>
              </a:ext>
            </a:extLst>
          </p:cNvPr>
          <p:cNvSpPr>
            <a:spLocks noGrp="1"/>
          </p:cNvSpPr>
          <p:nvPr>
            <p:ph type="title"/>
          </p:nvPr>
        </p:nvSpPr>
        <p:spPr>
          <a:xfrm>
            <a:off x="407987" y="404813"/>
            <a:ext cx="11376026" cy="1079971"/>
          </a:xfrm>
        </p:spPr>
        <p:txBody>
          <a:bodyPr anchor="t">
            <a:normAutofit/>
          </a:bodyPr>
          <a:lstStyle/>
          <a:p>
            <a:r>
              <a:rPr lang="en-US"/>
              <a:t>4.1. Nano Banana: Image generation for science</a:t>
            </a:r>
          </a:p>
        </p:txBody>
      </p:sp>
      <p:sp>
        <p:nvSpPr>
          <p:cNvPr id="7" name="Slide Number Placeholder 6">
            <a:extLst>
              <a:ext uri="{FF2B5EF4-FFF2-40B4-BE49-F238E27FC236}">
                <a16:creationId xmlns:a16="http://schemas.microsoft.com/office/drawing/2014/main" id="{CFB699F1-67F7-B500-CD86-4B2112AD6B33}"/>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60</a:t>
            </a:fld>
            <a:endParaRPr lang="fi-FI"/>
          </a:p>
        </p:txBody>
      </p:sp>
      <p:sp>
        <p:nvSpPr>
          <p:cNvPr id="3" name="Date Placeholder 2">
            <a:extLst>
              <a:ext uri="{FF2B5EF4-FFF2-40B4-BE49-F238E27FC236}">
                <a16:creationId xmlns:a16="http://schemas.microsoft.com/office/drawing/2014/main" id="{A897B3CB-9C86-F1D7-60DC-1D4ECAEF911F}"/>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9A82FC38-E5EF-0A7B-BC98-47448525BF43}"/>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682065D1-709E-1E7F-4DF0-B5E80A6BB76F}"/>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sp>
        <p:nvSpPr>
          <p:cNvPr id="5" name="TextBox 4">
            <a:extLst>
              <a:ext uri="{FF2B5EF4-FFF2-40B4-BE49-F238E27FC236}">
                <a16:creationId xmlns:a16="http://schemas.microsoft.com/office/drawing/2014/main" id="{B0D8E76B-B938-BF60-81D5-48435ED226CE}"/>
              </a:ext>
            </a:extLst>
          </p:cNvPr>
          <p:cNvSpPr txBox="1"/>
          <p:nvPr/>
        </p:nvSpPr>
        <p:spPr>
          <a:xfrm>
            <a:off x="407987" y="3504926"/>
            <a:ext cx="5725302" cy="23083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a:t>I've attached a picture of my experimental setup. I want you to make a representation in the style of a </a:t>
            </a:r>
            <a:r>
              <a:rPr lang="en-US" b="1"/>
              <a:t>scientific diagram</a:t>
            </a:r>
            <a:r>
              <a:rPr lang="en-US"/>
              <a:t>. My picture is a photo so it has </a:t>
            </a:r>
            <a:r>
              <a:rPr lang="en-US" b="1"/>
              <a:t>many elements that are not needed</a:t>
            </a:r>
            <a:r>
              <a:rPr lang="en-US"/>
              <a:t>. In the center top it has the solar simulator, the calibrator system is in the center and being illuminated, and in the right top there's the thermal camera and in the right there's the screen showing the image of the thermal camera.</a:t>
            </a:r>
            <a:endParaRPr lang="en-US">
              <a:latin typeface="+mj-lt"/>
            </a:endParaRPr>
          </a:p>
        </p:txBody>
      </p:sp>
      <p:pic>
        <p:nvPicPr>
          <p:cNvPr id="6" name="Picture 4" descr="Uploaded image">
            <a:extLst>
              <a:ext uri="{FF2B5EF4-FFF2-40B4-BE49-F238E27FC236}">
                <a16:creationId xmlns:a16="http://schemas.microsoft.com/office/drawing/2014/main" id="{87B7CA11-093F-96BE-AE50-47D8498195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6276" y="1035576"/>
            <a:ext cx="1513892" cy="226768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4E34177-94D5-B75F-5279-BB52C5BA9967}"/>
              </a:ext>
            </a:extLst>
          </p:cNvPr>
          <p:cNvPicPr>
            <a:picLocks noChangeAspect="1"/>
          </p:cNvPicPr>
          <p:nvPr/>
        </p:nvPicPr>
        <p:blipFill>
          <a:blip r:embed="rId3"/>
          <a:stretch>
            <a:fillRect/>
          </a:stretch>
        </p:blipFill>
        <p:spPr>
          <a:xfrm>
            <a:off x="6785653" y="1035576"/>
            <a:ext cx="3414803" cy="5122206"/>
          </a:xfrm>
          <a:prstGeom prst="rect">
            <a:avLst/>
          </a:prstGeom>
        </p:spPr>
      </p:pic>
    </p:spTree>
    <p:extLst>
      <p:ext uri="{BB962C8B-B14F-4D97-AF65-F5344CB8AC3E}">
        <p14:creationId xmlns:p14="http://schemas.microsoft.com/office/powerpoint/2010/main" val="40647064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0073B-B366-2C94-3C0D-9804D5590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27FFF-77E8-4A71-5B03-5CAB7D452D25}"/>
              </a:ext>
            </a:extLst>
          </p:cNvPr>
          <p:cNvSpPr>
            <a:spLocks noGrp="1"/>
          </p:cNvSpPr>
          <p:nvPr>
            <p:ph type="title"/>
          </p:nvPr>
        </p:nvSpPr>
        <p:spPr>
          <a:xfrm>
            <a:off x="407987" y="404813"/>
            <a:ext cx="11376026" cy="1079971"/>
          </a:xfrm>
        </p:spPr>
        <p:txBody>
          <a:bodyPr anchor="t">
            <a:normAutofit/>
          </a:bodyPr>
          <a:lstStyle/>
          <a:p>
            <a:r>
              <a:rPr lang="en-US"/>
              <a:t>4.1. GPT image: limitations</a:t>
            </a:r>
          </a:p>
        </p:txBody>
      </p:sp>
      <p:sp>
        <p:nvSpPr>
          <p:cNvPr id="7" name="Slide Number Placeholder 6">
            <a:extLst>
              <a:ext uri="{FF2B5EF4-FFF2-40B4-BE49-F238E27FC236}">
                <a16:creationId xmlns:a16="http://schemas.microsoft.com/office/drawing/2014/main" id="{2B697A97-860E-2FFE-3F12-F3A5F5FB6F9A}"/>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61</a:t>
            </a:fld>
            <a:endParaRPr lang="fi-FI"/>
          </a:p>
        </p:txBody>
      </p:sp>
      <p:sp>
        <p:nvSpPr>
          <p:cNvPr id="3" name="Date Placeholder 2">
            <a:extLst>
              <a:ext uri="{FF2B5EF4-FFF2-40B4-BE49-F238E27FC236}">
                <a16:creationId xmlns:a16="http://schemas.microsoft.com/office/drawing/2014/main" id="{0472281E-1186-35DC-4B5D-7F73B5779FA5}"/>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D7567100-8365-8937-8048-E114FE3647A7}"/>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4AF755F6-685C-945C-DFEE-0C343E66B101}"/>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sp>
        <p:nvSpPr>
          <p:cNvPr id="5" name="Content Placeholder 2">
            <a:extLst>
              <a:ext uri="{FF2B5EF4-FFF2-40B4-BE49-F238E27FC236}">
                <a16:creationId xmlns:a16="http://schemas.microsoft.com/office/drawing/2014/main" id="{03BEF8B5-EB9B-F244-0B4F-9E406C819CA2}"/>
              </a:ext>
            </a:extLst>
          </p:cNvPr>
          <p:cNvSpPr>
            <a:spLocks noGrp="1"/>
          </p:cNvSpPr>
          <p:nvPr>
            <p:ph sz="half" idx="1"/>
          </p:nvPr>
        </p:nvSpPr>
        <p:spPr>
          <a:xfrm>
            <a:off x="1055688" y="2205037"/>
            <a:ext cx="4896296" cy="3671887"/>
          </a:xfrm>
        </p:spPr>
        <p:txBody>
          <a:bodyPr/>
          <a:lstStyle/>
          <a:p>
            <a:pPr marL="342900" indent="-342900">
              <a:buFont typeface="Arial" panose="020B0604020202020204" pitchFamily="34" charset="0"/>
              <a:buChar char="•"/>
            </a:pPr>
            <a:r>
              <a:rPr lang="en-US" sz="1600"/>
              <a:t>Cropping (model occasionally crops longer images)</a:t>
            </a:r>
          </a:p>
          <a:p>
            <a:pPr marL="342900" indent="-342900">
              <a:buFont typeface="Arial" panose="020B0604020202020204" pitchFamily="34" charset="0"/>
              <a:buChar char="•"/>
            </a:pPr>
            <a:r>
              <a:rPr lang="en-US" sz="1600"/>
              <a:t>Hallucinations (made-up info)</a:t>
            </a:r>
          </a:p>
          <a:p>
            <a:pPr marL="342900" indent="-342900">
              <a:buFont typeface="Arial" panose="020B0604020202020204" pitchFamily="34" charset="0"/>
              <a:buChar char="•"/>
            </a:pPr>
            <a:r>
              <a:rPr lang="en-US" sz="1600"/>
              <a:t>High binding problems (struggle to render more than 10 distinct concepts; messes with the order)</a:t>
            </a:r>
          </a:p>
          <a:p>
            <a:pPr marL="342900" indent="-342900">
              <a:buFont typeface="Arial" panose="020B0604020202020204" pitchFamily="34" charset="0"/>
              <a:buChar char="•"/>
            </a:pPr>
            <a:r>
              <a:rPr lang="en-US" sz="1600"/>
              <a:t>Precise graphing (not good for plotting)</a:t>
            </a:r>
          </a:p>
          <a:p>
            <a:pPr marL="342900" indent="-342900">
              <a:buFont typeface="Arial" panose="020B0604020202020204" pitchFamily="34" charset="0"/>
              <a:buChar char="•"/>
            </a:pPr>
            <a:r>
              <a:rPr lang="en-US" sz="1600"/>
              <a:t>Multilingual text rendering (struggles with rendering non-Latin languages)</a:t>
            </a:r>
          </a:p>
          <a:p>
            <a:pPr marL="342900" indent="-342900">
              <a:buFont typeface="Arial" panose="020B0604020202020204" pitchFamily="34" charset="0"/>
              <a:buChar char="•"/>
            </a:pPr>
            <a:r>
              <a:rPr lang="en-US" sz="1600"/>
              <a:t>Editing precision (smaller details might be hard to tweak)</a:t>
            </a:r>
          </a:p>
          <a:p>
            <a:pPr marL="342900" indent="-342900">
              <a:buFont typeface="Arial" panose="020B0604020202020204" pitchFamily="34" charset="0"/>
              <a:buChar char="•"/>
            </a:pPr>
            <a:r>
              <a:rPr lang="en-US" sz="1600"/>
              <a:t>Dense information with small text (e.g. scientific poster generation)</a:t>
            </a:r>
          </a:p>
        </p:txBody>
      </p:sp>
      <p:sp>
        <p:nvSpPr>
          <p:cNvPr id="6" name="TextBox 5">
            <a:extLst>
              <a:ext uri="{FF2B5EF4-FFF2-40B4-BE49-F238E27FC236}">
                <a16:creationId xmlns:a16="http://schemas.microsoft.com/office/drawing/2014/main" id="{43485AD9-4695-B895-B4E8-FFE068DF1861}"/>
              </a:ext>
            </a:extLst>
          </p:cNvPr>
          <p:cNvSpPr txBox="1"/>
          <p:nvPr/>
        </p:nvSpPr>
        <p:spPr>
          <a:xfrm>
            <a:off x="1055688" y="5876925"/>
            <a:ext cx="6096000" cy="369332"/>
          </a:xfrm>
          <a:prstGeom prst="rect">
            <a:avLst/>
          </a:prstGeom>
          <a:noFill/>
        </p:spPr>
        <p:txBody>
          <a:bodyPr wrap="square">
            <a:spAutoFit/>
          </a:bodyPr>
          <a:lstStyle/>
          <a:p>
            <a:r>
              <a:rPr lang="en-US">
                <a:hlinkClick r:id="rId2"/>
              </a:rPr>
              <a:t>Introducing 4o Image Generation | OpenAI</a:t>
            </a:r>
            <a:endParaRPr lang="en-US"/>
          </a:p>
        </p:txBody>
      </p:sp>
      <p:pic>
        <p:nvPicPr>
          <p:cNvPr id="8" name="Picture 2" descr="LCE Yarn Production and Application Process">
            <a:extLst>
              <a:ext uri="{FF2B5EF4-FFF2-40B4-BE49-F238E27FC236}">
                <a16:creationId xmlns:a16="http://schemas.microsoft.com/office/drawing/2014/main" id="{E8AD0014-1148-584A-2E8D-529A3AC673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8008" y="476672"/>
            <a:ext cx="2700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15BA5F9-F1D6-21F9-F70D-A658FFA6B1DA}"/>
              </a:ext>
            </a:extLst>
          </p:cNvPr>
          <p:cNvPicPr>
            <a:picLocks noChangeAspect="1"/>
          </p:cNvPicPr>
          <p:nvPr/>
        </p:nvPicPr>
        <p:blipFill>
          <a:blip r:embed="rId4"/>
          <a:stretch>
            <a:fillRect/>
          </a:stretch>
        </p:blipFill>
        <p:spPr>
          <a:xfrm>
            <a:off x="9552584" y="855038"/>
            <a:ext cx="1800000" cy="2700000"/>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668C3688-79AF-507C-4765-1244898A06FA}"/>
              </a:ext>
            </a:extLst>
          </p:cNvPr>
          <p:cNvPicPr>
            <a:picLocks noChangeAspect="1"/>
          </p:cNvPicPr>
          <p:nvPr/>
        </p:nvPicPr>
        <p:blipFill>
          <a:blip r:embed="rId5"/>
          <a:stretch>
            <a:fillRect/>
          </a:stretch>
        </p:blipFill>
        <p:spPr>
          <a:xfrm>
            <a:off x="6816080" y="2855070"/>
            <a:ext cx="2160000" cy="2160000"/>
          </a:xfrm>
          <a:prstGeom prst="rect">
            <a:avLst/>
          </a:prstGeom>
          <a:effectLst>
            <a:outerShdw blurRad="63500" sx="102000" sy="102000" algn="ctr" rotWithShape="0">
              <a:prstClr val="black">
                <a:alpha val="40000"/>
              </a:prstClr>
            </a:outerShdw>
          </a:effectLst>
        </p:spPr>
      </p:pic>
      <p:sp>
        <p:nvSpPr>
          <p:cNvPr id="11" name="TextBox 10">
            <a:extLst>
              <a:ext uri="{FF2B5EF4-FFF2-40B4-BE49-F238E27FC236}">
                <a16:creationId xmlns:a16="http://schemas.microsoft.com/office/drawing/2014/main" id="{6CDE4F59-7965-04DA-C4A3-7E924D733CF5}"/>
              </a:ext>
            </a:extLst>
          </p:cNvPr>
          <p:cNvSpPr txBox="1"/>
          <p:nvPr/>
        </p:nvSpPr>
        <p:spPr>
          <a:xfrm>
            <a:off x="6779896" y="5015070"/>
            <a:ext cx="2232368" cy="461665"/>
          </a:xfrm>
          <a:prstGeom prst="rect">
            <a:avLst/>
          </a:prstGeom>
          <a:noFill/>
        </p:spPr>
        <p:txBody>
          <a:bodyPr wrap="square">
            <a:spAutoFit/>
          </a:bodyPr>
          <a:lstStyle/>
          <a:p>
            <a:pPr algn="ctr"/>
            <a:r>
              <a:rPr lang="en-US" sz="1200" i="1"/>
              <a:t>A dog riding a horse while a horse walks a dog on a leash.</a:t>
            </a:r>
          </a:p>
        </p:txBody>
      </p:sp>
      <p:pic>
        <p:nvPicPr>
          <p:cNvPr id="12" name="Picture 11">
            <a:extLst>
              <a:ext uri="{FF2B5EF4-FFF2-40B4-BE49-F238E27FC236}">
                <a16:creationId xmlns:a16="http://schemas.microsoft.com/office/drawing/2014/main" id="{4E7F6C57-6585-B920-2F39-EAA1D4DAD6A6}"/>
              </a:ext>
            </a:extLst>
          </p:cNvPr>
          <p:cNvPicPr>
            <a:picLocks noChangeAspect="1"/>
          </p:cNvPicPr>
          <p:nvPr/>
        </p:nvPicPr>
        <p:blipFill>
          <a:blip r:embed="rId6"/>
          <a:stretch>
            <a:fillRect/>
          </a:stretch>
        </p:blipFill>
        <p:spPr>
          <a:xfrm>
            <a:off x="9360848" y="4086257"/>
            <a:ext cx="1440000" cy="2160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1978701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FF2C2-B861-D7A3-2FA9-775597F6C3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128A1-7A7D-BF7B-9863-3247137366D9}"/>
              </a:ext>
            </a:extLst>
          </p:cNvPr>
          <p:cNvSpPr>
            <a:spLocks noGrp="1"/>
          </p:cNvSpPr>
          <p:nvPr>
            <p:ph type="title"/>
          </p:nvPr>
        </p:nvSpPr>
        <p:spPr>
          <a:xfrm>
            <a:off x="407987" y="404813"/>
            <a:ext cx="11376026" cy="1079971"/>
          </a:xfrm>
        </p:spPr>
        <p:txBody>
          <a:bodyPr anchor="t">
            <a:normAutofit/>
          </a:bodyPr>
          <a:lstStyle/>
          <a:p>
            <a:r>
              <a:rPr lang="en-US"/>
              <a:t>4.1. Workflow (I)</a:t>
            </a:r>
            <a:br>
              <a:rPr lang="en-US"/>
            </a:br>
            <a:r>
              <a:rPr lang="en-US" sz="2400" b="0"/>
              <a:t>creating concepts via images (Dall-E 3)</a:t>
            </a:r>
            <a:endParaRPr lang="en-US"/>
          </a:p>
        </p:txBody>
      </p:sp>
      <p:sp>
        <p:nvSpPr>
          <p:cNvPr id="7" name="Slide Number Placeholder 6">
            <a:extLst>
              <a:ext uri="{FF2B5EF4-FFF2-40B4-BE49-F238E27FC236}">
                <a16:creationId xmlns:a16="http://schemas.microsoft.com/office/drawing/2014/main" id="{56D9087D-1B0F-5002-E17B-53A6AED65B43}"/>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62</a:t>
            </a:fld>
            <a:endParaRPr lang="fi-FI"/>
          </a:p>
        </p:txBody>
      </p:sp>
      <p:sp>
        <p:nvSpPr>
          <p:cNvPr id="3" name="Date Placeholder 2">
            <a:extLst>
              <a:ext uri="{FF2B5EF4-FFF2-40B4-BE49-F238E27FC236}">
                <a16:creationId xmlns:a16="http://schemas.microsoft.com/office/drawing/2014/main" id="{77CAF795-0E85-1BB5-E797-88E57D57157F}"/>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D4C2451E-E151-295A-303F-B7E8D56B22F7}"/>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22CF7A2D-2B29-7FF4-3005-25AEB0C2CCA1}"/>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sp>
        <p:nvSpPr>
          <p:cNvPr id="5" name="Text Placeholder 2">
            <a:extLst>
              <a:ext uri="{FF2B5EF4-FFF2-40B4-BE49-F238E27FC236}">
                <a16:creationId xmlns:a16="http://schemas.microsoft.com/office/drawing/2014/main" id="{EC36A726-BDB5-3C44-2ED5-5FCC096E62BE}"/>
              </a:ext>
            </a:extLst>
          </p:cNvPr>
          <p:cNvSpPr>
            <a:spLocks noGrp="1"/>
          </p:cNvSpPr>
          <p:nvPr>
            <p:ph sz="half" idx="1"/>
          </p:nvPr>
        </p:nvSpPr>
        <p:spPr>
          <a:xfrm>
            <a:off x="1055688" y="2205037"/>
            <a:ext cx="3168104" cy="3671887"/>
          </a:xfrm>
        </p:spPr>
        <p:txBody>
          <a:bodyPr/>
          <a:lstStyle/>
          <a:p>
            <a:r>
              <a:rPr lang="en-US" sz="1600" b="1"/>
              <a:t>Prompt</a:t>
            </a:r>
            <a:r>
              <a:rPr lang="en-US" sz="1600"/>
              <a:t>: Scientific concept graphic on a pure white background: a left-to-right sequence of five identical rods, each gently twisting more than the previous, colored by a smooth low-to-high gradient along their length. Add a small vertical color bar at the right with no tick numbers or words. Flat vector look, crisp edges, no shadows, no textures, no photorealism.</a:t>
            </a:r>
          </a:p>
        </p:txBody>
      </p:sp>
      <p:pic>
        <p:nvPicPr>
          <p:cNvPr id="6" name="Content Placeholder 7">
            <a:extLst>
              <a:ext uri="{FF2B5EF4-FFF2-40B4-BE49-F238E27FC236}">
                <a16:creationId xmlns:a16="http://schemas.microsoft.com/office/drawing/2014/main" id="{7FE869F4-7E7C-6571-33AB-08DF837DA032}"/>
              </a:ext>
            </a:extLst>
          </p:cNvPr>
          <p:cNvPicPr>
            <a:picLocks noChangeAspect="1"/>
          </p:cNvPicPr>
          <p:nvPr/>
        </p:nvPicPr>
        <p:blipFill>
          <a:blip r:embed="rId2"/>
          <a:stretch>
            <a:fillRect/>
          </a:stretch>
        </p:blipFill>
        <p:spPr>
          <a:xfrm>
            <a:off x="5088210" y="2233850"/>
            <a:ext cx="2880000" cy="2880000"/>
          </a:xfrm>
          <a:prstGeom prst="roundRect">
            <a:avLst>
              <a:gd name="adj" fmla="val 8594"/>
            </a:avLst>
          </a:prstGeom>
          <a:solidFill>
            <a:srgbClr val="FFFFFF">
              <a:shade val="85000"/>
            </a:srgbClr>
          </a:solidFill>
          <a:ln>
            <a:noFill/>
          </a:ln>
          <a:effectLst/>
        </p:spPr>
      </p:pic>
      <p:pic>
        <p:nvPicPr>
          <p:cNvPr id="8" name="Picture 7">
            <a:extLst>
              <a:ext uri="{FF2B5EF4-FFF2-40B4-BE49-F238E27FC236}">
                <a16:creationId xmlns:a16="http://schemas.microsoft.com/office/drawing/2014/main" id="{2023742C-F8F3-6365-7A2D-A59777B32130}"/>
              </a:ext>
            </a:extLst>
          </p:cNvPr>
          <p:cNvPicPr>
            <a:picLocks noChangeAspect="1"/>
          </p:cNvPicPr>
          <p:nvPr/>
        </p:nvPicPr>
        <p:blipFill>
          <a:blip r:embed="rId3"/>
          <a:stretch>
            <a:fillRect/>
          </a:stretch>
        </p:blipFill>
        <p:spPr>
          <a:xfrm>
            <a:off x="8184232" y="2233850"/>
            <a:ext cx="2880000" cy="2880000"/>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11845766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60CF8-DDCE-2D4E-3FFF-8E0451589A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72FC5-D57E-9EB0-83E9-58810A06A4FD}"/>
              </a:ext>
            </a:extLst>
          </p:cNvPr>
          <p:cNvSpPr>
            <a:spLocks noGrp="1"/>
          </p:cNvSpPr>
          <p:nvPr>
            <p:ph type="title"/>
          </p:nvPr>
        </p:nvSpPr>
        <p:spPr>
          <a:xfrm>
            <a:off x="407987" y="404813"/>
            <a:ext cx="11376026" cy="1079971"/>
          </a:xfrm>
        </p:spPr>
        <p:txBody>
          <a:bodyPr anchor="t">
            <a:normAutofit/>
          </a:bodyPr>
          <a:lstStyle/>
          <a:p>
            <a:r>
              <a:rPr lang="en-US"/>
              <a:t>4.1. Workflow (II)</a:t>
            </a:r>
            <a:br>
              <a:rPr lang="en-US"/>
            </a:br>
            <a:r>
              <a:rPr lang="en-US" sz="2700" b="0"/>
              <a:t>From AI concept to my own scientific illustration (GPT Image &amp; Inkscape)</a:t>
            </a:r>
            <a:endParaRPr lang="en-US" sz="2700"/>
          </a:p>
        </p:txBody>
      </p:sp>
      <p:sp>
        <p:nvSpPr>
          <p:cNvPr id="7" name="Slide Number Placeholder 6">
            <a:extLst>
              <a:ext uri="{FF2B5EF4-FFF2-40B4-BE49-F238E27FC236}">
                <a16:creationId xmlns:a16="http://schemas.microsoft.com/office/drawing/2014/main" id="{066DEA69-E567-9BC8-8996-0C4507F1DBE3}"/>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63</a:t>
            </a:fld>
            <a:endParaRPr lang="fi-FI"/>
          </a:p>
        </p:txBody>
      </p:sp>
      <p:sp>
        <p:nvSpPr>
          <p:cNvPr id="3" name="Date Placeholder 2">
            <a:extLst>
              <a:ext uri="{FF2B5EF4-FFF2-40B4-BE49-F238E27FC236}">
                <a16:creationId xmlns:a16="http://schemas.microsoft.com/office/drawing/2014/main" id="{5038948A-5A48-9466-F3AB-CC40A63F0E09}"/>
              </a:ext>
            </a:extLst>
          </p:cNvPr>
          <p:cNvSpPr>
            <a:spLocks noGrp="1"/>
          </p:cNvSpPr>
          <p:nvPr>
            <p:ph type="dt" sz="half" idx="13"/>
          </p:nvPr>
        </p:nvSpPr>
        <p:spPr/>
        <p:txBody>
          <a:bodyPr/>
          <a:lstStyle/>
          <a:p>
            <a:r>
              <a:rPr lang="fi-FI"/>
              <a:t>28.04.2026</a:t>
            </a:r>
          </a:p>
        </p:txBody>
      </p:sp>
      <p:sp>
        <p:nvSpPr>
          <p:cNvPr id="4" name="Footer Placeholder 3">
            <a:extLst>
              <a:ext uri="{FF2B5EF4-FFF2-40B4-BE49-F238E27FC236}">
                <a16:creationId xmlns:a16="http://schemas.microsoft.com/office/drawing/2014/main" id="{821C0A0F-0567-9DA4-367E-36DE4A5F3BEE}"/>
              </a:ext>
            </a:extLst>
          </p:cNvPr>
          <p:cNvSpPr>
            <a:spLocks noGrp="1"/>
          </p:cNvSpPr>
          <p:nvPr>
            <p:ph type="ftr" sz="quarter" idx="14"/>
          </p:nvPr>
        </p:nvSpPr>
        <p:spPr/>
        <p:txBody>
          <a:bodyPr/>
          <a:lstStyle/>
          <a:p>
            <a:r>
              <a:rPr lang="pt-BR"/>
              <a:t>Enrico Glerean &amp; Pedro Silva (2026) Please cite DOI: 10.5281/zenodo.14032261 (CC-BY)</a:t>
            </a:r>
            <a:endParaRPr lang="fi-FI"/>
          </a:p>
        </p:txBody>
      </p:sp>
      <p:sp>
        <p:nvSpPr>
          <p:cNvPr id="35" name="TextBox 34">
            <a:extLst>
              <a:ext uri="{FF2B5EF4-FFF2-40B4-BE49-F238E27FC236}">
                <a16:creationId xmlns:a16="http://schemas.microsoft.com/office/drawing/2014/main" id="{64F763B9-1043-A9C1-0829-D4DBCD4FB865}"/>
              </a:ext>
            </a:extLst>
          </p:cNvPr>
          <p:cNvSpPr txBox="1"/>
          <p:nvPr/>
        </p:nvSpPr>
        <p:spPr>
          <a:xfrm rot="16200000">
            <a:off x="10261253" y="2534997"/>
            <a:ext cx="2662908" cy="707886"/>
          </a:xfrm>
          <a:prstGeom prst="rect">
            <a:avLst/>
          </a:prstGeom>
          <a:noFill/>
        </p:spPr>
        <p:txBody>
          <a:bodyPr wrap="none" rtlCol="0">
            <a:spAutoFit/>
          </a:bodyPr>
          <a:lstStyle/>
          <a:p>
            <a:pPr algn="l"/>
            <a:r>
              <a:rPr lang="en-US" sz="4000" b="1">
                <a:solidFill>
                  <a:schemeClr val="bg1"/>
                </a:solidFill>
                <a:latin typeface="+mj-lt"/>
              </a:rPr>
              <a:t>TRAINING</a:t>
            </a:r>
          </a:p>
        </p:txBody>
      </p:sp>
      <p:sp>
        <p:nvSpPr>
          <p:cNvPr id="23" name="Text Placeholder 2">
            <a:extLst>
              <a:ext uri="{FF2B5EF4-FFF2-40B4-BE49-F238E27FC236}">
                <a16:creationId xmlns:a16="http://schemas.microsoft.com/office/drawing/2014/main" id="{2BBFA3D8-F086-D875-A24B-F1F6831EB06C}"/>
              </a:ext>
            </a:extLst>
          </p:cNvPr>
          <p:cNvSpPr>
            <a:spLocks noGrp="1"/>
          </p:cNvSpPr>
          <p:nvPr>
            <p:ph sz="half" idx="1"/>
          </p:nvPr>
        </p:nvSpPr>
        <p:spPr>
          <a:xfrm>
            <a:off x="1055688" y="2205037"/>
            <a:ext cx="3312120" cy="3671887"/>
          </a:xfrm>
        </p:spPr>
        <p:txBody>
          <a:bodyPr/>
          <a:lstStyle/>
          <a:p>
            <a:r>
              <a:rPr lang="en-US" sz="1600" b="1"/>
              <a:t>Key ideas</a:t>
            </a:r>
            <a:r>
              <a:rPr lang="en-US" sz="1600"/>
              <a:t>:</a:t>
            </a:r>
          </a:p>
          <a:p>
            <a:pPr marL="342900" indent="-342900">
              <a:buFont typeface="+mj-lt"/>
              <a:buAutoNum type="arabicPeriod"/>
            </a:pPr>
            <a:r>
              <a:rPr lang="en-US" sz="1600"/>
              <a:t>Use ChatGPT with image generation for concept exploration</a:t>
            </a:r>
          </a:p>
          <a:p>
            <a:pPr marL="342900" indent="-342900">
              <a:buFont typeface="+mj-lt"/>
              <a:buAutoNum type="arabicPeriod"/>
            </a:pPr>
            <a:r>
              <a:rPr lang="en-US" sz="1600"/>
              <a:t>Generate 2 or 3 images to explore style, composition, perspective, and color ideas</a:t>
            </a:r>
          </a:p>
          <a:p>
            <a:pPr marL="342900" indent="-342900">
              <a:buFont typeface="+mj-lt"/>
              <a:buAutoNum type="arabicPeriod"/>
            </a:pPr>
            <a:r>
              <a:rPr lang="en-US" sz="1600"/>
              <a:t>Open the image in an editor and recreate your version (Inkscape is free!)</a:t>
            </a:r>
          </a:p>
          <a:p>
            <a:pPr marL="342900" indent="-342900">
              <a:buFont typeface="+mj-lt"/>
              <a:buAutoNum type="arabicPeriod"/>
            </a:pPr>
            <a:r>
              <a:rPr lang="en-US" sz="1600"/>
              <a:t>Make a publishable figure, </a:t>
            </a:r>
            <a:br>
              <a:rPr lang="en-US" sz="1600"/>
            </a:br>
            <a:r>
              <a:rPr lang="en-US" sz="1600"/>
              <a:t>AI-informed but not AI-generated</a:t>
            </a:r>
          </a:p>
        </p:txBody>
      </p:sp>
      <p:pic>
        <p:nvPicPr>
          <p:cNvPr id="24" name="Graphic 23">
            <a:extLst>
              <a:ext uri="{FF2B5EF4-FFF2-40B4-BE49-F238E27FC236}">
                <a16:creationId xmlns:a16="http://schemas.microsoft.com/office/drawing/2014/main" id="{57416C39-1314-D6FA-4FE5-8780ACF40A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13523" y="2133958"/>
            <a:ext cx="1733550" cy="1733550"/>
          </a:xfrm>
          <a:prstGeom prst="rect">
            <a:avLst/>
          </a:prstGeom>
        </p:spPr>
      </p:pic>
      <p:pic>
        <p:nvPicPr>
          <p:cNvPr id="25" name="Picture 24">
            <a:extLst>
              <a:ext uri="{FF2B5EF4-FFF2-40B4-BE49-F238E27FC236}">
                <a16:creationId xmlns:a16="http://schemas.microsoft.com/office/drawing/2014/main" id="{8D371D1C-387E-BA5E-978E-5C0F8F2BE6A2}"/>
              </a:ext>
            </a:extLst>
          </p:cNvPr>
          <p:cNvPicPr>
            <a:picLocks noChangeAspect="1"/>
          </p:cNvPicPr>
          <p:nvPr/>
        </p:nvPicPr>
        <p:blipFill>
          <a:blip r:embed="rId3"/>
          <a:stretch>
            <a:fillRect/>
          </a:stretch>
        </p:blipFill>
        <p:spPr>
          <a:xfrm>
            <a:off x="6962213" y="3867508"/>
            <a:ext cx="1771897" cy="1181265"/>
          </a:xfrm>
          <a:prstGeom prst="rect">
            <a:avLst/>
          </a:prstGeom>
        </p:spPr>
      </p:pic>
      <p:grpSp>
        <p:nvGrpSpPr>
          <p:cNvPr id="26" name="Group 25">
            <a:extLst>
              <a:ext uri="{FF2B5EF4-FFF2-40B4-BE49-F238E27FC236}">
                <a16:creationId xmlns:a16="http://schemas.microsoft.com/office/drawing/2014/main" id="{8B8A18FE-DBC6-3451-A8AF-0475E269A77F}"/>
              </a:ext>
            </a:extLst>
          </p:cNvPr>
          <p:cNvGrpSpPr/>
          <p:nvPr/>
        </p:nvGrpSpPr>
        <p:grpSpPr>
          <a:xfrm>
            <a:off x="4468759" y="2317671"/>
            <a:ext cx="1782621" cy="2512607"/>
            <a:chOff x="4819525" y="1500416"/>
            <a:chExt cx="1782621" cy="2512607"/>
          </a:xfrm>
        </p:grpSpPr>
        <p:pic>
          <p:nvPicPr>
            <p:cNvPr id="27" name="Picture 26">
              <a:extLst>
                <a:ext uri="{FF2B5EF4-FFF2-40B4-BE49-F238E27FC236}">
                  <a16:creationId xmlns:a16="http://schemas.microsoft.com/office/drawing/2014/main" id="{17F2EF92-B484-4F50-CB05-4EE22B073CA9}"/>
                </a:ext>
              </a:extLst>
            </p:cNvPr>
            <p:cNvPicPr>
              <a:picLocks noChangeAspect="1"/>
            </p:cNvPicPr>
            <p:nvPr/>
          </p:nvPicPr>
          <p:blipFill>
            <a:blip r:embed="rId4"/>
            <a:stretch>
              <a:fillRect/>
            </a:stretch>
          </p:blipFill>
          <p:spPr>
            <a:xfrm>
              <a:off x="4819525" y="1500416"/>
              <a:ext cx="1625782" cy="2160000"/>
            </a:xfrm>
            <a:prstGeom prst="rect">
              <a:avLst/>
            </a:prstGeom>
          </p:spPr>
        </p:pic>
        <p:sp>
          <p:nvSpPr>
            <p:cNvPr id="28" name="TextBox 27">
              <a:extLst>
                <a:ext uri="{FF2B5EF4-FFF2-40B4-BE49-F238E27FC236}">
                  <a16:creationId xmlns:a16="http://schemas.microsoft.com/office/drawing/2014/main" id="{40B3BA29-402C-E5AA-E32E-356456DB9687}"/>
                </a:ext>
              </a:extLst>
            </p:cNvPr>
            <p:cNvSpPr txBox="1"/>
            <p:nvPr/>
          </p:nvSpPr>
          <p:spPr>
            <a:xfrm>
              <a:off x="5093137" y="3612913"/>
              <a:ext cx="1509009" cy="400110"/>
            </a:xfrm>
            <a:prstGeom prst="rect">
              <a:avLst/>
            </a:prstGeom>
            <a:noFill/>
          </p:spPr>
          <p:txBody>
            <a:bodyPr wrap="square" rtlCol="0">
              <a:spAutoFit/>
            </a:bodyPr>
            <a:lstStyle/>
            <a:p>
              <a:pPr algn="l"/>
              <a:r>
                <a:rPr lang="en-US" sz="2000" b="1">
                  <a:ln w="12700">
                    <a:solidFill>
                      <a:sysClr val="windowText" lastClr="000000"/>
                    </a:solidFill>
                  </a:ln>
                  <a:solidFill>
                    <a:schemeClr val="bg1"/>
                  </a:solidFill>
                  <a:latin typeface="+mj-lt"/>
                </a:rPr>
                <a:t>+PROMPT</a:t>
              </a:r>
            </a:p>
          </p:txBody>
        </p:sp>
      </p:grpSp>
      <p:sp>
        <p:nvSpPr>
          <p:cNvPr id="29" name="Arrow: Right 28">
            <a:extLst>
              <a:ext uri="{FF2B5EF4-FFF2-40B4-BE49-F238E27FC236}">
                <a16:creationId xmlns:a16="http://schemas.microsoft.com/office/drawing/2014/main" id="{0A7672DA-58DE-0DC8-BF13-C8687FDB054E}"/>
              </a:ext>
              <a:ext uri="{C183D7F6-B498-43B3-948B-1728B52AA6E4}">
                <adec:decorative xmlns:adec="http://schemas.microsoft.com/office/drawing/2017/decorative" val="1"/>
              </a:ext>
            </a:extLst>
          </p:cNvPr>
          <p:cNvSpPr/>
          <p:nvPr/>
        </p:nvSpPr>
        <p:spPr>
          <a:xfrm>
            <a:off x="9163329" y="3296644"/>
            <a:ext cx="518866" cy="257008"/>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pic>
        <p:nvPicPr>
          <p:cNvPr id="30" name="Picture 29">
            <a:extLst>
              <a:ext uri="{FF2B5EF4-FFF2-40B4-BE49-F238E27FC236}">
                <a16:creationId xmlns:a16="http://schemas.microsoft.com/office/drawing/2014/main" id="{882D7704-3113-57A2-1541-3CF408CB9ED9}"/>
              </a:ext>
            </a:extLst>
          </p:cNvPr>
          <p:cNvPicPr>
            <a:picLocks noChangeAspect="1"/>
          </p:cNvPicPr>
          <p:nvPr/>
        </p:nvPicPr>
        <p:blipFill rotWithShape="1">
          <a:blip r:embed="rId5"/>
          <a:srcRect l="40671" t="38204" r="28175" b="34848"/>
          <a:stretch/>
        </p:blipFill>
        <p:spPr>
          <a:xfrm>
            <a:off x="8700373" y="4803983"/>
            <a:ext cx="1800000" cy="1800000"/>
          </a:xfrm>
          <a:prstGeom prst="ellipse">
            <a:avLst/>
          </a:prstGeom>
        </p:spPr>
      </p:pic>
      <p:pic>
        <p:nvPicPr>
          <p:cNvPr id="31" name="Picture 30">
            <a:extLst>
              <a:ext uri="{FF2B5EF4-FFF2-40B4-BE49-F238E27FC236}">
                <a16:creationId xmlns:a16="http://schemas.microsoft.com/office/drawing/2014/main" id="{5EA1FA01-B279-3B9B-38CB-B1A1A9AA5A60}"/>
              </a:ext>
            </a:extLst>
          </p:cNvPr>
          <p:cNvPicPr>
            <a:picLocks noChangeAspect="1"/>
          </p:cNvPicPr>
          <p:nvPr/>
        </p:nvPicPr>
        <p:blipFill>
          <a:blip r:embed="rId5"/>
          <a:stretch>
            <a:fillRect/>
          </a:stretch>
        </p:blipFill>
        <p:spPr>
          <a:xfrm>
            <a:off x="9904521" y="2386445"/>
            <a:ext cx="1940842" cy="2243778"/>
          </a:xfrm>
          <a:prstGeom prst="rect">
            <a:avLst/>
          </a:prstGeom>
        </p:spPr>
      </p:pic>
      <p:cxnSp>
        <p:nvCxnSpPr>
          <p:cNvPr id="32" name="Straight Connector 31">
            <a:extLst>
              <a:ext uri="{FF2B5EF4-FFF2-40B4-BE49-F238E27FC236}">
                <a16:creationId xmlns:a16="http://schemas.microsoft.com/office/drawing/2014/main" id="{110A3F20-60D9-CA1F-2034-F7E414A58DEF}"/>
              </a:ext>
              <a:ext uri="{C183D7F6-B498-43B3-948B-1728B52AA6E4}">
                <adec:decorative xmlns:adec="http://schemas.microsoft.com/office/drawing/2017/decorative" val="1"/>
              </a:ext>
            </a:extLst>
          </p:cNvPr>
          <p:cNvCxnSpPr>
            <a:stCxn id="30" idx="7"/>
          </p:cNvCxnSpPr>
          <p:nvPr/>
        </p:nvCxnSpPr>
        <p:spPr>
          <a:xfrm flipV="1">
            <a:off x="10236769" y="3645024"/>
            <a:ext cx="755775" cy="1422563"/>
          </a:xfrm>
          <a:prstGeom prst="line">
            <a:avLst/>
          </a:prstGeom>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01ECA03-D03A-E2B0-A399-D4DCDDBFD56B}"/>
              </a:ext>
            </a:extLst>
          </p:cNvPr>
          <p:cNvSpPr txBox="1"/>
          <p:nvPr/>
        </p:nvSpPr>
        <p:spPr>
          <a:xfrm>
            <a:off x="10070074" y="1545505"/>
            <a:ext cx="1609736" cy="584775"/>
          </a:xfrm>
          <a:prstGeom prst="rect">
            <a:avLst/>
          </a:prstGeom>
          <a:noFill/>
        </p:spPr>
        <p:txBody>
          <a:bodyPr wrap="none" rtlCol="0">
            <a:spAutoFit/>
          </a:bodyPr>
          <a:lstStyle/>
          <a:p>
            <a:pPr algn="ctr"/>
            <a:r>
              <a:rPr lang="en-US" sz="1600">
                <a:latin typeface="+mj-lt"/>
              </a:rPr>
              <a:t>User-generated</a:t>
            </a:r>
          </a:p>
          <a:p>
            <a:pPr algn="ctr"/>
            <a:r>
              <a:rPr lang="en-US" sz="1600">
                <a:latin typeface="+mj-lt"/>
              </a:rPr>
              <a:t>drawing</a:t>
            </a:r>
          </a:p>
        </p:txBody>
      </p:sp>
      <p:sp>
        <p:nvSpPr>
          <p:cNvPr id="34" name="TextBox 33">
            <a:extLst>
              <a:ext uri="{FF2B5EF4-FFF2-40B4-BE49-F238E27FC236}">
                <a16:creationId xmlns:a16="http://schemas.microsoft.com/office/drawing/2014/main" id="{9B836771-27F1-A679-0FF0-4825259BF1E9}"/>
              </a:ext>
            </a:extLst>
          </p:cNvPr>
          <p:cNvSpPr txBox="1"/>
          <p:nvPr/>
        </p:nvSpPr>
        <p:spPr>
          <a:xfrm>
            <a:off x="6994854" y="1545506"/>
            <a:ext cx="1370888" cy="584775"/>
          </a:xfrm>
          <a:prstGeom prst="rect">
            <a:avLst/>
          </a:prstGeom>
          <a:noFill/>
        </p:spPr>
        <p:txBody>
          <a:bodyPr wrap="none" rtlCol="0">
            <a:spAutoFit/>
          </a:bodyPr>
          <a:lstStyle/>
          <a:p>
            <a:pPr algn="ctr"/>
            <a:r>
              <a:rPr lang="en-US" sz="1600">
                <a:latin typeface="+mj-lt"/>
              </a:rPr>
              <a:t>AI-generated</a:t>
            </a:r>
          </a:p>
          <a:p>
            <a:pPr algn="ctr"/>
            <a:r>
              <a:rPr lang="en-US" sz="1600">
                <a:latin typeface="+mj-lt"/>
              </a:rPr>
              <a:t>drawings</a:t>
            </a:r>
          </a:p>
        </p:txBody>
      </p:sp>
    </p:spTree>
    <p:extLst>
      <p:ext uri="{BB962C8B-B14F-4D97-AF65-F5344CB8AC3E}">
        <p14:creationId xmlns:p14="http://schemas.microsoft.com/office/powerpoint/2010/main" val="3124314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D1F6E-04D2-D850-3F6B-B7546807EC4C}"/>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A0CC3BC-D7D0-FFC4-105F-64493BAA8D26}"/>
              </a:ext>
            </a:extLst>
          </p:cNvPr>
          <p:cNvPicPr>
            <a:picLocks noChangeAspect="1"/>
          </p:cNvPicPr>
          <p:nvPr/>
        </p:nvPicPr>
        <p:blipFill>
          <a:blip r:embed="rId2"/>
          <a:stretch>
            <a:fillRect/>
          </a:stretch>
        </p:blipFill>
        <p:spPr>
          <a:xfrm>
            <a:off x="6715926" y="1687149"/>
            <a:ext cx="2755966" cy="1765426"/>
          </a:xfrm>
          <a:prstGeom prst="rect">
            <a:avLst/>
          </a:prstGeom>
        </p:spPr>
      </p:pic>
      <p:pic>
        <p:nvPicPr>
          <p:cNvPr id="14" name="Picture 13" descr="A drawing of a machine&#10;&#10;AI-generated content may be incorrect.">
            <a:extLst>
              <a:ext uri="{FF2B5EF4-FFF2-40B4-BE49-F238E27FC236}">
                <a16:creationId xmlns:a16="http://schemas.microsoft.com/office/drawing/2014/main" id="{931D32AA-5E5A-A9A9-C969-ECA845D5AF6E}"/>
              </a:ext>
            </a:extLst>
          </p:cNvPr>
          <p:cNvPicPr>
            <a:picLocks noChangeAspect="1"/>
          </p:cNvPicPr>
          <p:nvPr/>
        </p:nvPicPr>
        <p:blipFill>
          <a:blip r:embed="rId3">
            <a:extLst>
              <a:ext uri="{28A0092B-C50C-407E-A947-70E740481C1C}">
                <a14:useLocalDpi xmlns:a14="http://schemas.microsoft.com/office/drawing/2010/main" val="0"/>
              </a:ext>
            </a:extLst>
          </a:blip>
          <a:srcRect l="32281" t="4851" r="22241" b="14547"/>
          <a:stretch/>
        </p:blipFill>
        <p:spPr>
          <a:xfrm>
            <a:off x="8840108" y="3006359"/>
            <a:ext cx="2943904" cy="2934930"/>
          </a:xfrm>
          <a:prstGeom prst="rect">
            <a:avLst/>
          </a:prstGeom>
        </p:spPr>
      </p:pic>
      <p:sp>
        <p:nvSpPr>
          <p:cNvPr id="2" name="Title 1">
            <a:extLst>
              <a:ext uri="{FF2B5EF4-FFF2-40B4-BE49-F238E27FC236}">
                <a16:creationId xmlns:a16="http://schemas.microsoft.com/office/drawing/2014/main" id="{C16ABE34-741B-163E-68B4-71A28C1C6945}"/>
              </a:ext>
            </a:extLst>
          </p:cNvPr>
          <p:cNvSpPr>
            <a:spLocks noGrp="1"/>
          </p:cNvSpPr>
          <p:nvPr>
            <p:ph type="title"/>
          </p:nvPr>
        </p:nvSpPr>
        <p:spPr>
          <a:xfrm>
            <a:off x="407987" y="404813"/>
            <a:ext cx="11376026" cy="1079971"/>
          </a:xfrm>
        </p:spPr>
        <p:txBody>
          <a:bodyPr anchor="t">
            <a:normAutofit/>
          </a:bodyPr>
          <a:lstStyle/>
          <a:p>
            <a:r>
              <a:rPr lang="en-US"/>
              <a:t>4.1. Workflow (III)</a:t>
            </a:r>
            <a:br>
              <a:rPr lang="en-US"/>
            </a:br>
            <a:r>
              <a:rPr lang="en-US" sz="2400" b="0"/>
              <a:t>Generating code for a 3D illustration (Gemini &amp; Blender)</a:t>
            </a:r>
            <a:endParaRPr lang="en-US" sz="2400"/>
          </a:p>
        </p:txBody>
      </p:sp>
      <p:sp>
        <p:nvSpPr>
          <p:cNvPr id="7" name="Slide Number Placeholder 6">
            <a:extLst>
              <a:ext uri="{FF2B5EF4-FFF2-40B4-BE49-F238E27FC236}">
                <a16:creationId xmlns:a16="http://schemas.microsoft.com/office/drawing/2014/main" id="{611D4615-4B00-EE93-C8F7-0530C961165A}"/>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nchor="ctr">
            <a:normAutofit/>
          </a:bodyPr>
          <a:lstStyle/>
          <a:p>
            <a:pPr>
              <a:spcAft>
                <a:spcPts val="600"/>
              </a:spcAft>
            </a:pPr>
            <a:fld id="{D701140D-C14F-41CA-99FC-0EF83E8DA40A}" type="slidenum">
              <a:rPr lang="fi-FI" smtClean="0"/>
              <a:pPr>
                <a:spcAft>
                  <a:spcPts val="600"/>
                </a:spcAft>
              </a:pPr>
              <a:t>64</a:t>
            </a:fld>
            <a:endParaRPr lang="fi-FI"/>
          </a:p>
        </p:txBody>
      </p:sp>
      <p:sp>
        <p:nvSpPr>
          <p:cNvPr id="3" name="Date Placeholder 2">
            <a:extLst>
              <a:ext uri="{FF2B5EF4-FFF2-40B4-BE49-F238E27FC236}">
                <a16:creationId xmlns:a16="http://schemas.microsoft.com/office/drawing/2014/main" id="{0F739E90-52A7-91E2-0DFF-3B0D083A05C6}"/>
              </a:ext>
            </a:extLst>
          </p:cNvPr>
          <p:cNvSpPr>
            <a:spLocks noGrp="1"/>
          </p:cNvSpPr>
          <p:nvPr>
            <p:ph type="dt" sz="half" idx="13"/>
          </p:nvPr>
        </p:nvSpPr>
        <p:spPr/>
        <p:txBody>
          <a:bodyPr/>
          <a:lstStyle/>
          <a:p>
            <a:r>
              <a:rPr lang="fi-FI"/>
              <a:t>28.04.2026</a:t>
            </a:r>
          </a:p>
        </p:txBody>
      </p:sp>
      <p:sp>
        <p:nvSpPr>
          <p:cNvPr id="18" name="TextBox 17">
            <a:extLst>
              <a:ext uri="{FF2B5EF4-FFF2-40B4-BE49-F238E27FC236}">
                <a16:creationId xmlns:a16="http://schemas.microsoft.com/office/drawing/2014/main" id="{4C889122-B2B0-F028-56C0-C0166B40C291}"/>
              </a:ext>
            </a:extLst>
          </p:cNvPr>
          <p:cNvSpPr txBox="1"/>
          <p:nvPr/>
        </p:nvSpPr>
        <p:spPr>
          <a:xfrm>
            <a:off x="372406" y="3829045"/>
            <a:ext cx="5725302" cy="20313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1400"/>
              <a:t>I've attached a picture of my experimental setup. I want you to make a </a:t>
            </a:r>
            <a:r>
              <a:rPr lang="en-US" sz="1400" b="1"/>
              <a:t>script for Blender </a:t>
            </a:r>
            <a:r>
              <a:rPr lang="en-US" sz="1400"/>
              <a:t>that generates a scientific diagram, use </a:t>
            </a:r>
            <a:r>
              <a:rPr lang="en-US" sz="1400" b="1"/>
              <a:t>color-blind safe colors </a:t>
            </a:r>
            <a:r>
              <a:rPr lang="en-US" sz="1400"/>
              <a:t>and </a:t>
            </a:r>
            <a:r>
              <a:rPr lang="en-US" sz="1400" b="1"/>
              <a:t>freestyle stroke</a:t>
            </a:r>
            <a:r>
              <a:rPr lang="en-US" sz="1400"/>
              <a:t>. My picture is a photo so it has many elements that are not needed. In the center top it has the solar simulator, the calibrator system is in the center and being illuminated, and in the right top there's the thermal camera and in the right there's the screen showing the image of the thermal camera. Be extra careful to make sure the code does run on </a:t>
            </a:r>
            <a:r>
              <a:rPr lang="en-US" sz="1400" b="1"/>
              <a:t>Blender 4.5</a:t>
            </a:r>
            <a:r>
              <a:rPr lang="en-US" sz="1400"/>
              <a:t>, so don't use deprecated code.</a:t>
            </a:r>
            <a:endParaRPr lang="en-US" sz="1400">
              <a:latin typeface="+mj-lt"/>
            </a:endParaRPr>
          </a:p>
        </p:txBody>
      </p:sp>
      <p:pic>
        <p:nvPicPr>
          <p:cNvPr id="3076" name="Picture 4" descr="Uploaded image">
            <a:extLst>
              <a:ext uri="{FF2B5EF4-FFF2-40B4-BE49-F238E27FC236}">
                <a16:creationId xmlns:a16="http://schemas.microsoft.com/office/drawing/2014/main" id="{8CEB89C3-D4FE-B1DA-2E02-994AAD45C1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8008" y="4064535"/>
            <a:ext cx="1053028" cy="1577350"/>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Right 9">
            <a:extLst>
              <a:ext uri="{FF2B5EF4-FFF2-40B4-BE49-F238E27FC236}">
                <a16:creationId xmlns:a16="http://schemas.microsoft.com/office/drawing/2014/main" id="{EBE433AD-BCBA-6BAA-9793-DE0D0C8E1A01}"/>
              </a:ext>
              <a:ext uri="{C183D7F6-B498-43B3-948B-1728B52AA6E4}">
                <adec:decorative xmlns:adec="http://schemas.microsoft.com/office/drawing/2017/decorative" val="1"/>
              </a:ext>
            </a:extLst>
          </p:cNvPr>
          <p:cNvSpPr/>
          <p:nvPr/>
        </p:nvSpPr>
        <p:spPr>
          <a:xfrm rot="18900000">
            <a:off x="5439647" y="2978721"/>
            <a:ext cx="1269635" cy="355235"/>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11" name="Arrow: Right 10">
            <a:extLst>
              <a:ext uri="{FF2B5EF4-FFF2-40B4-BE49-F238E27FC236}">
                <a16:creationId xmlns:a16="http://schemas.microsoft.com/office/drawing/2014/main" id="{39FB9958-1061-DAC4-23A3-4CF4FDF5CF74}"/>
              </a:ext>
              <a:ext uri="{C183D7F6-B498-43B3-948B-1728B52AA6E4}">
                <adec:decorative xmlns:adec="http://schemas.microsoft.com/office/drawing/2017/decorative" val="1"/>
              </a:ext>
            </a:extLst>
          </p:cNvPr>
          <p:cNvSpPr/>
          <p:nvPr/>
        </p:nvSpPr>
        <p:spPr>
          <a:xfrm rot="2700000">
            <a:off x="9031994" y="2332448"/>
            <a:ext cx="1269635" cy="355235"/>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latin typeface="+mj-lt"/>
            </a:endParaRPr>
          </a:p>
        </p:txBody>
      </p:sp>
      <p:sp>
        <p:nvSpPr>
          <p:cNvPr id="12" name="TextBox 11">
            <a:extLst>
              <a:ext uri="{FF2B5EF4-FFF2-40B4-BE49-F238E27FC236}">
                <a16:creationId xmlns:a16="http://schemas.microsoft.com/office/drawing/2014/main" id="{8E1F61E1-3F91-7181-B0A0-DABFE0E15227}"/>
              </a:ext>
            </a:extLst>
          </p:cNvPr>
          <p:cNvSpPr txBox="1"/>
          <p:nvPr/>
        </p:nvSpPr>
        <p:spPr>
          <a:xfrm>
            <a:off x="5227050" y="2527649"/>
            <a:ext cx="1040670" cy="584775"/>
          </a:xfrm>
          <a:prstGeom prst="rect">
            <a:avLst/>
          </a:prstGeom>
          <a:noFill/>
        </p:spPr>
        <p:txBody>
          <a:bodyPr wrap="none" rtlCol="0">
            <a:spAutoFit/>
          </a:bodyPr>
          <a:lstStyle/>
          <a:p>
            <a:pPr algn="l"/>
            <a:r>
              <a:rPr lang="en-US" sz="1600">
                <a:latin typeface="+mj-lt"/>
              </a:rPr>
              <a:t>Generate</a:t>
            </a:r>
          </a:p>
          <a:p>
            <a:pPr algn="ctr"/>
            <a:r>
              <a:rPr lang="en-US" sz="1600">
                <a:latin typeface="+mj-lt"/>
              </a:rPr>
              <a:t>code</a:t>
            </a:r>
          </a:p>
        </p:txBody>
      </p:sp>
      <p:sp>
        <p:nvSpPr>
          <p:cNvPr id="13" name="TextBox 12">
            <a:extLst>
              <a:ext uri="{FF2B5EF4-FFF2-40B4-BE49-F238E27FC236}">
                <a16:creationId xmlns:a16="http://schemas.microsoft.com/office/drawing/2014/main" id="{6B9BD515-F329-0888-1B6C-517142FF3384}"/>
              </a:ext>
            </a:extLst>
          </p:cNvPr>
          <p:cNvSpPr txBox="1"/>
          <p:nvPr/>
        </p:nvSpPr>
        <p:spPr>
          <a:xfrm>
            <a:off x="9793814" y="2108198"/>
            <a:ext cx="1471878" cy="338554"/>
          </a:xfrm>
          <a:prstGeom prst="rect">
            <a:avLst/>
          </a:prstGeom>
          <a:noFill/>
        </p:spPr>
        <p:txBody>
          <a:bodyPr wrap="none" rtlCol="0">
            <a:spAutoFit/>
          </a:bodyPr>
          <a:lstStyle/>
          <a:p>
            <a:pPr algn="l"/>
            <a:r>
              <a:rPr lang="en-US" sz="1600">
                <a:latin typeface="+mj-lt"/>
              </a:rPr>
              <a:t>Render image</a:t>
            </a:r>
          </a:p>
        </p:txBody>
      </p:sp>
      <p:sp>
        <p:nvSpPr>
          <p:cNvPr id="5" name="Text Placeholder 2">
            <a:extLst>
              <a:ext uri="{FF2B5EF4-FFF2-40B4-BE49-F238E27FC236}">
                <a16:creationId xmlns:a16="http://schemas.microsoft.com/office/drawing/2014/main" id="{FCAA6BA8-A530-B073-9F0D-BAE5AE7EEBA5}"/>
              </a:ext>
            </a:extLst>
          </p:cNvPr>
          <p:cNvSpPr>
            <a:spLocks noGrp="1"/>
          </p:cNvSpPr>
          <p:nvPr>
            <p:ph sz="half" idx="1"/>
          </p:nvPr>
        </p:nvSpPr>
        <p:spPr>
          <a:xfrm>
            <a:off x="407988" y="1847533"/>
            <a:ext cx="4967932" cy="3671887"/>
          </a:xfrm>
        </p:spPr>
        <p:txBody>
          <a:bodyPr/>
          <a:lstStyle/>
          <a:p>
            <a:r>
              <a:rPr lang="en-US" sz="1400" b="1"/>
              <a:t>Key ideas</a:t>
            </a:r>
            <a:r>
              <a:rPr lang="en-US" sz="1400"/>
              <a:t>:</a:t>
            </a:r>
          </a:p>
          <a:p>
            <a:pPr marL="342900" indent="-342900">
              <a:buFont typeface="+mj-lt"/>
              <a:buAutoNum type="arabicPeriod"/>
            </a:pPr>
            <a:r>
              <a:rPr lang="en-US" sz="1400"/>
              <a:t>ChatGPT can generate Python scripts for Blender</a:t>
            </a:r>
          </a:p>
          <a:p>
            <a:pPr marL="342900" indent="-342900">
              <a:buFont typeface="+mj-lt"/>
              <a:buAutoNum type="arabicPeriod"/>
            </a:pPr>
            <a:r>
              <a:rPr lang="en-US" sz="1400"/>
              <a:t>Instead of images, ask for code to define shapes, structures, or physical setups (it can also read your data)</a:t>
            </a:r>
          </a:p>
          <a:p>
            <a:pPr marL="342900" indent="-342900">
              <a:buFont typeface="+mj-lt"/>
              <a:buAutoNum type="arabicPeriod"/>
            </a:pPr>
            <a:r>
              <a:rPr lang="en-US" sz="1400"/>
              <a:t>The code can be run in Blender’s scripting panel</a:t>
            </a:r>
          </a:p>
          <a:p>
            <a:pPr marL="342900" indent="-342900">
              <a:buFont typeface="+mj-lt"/>
              <a:buAutoNum type="arabicPeriod"/>
            </a:pPr>
            <a:r>
              <a:rPr lang="en-US" sz="1400"/>
              <a:t>You can then modify, change the texture, and render everything</a:t>
            </a:r>
          </a:p>
          <a:p>
            <a:pPr marL="342900" indent="-342900">
              <a:buFont typeface="+mj-lt"/>
              <a:buAutoNum type="arabicPeriod"/>
            </a:pPr>
            <a:endParaRPr lang="en-US" sz="1400"/>
          </a:p>
        </p:txBody>
      </p:sp>
      <p:sp>
        <p:nvSpPr>
          <p:cNvPr id="4" name="Footer Placeholder 3">
            <a:extLst>
              <a:ext uri="{FF2B5EF4-FFF2-40B4-BE49-F238E27FC236}">
                <a16:creationId xmlns:a16="http://schemas.microsoft.com/office/drawing/2014/main" id="{FF54FF10-8021-6501-705B-564FF18CF438}"/>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7129141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9553C-0FB9-F36D-2733-7CC4AFE011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A79A96-CC9D-F47C-D6D4-F9796C8F1AFB}"/>
              </a:ext>
            </a:extLst>
          </p:cNvPr>
          <p:cNvSpPr>
            <a:spLocks noGrp="1"/>
          </p:cNvSpPr>
          <p:nvPr>
            <p:ph type="sldNum" sz="quarter" idx="12"/>
          </p:nvPr>
        </p:nvSpPr>
        <p:spPr/>
        <p:txBody>
          <a:bodyPr/>
          <a:lstStyle/>
          <a:p>
            <a:fld id="{D701140D-C14F-41CA-99FC-0EF83E8DA40A}" type="slidenum">
              <a:rPr lang="fi-FI" smtClean="0"/>
              <a:pPr/>
              <a:t>65</a:t>
            </a:fld>
            <a:endParaRPr lang="fi-FI"/>
          </a:p>
        </p:txBody>
      </p:sp>
      <p:sp>
        <p:nvSpPr>
          <p:cNvPr id="3" name="Title 2">
            <a:extLst>
              <a:ext uri="{FF2B5EF4-FFF2-40B4-BE49-F238E27FC236}">
                <a16:creationId xmlns:a16="http://schemas.microsoft.com/office/drawing/2014/main" id="{1629FC17-9397-534B-217F-54CEDEA739D3}"/>
              </a:ext>
            </a:extLst>
          </p:cNvPr>
          <p:cNvSpPr>
            <a:spLocks noGrp="1"/>
          </p:cNvSpPr>
          <p:nvPr>
            <p:ph type="ctrTitle"/>
          </p:nvPr>
        </p:nvSpPr>
        <p:spPr/>
        <p:txBody>
          <a:bodyPr/>
          <a:lstStyle/>
          <a:p>
            <a:r>
              <a:rPr lang="en-FI"/>
              <a:t>4.2 Other AI tools</a:t>
            </a:r>
          </a:p>
        </p:txBody>
      </p:sp>
      <p:sp>
        <p:nvSpPr>
          <p:cNvPr id="4" name="Date Placeholder 3">
            <a:extLst>
              <a:ext uri="{FF2B5EF4-FFF2-40B4-BE49-F238E27FC236}">
                <a16:creationId xmlns:a16="http://schemas.microsoft.com/office/drawing/2014/main" id="{A71E6F4C-B107-44B6-9340-7EED09BDEE70}"/>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77B565DD-9D5F-309F-4D61-AED30F36031C}"/>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5377890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87B06-B214-9A28-7B2C-33E2C856EE84}"/>
              </a:ext>
            </a:extLst>
          </p:cNvPr>
          <p:cNvSpPr>
            <a:spLocks noGrp="1"/>
          </p:cNvSpPr>
          <p:nvPr>
            <p:ph type="title"/>
          </p:nvPr>
        </p:nvSpPr>
        <p:spPr/>
        <p:txBody>
          <a:bodyPr/>
          <a:lstStyle/>
          <a:p>
            <a:r>
              <a:rPr lang="en-US"/>
              <a:t>4.2. Other AI tools - </a:t>
            </a:r>
            <a:r>
              <a:rPr lang="en-GB" sz="3200" b="1" u="none" strike="noStrike">
                <a:effectLst/>
              </a:rPr>
              <a:t>General Purpose Tools</a:t>
            </a:r>
            <a:br>
              <a:rPr lang="en-GB" sz="3200" b="1" i="0" u="none" strike="noStrike">
                <a:solidFill>
                  <a:srgbClr val="000000"/>
                </a:solidFill>
                <a:effectLst/>
                <a:latin typeface="Aptos Narrow" panose="020B0004020202020204" pitchFamily="34" charset="0"/>
              </a:rPr>
            </a:br>
            <a:endParaRPr lang="en-US"/>
          </a:p>
        </p:txBody>
      </p:sp>
      <p:sp>
        <p:nvSpPr>
          <p:cNvPr id="7" name="Slide Number Placeholder 6">
            <a:extLst>
              <a:ext uri="{FF2B5EF4-FFF2-40B4-BE49-F238E27FC236}">
                <a16:creationId xmlns:a16="http://schemas.microsoft.com/office/drawing/2014/main" id="{95A812F2-39EC-68AA-6413-D68E0FF2F25D}"/>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66</a:t>
            </a:fld>
            <a:endParaRPr lang="fi-FI"/>
          </a:p>
        </p:txBody>
      </p:sp>
      <p:graphicFrame>
        <p:nvGraphicFramePr>
          <p:cNvPr id="4" name="Table 3">
            <a:extLst>
              <a:ext uri="{FF2B5EF4-FFF2-40B4-BE49-F238E27FC236}">
                <a16:creationId xmlns:a16="http://schemas.microsoft.com/office/drawing/2014/main" id="{AB9AE177-60B8-73DF-F369-0BFC6783E1E5}"/>
              </a:ext>
            </a:extLst>
          </p:cNvPr>
          <p:cNvGraphicFramePr>
            <a:graphicFrameLocks noGrp="1"/>
          </p:cNvGraphicFramePr>
          <p:nvPr/>
        </p:nvGraphicFramePr>
        <p:xfrm>
          <a:off x="857250" y="867725"/>
          <a:ext cx="10495334" cy="4412471"/>
        </p:xfrm>
        <a:graphic>
          <a:graphicData uri="http://schemas.openxmlformats.org/drawingml/2006/table">
            <a:tbl>
              <a:tblPr>
                <a:tableStyleId>{5C22544A-7EE6-4342-B048-85BDC9FD1C3A}</a:tableStyleId>
              </a:tblPr>
              <a:tblGrid>
                <a:gridCol w="4143746">
                  <a:extLst>
                    <a:ext uri="{9D8B030D-6E8A-4147-A177-3AD203B41FA5}">
                      <a16:colId xmlns:a16="http://schemas.microsoft.com/office/drawing/2014/main" val="2232526414"/>
                    </a:ext>
                  </a:extLst>
                </a:gridCol>
                <a:gridCol w="3943035">
                  <a:extLst>
                    <a:ext uri="{9D8B030D-6E8A-4147-A177-3AD203B41FA5}">
                      <a16:colId xmlns:a16="http://schemas.microsoft.com/office/drawing/2014/main" val="217127192"/>
                    </a:ext>
                  </a:extLst>
                </a:gridCol>
                <a:gridCol w="2408553">
                  <a:extLst>
                    <a:ext uri="{9D8B030D-6E8A-4147-A177-3AD203B41FA5}">
                      <a16:colId xmlns:a16="http://schemas.microsoft.com/office/drawing/2014/main" val="2363981855"/>
                    </a:ext>
                  </a:extLst>
                </a:gridCol>
              </a:tblGrid>
              <a:tr h="868507">
                <a:tc>
                  <a:txBody>
                    <a:bodyPr/>
                    <a:lstStyle/>
                    <a:p>
                      <a:pPr algn="l" fontAlgn="b"/>
                      <a:r>
                        <a:rPr lang="en-GB" sz="2200" b="1" i="1" u="none" strike="noStrike">
                          <a:effectLst/>
                        </a:rPr>
                        <a:t>Try the ones in bold!</a:t>
                      </a:r>
                    </a:p>
                    <a:p>
                      <a:pPr algn="l" fontAlgn="b"/>
                      <a:endParaRPr lang="en-GB" sz="2200" b="1" i="1" u="none" strike="noStrike">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FI" sz="2000" b="0" i="0" u="none" strike="noStrike">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FI" sz="2000" b="0" i="0" u="none" strike="noStrike">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5779261"/>
                  </a:ext>
                </a:extLst>
              </a:tr>
              <a:tr h="315373">
                <a:tc>
                  <a:txBody>
                    <a:bodyPr/>
                    <a:lstStyle/>
                    <a:p>
                      <a:pPr algn="l" fontAlgn="b"/>
                      <a:r>
                        <a:rPr lang="en-GB" sz="2000" b="1" u="sng" strike="noStrike">
                          <a:effectLst/>
                          <a:hlinkClick r:id="rId2"/>
                        </a:rPr>
                        <a:t>ChatGPT</a:t>
                      </a:r>
                      <a:endParaRPr lang="en-GB" sz="2000" b="1"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3"/>
                        </a:rPr>
                        <a:t>Vicuna-13B</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4"/>
                        </a:rPr>
                        <a:t>Pi, Inflection AI</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2659244"/>
                  </a:ext>
                </a:extLst>
              </a:tr>
              <a:tr h="554449">
                <a:tc>
                  <a:txBody>
                    <a:bodyPr/>
                    <a:lstStyle/>
                    <a:p>
                      <a:pPr algn="l" fontAlgn="b"/>
                      <a:r>
                        <a:rPr lang="en-GB" sz="2000" u="sng" strike="noStrike">
                          <a:effectLst/>
                          <a:hlinkClick r:id="rId5"/>
                        </a:rPr>
                        <a:t>ChatGPT Edu</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6"/>
                        </a:rPr>
                        <a:t>Polymathic AI</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7"/>
                        </a:rPr>
                        <a:t>Apple Intelligence</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0395619"/>
                  </a:ext>
                </a:extLst>
              </a:tr>
              <a:tr h="554449">
                <a:tc>
                  <a:txBody>
                    <a:bodyPr/>
                    <a:lstStyle/>
                    <a:p>
                      <a:pPr algn="l" fontAlgn="b"/>
                      <a:r>
                        <a:rPr lang="en-GB" sz="2000" u="sng" strike="noStrike">
                          <a:effectLst/>
                          <a:hlinkClick r:id="rId8"/>
                        </a:rPr>
                        <a:t>Microsoft Azure OpenAI Service</a:t>
                      </a:r>
                      <a:r>
                        <a:rPr lang="en-GB" sz="2000" u="sng" strike="noStrike">
                          <a:effectLst/>
                        </a:rPr>
                        <a:t>*</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9"/>
                        </a:rPr>
                        <a:t>GoblinTools</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10"/>
                        </a:rPr>
                        <a:t>Amazon Titan</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5322530"/>
                  </a:ext>
                </a:extLst>
              </a:tr>
              <a:tr h="315373">
                <a:tc>
                  <a:txBody>
                    <a:bodyPr/>
                    <a:lstStyle/>
                    <a:p>
                      <a:pPr algn="l" fontAlgn="b"/>
                      <a:r>
                        <a:rPr lang="en-GB" sz="2000" u="sng" strike="noStrike">
                          <a:effectLst/>
                          <a:hlinkClick r:id="rId11"/>
                        </a:rPr>
                        <a:t>(Microsoft) Copilot</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12"/>
                        </a:rPr>
                        <a:t>Poe, Quora</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13"/>
                        </a:rPr>
                        <a:t>Amazon Bedrock</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9218506"/>
                  </a:ext>
                </a:extLst>
              </a:tr>
              <a:tr h="315373">
                <a:tc>
                  <a:txBody>
                    <a:bodyPr/>
                    <a:lstStyle/>
                    <a:p>
                      <a:pPr algn="l" fontAlgn="b"/>
                      <a:r>
                        <a:rPr lang="en-GB" sz="2000" u="sng" strike="noStrike">
                          <a:effectLst/>
                          <a:hlinkClick r:id="rId14"/>
                        </a:rPr>
                        <a:t>Copilot for Microsoft 365</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15"/>
                        </a:rPr>
                        <a:t>Starling-7B</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16"/>
                        </a:rPr>
                        <a:t>Merlin AI</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34631974"/>
                  </a:ext>
                </a:extLst>
              </a:tr>
              <a:tr h="554449">
                <a:tc>
                  <a:txBody>
                    <a:bodyPr/>
                    <a:lstStyle/>
                    <a:p>
                      <a:pPr algn="l" fontAlgn="b"/>
                      <a:r>
                        <a:rPr lang="en-GB" sz="2000" u="sng" strike="noStrike">
                          <a:effectLst/>
                          <a:hlinkClick r:id="rId17"/>
                        </a:rPr>
                        <a:t>Google Gemini (formerly Bard)</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b="1" u="sng" strike="noStrike">
                          <a:effectLst/>
                          <a:hlinkClick r:id="rId18"/>
                        </a:rPr>
                        <a:t>HuggingChat, Hugging Face</a:t>
                      </a:r>
                      <a:endParaRPr lang="en-GB" sz="2000" b="1"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19"/>
                        </a:rPr>
                        <a:t>Writer AI </a:t>
                      </a:r>
                      <a:r>
                        <a:rPr lang="en-GB" sz="2000" u="sng" strike="noStrike">
                          <a:effectLst/>
                        </a:rPr>
                        <a:t> </a:t>
                      </a: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4557635"/>
                  </a:ext>
                </a:extLst>
              </a:tr>
              <a:tr h="619125">
                <a:tc>
                  <a:txBody>
                    <a:bodyPr/>
                    <a:lstStyle/>
                    <a:p>
                      <a:pPr algn="l" fontAlgn="b"/>
                      <a:r>
                        <a:rPr lang="en-GB" sz="2000" u="sng" strike="noStrike">
                          <a:effectLst/>
                          <a:hlinkClick r:id="rId20"/>
                        </a:rPr>
                        <a:t>Claude, Anthropic</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b="1" u="sng" strike="noStrike">
                          <a:effectLst/>
                          <a:hlinkClick r:id="rId21"/>
                        </a:rPr>
                        <a:t>OLMo-7B, Allen Institute for AI</a:t>
                      </a:r>
                      <a:endParaRPr lang="en-GB" sz="2000" b="1"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GB" sz="2000" b="0" i="0" u="none" strike="noStrike">
                          <a:solidFill>
                            <a:srgbClr val="000000"/>
                          </a:solidFill>
                          <a:effectLst/>
                          <a:latin typeface="Aptos Narrow" panose="020B0004020202020204" pitchFamily="34" charset="0"/>
                          <a:hlinkClick r:id="rId22"/>
                        </a:rPr>
                        <a:t>You.com</a:t>
                      </a:r>
                      <a:endParaRPr lang="en-FI" sz="2000" b="0" i="0" u="none" strike="noStrike">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32832553"/>
                  </a:ext>
                </a:extLst>
              </a:tr>
              <a:tr h="315373">
                <a:tc>
                  <a:txBody>
                    <a:bodyPr/>
                    <a:lstStyle/>
                    <a:p>
                      <a:pPr algn="l" fontAlgn="b"/>
                      <a:r>
                        <a:rPr lang="en-GB" sz="2000" u="sng" strike="noStrike">
                          <a:effectLst/>
                          <a:hlinkClick r:id="rId23"/>
                        </a:rPr>
                        <a:t>Meta AI</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fontAlgn="b"/>
                      <a:r>
                        <a:rPr lang="en-GB" sz="2000" u="sng" strike="noStrike">
                          <a:effectLst/>
                          <a:hlinkClick r:id="rId24"/>
                        </a:rPr>
                        <a:t>Mistral AI</a:t>
                      </a:r>
                      <a:endParaRPr lang="en-GB" sz="2000" b="0" i="0" u="sng" strike="noStrike">
                        <a:solidFill>
                          <a:srgbClr val="467886"/>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fontAlgn="b"/>
                      <a:endParaRPr lang="en-FI" sz="2000" b="0" i="0" u="none" strike="noStrike">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69181099"/>
                  </a:ext>
                </a:extLst>
              </a:tr>
            </a:tbl>
          </a:graphicData>
        </a:graphic>
      </p:graphicFrame>
      <p:sp>
        <p:nvSpPr>
          <p:cNvPr id="5" name="TextBox 4">
            <a:extLst>
              <a:ext uri="{FF2B5EF4-FFF2-40B4-BE49-F238E27FC236}">
                <a16:creationId xmlns:a16="http://schemas.microsoft.com/office/drawing/2014/main" id="{D82198DE-64D6-AC4E-AEB8-771435AC4AF2}"/>
              </a:ext>
            </a:extLst>
          </p:cNvPr>
          <p:cNvSpPr txBox="1"/>
          <p:nvPr/>
        </p:nvSpPr>
        <p:spPr>
          <a:xfrm>
            <a:off x="800098" y="5543558"/>
            <a:ext cx="8686800" cy="584775"/>
          </a:xfrm>
          <a:prstGeom prst="rect">
            <a:avLst/>
          </a:prstGeom>
          <a:noFill/>
        </p:spPr>
        <p:txBody>
          <a:bodyPr wrap="square" rtlCol="0">
            <a:spAutoFit/>
          </a:bodyPr>
          <a:lstStyle/>
          <a:p>
            <a:pPr algn="l"/>
            <a:r>
              <a:rPr lang="en-FI" sz="1600" b="1">
                <a:latin typeface="+mj-lt"/>
              </a:rPr>
              <a:t>Note: In the context of academic research, these should be used only with </a:t>
            </a:r>
            <a:r>
              <a:rPr lang="en-FI" sz="1600" b="1">
                <a:solidFill>
                  <a:srgbClr val="00B050"/>
                </a:solidFill>
                <a:latin typeface="+mj-lt"/>
              </a:rPr>
              <a:t>public data</a:t>
            </a:r>
          </a:p>
          <a:p>
            <a:pPr algn="l"/>
            <a:r>
              <a:rPr lang="en-FI" sz="1600" b="1">
                <a:latin typeface="+mj-lt"/>
              </a:rPr>
              <a:t>*) At Aalto University, this can also be used with </a:t>
            </a:r>
            <a:r>
              <a:rPr lang="en-FI" sz="1600" b="1">
                <a:solidFill>
                  <a:srgbClr val="ED7D31"/>
                </a:solidFill>
                <a:latin typeface="+mj-lt"/>
              </a:rPr>
              <a:t>internal</a:t>
            </a:r>
            <a:r>
              <a:rPr lang="en-FI" sz="1600" b="1">
                <a:latin typeface="+mj-lt"/>
              </a:rPr>
              <a:t> or </a:t>
            </a:r>
            <a:r>
              <a:rPr lang="en-FI" sz="1600" b="1">
                <a:solidFill>
                  <a:srgbClr val="FF0000"/>
                </a:solidFill>
                <a:latin typeface="+mj-lt"/>
              </a:rPr>
              <a:t>confidential data</a:t>
            </a:r>
          </a:p>
        </p:txBody>
      </p:sp>
      <p:sp>
        <p:nvSpPr>
          <p:cNvPr id="9" name="TextBox 8">
            <a:extLst>
              <a:ext uri="{FF2B5EF4-FFF2-40B4-BE49-F238E27FC236}">
                <a16:creationId xmlns:a16="http://schemas.microsoft.com/office/drawing/2014/main" id="{06393AAB-2440-C0DF-2901-B92DEF6AFADD}"/>
              </a:ext>
            </a:extLst>
          </p:cNvPr>
          <p:cNvSpPr txBox="1"/>
          <p:nvPr/>
        </p:nvSpPr>
        <p:spPr>
          <a:xfrm>
            <a:off x="10115550" y="5443538"/>
            <a:ext cx="1668462" cy="584775"/>
          </a:xfrm>
          <a:prstGeom prst="rect">
            <a:avLst/>
          </a:prstGeom>
          <a:noFill/>
        </p:spPr>
        <p:txBody>
          <a:bodyPr wrap="square" rtlCol="0">
            <a:spAutoFit/>
          </a:bodyPr>
          <a:lstStyle/>
          <a:p>
            <a:pPr algn="l"/>
            <a:r>
              <a:rPr lang="en-FI" sz="1600">
                <a:latin typeface="+mj-lt"/>
                <a:hlinkClick r:id="rId25"/>
              </a:rPr>
              <a:t>Source: </a:t>
            </a:r>
            <a:br>
              <a:rPr lang="en-FI" sz="1600">
                <a:latin typeface="+mj-lt"/>
                <a:hlinkClick r:id="rId25"/>
              </a:rPr>
            </a:br>
            <a:r>
              <a:rPr lang="en-FI" sz="1600">
                <a:latin typeface="+mj-lt"/>
                <a:hlinkClick r:id="rId25"/>
              </a:rPr>
              <a:t>ITHAKA SR</a:t>
            </a:r>
            <a:endParaRPr lang="en-FI" sz="1600">
              <a:latin typeface="+mj-lt"/>
            </a:endParaRPr>
          </a:p>
        </p:txBody>
      </p:sp>
      <p:sp>
        <p:nvSpPr>
          <p:cNvPr id="3" name="Date Placeholder 2">
            <a:extLst>
              <a:ext uri="{FF2B5EF4-FFF2-40B4-BE49-F238E27FC236}">
                <a16:creationId xmlns:a16="http://schemas.microsoft.com/office/drawing/2014/main" id="{4ABC2A98-9526-4D10-243C-A0EEBD102716}"/>
              </a:ext>
            </a:extLst>
          </p:cNvPr>
          <p:cNvSpPr>
            <a:spLocks noGrp="1"/>
          </p:cNvSpPr>
          <p:nvPr>
            <p:ph type="dt" sz="half" idx="14"/>
          </p:nvPr>
        </p:nvSpPr>
        <p:spPr/>
        <p:txBody>
          <a:bodyPr/>
          <a:lstStyle/>
          <a:p>
            <a:r>
              <a:rPr lang="fi-FI"/>
              <a:t>28.04.2026</a:t>
            </a:r>
          </a:p>
        </p:txBody>
      </p:sp>
      <p:sp>
        <p:nvSpPr>
          <p:cNvPr id="6" name="Footer Placeholder 5">
            <a:extLst>
              <a:ext uri="{FF2B5EF4-FFF2-40B4-BE49-F238E27FC236}">
                <a16:creationId xmlns:a16="http://schemas.microsoft.com/office/drawing/2014/main" id="{709901A4-E29D-34DE-B948-F8E7DC47B889}"/>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366558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565F9-87DB-357D-2C6C-3B977F189E67}"/>
              </a:ext>
            </a:extLst>
          </p:cNvPr>
          <p:cNvSpPr>
            <a:spLocks noGrp="1"/>
          </p:cNvSpPr>
          <p:nvPr>
            <p:ph type="title"/>
          </p:nvPr>
        </p:nvSpPr>
        <p:spPr/>
        <p:txBody>
          <a:bodyPr/>
          <a:lstStyle/>
          <a:p>
            <a:r>
              <a:rPr lang="en-US"/>
              <a:t>4.2. Other AI tools - </a:t>
            </a:r>
            <a:r>
              <a:rPr lang="en-GB" sz="3200" b="1" u="none" strike="noStrike">
                <a:effectLst/>
              </a:rPr>
              <a:t>General Purpose Tools </a:t>
            </a:r>
            <a:br>
              <a:rPr lang="en-GB" sz="3200" b="1" u="none" strike="noStrike">
                <a:effectLst/>
              </a:rPr>
            </a:br>
            <a:r>
              <a:rPr lang="en-US"/>
              <a:t>ChatGPT features</a:t>
            </a:r>
          </a:p>
        </p:txBody>
      </p:sp>
      <p:sp>
        <p:nvSpPr>
          <p:cNvPr id="6" name="Text Placeholder 5">
            <a:extLst>
              <a:ext uri="{FF2B5EF4-FFF2-40B4-BE49-F238E27FC236}">
                <a16:creationId xmlns:a16="http://schemas.microsoft.com/office/drawing/2014/main" id="{EA41703B-FA1E-B950-FCE5-F078F546CBA1}"/>
              </a:ext>
            </a:extLst>
          </p:cNvPr>
          <p:cNvSpPr>
            <a:spLocks noGrp="1"/>
          </p:cNvSpPr>
          <p:nvPr>
            <p:ph type="body" sz="quarter" idx="13"/>
          </p:nvPr>
        </p:nvSpPr>
        <p:spPr/>
        <p:txBody>
          <a:bodyPr/>
          <a:lstStyle/>
          <a:p>
            <a:pPr marL="514350" indent="-514350">
              <a:buFont typeface="Arial" panose="020B0604020202020204" pitchFamily="34" charset="0"/>
              <a:buChar char="•"/>
            </a:pPr>
            <a:r>
              <a:rPr lang="en-US" sz="2000">
                <a:cs typeface="Arial"/>
              </a:rPr>
              <a:t>Basic chat features available for free, but ChatGPT plus subscribers (20USD/month) or pro (200USD/month) have less limitations on number of queries per hour and some extra features:</a:t>
            </a:r>
          </a:p>
          <a:p>
            <a:pPr marL="1351915" lvl="1" indent="-514350"/>
            <a:r>
              <a:rPr lang="en-US">
                <a:cs typeface="Arial"/>
              </a:rPr>
              <a:t>Access to older models (4.*)</a:t>
            </a:r>
          </a:p>
          <a:p>
            <a:pPr marL="1351915" lvl="1" indent="-514350"/>
            <a:r>
              <a:rPr lang="en-US" b="0">
                <a:cs typeface="Arial"/>
              </a:rPr>
              <a:t>Voice mode</a:t>
            </a:r>
          </a:p>
          <a:p>
            <a:pPr marL="1351915" lvl="1" indent="-514350"/>
            <a:r>
              <a:rPr lang="en-US">
                <a:cs typeface="Arial"/>
              </a:rPr>
              <a:t>Better models with longer context window</a:t>
            </a:r>
          </a:p>
          <a:p>
            <a:pPr marL="1351915" lvl="1" indent="-514350"/>
            <a:r>
              <a:rPr lang="en-US">
                <a:cs typeface="Arial"/>
              </a:rPr>
              <a:t>Models that implement “agentic chain of thought” / “reasoning”</a:t>
            </a:r>
          </a:p>
          <a:p>
            <a:pPr marL="1351915" lvl="1" indent="-514350"/>
            <a:r>
              <a:rPr lang="en-US" i="1">
                <a:cs typeface="Arial"/>
              </a:rPr>
              <a:t>Deep Research</a:t>
            </a:r>
            <a:r>
              <a:rPr lang="en-US">
                <a:cs typeface="Arial"/>
              </a:rPr>
              <a:t> mode for running literature reviews</a:t>
            </a:r>
          </a:p>
          <a:p>
            <a:pPr marL="1351915" lvl="1" indent="-514350"/>
            <a:r>
              <a:rPr lang="en-US" b="0">
                <a:cs typeface="Arial"/>
              </a:rPr>
              <a:t>Less limitations to Dall-E3 </a:t>
            </a:r>
            <a:r>
              <a:rPr lang="en-US">
                <a:cs typeface="Arial"/>
              </a:rPr>
              <a:t>text to image + Sora video generation</a:t>
            </a:r>
          </a:p>
          <a:p>
            <a:pPr marL="1351915" lvl="1" indent="-514350"/>
            <a:r>
              <a:rPr lang="en-US" b="0">
                <a:cs typeface="Arial"/>
              </a:rPr>
              <a:t>Create GPTs: custom “</a:t>
            </a:r>
            <a:r>
              <a:rPr lang="en-US">
                <a:cs typeface="Arial"/>
              </a:rPr>
              <a:t>bots” that you can build and share with others</a:t>
            </a:r>
          </a:p>
        </p:txBody>
      </p:sp>
      <p:sp>
        <p:nvSpPr>
          <p:cNvPr id="7" name="Slide Number Placeholder 6">
            <a:extLst>
              <a:ext uri="{FF2B5EF4-FFF2-40B4-BE49-F238E27FC236}">
                <a16:creationId xmlns:a16="http://schemas.microsoft.com/office/drawing/2014/main" id="{32AA35BC-ECCA-3C3E-F654-9AB025A3CF60}"/>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67</a:t>
            </a:fld>
            <a:endParaRPr lang="fi-FI"/>
          </a:p>
        </p:txBody>
      </p:sp>
      <p:sp>
        <p:nvSpPr>
          <p:cNvPr id="3" name="Date Placeholder 2">
            <a:extLst>
              <a:ext uri="{FF2B5EF4-FFF2-40B4-BE49-F238E27FC236}">
                <a16:creationId xmlns:a16="http://schemas.microsoft.com/office/drawing/2014/main" id="{5A7DC12D-6422-38DA-7E26-84F5333D39DA}"/>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22FC60EF-D90C-4637-9297-865E8484F594}"/>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8029563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193D1-76B0-3AFA-F924-75AC0776648A}"/>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A5B237E0-85B2-529A-6D7B-E931E3C53FAF}"/>
              </a:ext>
            </a:extLst>
          </p:cNvPr>
          <p:cNvGraphicFramePr>
            <a:graphicFrameLocks noGrp="1"/>
          </p:cNvGraphicFramePr>
          <p:nvPr/>
        </p:nvGraphicFramePr>
        <p:xfrm>
          <a:off x="388531" y="1197288"/>
          <a:ext cx="11110049" cy="4860000"/>
        </p:xfrm>
        <a:graphic>
          <a:graphicData uri="http://schemas.openxmlformats.org/drawingml/2006/table">
            <a:tbl>
              <a:tblPr>
                <a:tableStyleId>{5C22544A-7EE6-4342-B048-85BDC9FD1C3A}</a:tableStyleId>
              </a:tblPr>
              <a:tblGrid>
                <a:gridCol w="4662067">
                  <a:extLst>
                    <a:ext uri="{9D8B030D-6E8A-4147-A177-3AD203B41FA5}">
                      <a16:colId xmlns:a16="http://schemas.microsoft.com/office/drawing/2014/main" val="2813487561"/>
                    </a:ext>
                  </a:extLst>
                </a:gridCol>
                <a:gridCol w="2135062">
                  <a:extLst>
                    <a:ext uri="{9D8B030D-6E8A-4147-A177-3AD203B41FA5}">
                      <a16:colId xmlns:a16="http://schemas.microsoft.com/office/drawing/2014/main" val="2516771875"/>
                    </a:ext>
                  </a:extLst>
                </a:gridCol>
                <a:gridCol w="4312920">
                  <a:extLst>
                    <a:ext uri="{9D8B030D-6E8A-4147-A177-3AD203B41FA5}">
                      <a16:colId xmlns:a16="http://schemas.microsoft.com/office/drawing/2014/main" val="2261734959"/>
                    </a:ext>
                  </a:extLst>
                </a:gridCol>
              </a:tblGrid>
              <a:tr h="540000">
                <a:tc>
                  <a:txBody>
                    <a:bodyPr/>
                    <a:lstStyle/>
                    <a:p>
                      <a:pPr algn="l" fontAlgn="b"/>
                      <a:r>
                        <a:rPr lang="en-GB" sz="1600" b="1" u="sng" strike="noStrike">
                          <a:effectLst/>
                          <a:hlinkClick r:id="rId2"/>
                        </a:rPr>
                        <a:t>Consensus</a:t>
                      </a:r>
                      <a:endParaRPr lang="en-GB" sz="1600" b="1"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3"/>
                        </a:rPr>
                        <a:t>Papers, ReadCube, Digital Science</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4"/>
                        </a:rPr>
                        <a:t>bioRxiv</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extLst>
                  <a:ext uri="{0D108BD9-81ED-4DB2-BD59-A6C34878D82A}">
                    <a16:rowId xmlns:a16="http://schemas.microsoft.com/office/drawing/2014/main" val="3662749059"/>
                  </a:ext>
                </a:extLst>
              </a:tr>
              <a:tr h="540000">
                <a:tc>
                  <a:txBody>
                    <a:bodyPr/>
                    <a:lstStyle/>
                    <a:p>
                      <a:pPr algn="l" fontAlgn="b"/>
                      <a:r>
                        <a:rPr lang="en-GB" sz="1600" u="sng" strike="noStrike">
                          <a:effectLst/>
                          <a:hlinkClick r:id="rId5"/>
                        </a:rPr>
                        <a:t>Semantic Scholar</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6"/>
                        </a:rPr>
                        <a:t>Talpa</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7"/>
                        </a:rPr>
                        <a:t>ProQuest Research Assistant, Clarivate</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extLst>
                  <a:ext uri="{0D108BD9-81ED-4DB2-BD59-A6C34878D82A}">
                    <a16:rowId xmlns:a16="http://schemas.microsoft.com/office/drawing/2014/main" val="3877471835"/>
                  </a:ext>
                </a:extLst>
              </a:tr>
              <a:tr h="540000">
                <a:tc>
                  <a:txBody>
                    <a:bodyPr/>
                    <a:lstStyle/>
                    <a:p>
                      <a:pPr algn="l" fontAlgn="b"/>
                      <a:r>
                        <a:rPr lang="en-GB" sz="1600" u="sng" strike="noStrike">
                          <a:effectLst/>
                          <a:hlinkClick r:id="rId8"/>
                        </a:rPr>
                        <a:t>Elicit</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none" strike="noStrike">
                          <a:effectLst/>
                        </a:rPr>
                        <a:t>EBSCO</a:t>
                      </a:r>
                      <a:endParaRPr lang="en-GB" sz="1600" b="0" i="0" u="none" strike="noStrike">
                        <a:solidFill>
                          <a:srgbClr val="000000"/>
                        </a:solidFill>
                        <a:effectLst/>
                        <a:latin typeface="Arial" panose="020B0604020202020204" pitchFamily="34" charset="0"/>
                      </a:endParaRPr>
                    </a:p>
                  </a:txBody>
                  <a:tcPr marL="9525" marR="9525" marT="9525" marB="0" anchor="ctr">
                    <a:noFill/>
                  </a:tcPr>
                </a:tc>
                <a:tc>
                  <a:txBody>
                    <a:bodyPr/>
                    <a:lstStyle/>
                    <a:p>
                      <a:pPr algn="l" fontAlgn="b"/>
                      <a:r>
                        <a:rPr lang="en-GB" sz="1600" u="sng" strike="noStrike">
                          <a:effectLst/>
                          <a:hlinkClick r:id="rId9"/>
                        </a:rPr>
                        <a:t>Web of Science Research Assistant, Clarivate</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extLst>
                  <a:ext uri="{0D108BD9-81ED-4DB2-BD59-A6C34878D82A}">
                    <a16:rowId xmlns:a16="http://schemas.microsoft.com/office/drawing/2014/main" val="3310643212"/>
                  </a:ext>
                </a:extLst>
              </a:tr>
              <a:tr h="540000">
                <a:tc>
                  <a:txBody>
                    <a:bodyPr/>
                    <a:lstStyle/>
                    <a:p>
                      <a:pPr algn="l" fontAlgn="b"/>
                      <a:r>
                        <a:rPr lang="en-GB" sz="1600" b="1" u="sng" strike="noStrike">
                          <a:effectLst/>
                          <a:hlinkClick r:id="rId10"/>
                        </a:rPr>
                        <a:t>Scite.ai, Research Solutions, Inc.</a:t>
                      </a:r>
                      <a:endParaRPr lang="en-GB" sz="1600" b="1"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11"/>
                        </a:rPr>
                        <a:t>JSTOR</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12"/>
                        </a:rPr>
                        <a:t>Primo Research Assistant, Clarivate</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extLst>
                  <a:ext uri="{0D108BD9-81ED-4DB2-BD59-A6C34878D82A}">
                    <a16:rowId xmlns:a16="http://schemas.microsoft.com/office/drawing/2014/main" val="2638194175"/>
                  </a:ext>
                </a:extLst>
              </a:tr>
              <a:tr h="540000">
                <a:tc>
                  <a:txBody>
                    <a:bodyPr/>
                    <a:lstStyle/>
                    <a:p>
                      <a:pPr algn="l" fontAlgn="b"/>
                      <a:r>
                        <a:rPr lang="en-GB" sz="1600" u="sng" strike="noStrike">
                          <a:effectLst/>
                          <a:hlinkClick r:id="rId13"/>
                        </a:rPr>
                        <a:t>ResearchRabbit</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14"/>
                        </a:rPr>
                        <a:t>ScholarAI</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15"/>
                        </a:rPr>
                        <a:t>SearchGPT, OpenAI </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extLst>
                  <a:ext uri="{0D108BD9-81ED-4DB2-BD59-A6C34878D82A}">
                    <a16:rowId xmlns:a16="http://schemas.microsoft.com/office/drawing/2014/main" val="456127082"/>
                  </a:ext>
                </a:extLst>
              </a:tr>
              <a:tr h="540000">
                <a:tc>
                  <a:txBody>
                    <a:bodyPr/>
                    <a:lstStyle/>
                    <a:p>
                      <a:pPr algn="l" fontAlgn="b"/>
                      <a:r>
                        <a:rPr lang="en-GB" sz="1600" b="1" u="sng" strike="noStrike">
                          <a:effectLst/>
                          <a:hlinkClick r:id="rId16"/>
                        </a:rPr>
                        <a:t>Scopus AI</a:t>
                      </a:r>
                      <a:endParaRPr lang="en-GB" sz="1600" b="0" i="1"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17"/>
                        </a:rPr>
                        <a:t>Kudos</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18"/>
                        </a:rPr>
                        <a:t>Undermind</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extLst>
                  <a:ext uri="{0D108BD9-81ED-4DB2-BD59-A6C34878D82A}">
                    <a16:rowId xmlns:a16="http://schemas.microsoft.com/office/drawing/2014/main" val="2356072469"/>
                  </a:ext>
                </a:extLst>
              </a:tr>
              <a:tr h="540000">
                <a:tc>
                  <a:txBody>
                    <a:bodyPr/>
                    <a:lstStyle/>
                    <a:p>
                      <a:pPr algn="l" fontAlgn="b"/>
                      <a:r>
                        <a:rPr lang="en-GB" sz="1600" b="1" u="sng" strike="noStrike">
                          <a:effectLst/>
                          <a:hlinkClick r:id="rId19"/>
                        </a:rPr>
                        <a:t>Perplexity.ai</a:t>
                      </a:r>
                      <a:endParaRPr lang="en-GB" sz="1600" b="1"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b="1" u="sng" strike="noStrike">
                          <a:effectLst/>
                          <a:hlinkClick r:id="rId20"/>
                        </a:rPr>
                        <a:t>Keenious</a:t>
                      </a:r>
                      <a:endParaRPr lang="en-GB" sz="1600" b="1"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21"/>
                        </a:rPr>
                        <a:t>Hasanyone.com, FutureHouse</a:t>
                      </a:r>
                      <a:r>
                        <a:rPr lang="en-GB" sz="1600" u="sng" strike="noStrike">
                          <a:effectLst/>
                        </a:rPr>
                        <a:t> </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extLst>
                  <a:ext uri="{0D108BD9-81ED-4DB2-BD59-A6C34878D82A}">
                    <a16:rowId xmlns:a16="http://schemas.microsoft.com/office/drawing/2014/main" val="2565934251"/>
                  </a:ext>
                </a:extLst>
              </a:tr>
              <a:tr h="540000">
                <a:tc>
                  <a:txBody>
                    <a:bodyPr/>
                    <a:lstStyle/>
                    <a:p>
                      <a:pPr algn="l" fontAlgn="b"/>
                      <a:r>
                        <a:rPr lang="en-GB" sz="1600" u="sng" strike="noStrike">
                          <a:effectLst/>
                        </a:rPr>
                        <a:t>Dimensions Research GPT</a:t>
                      </a:r>
                      <a:r>
                        <a:rPr lang="en-GB" sz="1600" u="none" strike="noStrike">
                          <a:effectLst/>
                        </a:rPr>
                        <a:t> and</a:t>
                      </a:r>
                      <a:r>
                        <a:rPr lang="en-GB" sz="1600" u="sng" strike="noStrike">
                          <a:effectLst/>
                        </a:rPr>
                        <a:t> Dimensions Research GPT Enterprise</a:t>
                      </a:r>
                      <a:r>
                        <a:rPr lang="en-GB" sz="1600" u="none" strike="noStrike">
                          <a:effectLst/>
                        </a:rPr>
                        <a:t>, Digital Science</a:t>
                      </a:r>
                      <a:endParaRPr lang="en-GB" sz="1600" b="0" i="0" u="sng" strike="noStrike">
                        <a:solidFill>
                          <a:srgbClr val="1155CC"/>
                        </a:solidFill>
                        <a:effectLst/>
                        <a:latin typeface="Arial" panose="020B0604020202020204" pitchFamily="34" charset="0"/>
                      </a:endParaRPr>
                    </a:p>
                  </a:txBody>
                  <a:tcPr marL="9525" marR="9525" marT="9525" marB="0" anchor="ctr">
                    <a:noFill/>
                  </a:tcPr>
                </a:tc>
                <a:tc>
                  <a:txBody>
                    <a:bodyPr/>
                    <a:lstStyle/>
                    <a:p>
                      <a:pPr algn="l" fontAlgn="b"/>
                      <a:r>
                        <a:rPr lang="en-GB" sz="1600" u="sng" strike="noStrike">
                          <a:effectLst/>
                          <a:hlinkClick r:id="rId22"/>
                        </a:rPr>
                        <a:t>Ask R Discovery</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endParaRPr lang="en-FI" sz="1600" b="0" i="0" u="none" strike="noStrike">
                        <a:solidFill>
                          <a:srgbClr val="000000"/>
                        </a:solidFill>
                        <a:effectLst/>
                        <a:latin typeface="Aptos Narrow" panose="020B0004020202020204" pitchFamily="34" charset="0"/>
                      </a:endParaRPr>
                    </a:p>
                  </a:txBody>
                  <a:tcPr marL="9525" marR="9525" marT="9525" marB="0" anchor="ctr">
                    <a:noFill/>
                  </a:tcPr>
                </a:tc>
                <a:extLst>
                  <a:ext uri="{0D108BD9-81ED-4DB2-BD59-A6C34878D82A}">
                    <a16:rowId xmlns:a16="http://schemas.microsoft.com/office/drawing/2014/main" val="4156640617"/>
                  </a:ext>
                </a:extLst>
              </a:tr>
              <a:tr h="540000">
                <a:tc>
                  <a:txBody>
                    <a:bodyPr/>
                    <a:lstStyle/>
                    <a:p>
                      <a:pPr algn="l" fontAlgn="b"/>
                      <a:r>
                        <a:rPr lang="en-GB" sz="1600" u="sng" strike="noStrike">
                          <a:effectLst/>
                          <a:hlinkClick r:id="rId23"/>
                        </a:rPr>
                        <a:t>AI Summarization for Dimensions, Digital Science</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r>
                        <a:rPr lang="en-GB" sz="1600" u="sng" strike="noStrike">
                          <a:effectLst/>
                          <a:hlinkClick r:id="rId24"/>
                        </a:rPr>
                        <a:t>Litmaps</a:t>
                      </a:r>
                      <a:endParaRPr lang="en-GB" sz="1600" b="0" i="0" u="sng" strike="noStrike">
                        <a:solidFill>
                          <a:srgbClr val="467886"/>
                        </a:solidFill>
                        <a:effectLst/>
                        <a:latin typeface="Aptos Narrow" panose="020B0004020202020204" pitchFamily="34" charset="0"/>
                      </a:endParaRPr>
                    </a:p>
                  </a:txBody>
                  <a:tcPr marL="9525" marR="9525" marT="9525" marB="0" anchor="ctr">
                    <a:noFill/>
                  </a:tcPr>
                </a:tc>
                <a:tc>
                  <a:txBody>
                    <a:bodyPr/>
                    <a:lstStyle/>
                    <a:p>
                      <a:pPr algn="l" fontAlgn="b"/>
                      <a:endParaRPr lang="en-FI" sz="1600" b="0" i="0" u="none" strike="noStrike">
                        <a:solidFill>
                          <a:srgbClr val="000000"/>
                        </a:solidFill>
                        <a:effectLst/>
                        <a:latin typeface="Aptos Narrow" panose="020B0004020202020204" pitchFamily="34" charset="0"/>
                      </a:endParaRPr>
                    </a:p>
                  </a:txBody>
                  <a:tcPr marL="9525" marR="9525" marT="9525" marB="0" anchor="ctr">
                    <a:noFill/>
                  </a:tcPr>
                </a:tc>
                <a:extLst>
                  <a:ext uri="{0D108BD9-81ED-4DB2-BD59-A6C34878D82A}">
                    <a16:rowId xmlns:a16="http://schemas.microsoft.com/office/drawing/2014/main" val="2611944584"/>
                  </a:ext>
                </a:extLst>
              </a:tr>
            </a:tbl>
          </a:graphicData>
        </a:graphic>
      </p:graphicFrame>
      <p:sp>
        <p:nvSpPr>
          <p:cNvPr id="2" name="Title 1">
            <a:extLst>
              <a:ext uri="{FF2B5EF4-FFF2-40B4-BE49-F238E27FC236}">
                <a16:creationId xmlns:a16="http://schemas.microsoft.com/office/drawing/2014/main" id="{56FD7EFA-BB0D-8B74-1322-FE06256A3253}"/>
              </a:ext>
            </a:extLst>
          </p:cNvPr>
          <p:cNvSpPr>
            <a:spLocks noGrp="1"/>
          </p:cNvSpPr>
          <p:nvPr>
            <p:ph type="title"/>
          </p:nvPr>
        </p:nvSpPr>
        <p:spPr/>
        <p:txBody>
          <a:bodyPr/>
          <a:lstStyle/>
          <a:p>
            <a:r>
              <a:rPr lang="en-US"/>
              <a:t>4.2. Other AI tools - </a:t>
            </a:r>
            <a:r>
              <a:rPr lang="en-GB" sz="3200" b="1" u="none" strike="noStrike">
                <a:effectLst/>
              </a:rPr>
              <a:t>Discovery Tools</a:t>
            </a:r>
            <a:br>
              <a:rPr lang="en-GB" sz="3200" b="1" i="0" u="none" strike="noStrike">
                <a:solidFill>
                  <a:srgbClr val="000000"/>
                </a:solidFill>
                <a:effectLst/>
                <a:latin typeface="Aptos Narrow" panose="020B0004020202020204" pitchFamily="34" charset="0"/>
              </a:rPr>
            </a:br>
            <a:endParaRPr lang="en-US"/>
          </a:p>
        </p:txBody>
      </p:sp>
      <p:sp>
        <p:nvSpPr>
          <p:cNvPr id="7" name="Slide Number Placeholder 6">
            <a:extLst>
              <a:ext uri="{FF2B5EF4-FFF2-40B4-BE49-F238E27FC236}">
                <a16:creationId xmlns:a16="http://schemas.microsoft.com/office/drawing/2014/main" id="{2C4089E5-479F-DC99-3D3A-D317C5FCA20F}"/>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68</a:t>
            </a:fld>
            <a:endParaRPr lang="fi-FI"/>
          </a:p>
        </p:txBody>
      </p:sp>
      <p:sp>
        <p:nvSpPr>
          <p:cNvPr id="5" name="TextBox 4">
            <a:extLst>
              <a:ext uri="{FF2B5EF4-FFF2-40B4-BE49-F238E27FC236}">
                <a16:creationId xmlns:a16="http://schemas.microsoft.com/office/drawing/2014/main" id="{04700BA8-47D8-CF13-FCAE-4BD864654CF1}"/>
              </a:ext>
            </a:extLst>
          </p:cNvPr>
          <p:cNvSpPr txBox="1"/>
          <p:nvPr/>
        </p:nvSpPr>
        <p:spPr>
          <a:xfrm>
            <a:off x="7732368" y="5121084"/>
            <a:ext cx="2840407" cy="1077218"/>
          </a:xfrm>
          <a:prstGeom prst="rect">
            <a:avLst/>
          </a:prstGeom>
          <a:noFill/>
        </p:spPr>
        <p:txBody>
          <a:bodyPr wrap="square" rtlCol="0">
            <a:spAutoFit/>
          </a:bodyPr>
          <a:lstStyle/>
          <a:p>
            <a:pPr algn="l"/>
            <a:r>
              <a:rPr lang="en-FI" sz="1600" b="1">
                <a:latin typeface="+mj-lt"/>
              </a:rPr>
              <a:t>Note: In the context of academic research, these should be used only with </a:t>
            </a:r>
            <a:r>
              <a:rPr lang="en-FI" sz="1600" b="1">
                <a:solidFill>
                  <a:srgbClr val="00B050"/>
                </a:solidFill>
                <a:latin typeface="+mj-lt"/>
              </a:rPr>
              <a:t>public data</a:t>
            </a:r>
            <a:endParaRPr lang="en-FI" sz="1600" b="1">
              <a:solidFill>
                <a:srgbClr val="FF0000"/>
              </a:solidFill>
              <a:latin typeface="+mj-lt"/>
            </a:endParaRPr>
          </a:p>
        </p:txBody>
      </p:sp>
      <p:sp>
        <p:nvSpPr>
          <p:cNvPr id="9" name="TextBox 8">
            <a:extLst>
              <a:ext uri="{FF2B5EF4-FFF2-40B4-BE49-F238E27FC236}">
                <a16:creationId xmlns:a16="http://schemas.microsoft.com/office/drawing/2014/main" id="{FE4A5440-FC6B-C43F-DD07-3076B0039A1B}"/>
              </a:ext>
            </a:extLst>
          </p:cNvPr>
          <p:cNvSpPr txBox="1"/>
          <p:nvPr/>
        </p:nvSpPr>
        <p:spPr>
          <a:xfrm>
            <a:off x="9684122" y="849392"/>
            <a:ext cx="1668462" cy="584775"/>
          </a:xfrm>
          <a:prstGeom prst="rect">
            <a:avLst/>
          </a:prstGeom>
          <a:noFill/>
        </p:spPr>
        <p:txBody>
          <a:bodyPr wrap="square" rtlCol="0">
            <a:spAutoFit/>
          </a:bodyPr>
          <a:lstStyle/>
          <a:p>
            <a:pPr algn="l"/>
            <a:r>
              <a:rPr lang="en-FI" sz="1600">
                <a:latin typeface="+mj-lt"/>
                <a:hlinkClick r:id="rId25"/>
              </a:rPr>
              <a:t>Source: </a:t>
            </a:r>
            <a:br>
              <a:rPr lang="en-FI" sz="1600">
                <a:latin typeface="+mj-lt"/>
                <a:hlinkClick r:id="rId25"/>
              </a:rPr>
            </a:br>
            <a:r>
              <a:rPr lang="en-FI" sz="1600">
                <a:latin typeface="+mj-lt"/>
                <a:hlinkClick r:id="rId25"/>
              </a:rPr>
              <a:t>ITHAKA SR</a:t>
            </a:r>
            <a:endParaRPr lang="en-FI" sz="1600">
              <a:latin typeface="+mj-lt"/>
            </a:endParaRPr>
          </a:p>
        </p:txBody>
      </p:sp>
      <p:sp>
        <p:nvSpPr>
          <p:cNvPr id="3" name="Date Placeholder 2">
            <a:extLst>
              <a:ext uri="{FF2B5EF4-FFF2-40B4-BE49-F238E27FC236}">
                <a16:creationId xmlns:a16="http://schemas.microsoft.com/office/drawing/2014/main" id="{98048A83-B6EA-EE76-93AA-82379C4DE31F}"/>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C880BB3C-7CF6-2C7F-5BE3-D80B2C949E41}"/>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7918815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4A063-5A24-08A6-0EAB-CF804FB13122}"/>
              </a:ext>
            </a:extLst>
          </p:cNvPr>
          <p:cNvSpPr>
            <a:spLocks noGrp="1"/>
          </p:cNvSpPr>
          <p:nvPr>
            <p:ph type="title"/>
          </p:nvPr>
        </p:nvSpPr>
        <p:spPr/>
        <p:txBody>
          <a:bodyPr/>
          <a:lstStyle/>
          <a:p>
            <a:r>
              <a:rPr lang="en-US"/>
              <a:t>4.2. Other AI tools - </a:t>
            </a:r>
            <a:r>
              <a:rPr lang="en-GB" sz="3200"/>
              <a:t>Discovery Tools</a:t>
            </a:r>
            <a:endParaRPr lang="en-FI"/>
          </a:p>
        </p:txBody>
      </p:sp>
      <p:sp>
        <p:nvSpPr>
          <p:cNvPr id="3" name="Text Placeholder 2">
            <a:extLst>
              <a:ext uri="{FF2B5EF4-FFF2-40B4-BE49-F238E27FC236}">
                <a16:creationId xmlns:a16="http://schemas.microsoft.com/office/drawing/2014/main" id="{E9DF6477-4567-D8EB-2495-4CB86AEA3757}"/>
              </a:ext>
            </a:extLst>
          </p:cNvPr>
          <p:cNvSpPr>
            <a:spLocks noGrp="1"/>
          </p:cNvSpPr>
          <p:nvPr>
            <p:ph type="body" sz="quarter" idx="13"/>
          </p:nvPr>
        </p:nvSpPr>
        <p:spPr/>
        <p:txBody>
          <a:bodyPr/>
          <a:lstStyle/>
          <a:p>
            <a:r>
              <a:rPr lang="en-US" sz="2000">
                <a:hlinkClick r:id="rId2"/>
              </a:rPr>
              <a:t>How to use </a:t>
            </a:r>
            <a:r>
              <a:rPr lang="en-US" sz="2000" err="1">
                <a:hlinkClick r:id="rId2"/>
              </a:rPr>
              <a:t>Keenious</a:t>
            </a:r>
            <a:r>
              <a:rPr lang="en-US" sz="2000"/>
              <a:t> and other discovery tools:</a:t>
            </a:r>
          </a:p>
          <a:p>
            <a:pPr marL="514350" indent="-514350">
              <a:buFont typeface="+mj-lt"/>
              <a:buAutoNum type="arabicPeriod"/>
            </a:pPr>
            <a:r>
              <a:rPr lang="en-US" sz="2000" b="1"/>
              <a:t>Research abstract style (context → focus → scope)</a:t>
            </a:r>
            <a:br>
              <a:rPr lang="en-US" sz="2000"/>
            </a:br>
            <a:r>
              <a:rPr lang="en-US" sz="1600" i="1">
                <a:latin typeface="Consolas" panose="020B0609020204030204" pitchFamily="49" charset="0"/>
              </a:rPr>
              <a:t>I am researching [topic/field]. I am especially interested in [specific aspects or mechanisms]. I would like to find academic papers that explore [integration/application/experimental details]. Please suggest both [reviews/studies/theoretical works] that can help me understand this area.</a:t>
            </a:r>
            <a:endParaRPr lang="en-US" sz="1600">
              <a:latin typeface="Consolas" panose="020B0609020204030204" pitchFamily="49" charset="0"/>
            </a:endParaRPr>
          </a:p>
          <a:p>
            <a:pPr marL="514350" indent="-514350">
              <a:buFont typeface="+mj-lt"/>
              <a:buAutoNum type="arabicPeriod"/>
            </a:pPr>
            <a:r>
              <a:rPr lang="en-US" sz="2000" b="1"/>
              <a:t>Expanded keyword map (core idea → subtopic → applications)</a:t>
            </a:r>
            <a:br>
              <a:rPr lang="en-US" sz="2000" b="1"/>
            </a:br>
            <a:r>
              <a:rPr lang="en-US" sz="1600">
                <a:latin typeface="Consolas" panose="020B0609020204030204" pitchFamily="49" charset="0"/>
              </a:rPr>
              <a:t>active textiles; liquid crystalline elastomers (LCEs); integration into fabrics; shape-morphing fibers; actuation mechanisms; applications in adaptive wearables, smart clothing, soft robotics.</a:t>
            </a:r>
          </a:p>
          <a:p>
            <a:pPr marL="514350" indent="-514350">
              <a:buFont typeface="+mj-lt"/>
              <a:buAutoNum type="arabicPeriod"/>
            </a:pPr>
            <a:r>
              <a:rPr lang="en-US" sz="2000" b="1">
                <a:solidFill>
                  <a:schemeClr val="bg2">
                    <a:lumMod val="50000"/>
                  </a:schemeClr>
                </a:solidFill>
              </a:rPr>
              <a:t>Problem solution driven</a:t>
            </a:r>
            <a:br>
              <a:rPr lang="en-US" sz="2000" b="1">
                <a:solidFill>
                  <a:schemeClr val="bg2">
                    <a:lumMod val="50000"/>
                  </a:schemeClr>
                </a:solidFill>
              </a:rPr>
            </a:br>
            <a:r>
              <a:rPr lang="en-US" sz="1600">
                <a:solidFill>
                  <a:schemeClr val="bg2">
                    <a:lumMod val="50000"/>
                  </a:schemeClr>
                </a:solidFill>
                <a:latin typeface="Consolas" panose="020B0609020204030204" pitchFamily="49" charset="0"/>
              </a:rPr>
              <a:t>The challenge of [problem in the field] can potentially be addressed by [technology/material]. I want to find academic papers that examine [methods, mechanisms, or performance], and discuss applications in [areas]</a:t>
            </a:r>
            <a:endParaRPr lang="en-US" sz="2000">
              <a:solidFill>
                <a:schemeClr val="bg2">
                  <a:lumMod val="50000"/>
                </a:schemeClr>
              </a:solidFill>
            </a:endParaRPr>
          </a:p>
          <a:p>
            <a:endParaRPr lang="en-FI" sz="2000"/>
          </a:p>
        </p:txBody>
      </p:sp>
      <p:sp>
        <p:nvSpPr>
          <p:cNvPr id="4" name="Date Placeholder 3">
            <a:extLst>
              <a:ext uri="{FF2B5EF4-FFF2-40B4-BE49-F238E27FC236}">
                <a16:creationId xmlns:a16="http://schemas.microsoft.com/office/drawing/2014/main" id="{22319807-BE71-D9C8-3B3C-A1B4069DF6EE}"/>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19E5A754-06AD-1499-60D0-FBD938A3FCD9}"/>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1F2B38E-B2AF-8415-DF8A-307BA08F55F8}"/>
              </a:ext>
            </a:extLst>
          </p:cNvPr>
          <p:cNvSpPr>
            <a:spLocks noGrp="1"/>
          </p:cNvSpPr>
          <p:nvPr>
            <p:ph type="sldNum" sz="quarter" idx="16"/>
          </p:nvPr>
        </p:nvSpPr>
        <p:spPr/>
        <p:txBody>
          <a:bodyPr/>
          <a:lstStyle/>
          <a:p>
            <a:fld id="{D701140D-C14F-41CA-99FC-0EF83E8DA40A}" type="slidenum">
              <a:rPr lang="fi-FI" smtClean="0"/>
              <a:pPr/>
              <a:t>69</a:t>
            </a:fld>
            <a:endParaRPr lang="fi-FI"/>
          </a:p>
        </p:txBody>
      </p:sp>
      <p:pic>
        <p:nvPicPr>
          <p:cNvPr id="1026" name="Picture 2" descr="KEENIOUS: YOUR TRUSTED COMPANION FOR IN-DEPTH RESEARCH – Thriters">
            <a:extLst>
              <a:ext uri="{FF2B5EF4-FFF2-40B4-BE49-F238E27FC236}">
                <a16:creationId xmlns:a16="http://schemas.microsoft.com/office/drawing/2014/main" id="{092E5EA3-1F65-0921-EAD5-711EC210C7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8920" y="1142675"/>
            <a:ext cx="1899378" cy="1063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54583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16B3C-90E0-56FA-BADA-F2CBFD50E2B5}"/>
              </a:ext>
            </a:extLst>
          </p:cNvPr>
          <p:cNvSpPr>
            <a:spLocks noGrp="1"/>
          </p:cNvSpPr>
          <p:nvPr>
            <p:ph type="title"/>
          </p:nvPr>
        </p:nvSpPr>
        <p:spPr/>
        <p:txBody>
          <a:bodyPr/>
          <a:lstStyle/>
          <a:p>
            <a:r>
              <a:rPr lang="en-US"/>
              <a:t>4.2. Other AI tools - </a:t>
            </a:r>
            <a:r>
              <a:rPr lang="en-GB" sz="3200"/>
              <a:t>Discovery Tools</a:t>
            </a:r>
            <a:endParaRPr lang="en-US"/>
          </a:p>
        </p:txBody>
      </p:sp>
      <p:sp>
        <p:nvSpPr>
          <p:cNvPr id="4" name="Date Placeholder 3">
            <a:extLst>
              <a:ext uri="{FF2B5EF4-FFF2-40B4-BE49-F238E27FC236}">
                <a16:creationId xmlns:a16="http://schemas.microsoft.com/office/drawing/2014/main" id="{7F3E1F1A-8E79-309D-B18F-A2DB7CF81E93}"/>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F383E08E-E0DF-E08E-AE8D-E61F9E40D973}"/>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2A6298B6-2A90-AEAD-72FB-0F1936201E29}"/>
              </a:ext>
            </a:extLst>
          </p:cNvPr>
          <p:cNvSpPr>
            <a:spLocks noGrp="1"/>
          </p:cNvSpPr>
          <p:nvPr>
            <p:ph type="sldNum" sz="quarter" idx="16"/>
          </p:nvPr>
        </p:nvSpPr>
        <p:spPr/>
        <p:txBody>
          <a:bodyPr/>
          <a:lstStyle/>
          <a:p>
            <a:fld id="{D701140D-C14F-41CA-99FC-0EF83E8DA40A}" type="slidenum">
              <a:rPr lang="fi-FI" smtClean="0"/>
              <a:pPr/>
              <a:t>70</a:t>
            </a:fld>
            <a:endParaRPr lang="fi-FI"/>
          </a:p>
        </p:txBody>
      </p:sp>
      <p:pic>
        <p:nvPicPr>
          <p:cNvPr id="9" name="Picture 2" descr="KEENIOUS: YOUR TRUSTED COMPANION FOR IN-DEPTH RESEARCH – Thriters">
            <a:extLst>
              <a:ext uri="{FF2B5EF4-FFF2-40B4-BE49-F238E27FC236}">
                <a16:creationId xmlns:a16="http://schemas.microsoft.com/office/drawing/2014/main" id="{8764B007-C772-0213-35FE-489D4B9B85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026" y="1525671"/>
            <a:ext cx="1335912" cy="74811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2AB24E5-A65F-ED8E-2FE1-3B9A26633DAB}"/>
              </a:ext>
            </a:extLst>
          </p:cNvPr>
          <p:cNvPicPr>
            <a:picLocks noChangeAspect="1"/>
          </p:cNvPicPr>
          <p:nvPr/>
        </p:nvPicPr>
        <p:blipFill>
          <a:blip r:embed="rId4"/>
          <a:srcRect l="3106" r="24462"/>
          <a:stretch/>
        </p:blipFill>
        <p:spPr>
          <a:xfrm>
            <a:off x="425026" y="2234200"/>
            <a:ext cx="5504317" cy="2854842"/>
          </a:xfrm>
          <a:prstGeom prst="rect">
            <a:avLst/>
          </a:prstGeom>
          <a:effectLst>
            <a:outerShdw blurRad="63500" sx="102000" sy="102000" algn="ctr" rotWithShape="0">
              <a:prstClr val="black">
                <a:alpha val="40000"/>
              </a:prstClr>
            </a:outerShdw>
          </a:effectLst>
        </p:spPr>
      </p:pic>
      <p:pic>
        <p:nvPicPr>
          <p:cNvPr id="13" name="Picture 12">
            <a:extLst>
              <a:ext uri="{FF2B5EF4-FFF2-40B4-BE49-F238E27FC236}">
                <a16:creationId xmlns:a16="http://schemas.microsoft.com/office/drawing/2014/main" id="{701D3D8C-2DF8-9F9F-51A5-42C3533B415F}"/>
              </a:ext>
            </a:extLst>
          </p:cNvPr>
          <p:cNvPicPr>
            <a:picLocks noChangeAspect="1"/>
          </p:cNvPicPr>
          <p:nvPr/>
        </p:nvPicPr>
        <p:blipFill>
          <a:blip r:embed="rId5"/>
          <a:stretch>
            <a:fillRect/>
          </a:stretch>
        </p:blipFill>
        <p:spPr>
          <a:xfrm>
            <a:off x="6323215" y="1251727"/>
            <a:ext cx="5613862" cy="3492610"/>
          </a:xfrm>
          <a:prstGeom prst="rect">
            <a:avLst/>
          </a:prstGeom>
          <a:effectLst>
            <a:outerShdw blurRad="63500" sx="102000" sy="102000" algn="ctr" rotWithShape="0">
              <a:prstClr val="black">
                <a:alpha val="40000"/>
              </a:prstClr>
            </a:outerShdw>
          </a:effectLst>
        </p:spPr>
      </p:pic>
      <p:pic>
        <p:nvPicPr>
          <p:cNvPr id="15" name="Picture 14">
            <a:extLst>
              <a:ext uri="{FF2B5EF4-FFF2-40B4-BE49-F238E27FC236}">
                <a16:creationId xmlns:a16="http://schemas.microsoft.com/office/drawing/2014/main" id="{D969F2E6-4086-8106-A5A5-78E7F51E9110}"/>
              </a:ext>
            </a:extLst>
          </p:cNvPr>
          <p:cNvPicPr>
            <a:picLocks noChangeAspect="1"/>
          </p:cNvPicPr>
          <p:nvPr/>
        </p:nvPicPr>
        <p:blipFill>
          <a:blip r:embed="rId6"/>
          <a:stretch>
            <a:fillRect/>
          </a:stretch>
        </p:blipFill>
        <p:spPr>
          <a:xfrm>
            <a:off x="8393085" y="3706820"/>
            <a:ext cx="3485802" cy="2187558"/>
          </a:xfrm>
          <a:prstGeom prst="rect">
            <a:avLst/>
          </a:prstGeom>
          <a:effectLst>
            <a:outerShdw blurRad="63500" sx="102000" sy="102000" algn="ctr" rotWithShape="0">
              <a:prstClr val="black">
                <a:alpha val="40000"/>
              </a:prstClr>
            </a:outerShdw>
          </a:effectLst>
        </p:spPr>
      </p:pic>
      <p:pic>
        <p:nvPicPr>
          <p:cNvPr id="17" name="Picture 16">
            <a:extLst>
              <a:ext uri="{FF2B5EF4-FFF2-40B4-BE49-F238E27FC236}">
                <a16:creationId xmlns:a16="http://schemas.microsoft.com/office/drawing/2014/main" id="{0DA17FC8-08FA-0A57-C165-58AE2D88FFF8}"/>
              </a:ext>
            </a:extLst>
          </p:cNvPr>
          <p:cNvPicPr>
            <a:picLocks noChangeAspect="1"/>
          </p:cNvPicPr>
          <p:nvPr/>
        </p:nvPicPr>
        <p:blipFill>
          <a:blip r:embed="rId7"/>
          <a:stretch>
            <a:fillRect/>
          </a:stretch>
        </p:blipFill>
        <p:spPr>
          <a:xfrm>
            <a:off x="6397535" y="4424899"/>
            <a:ext cx="1798814" cy="1676950"/>
          </a:xfrm>
          <a:prstGeom prst="rect">
            <a:avLst/>
          </a:prstGeom>
          <a:effectLst>
            <a:outerShdw blurRad="63500" sx="102000" sy="102000" algn="ctr" rotWithShape="0">
              <a:prstClr val="black">
                <a:alpha val="40000"/>
              </a:prstClr>
            </a:outerShdw>
          </a:effectLst>
        </p:spPr>
      </p:pic>
      <p:sp>
        <p:nvSpPr>
          <p:cNvPr id="3" name="TextBox 2">
            <a:extLst>
              <a:ext uri="{FF2B5EF4-FFF2-40B4-BE49-F238E27FC236}">
                <a16:creationId xmlns:a16="http://schemas.microsoft.com/office/drawing/2014/main" id="{F21F41F2-F814-FD86-5D0E-EE6545F01C3C}"/>
              </a:ext>
            </a:extLst>
          </p:cNvPr>
          <p:cNvSpPr txBox="1"/>
          <p:nvPr/>
        </p:nvSpPr>
        <p:spPr>
          <a:xfrm>
            <a:off x="407988" y="5224687"/>
            <a:ext cx="5065169" cy="707886"/>
          </a:xfrm>
          <a:prstGeom prst="rect">
            <a:avLst/>
          </a:prstGeom>
          <a:noFill/>
        </p:spPr>
        <p:txBody>
          <a:bodyPr wrap="none" rtlCol="0">
            <a:spAutoFit/>
          </a:bodyPr>
          <a:lstStyle/>
          <a:p>
            <a:pPr algn="l"/>
            <a:r>
              <a:rPr lang="en-US" sz="1600">
                <a:latin typeface="+mj-lt"/>
              </a:rPr>
              <a:t>Free to use with an account, with caps</a:t>
            </a:r>
          </a:p>
          <a:p>
            <a:pPr algn="l"/>
            <a:r>
              <a:rPr lang="en-US" sz="1200">
                <a:latin typeface="+mj-lt"/>
              </a:rPr>
              <a:t>(top 10 results, 5 AI responses per convo, 10 convos/day, 3MB uploads,</a:t>
            </a:r>
            <a:br>
              <a:rPr lang="en-US" sz="1200">
                <a:latin typeface="+mj-lt"/>
              </a:rPr>
            </a:br>
            <a:r>
              <a:rPr lang="en-US" sz="1200">
                <a:latin typeface="+mj-lt"/>
              </a:rPr>
              <a:t>pro version is 10€/month for individuals and 20€/month for teams)</a:t>
            </a:r>
          </a:p>
        </p:txBody>
      </p:sp>
      <p:sp>
        <p:nvSpPr>
          <p:cNvPr id="8" name="TextBox 7">
            <a:extLst>
              <a:ext uri="{FF2B5EF4-FFF2-40B4-BE49-F238E27FC236}">
                <a16:creationId xmlns:a16="http://schemas.microsoft.com/office/drawing/2014/main" id="{876C4D05-E384-7DBA-89F8-2C35167B2C07}"/>
              </a:ext>
            </a:extLst>
          </p:cNvPr>
          <p:cNvSpPr txBox="1"/>
          <p:nvPr/>
        </p:nvSpPr>
        <p:spPr>
          <a:xfrm>
            <a:off x="1055688" y="5936229"/>
            <a:ext cx="3595253" cy="276999"/>
          </a:xfrm>
          <a:prstGeom prst="rect">
            <a:avLst/>
          </a:prstGeom>
          <a:noFill/>
        </p:spPr>
        <p:txBody>
          <a:bodyPr wrap="square">
            <a:spAutoFit/>
          </a:bodyPr>
          <a:lstStyle/>
          <a:p>
            <a:r>
              <a:rPr lang="en-US" sz="1200"/>
              <a:t>https://keenious.com/pricing</a:t>
            </a:r>
          </a:p>
        </p:txBody>
      </p:sp>
      <p:sp>
        <p:nvSpPr>
          <p:cNvPr id="10" name="TextBox 9">
            <a:extLst>
              <a:ext uri="{FF2B5EF4-FFF2-40B4-BE49-F238E27FC236}">
                <a16:creationId xmlns:a16="http://schemas.microsoft.com/office/drawing/2014/main" id="{B253B5B7-B5B9-0E60-5917-4F61E11C1F3A}"/>
              </a:ext>
            </a:extLst>
          </p:cNvPr>
          <p:cNvSpPr txBox="1"/>
          <p:nvPr/>
        </p:nvSpPr>
        <p:spPr>
          <a:xfrm>
            <a:off x="10088494" y="874979"/>
            <a:ext cx="1848583" cy="338554"/>
          </a:xfrm>
          <a:prstGeom prst="rect">
            <a:avLst/>
          </a:prstGeom>
          <a:noFill/>
        </p:spPr>
        <p:txBody>
          <a:bodyPr wrap="none" rtlCol="0">
            <a:spAutoFit/>
          </a:bodyPr>
          <a:lstStyle/>
          <a:p>
            <a:pPr algn="l"/>
            <a:r>
              <a:rPr lang="en-US" sz="1600">
                <a:latin typeface="+mj-lt"/>
              </a:rPr>
              <a:t>Sold to institutions</a:t>
            </a:r>
            <a:endParaRPr lang="en-US" sz="1200">
              <a:latin typeface="+mj-lt"/>
            </a:endParaRPr>
          </a:p>
        </p:txBody>
      </p:sp>
    </p:spTree>
    <p:extLst>
      <p:ext uri="{BB962C8B-B14F-4D97-AF65-F5344CB8AC3E}">
        <p14:creationId xmlns:p14="http://schemas.microsoft.com/office/powerpoint/2010/main" val="19637633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8B2EC-8526-8411-27B1-5D4ADD668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4E09A-CEC0-0C29-19B4-D3CB90E5DC51}"/>
              </a:ext>
            </a:extLst>
          </p:cNvPr>
          <p:cNvSpPr>
            <a:spLocks noGrp="1"/>
          </p:cNvSpPr>
          <p:nvPr>
            <p:ph type="title"/>
          </p:nvPr>
        </p:nvSpPr>
        <p:spPr/>
        <p:txBody>
          <a:bodyPr/>
          <a:lstStyle/>
          <a:p>
            <a:r>
              <a:rPr lang="en-US"/>
              <a:t>4.2. Other AI tools - </a:t>
            </a:r>
            <a:r>
              <a:rPr lang="en-GB" sz="3200"/>
              <a:t>Discovery Tools</a:t>
            </a:r>
            <a:endParaRPr lang="en-US"/>
          </a:p>
        </p:txBody>
      </p:sp>
      <p:sp>
        <p:nvSpPr>
          <p:cNvPr id="4" name="Date Placeholder 3">
            <a:extLst>
              <a:ext uri="{FF2B5EF4-FFF2-40B4-BE49-F238E27FC236}">
                <a16:creationId xmlns:a16="http://schemas.microsoft.com/office/drawing/2014/main" id="{623DB4B1-5DDC-FEF0-CB9C-97FF64367EFC}"/>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E9FD52CE-85E1-378D-5396-C0A1C27ACFC0}"/>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9DB1E0DE-FB84-38AF-AA74-3DDA22777784}"/>
              </a:ext>
            </a:extLst>
          </p:cNvPr>
          <p:cNvSpPr>
            <a:spLocks noGrp="1"/>
          </p:cNvSpPr>
          <p:nvPr>
            <p:ph type="sldNum" sz="quarter" idx="16"/>
          </p:nvPr>
        </p:nvSpPr>
        <p:spPr/>
        <p:txBody>
          <a:bodyPr/>
          <a:lstStyle/>
          <a:p>
            <a:fld id="{D701140D-C14F-41CA-99FC-0EF83E8DA40A}" type="slidenum">
              <a:rPr lang="fi-FI" smtClean="0"/>
              <a:pPr/>
              <a:t>71</a:t>
            </a:fld>
            <a:endParaRPr lang="fi-FI"/>
          </a:p>
        </p:txBody>
      </p:sp>
      <p:pic>
        <p:nvPicPr>
          <p:cNvPr id="19" name="Picture 18">
            <a:extLst>
              <a:ext uri="{FF2B5EF4-FFF2-40B4-BE49-F238E27FC236}">
                <a16:creationId xmlns:a16="http://schemas.microsoft.com/office/drawing/2014/main" id="{D9A465C9-6328-E669-4C74-1FB0440ABC93}"/>
              </a:ext>
            </a:extLst>
          </p:cNvPr>
          <p:cNvPicPr>
            <a:picLocks noChangeAspect="1"/>
          </p:cNvPicPr>
          <p:nvPr/>
        </p:nvPicPr>
        <p:blipFill>
          <a:blip r:embed="rId2"/>
          <a:stretch>
            <a:fillRect/>
          </a:stretch>
        </p:blipFill>
        <p:spPr>
          <a:xfrm>
            <a:off x="1194802" y="1249895"/>
            <a:ext cx="5321745" cy="2358274"/>
          </a:xfrm>
          <a:prstGeom prst="rect">
            <a:avLst/>
          </a:prstGeom>
          <a:effectLst>
            <a:outerShdw blurRad="63500" sx="102000" sy="102000" algn="ctr" rotWithShape="0">
              <a:prstClr val="black">
                <a:alpha val="40000"/>
              </a:prstClr>
            </a:outerShdw>
          </a:effectLst>
        </p:spPr>
      </p:pic>
      <p:pic>
        <p:nvPicPr>
          <p:cNvPr id="21" name="Picture 20">
            <a:extLst>
              <a:ext uri="{FF2B5EF4-FFF2-40B4-BE49-F238E27FC236}">
                <a16:creationId xmlns:a16="http://schemas.microsoft.com/office/drawing/2014/main" id="{D45C3C65-7642-6EB4-F163-A4683B309DE6}"/>
              </a:ext>
            </a:extLst>
          </p:cNvPr>
          <p:cNvPicPr>
            <a:picLocks noChangeAspect="1"/>
          </p:cNvPicPr>
          <p:nvPr/>
        </p:nvPicPr>
        <p:blipFill>
          <a:blip r:embed="rId3"/>
          <a:stretch>
            <a:fillRect/>
          </a:stretch>
        </p:blipFill>
        <p:spPr>
          <a:xfrm>
            <a:off x="1801544" y="3854422"/>
            <a:ext cx="4594168" cy="2219708"/>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A5DC4E65-D0B7-DA12-A134-9CAC8AD731F2}"/>
              </a:ext>
            </a:extLst>
          </p:cNvPr>
          <p:cNvPicPr>
            <a:picLocks noChangeAspect="1"/>
          </p:cNvPicPr>
          <p:nvPr/>
        </p:nvPicPr>
        <p:blipFill>
          <a:blip r:embed="rId4"/>
          <a:stretch>
            <a:fillRect/>
          </a:stretch>
        </p:blipFill>
        <p:spPr>
          <a:xfrm>
            <a:off x="7191621" y="2509317"/>
            <a:ext cx="3676996" cy="2690210"/>
          </a:xfrm>
          <a:prstGeom prst="rect">
            <a:avLst/>
          </a:prstGeom>
          <a:effectLst>
            <a:outerShdw blurRad="63500" sx="102000" sy="102000" algn="ctr" rotWithShape="0">
              <a:prstClr val="black">
                <a:alpha val="40000"/>
              </a:prstClr>
            </a:outerShdw>
          </a:effectLst>
        </p:spPr>
      </p:pic>
      <p:pic>
        <p:nvPicPr>
          <p:cNvPr id="3074" name="Picture 2" descr="Perplexity – ONA Industry Directory">
            <a:extLst>
              <a:ext uri="{FF2B5EF4-FFF2-40B4-BE49-F238E27FC236}">
                <a16:creationId xmlns:a16="http://schemas.microsoft.com/office/drawing/2014/main" id="{53D9D234-8A18-3799-BA1D-936892815F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91621" y="2056837"/>
            <a:ext cx="1640378" cy="41329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B0DB5DA-1456-BEA7-3229-E861156C2DD4}"/>
              </a:ext>
            </a:extLst>
          </p:cNvPr>
          <p:cNvSpPr txBox="1"/>
          <p:nvPr/>
        </p:nvSpPr>
        <p:spPr>
          <a:xfrm>
            <a:off x="4667964" y="845428"/>
            <a:ext cx="1848583" cy="338554"/>
          </a:xfrm>
          <a:prstGeom prst="rect">
            <a:avLst/>
          </a:prstGeom>
          <a:noFill/>
        </p:spPr>
        <p:txBody>
          <a:bodyPr wrap="none" rtlCol="0">
            <a:spAutoFit/>
          </a:bodyPr>
          <a:lstStyle/>
          <a:p>
            <a:pPr algn="l"/>
            <a:r>
              <a:rPr lang="en-US" sz="1600">
                <a:latin typeface="+mj-lt"/>
              </a:rPr>
              <a:t>Sold to institutions</a:t>
            </a:r>
            <a:endParaRPr lang="en-US" sz="1200">
              <a:latin typeface="+mj-lt"/>
            </a:endParaRPr>
          </a:p>
        </p:txBody>
      </p:sp>
      <p:sp>
        <p:nvSpPr>
          <p:cNvPr id="8" name="TextBox 7">
            <a:extLst>
              <a:ext uri="{FF2B5EF4-FFF2-40B4-BE49-F238E27FC236}">
                <a16:creationId xmlns:a16="http://schemas.microsoft.com/office/drawing/2014/main" id="{50571934-973F-9B33-2715-1577EE000C04}"/>
              </a:ext>
            </a:extLst>
          </p:cNvPr>
          <p:cNvSpPr txBox="1"/>
          <p:nvPr/>
        </p:nvSpPr>
        <p:spPr>
          <a:xfrm>
            <a:off x="7191621" y="1396863"/>
            <a:ext cx="4774064" cy="523220"/>
          </a:xfrm>
          <a:prstGeom prst="rect">
            <a:avLst/>
          </a:prstGeom>
          <a:noFill/>
        </p:spPr>
        <p:txBody>
          <a:bodyPr wrap="none" rtlCol="0">
            <a:spAutoFit/>
          </a:bodyPr>
          <a:lstStyle/>
          <a:p>
            <a:pPr algn="l"/>
            <a:r>
              <a:rPr lang="en-US" sz="1600">
                <a:latin typeface="+mj-lt"/>
              </a:rPr>
              <a:t>Free to use without an account, with caps for “Pro”</a:t>
            </a:r>
          </a:p>
          <a:p>
            <a:pPr algn="l"/>
            <a:r>
              <a:rPr lang="en-US" sz="1200">
                <a:latin typeface="+mj-lt"/>
              </a:rPr>
              <a:t>(account good for saving history)</a:t>
            </a:r>
          </a:p>
        </p:txBody>
      </p:sp>
      <p:sp>
        <p:nvSpPr>
          <p:cNvPr id="9" name="TextBox 8">
            <a:extLst>
              <a:ext uri="{FF2B5EF4-FFF2-40B4-BE49-F238E27FC236}">
                <a16:creationId xmlns:a16="http://schemas.microsoft.com/office/drawing/2014/main" id="{9AA00ACC-5005-32A0-EB80-AF25EE699315}"/>
              </a:ext>
            </a:extLst>
          </p:cNvPr>
          <p:cNvSpPr txBox="1"/>
          <p:nvPr/>
        </p:nvSpPr>
        <p:spPr>
          <a:xfrm>
            <a:off x="1701695" y="6191577"/>
            <a:ext cx="3897221" cy="338554"/>
          </a:xfrm>
          <a:prstGeom prst="rect">
            <a:avLst/>
          </a:prstGeom>
          <a:noFill/>
        </p:spPr>
        <p:txBody>
          <a:bodyPr wrap="none" rtlCol="0">
            <a:spAutoFit/>
          </a:bodyPr>
          <a:lstStyle/>
          <a:p>
            <a:pPr algn="l"/>
            <a:r>
              <a:rPr lang="en-US" sz="1600">
                <a:latin typeface="+mj-lt"/>
              </a:rPr>
              <a:t>No free tier for user account (16€/month)</a:t>
            </a:r>
            <a:endParaRPr lang="en-US" sz="1200">
              <a:latin typeface="+mj-lt"/>
            </a:endParaRPr>
          </a:p>
        </p:txBody>
      </p:sp>
      <p:sp>
        <p:nvSpPr>
          <p:cNvPr id="11" name="TextBox 10">
            <a:extLst>
              <a:ext uri="{FF2B5EF4-FFF2-40B4-BE49-F238E27FC236}">
                <a16:creationId xmlns:a16="http://schemas.microsoft.com/office/drawing/2014/main" id="{A77171CB-0E73-91B7-5BE8-C74C7DFEC791}"/>
              </a:ext>
            </a:extLst>
          </p:cNvPr>
          <p:cNvSpPr txBox="1"/>
          <p:nvPr/>
        </p:nvSpPr>
        <p:spPr>
          <a:xfrm>
            <a:off x="1701695" y="6467620"/>
            <a:ext cx="6094902" cy="276999"/>
          </a:xfrm>
          <a:prstGeom prst="rect">
            <a:avLst/>
          </a:prstGeom>
          <a:noFill/>
        </p:spPr>
        <p:txBody>
          <a:bodyPr wrap="square">
            <a:spAutoFit/>
          </a:bodyPr>
          <a:lstStyle/>
          <a:p>
            <a:r>
              <a:rPr lang="en-US" sz="1200"/>
              <a:t>https://scite.ai/pricing</a:t>
            </a:r>
          </a:p>
        </p:txBody>
      </p:sp>
    </p:spTree>
    <p:extLst>
      <p:ext uri="{BB962C8B-B14F-4D97-AF65-F5344CB8AC3E}">
        <p14:creationId xmlns:p14="http://schemas.microsoft.com/office/powerpoint/2010/main" val="24121569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15DA94-3AAD-BA8D-059E-2797B5D28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F5118-693C-7D10-FC08-B930E5458AD2}"/>
              </a:ext>
            </a:extLst>
          </p:cNvPr>
          <p:cNvSpPr>
            <a:spLocks noGrp="1"/>
          </p:cNvSpPr>
          <p:nvPr>
            <p:ph type="title"/>
          </p:nvPr>
        </p:nvSpPr>
        <p:spPr/>
        <p:txBody>
          <a:bodyPr/>
          <a:lstStyle/>
          <a:p>
            <a:r>
              <a:rPr lang="en-US"/>
              <a:t>4.2. Aalto-Primo AI - </a:t>
            </a:r>
            <a:r>
              <a:rPr lang="en-GB" sz="3200"/>
              <a:t>Discovery Tools</a:t>
            </a:r>
            <a:endParaRPr lang="en-US"/>
          </a:p>
        </p:txBody>
      </p:sp>
      <p:sp>
        <p:nvSpPr>
          <p:cNvPr id="4" name="Date Placeholder 3">
            <a:extLst>
              <a:ext uri="{FF2B5EF4-FFF2-40B4-BE49-F238E27FC236}">
                <a16:creationId xmlns:a16="http://schemas.microsoft.com/office/drawing/2014/main" id="{E5C2D5BB-4ACC-9859-622C-2B20199712CF}"/>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D5703905-0A4E-8F85-EB36-9A2C09268667}"/>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76CA1E84-F1CB-2B01-DE65-93A8DCAA758C}"/>
              </a:ext>
            </a:extLst>
          </p:cNvPr>
          <p:cNvSpPr>
            <a:spLocks noGrp="1"/>
          </p:cNvSpPr>
          <p:nvPr>
            <p:ph type="sldNum" sz="quarter" idx="16"/>
          </p:nvPr>
        </p:nvSpPr>
        <p:spPr/>
        <p:txBody>
          <a:bodyPr/>
          <a:lstStyle/>
          <a:p>
            <a:fld id="{D701140D-C14F-41CA-99FC-0EF83E8DA40A}" type="slidenum">
              <a:rPr lang="fi-FI" smtClean="0"/>
              <a:pPr/>
              <a:t>72</a:t>
            </a:fld>
            <a:endParaRPr lang="fi-FI"/>
          </a:p>
        </p:txBody>
      </p:sp>
      <p:sp>
        <p:nvSpPr>
          <p:cNvPr id="10" name="TextBox 9">
            <a:extLst>
              <a:ext uri="{FF2B5EF4-FFF2-40B4-BE49-F238E27FC236}">
                <a16:creationId xmlns:a16="http://schemas.microsoft.com/office/drawing/2014/main" id="{9F11E280-7758-7493-186C-EFB780DA722C}"/>
              </a:ext>
            </a:extLst>
          </p:cNvPr>
          <p:cNvSpPr txBox="1"/>
          <p:nvPr/>
        </p:nvSpPr>
        <p:spPr>
          <a:xfrm>
            <a:off x="1194802" y="6224060"/>
            <a:ext cx="6096000" cy="369332"/>
          </a:xfrm>
          <a:prstGeom prst="rect">
            <a:avLst/>
          </a:prstGeom>
          <a:noFill/>
        </p:spPr>
        <p:txBody>
          <a:bodyPr wrap="square">
            <a:spAutoFit/>
          </a:bodyPr>
          <a:lstStyle/>
          <a:p>
            <a:r>
              <a:rPr lang="en-US">
                <a:hlinkClick r:id="rId2"/>
              </a:rPr>
              <a:t>Aalto-Primo</a:t>
            </a:r>
            <a:endParaRPr lang="en-US"/>
          </a:p>
        </p:txBody>
      </p:sp>
      <p:pic>
        <p:nvPicPr>
          <p:cNvPr id="12" name="Picture 11">
            <a:extLst>
              <a:ext uri="{FF2B5EF4-FFF2-40B4-BE49-F238E27FC236}">
                <a16:creationId xmlns:a16="http://schemas.microsoft.com/office/drawing/2014/main" id="{C781C8FC-EC15-0EF0-5ECC-D5C4D5FADC93}"/>
              </a:ext>
            </a:extLst>
          </p:cNvPr>
          <p:cNvPicPr>
            <a:picLocks noChangeAspect="1"/>
          </p:cNvPicPr>
          <p:nvPr/>
        </p:nvPicPr>
        <p:blipFill>
          <a:blip r:embed="rId3"/>
          <a:stretch>
            <a:fillRect/>
          </a:stretch>
        </p:blipFill>
        <p:spPr>
          <a:xfrm>
            <a:off x="1271464" y="1539273"/>
            <a:ext cx="923925" cy="828675"/>
          </a:xfrm>
          <a:prstGeom prst="rect">
            <a:avLst/>
          </a:prstGeom>
        </p:spPr>
      </p:pic>
      <p:pic>
        <p:nvPicPr>
          <p:cNvPr id="14" name="Picture 13">
            <a:extLst>
              <a:ext uri="{FF2B5EF4-FFF2-40B4-BE49-F238E27FC236}">
                <a16:creationId xmlns:a16="http://schemas.microsoft.com/office/drawing/2014/main" id="{F4CA3BA6-9AD2-EA8C-DB5E-D42C91322C4F}"/>
              </a:ext>
            </a:extLst>
          </p:cNvPr>
          <p:cNvPicPr>
            <a:picLocks noChangeAspect="1"/>
          </p:cNvPicPr>
          <p:nvPr/>
        </p:nvPicPr>
        <p:blipFill>
          <a:blip r:embed="rId4"/>
          <a:srcRect b="8879"/>
          <a:stretch/>
        </p:blipFill>
        <p:spPr>
          <a:xfrm>
            <a:off x="2489512" y="1513471"/>
            <a:ext cx="9294562" cy="4332683"/>
          </a:xfrm>
          <a:prstGeom prst="rect">
            <a:avLst/>
          </a:prstGeom>
          <a:effectLst>
            <a:outerShdw blurRad="63500" sx="102000" sy="102000" algn="ctr" rotWithShape="0">
              <a:prstClr val="black">
                <a:alpha val="40000"/>
              </a:prstClr>
            </a:outerShdw>
          </a:effectLst>
        </p:spPr>
      </p:pic>
      <p:cxnSp>
        <p:nvCxnSpPr>
          <p:cNvPr id="16" name="Straight Arrow Connector 15">
            <a:extLst>
              <a:ext uri="{FF2B5EF4-FFF2-40B4-BE49-F238E27FC236}">
                <a16:creationId xmlns:a16="http://schemas.microsoft.com/office/drawing/2014/main" id="{F3741B63-1758-F4CE-DF6F-C4A34480CF92}"/>
              </a:ext>
            </a:extLst>
          </p:cNvPr>
          <p:cNvCxnSpPr>
            <a:cxnSpLocks/>
          </p:cNvCxnSpPr>
          <p:nvPr/>
        </p:nvCxnSpPr>
        <p:spPr>
          <a:xfrm>
            <a:off x="1585399" y="4726158"/>
            <a:ext cx="993341" cy="61837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8" name="TextBox 17">
            <a:extLst>
              <a:ext uri="{FF2B5EF4-FFF2-40B4-BE49-F238E27FC236}">
                <a16:creationId xmlns:a16="http://schemas.microsoft.com/office/drawing/2014/main" id="{100CC8B1-E533-9A45-D9BC-4325D0BEC78A}"/>
              </a:ext>
            </a:extLst>
          </p:cNvPr>
          <p:cNvSpPr txBox="1"/>
          <p:nvPr/>
        </p:nvSpPr>
        <p:spPr>
          <a:xfrm>
            <a:off x="19735" y="4448034"/>
            <a:ext cx="2914114" cy="246221"/>
          </a:xfrm>
          <a:prstGeom prst="rect">
            <a:avLst/>
          </a:prstGeom>
          <a:noFill/>
        </p:spPr>
        <p:txBody>
          <a:bodyPr wrap="square">
            <a:spAutoFit/>
          </a:bodyPr>
          <a:lstStyle/>
          <a:p>
            <a:r>
              <a:rPr lang="en-US" sz="1000">
                <a:solidFill>
                  <a:schemeClr val="accent2"/>
                </a:solidFill>
              </a:rPr>
              <a:t>https://clarivate.com/ai/academia/policy/</a:t>
            </a:r>
          </a:p>
        </p:txBody>
      </p:sp>
    </p:spTree>
    <p:extLst>
      <p:ext uri="{BB962C8B-B14F-4D97-AF65-F5344CB8AC3E}">
        <p14:creationId xmlns:p14="http://schemas.microsoft.com/office/powerpoint/2010/main" val="38213889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3B336-5B50-A051-5F85-8850C349066B}"/>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4EDCFBF-64C6-D6BC-C1AB-4BDEB8F9B09F}"/>
              </a:ext>
            </a:extLst>
          </p:cNvPr>
          <p:cNvGraphicFramePr>
            <a:graphicFrameLocks noGrp="1"/>
          </p:cNvGraphicFramePr>
          <p:nvPr/>
        </p:nvGraphicFramePr>
        <p:xfrm>
          <a:off x="407987" y="1128714"/>
          <a:ext cx="10983915" cy="5324478"/>
        </p:xfrm>
        <a:graphic>
          <a:graphicData uri="http://schemas.openxmlformats.org/drawingml/2006/table">
            <a:tbl>
              <a:tblPr>
                <a:tableStyleId>{5C22544A-7EE6-4342-B048-85BDC9FD1C3A}</a:tableStyleId>
              </a:tblPr>
              <a:tblGrid>
                <a:gridCol w="4336647">
                  <a:extLst>
                    <a:ext uri="{9D8B030D-6E8A-4147-A177-3AD203B41FA5}">
                      <a16:colId xmlns:a16="http://schemas.microsoft.com/office/drawing/2014/main" val="2747444531"/>
                    </a:ext>
                  </a:extLst>
                </a:gridCol>
                <a:gridCol w="4126592">
                  <a:extLst>
                    <a:ext uri="{9D8B030D-6E8A-4147-A177-3AD203B41FA5}">
                      <a16:colId xmlns:a16="http://schemas.microsoft.com/office/drawing/2014/main" val="117478493"/>
                    </a:ext>
                  </a:extLst>
                </a:gridCol>
                <a:gridCol w="2520676">
                  <a:extLst>
                    <a:ext uri="{9D8B030D-6E8A-4147-A177-3AD203B41FA5}">
                      <a16:colId xmlns:a16="http://schemas.microsoft.com/office/drawing/2014/main" val="787489180"/>
                    </a:ext>
                  </a:extLst>
                </a:gridCol>
              </a:tblGrid>
              <a:tr h="454368">
                <a:tc>
                  <a:txBody>
                    <a:bodyPr/>
                    <a:lstStyle/>
                    <a:p>
                      <a:pPr algn="l" fontAlgn="b"/>
                      <a:r>
                        <a:rPr lang="en-GB" sz="1800" b="1" u="sng" strike="noStrike">
                          <a:effectLst/>
                          <a:latin typeface="+mj-lt"/>
                          <a:hlinkClick r:id="rId2"/>
                        </a:rPr>
                        <a:t>ChatPDF</a:t>
                      </a:r>
                      <a:endParaRPr lang="en-GB" sz="1800" b="1"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3"/>
                        </a:rPr>
                        <a:t>Zapier</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4"/>
                        </a:rPr>
                        <a:t>AI Reader, McGraw Hill</a:t>
                      </a:r>
                      <a:endParaRPr lang="en-GB" sz="1800" b="0" i="0" u="sng" strike="noStrike">
                        <a:solidFill>
                          <a:srgbClr val="467886"/>
                        </a:solidFill>
                        <a:effectLst/>
                        <a:latin typeface="+mj-lt"/>
                      </a:endParaRPr>
                    </a:p>
                  </a:txBody>
                  <a:tcPr marL="9525" marR="9525" marT="9525" marB="0" anchor="b">
                    <a:solidFill>
                      <a:schemeClr val="bg1"/>
                    </a:solidFill>
                  </a:tcPr>
                </a:tc>
                <a:extLst>
                  <a:ext uri="{0D108BD9-81ED-4DB2-BD59-A6C34878D82A}">
                    <a16:rowId xmlns:a16="http://schemas.microsoft.com/office/drawing/2014/main" val="379866717"/>
                  </a:ext>
                </a:extLst>
              </a:tr>
              <a:tr h="675786">
                <a:tc>
                  <a:txBody>
                    <a:bodyPr/>
                    <a:lstStyle/>
                    <a:p>
                      <a:pPr algn="l" fontAlgn="b"/>
                      <a:r>
                        <a:rPr lang="en-GB" sz="1800" u="sng" strike="noStrike">
                          <a:effectLst/>
                          <a:latin typeface="+mj-lt"/>
                          <a:hlinkClick r:id="rId5"/>
                        </a:rPr>
                        <a:t>Scholarcy</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6"/>
                        </a:rPr>
                        <a:t>Advanced Data Analysis (formerly Code Interpreter), OpenAI</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7"/>
                        </a:rPr>
                        <a:t>AI Scientist, Sakana AI</a:t>
                      </a:r>
                      <a:endParaRPr lang="en-GB" sz="1800" b="0" i="0" u="sng" strike="noStrike">
                        <a:solidFill>
                          <a:srgbClr val="467886"/>
                        </a:solidFill>
                        <a:effectLst/>
                        <a:latin typeface="+mj-lt"/>
                      </a:endParaRPr>
                    </a:p>
                  </a:txBody>
                  <a:tcPr marL="9525" marR="9525" marT="9525" marB="0" anchor="b">
                    <a:solidFill>
                      <a:schemeClr val="bg1"/>
                    </a:solidFill>
                  </a:tcPr>
                </a:tc>
                <a:extLst>
                  <a:ext uri="{0D108BD9-81ED-4DB2-BD59-A6C34878D82A}">
                    <a16:rowId xmlns:a16="http://schemas.microsoft.com/office/drawing/2014/main" val="1203456471"/>
                  </a:ext>
                </a:extLst>
              </a:tr>
              <a:tr h="285035">
                <a:tc>
                  <a:txBody>
                    <a:bodyPr/>
                    <a:lstStyle/>
                    <a:p>
                      <a:pPr algn="l" fontAlgn="b"/>
                      <a:r>
                        <a:rPr lang="en-GB" sz="1800" u="sng" strike="noStrike">
                          <a:effectLst/>
                          <a:latin typeface="+mj-lt"/>
                          <a:hlinkClick r:id="rId8"/>
                        </a:rPr>
                        <a:t>Humata.ai</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9"/>
                        </a:rPr>
                        <a:t>HeyScience</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10"/>
                        </a:rPr>
                        <a:t>OpenResearcher</a:t>
                      </a:r>
                      <a:endParaRPr lang="en-GB" sz="1800" b="0" i="0" u="sng" strike="noStrike">
                        <a:solidFill>
                          <a:srgbClr val="467886"/>
                        </a:solidFill>
                        <a:effectLst/>
                        <a:latin typeface="+mj-lt"/>
                      </a:endParaRPr>
                    </a:p>
                  </a:txBody>
                  <a:tcPr marL="9525" marR="9525" marT="9525" marB="0" anchor="b">
                    <a:solidFill>
                      <a:schemeClr val="bg1"/>
                    </a:solidFill>
                  </a:tcPr>
                </a:tc>
                <a:extLst>
                  <a:ext uri="{0D108BD9-81ED-4DB2-BD59-A6C34878D82A}">
                    <a16:rowId xmlns:a16="http://schemas.microsoft.com/office/drawing/2014/main" val="3934779607"/>
                  </a:ext>
                </a:extLst>
              </a:tr>
              <a:tr h="454368">
                <a:tc>
                  <a:txBody>
                    <a:bodyPr/>
                    <a:lstStyle/>
                    <a:p>
                      <a:pPr algn="l" fontAlgn="b"/>
                      <a:r>
                        <a:rPr lang="en-GB" sz="1800" u="sng" strike="noStrike">
                          <a:effectLst/>
                          <a:latin typeface="+mj-lt"/>
                          <a:hlinkClick r:id="rId11"/>
                        </a:rPr>
                        <a:t>Explainpaper</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12"/>
                        </a:rPr>
                        <a:t>TLDR This</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13"/>
                        </a:rPr>
                        <a:t>Manubot AI Editor</a:t>
                      </a:r>
                      <a:endParaRPr lang="en-GB" sz="1800" b="0" i="0" u="sng" strike="noStrike">
                        <a:solidFill>
                          <a:srgbClr val="467886"/>
                        </a:solidFill>
                        <a:effectLst/>
                        <a:latin typeface="+mj-lt"/>
                      </a:endParaRPr>
                    </a:p>
                  </a:txBody>
                  <a:tcPr marL="9525" marR="9525" marT="9525" marB="0" anchor="b">
                    <a:solidFill>
                      <a:schemeClr val="bg1"/>
                    </a:solidFill>
                  </a:tcPr>
                </a:tc>
                <a:extLst>
                  <a:ext uri="{0D108BD9-81ED-4DB2-BD59-A6C34878D82A}">
                    <a16:rowId xmlns:a16="http://schemas.microsoft.com/office/drawing/2014/main" val="2632559533"/>
                  </a:ext>
                </a:extLst>
              </a:tr>
              <a:tr h="285035">
                <a:tc>
                  <a:txBody>
                    <a:bodyPr/>
                    <a:lstStyle/>
                    <a:p>
                      <a:pPr algn="l" fontAlgn="b"/>
                      <a:r>
                        <a:rPr lang="en-GB" sz="1800" u="sng" strike="noStrike">
                          <a:effectLst/>
                          <a:latin typeface="+mj-lt"/>
                          <a:hlinkClick r:id="rId14"/>
                        </a:rPr>
                        <a:t>SciSpace</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15"/>
                        </a:rPr>
                        <a:t>AskYourPDF</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16"/>
                        </a:rPr>
                        <a:t>Coral AI</a:t>
                      </a:r>
                      <a:endParaRPr lang="en-GB" sz="1800" b="0" i="0" u="sng" strike="noStrike">
                        <a:solidFill>
                          <a:srgbClr val="467886"/>
                        </a:solidFill>
                        <a:effectLst/>
                        <a:latin typeface="+mj-lt"/>
                      </a:endParaRPr>
                    </a:p>
                  </a:txBody>
                  <a:tcPr marL="9525" marR="9525" marT="9525" marB="0" anchor="b">
                    <a:solidFill>
                      <a:schemeClr val="bg1"/>
                    </a:solidFill>
                  </a:tcPr>
                </a:tc>
                <a:extLst>
                  <a:ext uri="{0D108BD9-81ED-4DB2-BD59-A6C34878D82A}">
                    <a16:rowId xmlns:a16="http://schemas.microsoft.com/office/drawing/2014/main" val="3561227382"/>
                  </a:ext>
                </a:extLst>
              </a:tr>
              <a:tr h="560505">
                <a:tc>
                  <a:txBody>
                    <a:bodyPr/>
                    <a:lstStyle/>
                    <a:p>
                      <a:pPr algn="l" fontAlgn="b"/>
                      <a:r>
                        <a:rPr lang="en-GB" sz="1800" u="sng" strike="noStrike">
                          <a:effectLst/>
                          <a:latin typeface="+mj-lt"/>
                          <a:hlinkClick r:id="rId17"/>
                        </a:rPr>
                        <a:t>genei</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18"/>
                        </a:rPr>
                        <a:t>Powerdrill</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19"/>
                        </a:rPr>
                        <a:t>Reliant Tabular, Reliant AI</a:t>
                      </a:r>
                      <a:endParaRPr lang="en-GB" sz="1800" b="0" i="0" u="sng" strike="noStrike">
                        <a:solidFill>
                          <a:srgbClr val="467886"/>
                        </a:solidFill>
                        <a:effectLst/>
                        <a:latin typeface="+mj-lt"/>
                      </a:endParaRPr>
                    </a:p>
                  </a:txBody>
                  <a:tcPr marL="9525" marR="9525" marT="9525" marB="0" anchor="b">
                    <a:solidFill>
                      <a:schemeClr val="bg1"/>
                    </a:solidFill>
                  </a:tcPr>
                </a:tc>
                <a:extLst>
                  <a:ext uri="{0D108BD9-81ED-4DB2-BD59-A6C34878D82A}">
                    <a16:rowId xmlns:a16="http://schemas.microsoft.com/office/drawing/2014/main" val="4193603176"/>
                  </a:ext>
                </a:extLst>
              </a:tr>
              <a:tr h="454368">
                <a:tc>
                  <a:txBody>
                    <a:bodyPr/>
                    <a:lstStyle/>
                    <a:p>
                      <a:pPr algn="l" fontAlgn="b"/>
                      <a:r>
                        <a:rPr lang="en-GB" sz="1800" u="sng" strike="noStrike">
                          <a:effectLst/>
                          <a:latin typeface="+mj-lt"/>
                          <a:hlinkClick r:id="rId20"/>
                        </a:rPr>
                        <a:t>Any Summary</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21"/>
                        </a:rPr>
                        <a:t>Julius AI</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22"/>
                        </a:rPr>
                        <a:t>WikiCrow, FutureHouse</a:t>
                      </a:r>
                      <a:endParaRPr lang="en-GB" sz="1800" b="0" i="0" u="sng" strike="noStrike">
                        <a:solidFill>
                          <a:srgbClr val="467886"/>
                        </a:solidFill>
                        <a:effectLst/>
                        <a:latin typeface="+mj-lt"/>
                      </a:endParaRPr>
                    </a:p>
                  </a:txBody>
                  <a:tcPr marL="9525" marR="9525" marT="9525" marB="0" anchor="b">
                    <a:solidFill>
                      <a:schemeClr val="bg1"/>
                    </a:solidFill>
                  </a:tcPr>
                </a:tc>
                <a:extLst>
                  <a:ext uri="{0D108BD9-81ED-4DB2-BD59-A6C34878D82A}">
                    <a16:rowId xmlns:a16="http://schemas.microsoft.com/office/drawing/2014/main" val="2728070431"/>
                  </a:ext>
                </a:extLst>
              </a:tr>
              <a:tr h="560505">
                <a:tc>
                  <a:txBody>
                    <a:bodyPr/>
                    <a:lstStyle/>
                    <a:p>
                      <a:pPr algn="l" fontAlgn="b"/>
                      <a:r>
                        <a:rPr lang="en-GB" sz="1800" u="sng" strike="noStrike">
                          <a:effectLst/>
                          <a:latin typeface="+mj-lt"/>
                          <a:hlinkClick r:id="rId23"/>
                        </a:rPr>
                        <a:t>Iris.ai</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24"/>
                        </a:rPr>
                        <a:t>Adobe AI Assistant</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25"/>
                        </a:rPr>
                        <a:t>ReadCube Pro, Digital Science</a:t>
                      </a:r>
                      <a:endParaRPr lang="en-GB" sz="1800" b="0" i="0" u="sng" strike="noStrike">
                        <a:solidFill>
                          <a:srgbClr val="467886"/>
                        </a:solidFill>
                        <a:effectLst/>
                        <a:latin typeface="+mj-lt"/>
                      </a:endParaRPr>
                    </a:p>
                  </a:txBody>
                  <a:tcPr marL="9525" marR="9525" marT="9525" marB="0" anchor="b">
                    <a:solidFill>
                      <a:schemeClr val="bg1"/>
                    </a:solidFill>
                  </a:tcPr>
                </a:tc>
                <a:extLst>
                  <a:ext uri="{0D108BD9-81ED-4DB2-BD59-A6C34878D82A}">
                    <a16:rowId xmlns:a16="http://schemas.microsoft.com/office/drawing/2014/main" val="2576854991"/>
                  </a:ext>
                </a:extLst>
              </a:tr>
              <a:tr h="454368">
                <a:tc>
                  <a:txBody>
                    <a:bodyPr/>
                    <a:lstStyle/>
                    <a:p>
                      <a:pPr algn="l" fontAlgn="b"/>
                      <a:r>
                        <a:rPr lang="en-GB" sz="1800" u="sng" strike="noStrike">
                          <a:effectLst/>
                          <a:latin typeface="+mj-lt"/>
                          <a:hlinkClick r:id="rId26"/>
                        </a:rPr>
                        <a:t>Docalysis</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27"/>
                        </a:rPr>
                        <a:t>Audemic Scholar</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28"/>
                        </a:rPr>
                        <a:t>Illuminate, Google</a:t>
                      </a:r>
                      <a:endParaRPr lang="en-GB" sz="1800" b="0" i="0" u="sng" strike="noStrike">
                        <a:solidFill>
                          <a:srgbClr val="467886"/>
                        </a:solidFill>
                        <a:effectLst/>
                        <a:latin typeface="+mj-lt"/>
                      </a:endParaRPr>
                    </a:p>
                  </a:txBody>
                  <a:tcPr marL="9525" marR="9525" marT="9525" marB="0" anchor="b">
                    <a:solidFill>
                      <a:schemeClr val="bg1"/>
                    </a:solidFill>
                  </a:tcPr>
                </a:tc>
                <a:extLst>
                  <a:ext uri="{0D108BD9-81ED-4DB2-BD59-A6C34878D82A}">
                    <a16:rowId xmlns:a16="http://schemas.microsoft.com/office/drawing/2014/main" val="575894589"/>
                  </a:ext>
                </a:extLst>
              </a:tr>
              <a:tr h="285035">
                <a:tc>
                  <a:txBody>
                    <a:bodyPr/>
                    <a:lstStyle/>
                    <a:p>
                      <a:pPr algn="l" fontAlgn="b"/>
                      <a:r>
                        <a:rPr lang="en-GB" sz="1800" b="1" u="sng" strike="noStrike">
                          <a:effectLst/>
                          <a:latin typeface="+mj-lt"/>
                          <a:hlinkClick r:id="rId29"/>
                        </a:rPr>
                        <a:t>NotebookLM, Google</a:t>
                      </a:r>
                      <a:endParaRPr lang="en-GB" sz="1800" b="1"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30"/>
                        </a:rPr>
                        <a:t>Audemic Insights</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31"/>
                        </a:rPr>
                        <a:t>AnswerThis</a:t>
                      </a:r>
                      <a:r>
                        <a:rPr lang="en-GB" sz="1800" u="sng" strike="noStrike">
                          <a:effectLst/>
                          <a:latin typeface="+mj-lt"/>
                        </a:rPr>
                        <a:t> </a:t>
                      </a:r>
                      <a:endParaRPr lang="en-GB" sz="1800" b="0" i="0" u="sng" strike="noStrike">
                        <a:solidFill>
                          <a:srgbClr val="467886"/>
                        </a:solidFill>
                        <a:effectLst/>
                        <a:latin typeface="+mj-lt"/>
                      </a:endParaRPr>
                    </a:p>
                  </a:txBody>
                  <a:tcPr marL="9525" marR="9525" marT="9525" marB="0" anchor="b">
                    <a:solidFill>
                      <a:schemeClr val="bg1"/>
                    </a:solidFill>
                  </a:tcPr>
                </a:tc>
                <a:extLst>
                  <a:ext uri="{0D108BD9-81ED-4DB2-BD59-A6C34878D82A}">
                    <a16:rowId xmlns:a16="http://schemas.microsoft.com/office/drawing/2014/main" val="3722450449"/>
                  </a:ext>
                </a:extLst>
              </a:tr>
              <a:tr h="285035">
                <a:tc>
                  <a:txBody>
                    <a:bodyPr/>
                    <a:lstStyle/>
                    <a:p>
                      <a:pPr algn="l" fontAlgn="b"/>
                      <a:r>
                        <a:rPr lang="en-GB" sz="1800" u="sng" strike="noStrike">
                          <a:effectLst/>
                          <a:latin typeface="+mj-lt"/>
                          <a:hlinkClick r:id="rId32"/>
                        </a:rPr>
                        <a:t>Notion</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33"/>
                        </a:rPr>
                        <a:t>PowerNotes</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endParaRPr lang="en-FI" sz="1800" b="0" i="0" u="none" strike="noStrike">
                        <a:solidFill>
                          <a:srgbClr val="000000"/>
                        </a:solidFill>
                        <a:effectLst/>
                        <a:latin typeface="+mj-lt"/>
                      </a:endParaRPr>
                    </a:p>
                  </a:txBody>
                  <a:tcPr marL="9525" marR="9525" marT="9525" marB="0" anchor="b">
                    <a:solidFill>
                      <a:schemeClr val="bg1"/>
                    </a:solidFill>
                  </a:tcPr>
                </a:tc>
                <a:extLst>
                  <a:ext uri="{0D108BD9-81ED-4DB2-BD59-A6C34878D82A}">
                    <a16:rowId xmlns:a16="http://schemas.microsoft.com/office/drawing/2014/main" val="3788021171"/>
                  </a:ext>
                </a:extLst>
              </a:tr>
              <a:tr h="285035">
                <a:tc>
                  <a:txBody>
                    <a:bodyPr/>
                    <a:lstStyle/>
                    <a:p>
                      <a:pPr algn="l" fontAlgn="b"/>
                      <a:r>
                        <a:rPr lang="en-GB" sz="1800" u="sng" strike="noStrike">
                          <a:effectLst/>
                          <a:latin typeface="+mj-lt"/>
                          <a:hlinkClick r:id="rId34"/>
                        </a:rPr>
                        <a:t>PDF.ai</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35"/>
                        </a:rPr>
                        <a:t>Zotero ARIA</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endParaRPr lang="en-FI" sz="1800" b="0" i="0" u="none" strike="noStrike">
                        <a:solidFill>
                          <a:srgbClr val="000000"/>
                        </a:solidFill>
                        <a:effectLst/>
                        <a:latin typeface="+mj-lt"/>
                      </a:endParaRPr>
                    </a:p>
                  </a:txBody>
                  <a:tcPr marL="9525" marR="9525" marT="9525" marB="0" anchor="b">
                    <a:solidFill>
                      <a:schemeClr val="bg1"/>
                    </a:solidFill>
                  </a:tcPr>
                </a:tc>
                <a:extLst>
                  <a:ext uri="{0D108BD9-81ED-4DB2-BD59-A6C34878D82A}">
                    <a16:rowId xmlns:a16="http://schemas.microsoft.com/office/drawing/2014/main" val="3363907908"/>
                  </a:ext>
                </a:extLst>
              </a:tr>
              <a:tr h="285035">
                <a:tc>
                  <a:txBody>
                    <a:bodyPr/>
                    <a:lstStyle/>
                    <a:p>
                      <a:pPr algn="l" fontAlgn="b"/>
                      <a:r>
                        <a:rPr lang="en-GB" sz="1800" u="sng" strike="noStrike">
                          <a:effectLst/>
                          <a:latin typeface="+mj-lt"/>
                          <a:hlinkClick r:id="rId36"/>
                        </a:rPr>
                        <a:t>Danswer</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r>
                        <a:rPr lang="en-GB" sz="1800" u="sng" strike="noStrike">
                          <a:effectLst/>
                          <a:latin typeface="+mj-lt"/>
                          <a:hlinkClick r:id="rId37"/>
                        </a:rPr>
                        <a:t>Data-to-paper</a:t>
                      </a:r>
                      <a:endParaRPr lang="en-GB" sz="1800" b="0" i="0" u="sng" strike="noStrike">
                        <a:solidFill>
                          <a:srgbClr val="467886"/>
                        </a:solidFill>
                        <a:effectLst/>
                        <a:latin typeface="+mj-lt"/>
                      </a:endParaRPr>
                    </a:p>
                  </a:txBody>
                  <a:tcPr marL="9525" marR="9525" marT="9525" marB="0" anchor="b">
                    <a:solidFill>
                      <a:schemeClr val="bg1"/>
                    </a:solidFill>
                  </a:tcPr>
                </a:tc>
                <a:tc>
                  <a:txBody>
                    <a:bodyPr/>
                    <a:lstStyle/>
                    <a:p>
                      <a:pPr algn="l" fontAlgn="b"/>
                      <a:endParaRPr lang="en-FI" sz="1800" b="0" i="0" u="none" strike="noStrike">
                        <a:solidFill>
                          <a:srgbClr val="000000"/>
                        </a:solidFill>
                        <a:effectLst/>
                        <a:latin typeface="+mj-lt"/>
                      </a:endParaRPr>
                    </a:p>
                  </a:txBody>
                  <a:tcPr marL="9525" marR="9525" marT="9525" marB="0" anchor="b">
                    <a:solidFill>
                      <a:schemeClr val="bg1"/>
                    </a:solidFill>
                  </a:tcPr>
                </a:tc>
                <a:extLst>
                  <a:ext uri="{0D108BD9-81ED-4DB2-BD59-A6C34878D82A}">
                    <a16:rowId xmlns:a16="http://schemas.microsoft.com/office/drawing/2014/main" val="1543826141"/>
                  </a:ext>
                </a:extLst>
              </a:tr>
            </a:tbl>
          </a:graphicData>
        </a:graphic>
      </p:graphicFrame>
      <p:sp>
        <p:nvSpPr>
          <p:cNvPr id="2" name="Title 1">
            <a:extLst>
              <a:ext uri="{FF2B5EF4-FFF2-40B4-BE49-F238E27FC236}">
                <a16:creationId xmlns:a16="http://schemas.microsoft.com/office/drawing/2014/main" id="{5DA9B9EE-76A1-3A5C-FBF8-03772600DFBB}"/>
              </a:ext>
            </a:extLst>
          </p:cNvPr>
          <p:cNvSpPr>
            <a:spLocks noGrp="1"/>
          </p:cNvSpPr>
          <p:nvPr>
            <p:ph type="title"/>
          </p:nvPr>
        </p:nvSpPr>
        <p:spPr/>
        <p:txBody>
          <a:bodyPr/>
          <a:lstStyle/>
          <a:p>
            <a:r>
              <a:rPr lang="en-US"/>
              <a:t>4.2. Other AI tools - </a:t>
            </a:r>
            <a:r>
              <a:rPr lang="en-GB" sz="3200" b="1" u="none" strike="noStrike">
                <a:effectLst/>
              </a:rPr>
              <a:t>Workflow Tools</a:t>
            </a:r>
            <a:br>
              <a:rPr lang="en-GB" sz="3200" b="1" i="0" u="none" strike="noStrike">
                <a:solidFill>
                  <a:srgbClr val="000000"/>
                </a:solidFill>
                <a:effectLst/>
                <a:latin typeface="Aptos Narrow" panose="020B0004020202020204" pitchFamily="34" charset="0"/>
              </a:rPr>
            </a:br>
            <a:endParaRPr lang="en-US"/>
          </a:p>
        </p:txBody>
      </p:sp>
      <p:sp>
        <p:nvSpPr>
          <p:cNvPr id="7" name="Slide Number Placeholder 6">
            <a:extLst>
              <a:ext uri="{FF2B5EF4-FFF2-40B4-BE49-F238E27FC236}">
                <a16:creationId xmlns:a16="http://schemas.microsoft.com/office/drawing/2014/main" id="{C27A4D9C-79A7-C58C-224F-3E6C52540B04}"/>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73</a:t>
            </a:fld>
            <a:endParaRPr lang="fi-FI"/>
          </a:p>
        </p:txBody>
      </p:sp>
      <p:sp>
        <p:nvSpPr>
          <p:cNvPr id="5" name="TextBox 4">
            <a:extLst>
              <a:ext uri="{FF2B5EF4-FFF2-40B4-BE49-F238E27FC236}">
                <a16:creationId xmlns:a16="http://schemas.microsoft.com/office/drawing/2014/main" id="{3BC72222-3F16-6521-D614-2CEE51DECB5F}"/>
              </a:ext>
            </a:extLst>
          </p:cNvPr>
          <p:cNvSpPr txBox="1"/>
          <p:nvPr/>
        </p:nvSpPr>
        <p:spPr>
          <a:xfrm>
            <a:off x="6886574" y="5505816"/>
            <a:ext cx="4073899" cy="830997"/>
          </a:xfrm>
          <a:prstGeom prst="rect">
            <a:avLst/>
          </a:prstGeom>
          <a:noFill/>
        </p:spPr>
        <p:txBody>
          <a:bodyPr wrap="square" rtlCol="0">
            <a:spAutoFit/>
          </a:bodyPr>
          <a:lstStyle/>
          <a:p>
            <a:pPr algn="l"/>
            <a:r>
              <a:rPr lang="en-FI" sz="1600" b="1">
                <a:latin typeface="+mj-lt"/>
              </a:rPr>
              <a:t>Note: In the context of academic research, these should be used only with </a:t>
            </a:r>
            <a:r>
              <a:rPr lang="en-FI" sz="1600" b="1">
                <a:solidFill>
                  <a:srgbClr val="00B050"/>
                </a:solidFill>
                <a:latin typeface="+mj-lt"/>
              </a:rPr>
              <a:t>public data</a:t>
            </a:r>
          </a:p>
        </p:txBody>
      </p:sp>
      <p:sp>
        <p:nvSpPr>
          <p:cNvPr id="4" name="TextBox 3">
            <a:extLst>
              <a:ext uri="{FF2B5EF4-FFF2-40B4-BE49-F238E27FC236}">
                <a16:creationId xmlns:a16="http://schemas.microsoft.com/office/drawing/2014/main" id="{24D61AF5-5B95-2C7E-9E2D-C6AF567767BD}"/>
              </a:ext>
            </a:extLst>
          </p:cNvPr>
          <p:cNvSpPr txBox="1"/>
          <p:nvPr/>
        </p:nvSpPr>
        <p:spPr>
          <a:xfrm>
            <a:off x="10258425" y="253922"/>
            <a:ext cx="1668462" cy="584775"/>
          </a:xfrm>
          <a:prstGeom prst="rect">
            <a:avLst/>
          </a:prstGeom>
          <a:noFill/>
        </p:spPr>
        <p:txBody>
          <a:bodyPr wrap="square" rtlCol="0">
            <a:spAutoFit/>
          </a:bodyPr>
          <a:lstStyle/>
          <a:p>
            <a:pPr algn="l"/>
            <a:r>
              <a:rPr lang="en-FI" sz="1600">
                <a:latin typeface="+mj-lt"/>
                <a:hlinkClick r:id="rId38"/>
              </a:rPr>
              <a:t>Source: </a:t>
            </a:r>
            <a:br>
              <a:rPr lang="en-FI" sz="1600">
                <a:latin typeface="+mj-lt"/>
                <a:hlinkClick r:id="rId38"/>
              </a:rPr>
            </a:br>
            <a:r>
              <a:rPr lang="en-FI" sz="1600">
                <a:latin typeface="+mj-lt"/>
                <a:hlinkClick r:id="rId38"/>
              </a:rPr>
              <a:t>ITHAKA SR</a:t>
            </a:r>
            <a:endParaRPr lang="en-FI" sz="1600">
              <a:latin typeface="+mj-lt"/>
            </a:endParaRPr>
          </a:p>
        </p:txBody>
      </p:sp>
      <p:sp>
        <p:nvSpPr>
          <p:cNvPr id="6" name="Date Placeholder 5">
            <a:extLst>
              <a:ext uri="{FF2B5EF4-FFF2-40B4-BE49-F238E27FC236}">
                <a16:creationId xmlns:a16="http://schemas.microsoft.com/office/drawing/2014/main" id="{A88C9364-51E2-EBA6-C206-D55BD937D2A3}"/>
              </a:ext>
            </a:extLst>
          </p:cNvPr>
          <p:cNvSpPr>
            <a:spLocks noGrp="1"/>
          </p:cNvSpPr>
          <p:nvPr>
            <p:ph type="dt" sz="half" idx="14"/>
          </p:nvPr>
        </p:nvSpPr>
        <p:spPr/>
        <p:txBody>
          <a:bodyPr/>
          <a:lstStyle/>
          <a:p>
            <a:r>
              <a:rPr lang="fi-FI"/>
              <a:t>28.04.2026</a:t>
            </a:r>
          </a:p>
        </p:txBody>
      </p:sp>
      <p:sp>
        <p:nvSpPr>
          <p:cNvPr id="8" name="Footer Placeholder 7">
            <a:extLst>
              <a:ext uri="{FF2B5EF4-FFF2-40B4-BE49-F238E27FC236}">
                <a16:creationId xmlns:a16="http://schemas.microsoft.com/office/drawing/2014/main" id="{CA8690C9-C8AC-9C5E-814C-E648BEAE733D}"/>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1450678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1326C-B2ED-D141-AEAB-FDF8A6B14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FC33B-5180-BA19-5222-132A0EB038A6}"/>
              </a:ext>
            </a:extLst>
          </p:cNvPr>
          <p:cNvSpPr>
            <a:spLocks noGrp="1"/>
          </p:cNvSpPr>
          <p:nvPr>
            <p:ph type="title"/>
          </p:nvPr>
        </p:nvSpPr>
        <p:spPr/>
        <p:txBody>
          <a:bodyPr/>
          <a:lstStyle/>
          <a:p>
            <a:r>
              <a:rPr lang="en-US"/>
              <a:t>4.2. Other AI tools - </a:t>
            </a:r>
            <a:r>
              <a:rPr lang="en-GB" sz="3200" b="1" u="none" strike="noStrike">
                <a:effectLst/>
              </a:rPr>
              <a:t>Workflow Tools</a:t>
            </a:r>
            <a:br>
              <a:rPr lang="en-GB" sz="3200" b="1" u="none" strike="noStrike">
                <a:effectLst/>
              </a:rPr>
            </a:br>
            <a:r>
              <a:rPr lang="en-GB" sz="3200" b="1" u="none" strike="noStrike" err="1">
                <a:effectLst/>
              </a:rPr>
              <a:t>NotebookLM</a:t>
            </a:r>
            <a:r>
              <a:rPr lang="en-GB" sz="3200" b="1" u="none" strike="noStrike">
                <a:effectLst/>
              </a:rPr>
              <a:t> by Google</a:t>
            </a:r>
            <a:br>
              <a:rPr lang="en-GB" sz="3200" b="1" i="0" u="none" strike="noStrike">
                <a:solidFill>
                  <a:srgbClr val="000000"/>
                </a:solidFill>
                <a:effectLst/>
                <a:latin typeface="Aptos Narrow" panose="020B0004020202020204" pitchFamily="34" charset="0"/>
              </a:rPr>
            </a:br>
            <a:endParaRPr lang="en-US"/>
          </a:p>
        </p:txBody>
      </p:sp>
      <p:sp>
        <p:nvSpPr>
          <p:cNvPr id="7" name="Slide Number Placeholder 6">
            <a:extLst>
              <a:ext uri="{FF2B5EF4-FFF2-40B4-BE49-F238E27FC236}">
                <a16:creationId xmlns:a16="http://schemas.microsoft.com/office/drawing/2014/main" id="{811CA6B0-50D1-74FF-F300-A4EAE8502053}"/>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74</a:t>
            </a:fld>
            <a:endParaRPr lang="fi-FI"/>
          </a:p>
        </p:txBody>
      </p:sp>
      <p:sp>
        <p:nvSpPr>
          <p:cNvPr id="5" name="TextBox 4">
            <a:extLst>
              <a:ext uri="{FF2B5EF4-FFF2-40B4-BE49-F238E27FC236}">
                <a16:creationId xmlns:a16="http://schemas.microsoft.com/office/drawing/2014/main" id="{D5D27FF7-13EF-DA8C-09C5-20ED33C69512}"/>
              </a:ext>
            </a:extLst>
          </p:cNvPr>
          <p:cNvSpPr txBox="1"/>
          <p:nvPr/>
        </p:nvSpPr>
        <p:spPr>
          <a:xfrm>
            <a:off x="1055687" y="5045928"/>
            <a:ext cx="4073899" cy="830997"/>
          </a:xfrm>
          <a:prstGeom prst="rect">
            <a:avLst/>
          </a:prstGeom>
          <a:noFill/>
        </p:spPr>
        <p:txBody>
          <a:bodyPr wrap="square" rtlCol="0">
            <a:spAutoFit/>
          </a:bodyPr>
          <a:lstStyle/>
          <a:p>
            <a:pPr algn="l"/>
            <a:r>
              <a:rPr lang="en-FI" sz="1600" b="1">
                <a:latin typeface="+mj-lt"/>
              </a:rPr>
              <a:t>Note: In the context of academic research, this tool should be used only with </a:t>
            </a:r>
            <a:r>
              <a:rPr lang="en-FI" sz="1600" b="1">
                <a:solidFill>
                  <a:srgbClr val="00B050"/>
                </a:solidFill>
                <a:latin typeface="+mj-lt"/>
              </a:rPr>
              <a:t>public data</a:t>
            </a:r>
          </a:p>
        </p:txBody>
      </p:sp>
      <p:sp>
        <p:nvSpPr>
          <p:cNvPr id="4" name="Text Placeholder 5">
            <a:extLst>
              <a:ext uri="{FF2B5EF4-FFF2-40B4-BE49-F238E27FC236}">
                <a16:creationId xmlns:a16="http://schemas.microsoft.com/office/drawing/2014/main" id="{A1C76948-8AFF-67A7-1BCF-1B67954D92ED}"/>
              </a:ext>
            </a:extLst>
          </p:cNvPr>
          <p:cNvSpPr>
            <a:spLocks noGrp="1"/>
          </p:cNvSpPr>
          <p:nvPr>
            <p:ph type="body" sz="quarter" idx="13"/>
          </p:nvPr>
        </p:nvSpPr>
        <p:spPr>
          <a:xfrm>
            <a:off x="1055688" y="2205039"/>
            <a:ext cx="10080625" cy="3671886"/>
          </a:xfrm>
        </p:spPr>
        <p:txBody>
          <a:bodyPr/>
          <a:lstStyle/>
          <a:p>
            <a:pPr marL="514350" indent="-514350">
              <a:buFont typeface="Arial" panose="020B0604020202020204" pitchFamily="34" charset="0"/>
              <a:buChar char="•"/>
            </a:pPr>
            <a:r>
              <a:rPr lang="en-US" sz="2000">
                <a:cs typeface="Arial"/>
              </a:rPr>
              <a:t>Absolutely one of the best tools around for “chatting with a paper”</a:t>
            </a:r>
          </a:p>
          <a:p>
            <a:pPr marL="514350" indent="-514350">
              <a:buFont typeface="Arial" panose="020B0604020202020204" pitchFamily="34" charset="0"/>
              <a:buChar char="•"/>
            </a:pPr>
            <a:r>
              <a:rPr lang="en-US" sz="2000">
                <a:cs typeface="Arial"/>
              </a:rPr>
              <a:t>Provides paraphrased text from the source along with where in the document the citation comes from</a:t>
            </a:r>
          </a:p>
          <a:p>
            <a:pPr marL="514350" indent="-514350">
              <a:buFont typeface="Arial" panose="020B0604020202020204" pitchFamily="34" charset="0"/>
              <a:buChar char="•"/>
            </a:pPr>
            <a:r>
              <a:rPr lang="en-US" sz="2000">
                <a:cs typeface="Arial"/>
              </a:rPr>
              <a:t>Most amazing feature is the </a:t>
            </a:r>
            <a:r>
              <a:rPr lang="en-US" sz="2000" b="1">
                <a:cs typeface="Arial"/>
              </a:rPr>
              <a:t>automatic synthesis of a podcast with two speakers casually chatting about the document</a:t>
            </a:r>
          </a:p>
          <a:p>
            <a:pPr marL="514350" indent="-514350">
              <a:buFont typeface="Arial" panose="020B0604020202020204" pitchFamily="34" charset="0"/>
              <a:buChar char="•"/>
            </a:pPr>
            <a:r>
              <a:rPr lang="en-US" sz="2000">
                <a:cs typeface="Arial"/>
                <a:hlinkClick r:id="rId2"/>
              </a:rPr>
              <a:t>https://notebooklm.google/</a:t>
            </a:r>
            <a:r>
              <a:rPr lang="en-US" sz="2000" b="1">
                <a:cs typeface="Arial"/>
              </a:rPr>
              <a:t> </a:t>
            </a:r>
          </a:p>
          <a:p>
            <a:endParaRPr lang="en-US" sz="2000">
              <a:cs typeface="Arial"/>
            </a:endParaRPr>
          </a:p>
        </p:txBody>
      </p:sp>
      <p:sp>
        <p:nvSpPr>
          <p:cNvPr id="3" name="Date Placeholder 2">
            <a:extLst>
              <a:ext uri="{FF2B5EF4-FFF2-40B4-BE49-F238E27FC236}">
                <a16:creationId xmlns:a16="http://schemas.microsoft.com/office/drawing/2014/main" id="{D885DA9A-F52B-5D77-6F26-E61EFEE0357E}"/>
              </a:ext>
            </a:extLst>
          </p:cNvPr>
          <p:cNvSpPr>
            <a:spLocks noGrp="1"/>
          </p:cNvSpPr>
          <p:nvPr>
            <p:ph type="dt" sz="half" idx="14"/>
          </p:nvPr>
        </p:nvSpPr>
        <p:spPr/>
        <p:txBody>
          <a:bodyPr/>
          <a:lstStyle/>
          <a:p>
            <a:r>
              <a:rPr lang="fi-FI"/>
              <a:t>28.04.2026</a:t>
            </a:r>
          </a:p>
        </p:txBody>
      </p:sp>
      <p:sp>
        <p:nvSpPr>
          <p:cNvPr id="6" name="Footer Placeholder 5">
            <a:extLst>
              <a:ext uri="{FF2B5EF4-FFF2-40B4-BE49-F238E27FC236}">
                <a16:creationId xmlns:a16="http://schemas.microsoft.com/office/drawing/2014/main" id="{82651740-C472-1A60-326C-1A251B2545E1}"/>
              </a:ext>
            </a:extLst>
          </p:cNvPr>
          <p:cNvSpPr>
            <a:spLocks noGrp="1"/>
          </p:cNvSpPr>
          <p:nvPr>
            <p:ph type="ftr" sz="quarter" idx="15"/>
          </p:nvPr>
        </p:nvSpPr>
        <p:spPr/>
        <p:txBody>
          <a:bodyPr/>
          <a:lstStyle/>
          <a:p>
            <a:r>
              <a:rPr lang="pt-BR"/>
              <a:t>Enrico Glerean &amp; Pedro Silva (2026) Please cite DOI: 10.5281/zenodo.14032261 (CC-BY)</a:t>
            </a:r>
            <a:endParaRPr lang="fi-FI"/>
          </a:p>
        </p:txBody>
      </p:sp>
      <p:pic>
        <p:nvPicPr>
          <p:cNvPr id="2050" name="Picture 2" descr="How to use NotebookLM for personalized knowledge synthesis">
            <a:extLst>
              <a:ext uri="{FF2B5EF4-FFF2-40B4-BE49-F238E27FC236}">
                <a16:creationId xmlns:a16="http://schemas.microsoft.com/office/drawing/2014/main" id="{F0E03D6D-4E4A-C262-103A-DB388FC41D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0542" y="404811"/>
            <a:ext cx="2633470" cy="1645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7590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5938-0487-CEE6-E428-72ABE87695ED}"/>
              </a:ext>
            </a:extLst>
          </p:cNvPr>
          <p:cNvSpPr>
            <a:spLocks noGrp="1"/>
          </p:cNvSpPr>
          <p:nvPr>
            <p:ph type="title"/>
          </p:nvPr>
        </p:nvSpPr>
        <p:spPr/>
        <p:txBody>
          <a:bodyPr/>
          <a:lstStyle/>
          <a:p>
            <a:r>
              <a:rPr lang="en-US"/>
              <a:t>4.3. Language models beyond chats</a:t>
            </a:r>
          </a:p>
        </p:txBody>
      </p:sp>
      <p:sp>
        <p:nvSpPr>
          <p:cNvPr id="6" name="Text Placeholder 5">
            <a:extLst>
              <a:ext uri="{FF2B5EF4-FFF2-40B4-BE49-F238E27FC236}">
                <a16:creationId xmlns:a16="http://schemas.microsoft.com/office/drawing/2014/main" id="{CF8D4B98-28F0-7477-0CC7-653642CAA72A}"/>
              </a:ext>
            </a:extLst>
          </p:cNvPr>
          <p:cNvSpPr>
            <a:spLocks noGrp="1"/>
          </p:cNvSpPr>
          <p:nvPr>
            <p:ph type="body" sz="quarter" idx="13"/>
          </p:nvPr>
        </p:nvSpPr>
        <p:spPr/>
        <p:txBody>
          <a:bodyPr/>
          <a:lstStyle/>
          <a:p>
            <a:pPr marL="514350" indent="-514350">
              <a:buChar char="•"/>
            </a:pPr>
            <a:r>
              <a:rPr lang="en-US" sz="2000">
                <a:cs typeface="Arial"/>
              </a:rPr>
              <a:t>Not just chat-bots! </a:t>
            </a:r>
            <a:r>
              <a:rPr lang="en-US" sz="2000" b="0">
                <a:cs typeface="Arial"/>
              </a:rPr>
              <a:t>Language model are useful for example for </a:t>
            </a:r>
            <a:r>
              <a:rPr lang="en-US" sz="2000">
                <a:cs typeface="Arial"/>
              </a:rPr>
              <a:t>automatic transcription of interviews. </a:t>
            </a:r>
          </a:p>
          <a:p>
            <a:pPr marL="514350" indent="-514350">
              <a:buChar char="•"/>
            </a:pPr>
            <a:r>
              <a:rPr lang="en-US" sz="2000">
                <a:cs typeface="Arial"/>
                <a:hlinkClick r:id="rId2"/>
              </a:rPr>
              <a:t>OpenAI Whisper</a:t>
            </a:r>
            <a:r>
              <a:rPr lang="en-US" sz="2000" b="0">
                <a:cs typeface="Arial"/>
              </a:rPr>
              <a:t> useful when interviews should not leave local storage.</a:t>
            </a:r>
          </a:p>
          <a:p>
            <a:pPr marL="514350" indent="-514350">
              <a:buChar char="•"/>
            </a:pPr>
            <a:r>
              <a:rPr lang="en-US" sz="2000" b="0">
                <a:cs typeface="Arial"/>
              </a:rPr>
              <a:t>Other uses are </a:t>
            </a:r>
            <a:r>
              <a:rPr lang="en-US" sz="2000">
                <a:cs typeface="Arial"/>
              </a:rPr>
              <a:t>Named Entity Recognition </a:t>
            </a:r>
            <a:r>
              <a:rPr lang="en-US" sz="2000" b="0">
                <a:cs typeface="Arial"/>
              </a:rPr>
              <a:t>for automatic </a:t>
            </a:r>
            <a:r>
              <a:rPr lang="en-US" sz="2000" b="0" err="1">
                <a:cs typeface="Arial"/>
              </a:rPr>
              <a:t>anonymisation</a:t>
            </a:r>
            <a:r>
              <a:rPr lang="en-US" sz="2000" b="0">
                <a:cs typeface="Arial"/>
              </a:rPr>
              <a:t> of text, or to identify when a text is sensitive. See an </a:t>
            </a:r>
            <a:r>
              <a:rPr lang="en-US" sz="2000" b="0">
                <a:cs typeface="Arial"/>
                <a:hlinkClick r:id="rId3"/>
              </a:rPr>
              <a:t>example with pretrained BERT model</a:t>
            </a:r>
            <a:r>
              <a:rPr lang="en-US" sz="2000" b="0">
                <a:cs typeface="Arial"/>
              </a:rPr>
              <a:t>.</a:t>
            </a:r>
          </a:p>
          <a:p>
            <a:pPr marL="514350" indent="-514350">
              <a:buChar char="•"/>
            </a:pPr>
            <a:r>
              <a:rPr lang="en-US" sz="2000">
                <a:cs typeface="Arial"/>
              </a:rPr>
              <a:t>Neural Machine Translation</a:t>
            </a:r>
            <a:r>
              <a:rPr lang="en-US" sz="2000" b="0">
                <a:cs typeface="Arial"/>
              </a:rPr>
              <a:t> with open-source models such as </a:t>
            </a:r>
            <a:r>
              <a:rPr lang="en-US" sz="2000">
                <a:cs typeface="Arial"/>
                <a:hlinkClick r:id="rId4"/>
              </a:rPr>
              <a:t>No Language Left Behind</a:t>
            </a:r>
            <a:r>
              <a:rPr lang="en-US" sz="2000">
                <a:cs typeface="Arial"/>
              </a:rPr>
              <a:t> (by Meta)</a:t>
            </a:r>
          </a:p>
        </p:txBody>
      </p:sp>
      <p:sp>
        <p:nvSpPr>
          <p:cNvPr id="7" name="Slide Number Placeholder 6">
            <a:extLst>
              <a:ext uri="{FF2B5EF4-FFF2-40B4-BE49-F238E27FC236}">
                <a16:creationId xmlns:a16="http://schemas.microsoft.com/office/drawing/2014/main" id="{98F2CF4A-FBAE-6C3E-5077-56D9AC5B4155}"/>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75</a:t>
            </a:fld>
            <a:endParaRPr lang="fi-FI"/>
          </a:p>
        </p:txBody>
      </p:sp>
      <p:sp>
        <p:nvSpPr>
          <p:cNvPr id="3" name="Date Placeholder 2">
            <a:extLst>
              <a:ext uri="{FF2B5EF4-FFF2-40B4-BE49-F238E27FC236}">
                <a16:creationId xmlns:a16="http://schemas.microsoft.com/office/drawing/2014/main" id="{D706A607-2882-293E-83AE-90134E92EB01}"/>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8A878659-3BA4-310D-0081-3E595B169D93}"/>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41478742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7B1CB-9D83-7026-EA24-41A8A2B16926}"/>
              </a:ext>
            </a:extLst>
          </p:cNvPr>
          <p:cNvSpPr>
            <a:spLocks noGrp="1"/>
          </p:cNvSpPr>
          <p:nvPr>
            <p:ph type="title"/>
          </p:nvPr>
        </p:nvSpPr>
        <p:spPr/>
        <p:txBody>
          <a:bodyPr/>
          <a:lstStyle/>
          <a:p>
            <a:r>
              <a:rPr lang="en-US"/>
              <a:t>4.4. Local open source LLMs</a:t>
            </a:r>
          </a:p>
        </p:txBody>
      </p:sp>
      <p:sp>
        <p:nvSpPr>
          <p:cNvPr id="6" name="Text Placeholder 5">
            <a:extLst>
              <a:ext uri="{FF2B5EF4-FFF2-40B4-BE49-F238E27FC236}">
                <a16:creationId xmlns:a16="http://schemas.microsoft.com/office/drawing/2014/main" id="{3C464D25-1715-EBAF-5CD7-2FA43C9E9BAE}"/>
              </a:ext>
            </a:extLst>
          </p:cNvPr>
          <p:cNvSpPr>
            <a:spLocks noGrp="1"/>
          </p:cNvSpPr>
          <p:nvPr>
            <p:ph type="body" sz="quarter" idx="13"/>
          </p:nvPr>
        </p:nvSpPr>
        <p:spPr/>
        <p:txBody>
          <a:bodyPr/>
          <a:lstStyle/>
          <a:p>
            <a:pPr marL="514350" indent="-514350">
              <a:buChar char="•"/>
            </a:pPr>
            <a:r>
              <a:rPr lang="en-US" sz="2000">
                <a:cs typeface="Arial"/>
              </a:rPr>
              <a:t>Open-source models</a:t>
            </a:r>
          </a:p>
          <a:p>
            <a:pPr marL="1351915" lvl="1" indent="-361315"/>
            <a:r>
              <a:rPr lang="en-US" sz="1600">
                <a:cs typeface="Arial"/>
              </a:rPr>
              <a:t>You can download them and run them on your laptop</a:t>
            </a:r>
          </a:p>
          <a:p>
            <a:pPr marL="1351915" lvl="1" indent="-361315"/>
            <a:r>
              <a:rPr lang="en-US" sz="1600">
                <a:cs typeface="Arial"/>
              </a:rPr>
              <a:t>Or you can use them in CSC/LUMI clusters.</a:t>
            </a:r>
          </a:p>
          <a:p>
            <a:pPr marL="514350" indent="-514350">
              <a:buChar char="•"/>
            </a:pPr>
            <a:r>
              <a:rPr lang="en-US" sz="2000">
                <a:cs typeface="Arial"/>
              </a:rPr>
              <a:t>Why local?</a:t>
            </a:r>
          </a:p>
          <a:p>
            <a:pPr marL="1351915" lvl="1" indent="-361315"/>
            <a:r>
              <a:rPr lang="en-US" sz="1600">
                <a:cs typeface="Arial"/>
              </a:rPr>
              <a:t>When everything happens locally (user interface + inference + model loading) you are in full control of what happens with your data</a:t>
            </a:r>
          </a:p>
          <a:p>
            <a:pPr marL="1351915" lvl="1" indent="-361315"/>
            <a:r>
              <a:rPr lang="en-US" sz="1600">
                <a:cs typeface="Arial"/>
              </a:rPr>
              <a:t>It is important to evaluate the cybersecurity of local LLM tools if you are planning to use them with data that is not classified as public.</a:t>
            </a:r>
          </a:p>
          <a:p>
            <a:pPr marL="1351915" lvl="1" indent="-361315"/>
            <a:r>
              <a:rPr lang="en-US" sz="1600">
                <a:cs typeface="Arial"/>
              </a:rPr>
              <a:t>Please refer to the previous slide “Cybersecurity, data protection, and the geography of AI LLMs” </a:t>
            </a:r>
            <a:br>
              <a:rPr lang="en-US" sz="1600">
                <a:cs typeface="Arial"/>
              </a:rPr>
            </a:br>
            <a:endParaRPr lang="en-US" sz="2000">
              <a:cs typeface="Arial"/>
            </a:endParaRPr>
          </a:p>
          <a:p>
            <a:endParaRPr lang="en-US" sz="2000" b="0">
              <a:cs typeface="Arial"/>
            </a:endParaRPr>
          </a:p>
          <a:p>
            <a:endParaRPr lang="en-US" sz="2000"/>
          </a:p>
        </p:txBody>
      </p:sp>
      <p:sp>
        <p:nvSpPr>
          <p:cNvPr id="7" name="Slide Number Placeholder 6">
            <a:extLst>
              <a:ext uri="{FF2B5EF4-FFF2-40B4-BE49-F238E27FC236}">
                <a16:creationId xmlns:a16="http://schemas.microsoft.com/office/drawing/2014/main" id="{AF143705-D087-2E51-C43D-5D9E447253D7}"/>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76</a:t>
            </a:fld>
            <a:endParaRPr lang="fi-FI"/>
          </a:p>
        </p:txBody>
      </p:sp>
      <p:sp>
        <p:nvSpPr>
          <p:cNvPr id="3" name="Date Placeholder 2">
            <a:extLst>
              <a:ext uri="{FF2B5EF4-FFF2-40B4-BE49-F238E27FC236}">
                <a16:creationId xmlns:a16="http://schemas.microsoft.com/office/drawing/2014/main" id="{88368744-C5C1-8050-608C-C1C26C083CF7}"/>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3629F4AC-19C7-F425-4336-EABA5A2925F3}"/>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634100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2FC05-E495-D2CD-A8E6-8A8D41AA1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6992F-50AC-D8F0-556D-F0342E540532}"/>
              </a:ext>
            </a:extLst>
          </p:cNvPr>
          <p:cNvSpPr>
            <a:spLocks noGrp="1"/>
          </p:cNvSpPr>
          <p:nvPr>
            <p:ph type="title"/>
          </p:nvPr>
        </p:nvSpPr>
        <p:spPr/>
        <p:txBody>
          <a:bodyPr/>
          <a:lstStyle/>
          <a:p>
            <a:r>
              <a:rPr lang="en-US"/>
              <a:t>4.4. External AI applications – </a:t>
            </a:r>
            <a:r>
              <a:rPr lang="fi-FI" sz="3200"/>
              <a:t>General </a:t>
            </a:r>
            <a:r>
              <a:rPr lang="fi-FI" sz="3200" err="1"/>
              <a:t>Purpose</a:t>
            </a:r>
            <a:r>
              <a:rPr lang="fi-FI" sz="3200"/>
              <a:t> Tools</a:t>
            </a:r>
            <a:br>
              <a:rPr lang="fi-FI" sz="3200"/>
            </a:br>
            <a:r>
              <a:rPr lang="fi-FI" sz="3200" err="1"/>
              <a:t>OLMo</a:t>
            </a:r>
            <a:r>
              <a:rPr lang="fi-FI" sz="3200"/>
              <a:t> is </a:t>
            </a:r>
            <a:r>
              <a:rPr lang="fi-FI" sz="3200" err="1"/>
              <a:t>basically</a:t>
            </a:r>
            <a:r>
              <a:rPr lang="fi-FI" sz="3200"/>
              <a:t> </a:t>
            </a:r>
            <a:r>
              <a:rPr lang="fi-FI" sz="3200" err="1"/>
              <a:t>the</a:t>
            </a:r>
            <a:r>
              <a:rPr lang="fi-FI" sz="3200"/>
              <a:t> </a:t>
            </a:r>
            <a:r>
              <a:rPr lang="fi-FI" sz="3200" err="1"/>
              <a:t>only</a:t>
            </a:r>
            <a:r>
              <a:rPr lang="fi-FI" sz="3200"/>
              <a:t> </a:t>
            </a:r>
            <a:r>
              <a:rPr lang="fi-FI" sz="3200" err="1"/>
              <a:t>truly</a:t>
            </a:r>
            <a:r>
              <a:rPr lang="fi-FI" sz="3200"/>
              <a:t> open-</a:t>
            </a:r>
            <a:r>
              <a:rPr lang="fi-FI" sz="3200" err="1"/>
              <a:t>source</a:t>
            </a:r>
            <a:r>
              <a:rPr lang="fi-FI" sz="3200"/>
              <a:t> LLM</a:t>
            </a:r>
            <a:endParaRPr lang="en-US"/>
          </a:p>
        </p:txBody>
      </p:sp>
      <p:sp>
        <p:nvSpPr>
          <p:cNvPr id="7" name="Slide Number Placeholder 6">
            <a:extLst>
              <a:ext uri="{FF2B5EF4-FFF2-40B4-BE49-F238E27FC236}">
                <a16:creationId xmlns:a16="http://schemas.microsoft.com/office/drawing/2014/main" id="{5E9FEA5A-2B18-373C-4389-CCC15328A6A5}"/>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77</a:t>
            </a:fld>
            <a:endParaRPr lang="fi-FI"/>
          </a:p>
        </p:txBody>
      </p:sp>
      <p:sp>
        <p:nvSpPr>
          <p:cNvPr id="4" name="Text Placeholder 3">
            <a:extLst>
              <a:ext uri="{FF2B5EF4-FFF2-40B4-BE49-F238E27FC236}">
                <a16:creationId xmlns:a16="http://schemas.microsoft.com/office/drawing/2014/main" id="{9F3EAC08-D9DB-2ED1-95FE-333C3C5EA1F8}"/>
              </a:ext>
            </a:extLst>
          </p:cNvPr>
          <p:cNvSpPr>
            <a:spLocks noGrp="1"/>
          </p:cNvSpPr>
          <p:nvPr>
            <p:ph type="body" sz="quarter" idx="13"/>
          </p:nvPr>
        </p:nvSpPr>
        <p:spPr>
          <a:xfrm>
            <a:off x="5104953" y="4733926"/>
            <a:ext cx="6217541" cy="709612"/>
          </a:xfrm>
        </p:spPr>
        <p:txBody>
          <a:bodyPr/>
          <a:lstStyle/>
          <a:p>
            <a:r>
              <a:rPr lang="en-GB" sz="2000" b="0" i="0">
                <a:solidFill>
                  <a:srgbClr val="222222"/>
                </a:solidFill>
                <a:effectLst/>
                <a:latin typeface="Arial" panose="020B0604020202020204" pitchFamily="34" charset="0"/>
              </a:rPr>
              <a:t>Liesenfeld, A., &amp; Dingemanse, M. (2024). Rethinking open source generative AI: open washing and the EU AI Act. In </a:t>
            </a:r>
            <a:r>
              <a:rPr lang="en-GB" sz="2000" b="0" i="1">
                <a:solidFill>
                  <a:srgbClr val="222222"/>
                </a:solidFill>
                <a:effectLst/>
                <a:latin typeface="Arial" panose="020B0604020202020204" pitchFamily="34" charset="0"/>
              </a:rPr>
              <a:t>The 2024 ACM Conference on Fairness, Accountability, and Transparency</a:t>
            </a:r>
            <a:r>
              <a:rPr lang="en-GB" sz="2000" b="0" i="0">
                <a:solidFill>
                  <a:srgbClr val="222222"/>
                </a:solidFill>
                <a:effectLst/>
                <a:latin typeface="Arial" panose="020B0604020202020204" pitchFamily="34" charset="0"/>
              </a:rPr>
              <a:t> (pp. 1774-1787).</a:t>
            </a:r>
            <a:endParaRPr lang="en-FI" sz="2000"/>
          </a:p>
        </p:txBody>
      </p:sp>
      <p:pic>
        <p:nvPicPr>
          <p:cNvPr id="8" name="Picture 7" descr="A screen shot of a chart&#10;&#10;Description automatically generated">
            <a:extLst>
              <a:ext uri="{FF2B5EF4-FFF2-40B4-BE49-F238E27FC236}">
                <a16:creationId xmlns:a16="http://schemas.microsoft.com/office/drawing/2014/main" id="{82AAF3CE-3B69-7B94-A5D7-9218B860A7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949" y="1327157"/>
            <a:ext cx="4166486" cy="4664076"/>
          </a:xfrm>
          <a:prstGeom prst="rect">
            <a:avLst/>
          </a:prstGeom>
        </p:spPr>
      </p:pic>
      <p:sp>
        <p:nvSpPr>
          <p:cNvPr id="3" name="Date Placeholder 2">
            <a:extLst>
              <a:ext uri="{FF2B5EF4-FFF2-40B4-BE49-F238E27FC236}">
                <a16:creationId xmlns:a16="http://schemas.microsoft.com/office/drawing/2014/main" id="{94744094-6889-5308-6893-3C322462FF6E}"/>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BC9C2AAC-8B48-FDD9-E95D-4F388C243836}"/>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3057823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111C9-EDCA-76CB-02D5-868BDD37A5C6}"/>
              </a:ext>
            </a:extLst>
          </p:cNvPr>
          <p:cNvSpPr>
            <a:spLocks noGrp="1"/>
          </p:cNvSpPr>
          <p:nvPr>
            <p:ph type="title"/>
          </p:nvPr>
        </p:nvSpPr>
        <p:spPr/>
        <p:txBody>
          <a:bodyPr/>
          <a:lstStyle/>
          <a:p>
            <a:r>
              <a:rPr lang="en-US"/>
              <a:t>4.5. Build your AI app, tune your models</a:t>
            </a:r>
          </a:p>
        </p:txBody>
      </p:sp>
      <p:sp>
        <p:nvSpPr>
          <p:cNvPr id="6" name="Text Placeholder 5">
            <a:extLst>
              <a:ext uri="{FF2B5EF4-FFF2-40B4-BE49-F238E27FC236}">
                <a16:creationId xmlns:a16="http://schemas.microsoft.com/office/drawing/2014/main" id="{C0886C67-0AB5-1D16-4810-A499323BF58A}"/>
              </a:ext>
            </a:extLst>
          </p:cNvPr>
          <p:cNvSpPr>
            <a:spLocks noGrp="1"/>
          </p:cNvSpPr>
          <p:nvPr>
            <p:ph type="body" sz="quarter" idx="13"/>
          </p:nvPr>
        </p:nvSpPr>
        <p:spPr>
          <a:xfrm>
            <a:off x="1055688" y="1066192"/>
            <a:ext cx="10080625" cy="3671886"/>
          </a:xfrm>
        </p:spPr>
        <p:txBody>
          <a:bodyPr/>
          <a:lstStyle/>
          <a:p>
            <a:pPr marL="514350" indent="-514350">
              <a:buChar char="•"/>
            </a:pPr>
            <a:r>
              <a:rPr lang="en-US" sz="2000" b="0">
                <a:cs typeface="Arial"/>
              </a:rPr>
              <a:t>Build a chatbot with </a:t>
            </a:r>
            <a:r>
              <a:rPr lang="en-US" sz="2000">
                <a:cs typeface="Arial"/>
                <a:hlinkClick r:id="rId2"/>
              </a:rPr>
              <a:t>Azure OpenAI API</a:t>
            </a:r>
            <a:endParaRPr lang="en-US" sz="2000">
              <a:cs typeface="Arial"/>
            </a:endParaRPr>
          </a:p>
          <a:p>
            <a:pPr marL="514350" indent="-514350">
              <a:buChar char="•"/>
            </a:pPr>
            <a:r>
              <a:rPr lang="en-US" sz="2000" b="0">
                <a:cs typeface="Arial"/>
              </a:rPr>
              <a:t>Or </a:t>
            </a:r>
            <a:r>
              <a:rPr lang="en-US" sz="2000">
                <a:cs typeface="Arial"/>
              </a:rPr>
              <a:t>build it locally </a:t>
            </a:r>
            <a:r>
              <a:rPr lang="en-US" sz="2000" b="0">
                <a:cs typeface="Arial"/>
              </a:rPr>
              <a:t>using </a:t>
            </a:r>
            <a:r>
              <a:rPr lang="en-US" sz="2000" b="0" err="1">
                <a:cs typeface="Arial"/>
              </a:rPr>
              <a:t>llamacpp</a:t>
            </a:r>
            <a:r>
              <a:rPr lang="en-US" sz="2000" b="0">
                <a:cs typeface="Arial"/>
              </a:rPr>
              <a:t> + open-source models + development tools such as </a:t>
            </a:r>
            <a:r>
              <a:rPr lang="en-US" sz="2000" i="1" err="1">
                <a:cs typeface="Arial"/>
                <a:hlinkClick r:id="rId3"/>
              </a:rPr>
              <a:t>LangChain</a:t>
            </a:r>
            <a:r>
              <a:rPr lang="en-US" sz="2000" b="0">
                <a:cs typeface="Arial"/>
              </a:rPr>
              <a:t>, </a:t>
            </a:r>
            <a:r>
              <a:rPr lang="en-US" sz="2000" i="1" err="1">
                <a:cs typeface="Arial"/>
                <a:hlinkClick r:id="rId4"/>
              </a:rPr>
              <a:t>LangSmith</a:t>
            </a:r>
            <a:r>
              <a:rPr lang="en-US" sz="2000" b="0">
                <a:cs typeface="Arial"/>
              </a:rPr>
              <a:t>, </a:t>
            </a:r>
            <a:r>
              <a:rPr lang="en-US" sz="2000" i="1">
                <a:cs typeface="Arial"/>
                <a:hlinkClick r:id="rId5"/>
              </a:rPr>
              <a:t>Chroma DB</a:t>
            </a:r>
            <a:endParaRPr lang="en-US" sz="2000" i="1">
              <a:cs typeface="Arial"/>
            </a:endParaRPr>
          </a:p>
          <a:p>
            <a:pPr marL="514350" indent="-514350">
              <a:buChar char="•"/>
            </a:pPr>
            <a:r>
              <a:rPr lang="en-US" sz="2000" b="1" i="1">
                <a:cs typeface="Arial"/>
              </a:rPr>
              <a:t>Model Context Protocol</a:t>
            </a:r>
            <a:r>
              <a:rPr lang="en-US" sz="2000" i="1">
                <a:cs typeface="Arial"/>
              </a:rPr>
              <a:t> </a:t>
            </a:r>
            <a:r>
              <a:rPr lang="en-US" sz="2000">
                <a:cs typeface="Arial"/>
              </a:rPr>
              <a:t>brings new possibilities for building AI agents that connect to APIs and multiple data sources</a:t>
            </a:r>
            <a:endParaRPr lang="en-US" sz="2000" i="1">
              <a:cs typeface="Arial"/>
              <a:hlinkClick r:id="rId6"/>
            </a:endParaRPr>
          </a:p>
          <a:p>
            <a:r>
              <a:rPr lang="en-US" sz="2000">
                <a:cs typeface="Arial"/>
              </a:rPr>
              <a:t>Fine tuning</a:t>
            </a:r>
          </a:p>
          <a:p>
            <a:pPr marL="342900" indent="-342900">
              <a:buFont typeface="Arial" panose="020B0604020202020204" pitchFamily="34" charset="0"/>
              <a:buChar char="•"/>
            </a:pPr>
            <a:r>
              <a:rPr lang="en-US" sz="2000">
                <a:cs typeface="Arial"/>
              </a:rPr>
              <a:t>Prepare a </a:t>
            </a:r>
            <a:r>
              <a:rPr lang="en-US" sz="2000" b="1">
                <a:cs typeface="Arial"/>
              </a:rPr>
              <a:t>new set of instructions</a:t>
            </a:r>
            <a:r>
              <a:rPr lang="en-US" sz="2000">
                <a:cs typeface="Arial"/>
              </a:rPr>
              <a:t> (e.g. </a:t>
            </a:r>
            <a:r>
              <a:rPr lang="en-US" sz="2000">
                <a:cs typeface="Arial"/>
                <a:hlinkClick r:id="rId7"/>
              </a:rPr>
              <a:t>questions and answers</a:t>
            </a:r>
            <a:r>
              <a:rPr lang="en-US" sz="2000">
                <a:cs typeface="Arial"/>
              </a:rPr>
              <a:t>)</a:t>
            </a:r>
          </a:p>
          <a:p>
            <a:pPr marL="342900" indent="-342900">
              <a:buFont typeface="Arial" panose="020B0604020202020204" pitchFamily="34" charset="0"/>
              <a:buChar char="•"/>
            </a:pPr>
            <a:r>
              <a:rPr lang="en-US" sz="2000">
                <a:cs typeface="Arial"/>
              </a:rPr>
              <a:t>Tweak the model weights so that the model is </a:t>
            </a:r>
            <a:r>
              <a:rPr lang="en-US" sz="2000" b="1" i="1">
                <a:cs typeface="Arial"/>
              </a:rPr>
              <a:t>fine-tuned</a:t>
            </a:r>
            <a:r>
              <a:rPr lang="en-US" sz="2000">
                <a:cs typeface="Arial"/>
              </a:rPr>
              <a:t> with the new content</a:t>
            </a:r>
          </a:p>
          <a:p>
            <a:pPr marL="342900" indent="-342900">
              <a:buFont typeface="Arial" panose="020B0604020202020204" pitchFamily="34" charset="0"/>
              <a:buChar char="•"/>
            </a:pPr>
            <a:r>
              <a:rPr lang="en-US" sz="2000">
                <a:cs typeface="Arial"/>
              </a:rPr>
              <a:t>It can be computationally expensive (many GPUs), but there are efficient ways with few compromises (</a:t>
            </a:r>
            <a:r>
              <a:rPr lang="en-US" sz="2000" b="1" err="1">
                <a:cs typeface="Arial"/>
                <a:hlinkClick r:id="rId8"/>
              </a:rPr>
              <a:t>qLORA</a:t>
            </a:r>
            <a:r>
              <a:rPr lang="en-US" sz="2000">
                <a:cs typeface="Arial"/>
              </a:rPr>
              <a:t>)</a:t>
            </a:r>
          </a:p>
          <a:p>
            <a:pPr marL="342900" indent="-342900">
              <a:buFont typeface="Arial" panose="020B0604020202020204" pitchFamily="34" charset="0"/>
              <a:buChar char="•"/>
            </a:pPr>
            <a:r>
              <a:rPr lang="en-US" sz="2000">
                <a:cs typeface="Arial"/>
              </a:rPr>
              <a:t>Azure and/or OpenAI offer the option to fine tune their models (€)</a:t>
            </a:r>
          </a:p>
          <a:p>
            <a:endParaRPr lang="en-US" sz="2000">
              <a:cs typeface="Arial"/>
            </a:endParaRPr>
          </a:p>
          <a:p>
            <a:pPr marL="342900" indent="-342900">
              <a:buFont typeface="Arial" panose="020B0604020202020204" pitchFamily="34" charset="0"/>
              <a:buChar char="•"/>
            </a:pPr>
            <a:endParaRPr lang="en-US" sz="2000">
              <a:cs typeface="Arial"/>
            </a:endParaRPr>
          </a:p>
        </p:txBody>
      </p:sp>
      <p:sp>
        <p:nvSpPr>
          <p:cNvPr id="7" name="Slide Number Placeholder 6">
            <a:extLst>
              <a:ext uri="{FF2B5EF4-FFF2-40B4-BE49-F238E27FC236}">
                <a16:creationId xmlns:a16="http://schemas.microsoft.com/office/drawing/2014/main" id="{54488044-BDDC-02C4-1EDC-EA7B32135635}"/>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78</a:t>
            </a:fld>
            <a:endParaRPr lang="fi-FI"/>
          </a:p>
        </p:txBody>
      </p:sp>
      <p:sp>
        <p:nvSpPr>
          <p:cNvPr id="3" name="Date Placeholder 2">
            <a:extLst>
              <a:ext uri="{FF2B5EF4-FFF2-40B4-BE49-F238E27FC236}">
                <a16:creationId xmlns:a16="http://schemas.microsoft.com/office/drawing/2014/main" id="{C26745CA-11D6-5687-AA02-C23E5467CC68}"/>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9997C890-B130-80C6-666F-82092AB17540}"/>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2437430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1326C-B2ED-D141-AEAB-FDF8A6B14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FC33B-5180-BA19-5222-132A0EB038A6}"/>
              </a:ext>
            </a:extLst>
          </p:cNvPr>
          <p:cNvSpPr>
            <a:spLocks noGrp="1"/>
          </p:cNvSpPr>
          <p:nvPr>
            <p:ph type="title"/>
          </p:nvPr>
        </p:nvSpPr>
        <p:spPr/>
        <p:txBody>
          <a:bodyPr/>
          <a:lstStyle/>
          <a:p>
            <a:r>
              <a:rPr lang="en-US"/>
              <a:t>4.6. Coding with Large Language Models</a:t>
            </a:r>
            <a:br>
              <a:rPr lang="en-US"/>
            </a:br>
            <a:r>
              <a:rPr lang="en-US"/>
              <a:t>Should you stop learning how to code?</a:t>
            </a:r>
            <a:br>
              <a:rPr lang="en-GB" sz="3200" b="1" i="0" u="none" strike="noStrike">
                <a:solidFill>
                  <a:srgbClr val="000000"/>
                </a:solidFill>
                <a:effectLst/>
                <a:latin typeface="Aptos Narrow" panose="020B0004020202020204" pitchFamily="34" charset="0"/>
              </a:rPr>
            </a:br>
            <a:endParaRPr lang="en-US"/>
          </a:p>
        </p:txBody>
      </p:sp>
      <p:sp>
        <p:nvSpPr>
          <p:cNvPr id="7" name="Slide Number Placeholder 6">
            <a:extLst>
              <a:ext uri="{FF2B5EF4-FFF2-40B4-BE49-F238E27FC236}">
                <a16:creationId xmlns:a16="http://schemas.microsoft.com/office/drawing/2014/main" id="{811CA6B0-50D1-74FF-F300-A4EAE8502053}"/>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79</a:t>
            </a:fld>
            <a:endParaRPr lang="fi-FI"/>
          </a:p>
        </p:txBody>
      </p:sp>
      <p:sp>
        <p:nvSpPr>
          <p:cNvPr id="4" name="Text Placeholder 5">
            <a:extLst>
              <a:ext uri="{FF2B5EF4-FFF2-40B4-BE49-F238E27FC236}">
                <a16:creationId xmlns:a16="http://schemas.microsoft.com/office/drawing/2014/main" id="{A1C76948-8AFF-67A7-1BCF-1B67954D92ED}"/>
              </a:ext>
            </a:extLst>
          </p:cNvPr>
          <p:cNvSpPr>
            <a:spLocks noGrp="1"/>
          </p:cNvSpPr>
          <p:nvPr>
            <p:ph type="body" sz="quarter" idx="13"/>
          </p:nvPr>
        </p:nvSpPr>
        <p:spPr>
          <a:xfrm>
            <a:off x="1055688" y="2205039"/>
            <a:ext cx="10080625" cy="3671886"/>
          </a:xfrm>
        </p:spPr>
        <p:txBody>
          <a:bodyPr/>
          <a:lstStyle/>
          <a:p>
            <a:pPr marL="514350" indent="-514350">
              <a:buFont typeface="Arial" panose="020B0604020202020204" pitchFamily="34" charset="0"/>
              <a:buChar char="•"/>
            </a:pPr>
            <a:r>
              <a:rPr lang="en-US" sz="2000">
                <a:cs typeface="Arial"/>
              </a:rPr>
              <a:t>Various CEOs (Meta, OpenAI, Anthropic, Salesforce) are saying that coding will be done by AI in the near future</a:t>
            </a:r>
          </a:p>
          <a:p>
            <a:pPr marL="514350" indent="-514350">
              <a:buFont typeface="Arial" panose="020B0604020202020204" pitchFamily="34" charset="0"/>
              <a:buChar char="•"/>
            </a:pPr>
            <a:r>
              <a:rPr lang="en-US" sz="2000">
                <a:cs typeface="Arial"/>
              </a:rPr>
              <a:t>Why are coders the profession at risk? Or is it about moving from coding to code reviewing? (I think it’s the opposite) </a:t>
            </a:r>
          </a:p>
          <a:p>
            <a:pPr marL="514350" indent="-514350">
              <a:buFont typeface="Arial" panose="020B0604020202020204" pitchFamily="34" charset="0"/>
              <a:buChar char="•"/>
            </a:pPr>
            <a:r>
              <a:rPr lang="en-US" sz="2000">
                <a:cs typeface="Arial"/>
              </a:rPr>
              <a:t>Professional software engineers are embracing AI to automate all the boring bits related to coding.</a:t>
            </a:r>
          </a:p>
          <a:p>
            <a:pPr marL="514350" indent="-514350">
              <a:buFont typeface="Arial" panose="020B0604020202020204" pitchFamily="34" charset="0"/>
              <a:buChar char="•"/>
            </a:pPr>
            <a:endParaRPr lang="en-US" sz="2000">
              <a:cs typeface="Arial"/>
            </a:endParaRPr>
          </a:p>
          <a:p>
            <a:r>
              <a:rPr lang="en-US" sz="2000" b="1">
                <a:cs typeface="Arial"/>
              </a:rPr>
              <a:t>Coding is maybe one of the few cases where testing can be formally added at the end of the gen AI chain, making it the ideal candidate for responsible use of generative AI. This of course comes with cybersecurity risks (installing malicious packages, leaking secrets)</a:t>
            </a:r>
          </a:p>
        </p:txBody>
      </p:sp>
      <p:sp>
        <p:nvSpPr>
          <p:cNvPr id="3" name="Date Placeholder 2">
            <a:extLst>
              <a:ext uri="{FF2B5EF4-FFF2-40B4-BE49-F238E27FC236}">
                <a16:creationId xmlns:a16="http://schemas.microsoft.com/office/drawing/2014/main" id="{D885DA9A-F52B-5D77-6F26-E61EFEE0357E}"/>
              </a:ext>
            </a:extLst>
          </p:cNvPr>
          <p:cNvSpPr>
            <a:spLocks noGrp="1"/>
          </p:cNvSpPr>
          <p:nvPr>
            <p:ph type="dt" sz="half" idx="14"/>
          </p:nvPr>
        </p:nvSpPr>
        <p:spPr/>
        <p:txBody>
          <a:bodyPr/>
          <a:lstStyle/>
          <a:p>
            <a:r>
              <a:rPr lang="fi-FI"/>
              <a:t>28.04.2026</a:t>
            </a:r>
          </a:p>
        </p:txBody>
      </p:sp>
      <p:sp>
        <p:nvSpPr>
          <p:cNvPr id="6" name="Footer Placeholder 5">
            <a:extLst>
              <a:ext uri="{FF2B5EF4-FFF2-40B4-BE49-F238E27FC236}">
                <a16:creationId xmlns:a16="http://schemas.microsoft.com/office/drawing/2014/main" id="{82651740-C472-1A60-326C-1A251B2545E1}"/>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9823548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1326C-B2ED-D141-AEAB-FDF8A6B14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FC33B-5180-BA19-5222-132A0EB038A6}"/>
              </a:ext>
            </a:extLst>
          </p:cNvPr>
          <p:cNvSpPr>
            <a:spLocks noGrp="1"/>
          </p:cNvSpPr>
          <p:nvPr>
            <p:ph type="title"/>
          </p:nvPr>
        </p:nvSpPr>
        <p:spPr/>
        <p:txBody>
          <a:bodyPr/>
          <a:lstStyle/>
          <a:p>
            <a:r>
              <a:rPr lang="en-US"/>
              <a:t>4.6. Coding with Large Language Models</a:t>
            </a:r>
            <a:br>
              <a:rPr lang="en-US"/>
            </a:br>
            <a:r>
              <a:rPr lang="en-GB"/>
              <a:t>Practical tips</a:t>
            </a:r>
            <a:endParaRPr lang="en-US"/>
          </a:p>
        </p:txBody>
      </p:sp>
      <p:sp>
        <p:nvSpPr>
          <p:cNvPr id="7" name="Slide Number Placeholder 6">
            <a:extLst>
              <a:ext uri="{FF2B5EF4-FFF2-40B4-BE49-F238E27FC236}">
                <a16:creationId xmlns:a16="http://schemas.microsoft.com/office/drawing/2014/main" id="{811CA6B0-50D1-74FF-F300-A4EAE8502053}"/>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80</a:t>
            </a:fld>
            <a:endParaRPr lang="fi-FI"/>
          </a:p>
        </p:txBody>
      </p:sp>
      <p:sp>
        <p:nvSpPr>
          <p:cNvPr id="4" name="Text Placeholder 5">
            <a:extLst>
              <a:ext uri="{FF2B5EF4-FFF2-40B4-BE49-F238E27FC236}">
                <a16:creationId xmlns:a16="http://schemas.microsoft.com/office/drawing/2014/main" id="{A1C76948-8AFF-67A7-1BCF-1B67954D92ED}"/>
              </a:ext>
            </a:extLst>
          </p:cNvPr>
          <p:cNvSpPr>
            <a:spLocks noGrp="1"/>
          </p:cNvSpPr>
          <p:nvPr>
            <p:ph type="body" sz="quarter" idx="13"/>
          </p:nvPr>
        </p:nvSpPr>
        <p:spPr>
          <a:xfrm>
            <a:off x="1055688" y="1431956"/>
            <a:ext cx="10080625" cy="2724408"/>
          </a:xfrm>
        </p:spPr>
        <p:txBody>
          <a:bodyPr/>
          <a:lstStyle/>
          <a:p>
            <a:r>
              <a:rPr lang="en-US" sz="2000">
                <a:cs typeface="Arial"/>
                <a:hlinkClick r:id="rId2"/>
              </a:rPr>
              <a:t>Check the dedicated lesson part of the </a:t>
            </a:r>
            <a:r>
              <a:rPr lang="en-US" sz="2000" err="1">
                <a:cs typeface="Arial"/>
                <a:hlinkClick r:id="rId2"/>
              </a:rPr>
              <a:t>CodeRefinery</a:t>
            </a:r>
            <a:r>
              <a:rPr lang="en-US" sz="2000">
                <a:cs typeface="Arial"/>
                <a:hlinkClick r:id="rId2"/>
              </a:rPr>
              <a:t> workshop</a:t>
            </a:r>
            <a:endParaRPr lang="en-US" sz="2000">
              <a:cs typeface="Arial"/>
            </a:endParaRPr>
          </a:p>
          <a:p>
            <a:pPr marL="342900" indent="-342900">
              <a:buFont typeface="Arial" panose="020B0604020202020204" pitchFamily="34" charset="0"/>
              <a:buChar char="•"/>
            </a:pPr>
            <a:endParaRPr lang="en-US" sz="2000">
              <a:cs typeface="Arial"/>
            </a:endParaRPr>
          </a:p>
          <a:p>
            <a:pPr marL="342900" indent="-342900">
              <a:buFont typeface="Arial" panose="020B0604020202020204" pitchFamily="34" charset="0"/>
              <a:buChar char="•"/>
            </a:pPr>
            <a:endParaRPr lang="en-US" sz="2000">
              <a:cs typeface="Arial"/>
            </a:endParaRPr>
          </a:p>
          <a:p>
            <a:pPr marL="514350" indent="-514350">
              <a:buFont typeface="+mj-lt"/>
              <a:buAutoNum type="arabicPeriod"/>
            </a:pPr>
            <a:endParaRPr lang="en-US" sz="2000">
              <a:cs typeface="Arial"/>
            </a:endParaRPr>
          </a:p>
        </p:txBody>
      </p:sp>
      <p:sp>
        <p:nvSpPr>
          <p:cNvPr id="3" name="Date Placeholder 2">
            <a:extLst>
              <a:ext uri="{FF2B5EF4-FFF2-40B4-BE49-F238E27FC236}">
                <a16:creationId xmlns:a16="http://schemas.microsoft.com/office/drawing/2014/main" id="{D885DA9A-F52B-5D77-6F26-E61EFEE0357E}"/>
              </a:ext>
            </a:extLst>
          </p:cNvPr>
          <p:cNvSpPr>
            <a:spLocks noGrp="1"/>
          </p:cNvSpPr>
          <p:nvPr>
            <p:ph type="dt" sz="half" idx="14"/>
          </p:nvPr>
        </p:nvSpPr>
        <p:spPr/>
        <p:txBody>
          <a:bodyPr/>
          <a:lstStyle/>
          <a:p>
            <a:r>
              <a:rPr lang="fi-FI"/>
              <a:t>28.04.2026</a:t>
            </a:r>
          </a:p>
        </p:txBody>
      </p:sp>
      <p:sp>
        <p:nvSpPr>
          <p:cNvPr id="6" name="Footer Placeholder 5">
            <a:extLst>
              <a:ext uri="{FF2B5EF4-FFF2-40B4-BE49-F238E27FC236}">
                <a16:creationId xmlns:a16="http://schemas.microsoft.com/office/drawing/2014/main" id="{82651740-C472-1A60-326C-1A251B2545E1}"/>
              </a:ext>
            </a:extLst>
          </p:cNvPr>
          <p:cNvSpPr>
            <a:spLocks noGrp="1"/>
          </p:cNvSpPr>
          <p:nvPr>
            <p:ph type="ftr" sz="quarter" idx="15"/>
          </p:nvPr>
        </p:nvSpPr>
        <p:spPr/>
        <p:txBody>
          <a:bodyPr/>
          <a:lstStyle/>
          <a:p>
            <a:r>
              <a:rPr lang="pt-BR"/>
              <a:t>Enrico Glerean &amp; Pedro Silva (2026) Please cite DOI: 10.5281/zenodo.14032261 (CC-BY)</a:t>
            </a:r>
            <a:endParaRPr lang="fi-FI"/>
          </a:p>
        </p:txBody>
      </p:sp>
      <p:pic>
        <p:nvPicPr>
          <p:cNvPr id="2050" name="Picture 2" descr="three scenarios chat-based, IDE integration, and agentic use of AI">
            <a:extLst>
              <a:ext uri="{FF2B5EF4-FFF2-40B4-BE49-F238E27FC236}">
                <a16:creationId xmlns:a16="http://schemas.microsoft.com/office/drawing/2014/main" id="{F8F8F624-3EFC-96DB-4672-1272C0DB3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464" y="1915857"/>
            <a:ext cx="7595626" cy="4114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84248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BFFFD-1737-7CED-59B0-94BDCC5C0B1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8AD06D-947B-5A74-652E-AE4DADFAE90F}"/>
              </a:ext>
            </a:extLst>
          </p:cNvPr>
          <p:cNvSpPr>
            <a:spLocks noGrp="1"/>
          </p:cNvSpPr>
          <p:nvPr>
            <p:ph type="sldNum" sz="quarter" idx="12"/>
          </p:nvPr>
        </p:nvSpPr>
        <p:spPr/>
        <p:txBody>
          <a:bodyPr/>
          <a:lstStyle/>
          <a:p>
            <a:fld id="{D701140D-C14F-41CA-99FC-0EF83E8DA40A}" type="slidenum">
              <a:rPr lang="fi-FI" smtClean="0"/>
              <a:pPr/>
              <a:t>81</a:t>
            </a:fld>
            <a:endParaRPr lang="fi-FI"/>
          </a:p>
        </p:txBody>
      </p:sp>
      <p:sp>
        <p:nvSpPr>
          <p:cNvPr id="3" name="Title 2">
            <a:extLst>
              <a:ext uri="{FF2B5EF4-FFF2-40B4-BE49-F238E27FC236}">
                <a16:creationId xmlns:a16="http://schemas.microsoft.com/office/drawing/2014/main" id="{452E741E-8258-179B-5D2B-FDD4257C7F36}"/>
              </a:ext>
            </a:extLst>
          </p:cNvPr>
          <p:cNvSpPr>
            <a:spLocks noGrp="1"/>
          </p:cNvSpPr>
          <p:nvPr>
            <p:ph type="ctrTitle"/>
          </p:nvPr>
        </p:nvSpPr>
        <p:spPr>
          <a:xfrm>
            <a:off x="412647" y="3182779"/>
            <a:ext cx="11371365" cy="492443"/>
          </a:xfrm>
        </p:spPr>
        <p:txBody>
          <a:bodyPr/>
          <a:lstStyle/>
          <a:p>
            <a:r>
              <a:rPr lang="en-FI"/>
              <a:t>5</a:t>
            </a:r>
            <a:r>
              <a:rPr lang="en-US"/>
              <a:t>.</a:t>
            </a:r>
            <a:r>
              <a:rPr lang="en-FI"/>
              <a:t> Advanced prompting</a:t>
            </a:r>
          </a:p>
        </p:txBody>
      </p:sp>
      <p:sp>
        <p:nvSpPr>
          <p:cNvPr id="4" name="Date Placeholder 3">
            <a:extLst>
              <a:ext uri="{FF2B5EF4-FFF2-40B4-BE49-F238E27FC236}">
                <a16:creationId xmlns:a16="http://schemas.microsoft.com/office/drawing/2014/main" id="{65B12DB3-9339-029E-1229-CF064B71A77C}"/>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192C9DA0-5BE3-794E-A997-F2268E37581F}"/>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41365325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AC35F-A209-E74B-C26F-67CA0E558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FF5FA-AC1D-0993-7FD2-19D716D514C5}"/>
              </a:ext>
            </a:extLst>
          </p:cNvPr>
          <p:cNvSpPr>
            <a:spLocks noGrp="1"/>
          </p:cNvSpPr>
          <p:nvPr>
            <p:ph type="title"/>
          </p:nvPr>
        </p:nvSpPr>
        <p:spPr/>
        <p:txBody>
          <a:bodyPr/>
          <a:lstStyle/>
          <a:p>
            <a:r>
              <a:rPr lang="en-US"/>
              <a:t>Advanced prompting techniques </a:t>
            </a:r>
            <a:br>
              <a:rPr lang="en-US"/>
            </a:br>
            <a:endParaRPr lang="en-US"/>
          </a:p>
        </p:txBody>
      </p:sp>
      <p:sp>
        <p:nvSpPr>
          <p:cNvPr id="8" name="Text Placeholder 7">
            <a:extLst>
              <a:ext uri="{FF2B5EF4-FFF2-40B4-BE49-F238E27FC236}">
                <a16:creationId xmlns:a16="http://schemas.microsoft.com/office/drawing/2014/main" id="{F41F02B8-F729-8A89-9188-5D83CF5ED192}"/>
              </a:ext>
            </a:extLst>
          </p:cNvPr>
          <p:cNvSpPr>
            <a:spLocks noGrp="1"/>
          </p:cNvSpPr>
          <p:nvPr>
            <p:ph type="body" sz="quarter" idx="13"/>
          </p:nvPr>
        </p:nvSpPr>
        <p:spPr>
          <a:xfrm>
            <a:off x="6312024" y="1844824"/>
            <a:ext cx="4824289" cy="3671886"/>
          </a:xfrm>
        </p:spPr>
        <p:txBody>
          <a:bodyPr/>
          <a:lstStyle/>
          <a:p>
            <a:pPr marL="457200" indent="-457200">
              <a:buFont typeface="Arial" panose="020B0604020202020204" pitchFamily="34" charset="0"/>
              <a:buChar char="•"/>
            </a:pPr>
            <a:r>
              <a:rPr lang="en-GB" sz="2000"/>
              <a:t>Automatic Reasoning and Tool-use</a:t>
            </a:r>
          </a:p>
          <a:p>
            <a:pPr marL="457200" indent="-457200">
              <a:buFont typeface="Arial" panose="020B0604020202020204" pitchFamily="34" charset="0"/>
              <a:buChar char="•"/>
            </a:pPr>
            <a:r>
              <a:rPr lang="en-GB" sz="2000"/>
              <a:t>Automatic Prompt Engineer</a:t>
            </a:r>
          </a:p>
          <a:p>
            <a:pPr marL="457200" indent="-457200">
              <a:buFont typeface="Arial" panose="020B0604020202020204" pitchFamily="34" charset="0"/>
              <a:buChar char="•"/>
            </a:pPr>
            <a:r>
              <a:rPr lang="en-GB" sz="2000"/>
              <a:t>Active-Prompt</a:t>
            </a:r>
          </a:p>
          <a:p>
            <a:pPr marL="457200" indent="-457200">
              <a:buFont typeface="Arial" panose="020B0604020202020204" pitchFamily="34" charset="0"/>
              <a:buChar char="•"/>
            </a:pPr>
            <a:r>
              <a:rPr lang="en-GB" sz="2000"/>
              <a:t>Directional Stimulus Prompting</a:t>
            </a:r>
          </a:p>
          <a:p>
            <a:pPr marL="457200" indent="-457200">
              <a:buFont typeface="Arial" panose="020B0604020202020204" pitchFamily="34" charset="0"/>
              <a:buChar char="•"/>
            </a:pPr>
            <a:r>
              <a:rPr lang="en-GB" sz="2000"/>
              <a:t>Program-Aided Language Models</a:t>
            </a:r>
          </a:p>
          <a:p>
            <a:pPr marL="457200" indent="-457200">
              <a:buFont typeface="Arial" panose="020B0604020202020204" pitchFamily="34" charset="0"/>
              <a:buChar char="•"/>
            </a:pPr>
            <a:r>
              <a:rPr lang="en-GB" sz="2000"/>
              <a:t>ReAct</a:t>
            </a:r>
          </a:p>
          <a:p>
            <a:pPr marL="457200" indent="-457200">
              <a:buFont typeface="Arial" panose="020B0604020202020204" pitchFamily="34" charset="0"/>
              <a:buChar char="•"/>
            </a:pPr>
            <a:r>
              <a:rPr lang="en-GB" sz="2000"/>
              <a:t>Reflexion</a:t>
            </a:r>
          </a:p>
          <a:p>
            <a:pPr marL="457200" indent="-457200">
              <a:buFont typeface="Arial" panose="020B0604020202020204" pitchFamily="34" charset="0"/>
              <a:buChar char="•"/>
            </a:pPr>
            <a:r>
              <a:rPr lang="en-GB" sz="2000"/>
              <a:t>Multimodal CoT</a:t>
            </a:r>
          </a:p>
          <a:p>
            <a:pPr marL="457200" indent="-457200">
              <a:buFont typeface="Arial" panose="020B0604020202020204" pitchFamily="34" charset="0"/>
              <a:buChar char="•"/>
            </a:pPr>
            <a:r>
              <a:rPr lang="en-GB" sz="2000"/>
              <a:t>Graph Prompting</a:t>
            </a:r>
            <a:endParaRPr lang="en-GB" sz="2000">
              <a:cs typeface="Arial" panose="020B0604020202020204"/>
            </a:endParaRPr>
          </a:p>
        </p:txBody>
      </p:sp>
      <p:sp>
        <p:nvSpPr>
          <p:cNvPr id="6" name="Slide Number Placeholder 5">
            <a:extLst>
              <a:ext uri="{FF2B5EF4-FFF2-40B4-BE49-F238E27FC236}">
                <a16:creationId xmlns:a16="http://schemas.microsoft.com/office/drawing/2014/main" id="{9D985150-9B99-B98D-F248-A4EDDE85C0E8}"/>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82</a:t>
            </a:fld>
            <a:endParaRPr lang="fi-FI"/>
          </a:p>
        </p:txBody>
      </p:sp>
      <p:sp>
        <p:nvSpPr>
          <p:cNvPr id="5" name="Text Placeholder 7">
            <a:extLst>
              <a:ext uri="{FF2B5EF4-FFF2-40B4-BE49-F238E27FC236}">
                <a16:creationId xmlns:a16="http://schemas.microsoft.com/office/drawing/2014/main" id="{6D9084D2-5C4D-EF06-1C57-67195BE78ECA}"/>
              </a:ext>
            </a:extLst>
          </p:cNvPr>
          <p:cNvSpPr txBox="1">
            <a:spLocks/>
          </p:cNvSpPr>
          <p:nvPr/>
        </p:nvSpPr>
        <p:spPr>
          <a:xfrm>
            <a:off x="767567" y="1843010"/>
            <a:ext cx="4824289" cy="367188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8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GB" sz="2000" b="1">
                <a:cs typeface="Arial"/>
              </a:rPr>
              <a:t>Zero-shot Prompting</a:t>
            </a:r>
          </a:p>
          <a:p>
            <a:pPr marL="457200" indent="-457200">
              <a:buFont typeface="Arial" panose="020B0604020202020204" pitchFamily="34" charset="0"/>
              <a:buChar char="•"/>
            </a:pPr>
            <a:r>
              <a:rPr lang="en-GB" sz="2000" b="1">
                <a:cs typeface="Arial"/>
              </a:rPr>
              <a:t>Few-shot Prompting</a:t>
            </a:r>
          </a:p>
          <a:p>
            <a:pPr marL="457200" indent="-457200">
              <a:buFont typeface="Arial" panose="020B0604020202020204" pitchFamily="34" charset="0"/>
              <a:buChar char="•"/>
            </a:pPr>
            <a:r>
              <a:rPr lang="en-GB" sz="2000" b="1">
                <a:cs typeface="Arial"/>
              </a:rPr>
              <a:t>Retrieval Augmented Generation</a:t>
            </a:r>
          </a:p>
          <a:p>
            <a:pPr marL="457200" indent="-457200">
              <a:buFont typeface="Arial" panose="020B0604020202020204" pitchFamily="34" charset="0"/>
              <a:buChar char="•"/>
            </a:pPr>
            <a:r>
              <a:rPr lang="en-GB" sz="2000" b="1">
                <a:cs typeface="Arial"/>
              </a:rPr>
              <a:t>Chain-of-Thought Prompting</a:t>
            </a:r>
          </a:p>
          <a:p>
            <a:pPr marL="457200" indent="-457200">
              <a:buFont typeface="Arial" panose="020B0604020202020204" pitchFamily="34" charset="0"/>
              <a:buChar char="•"/>
            </a:pPr>
            <a:r>
              <a:rPr lang="en-GB" sz="2000" b="1">
                <a:cs typeface="Arial"/>
              </a:rPr>
              <a:t>Meta Prompting</a:t>
            </a:r>
          </a:p>
          <a:p>
            <a:pPr marL="457200" indent="-457200">
              <a:buFont typeface="Arial" panose="020B0604020202020204" pitchFamily="34" charset="0"/>
              <a:buChar char="•"/>
            </a:pPr>
            <a:r>
              <a:rPr lang="en-GB" sz="2000" b="1">
                <a:cs typeface="Arial"/>
              </a:rPr>
              <a:t>Self-Consistency</a:t>
            </a:r>
          </a:p>
          <a:p>
            <a:pPr marL="457200" indent="-457200">
              <a:buFont typeface="Arial" panose="020B0604020202020204" pitchFamily="34" charset="0"/>
              <a:buChar char="•"/>
            </a:pPr>
            <a:r>
              <a:rPr lang="en-GB" sz="2000">
                <a:cs typeface="Arial"/>
              </a:rPr>
              <a:t>Generate Knowledge Prompting</a:t>
            </a:r>
          </a:p>
          <a:p>
            <a:pPr marL="457200" indent="-457200">
              <a:buFont typeface="Arial" panose="020B0604020202020204" pitchFamily="34" charset="0"/>
              <a:buChar char="•"/>
            </a:pPr>
            <a:r>
              <a:rPr lang="en-GB" sz="2000">
                <a:cs typeface="Arial"/>
              </a:rPr>
              <a:t>Prompt Chaining</a:t>
            </a:r>
          </a:p>
          <a:p>
            <a:pPr marL="457200" indent="-457200">
              <a:buFont typeface="Arial" panose="020B0604020202020204" pitchFamily="34" charset="0"/>
              <a:buChar char="•"/>
            </a:pPr>
            <a:r>
              <a:rPr lang="en-GB" sz="2000">
                <a:cs typeface="Arial"/>
              </a:rPr>
              <a:t>Tree of Thoughts</a:t>
            </a:r>
          </a:p>
        </p:txBody>
      </p:sp>
      <p:sp>
        <p:nvSpPr>
          <p:cNvPr id="9" name="TextBox 8">
            <a:extLst>
              <a:ext uri="{FF2B5EF4-FFF2-40B4-BE49-F238E27FC236}">
                <a16:creationId xmlns:a16="http://schemas.microsoft.com/office/drawing/2014/main" id="{1AAD3B27-B4B9-BEA9-60BA-34E6966DE76E}"/>
              </a:ext>
            </a:extLst>
          </p:cNvPr>
          <p:cNvSpPr txBox="1"/>
          <p:nvPr/>
        </p:nvSpPr>
        <p:spPr>
          <a:xfrm>
            <a:off x="885825" y="5703845"/>
            <a:ext cx="4305981" cy="338554"/>
          </a:xfrm>
          <a:prstGeom prst="rect">
            <a:avLst/>
          </a:prstGeom>
          <a:noFill/>
        </p:spPr>
        <p:txBody>
          <a:bodyPr wrap="square" rtlCol="0">
            <a:spAutoFit/>
          </a:bodyPr>
          <a:lstStyle/>
          <a:p>
            <a:pPr algn="l"/>
            <a:r>
              <a:rPr lang="en-FI" sz="1600">
                <a:latin typeface="+mj-lt"/>
              </a:rPr>
              <a:t>Reference: </a:t>
            </a:r>
            <a:r>
              <a:rPr lang="en-GB" sz="1600">
                <a:latin typeface="+mj-lt"/>
                <a:hlinkClick r:id="rId2"/>
              </a:rPr>
              <a:t>https://www.promptingguide.ai/</a:t>
            </a:r>
            <a:r>
              <a:rPr lang="en-FI" sz="1600">
                <a:latin typeface="+mj-lt"/>
              </a:rPr>
              <a:t> </a:t>
            </a:r>
          </a:p>
        </p:txBody>
      </p:sp>
      <p:sp>
        <p:nvSpPr>
          <p:cNvPr id="3" name="Date Placeholder 2">
            <a:extLst>
              <a:ext uri="{FF2B5EF4-FFF2-40B4-BE49-F238E27FC236}">
                <a16:creationId xmlns:a16="http://schemas.microsoft.com/office/drawing/2014/main" id="{5AC280E5-AA0A-7DC8-4B4D-8B2DE3D46EFC}"/>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49390193-0D04-9815-E7C2-BC4320B8373E}"/>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4513835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5938-0487-CEE6-E428-72ABE87695ED}"/>
              </a:ext>
            </a:extLst>
          </p:cNvPr>
          <p:cNvSpPr>
            <a:spLocks noGrp="1"/>
          </p:cNvSpPr>
          <p:nvPr>
            <p:ph type="title"/>
          </p:nvPr>
        </p:nvSpPr>
        <p:spPr/>
        <p:txBody>
          <a:bodyPr/>
          <a:lstStyle/>
          <a:p>
            <a:r>
              <a:rPr lang="en-US"/>
              <a:t>5.1. Advanced prompting techniques</a:t>
            </a:r>
            <a:br>
              <a:rPr lang="en-US"/>
            </a:br>
            <a:r>
              <a:rPr lang="en-US"/>
              <a:t>Zero-shot, few-shots, and in-context learning</a:t>
            </a:r>
          </a:p>
        </p:txBody>
      </p:sp>
      <p:pic>
        <p:nvPicPr>
          <p:cNvPr id="1026" name="Picture 2" descr="img">
            <a:extLst>
              <a:ext uri="{FF2B5EF4-FFF2-40B4-BE49-F238E27FC236}">
                <a16:creationId xmlns:a16="http://schemas.microsoft.com/office/drawing/2014/main" id="{C40179FF-5C15-935E-83C0-B0406376C9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8" y="1484784"/>
            <a:ext cx="5770165" cy="4412660"/>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7">
            <a:extLst>
              <a:ext uri="{FF2B5EF4-FFF2-40B4-BE49-F238E27FC236}">
                <a16:creationId xmlns:a16="http://schemas.microsoft.com/office/drawing/2014/main" id="{74DC2890-DCCE-6946-5C12-69BECDD77703}"/>
              </a:ext>
            </a:extLst>
          </p:cNvPr>
          <p:cNvSpPr>
            <a:spLocks noGrp="1"/>
          </p:cNvSpPr>
          <p:nvPr>
            <p:ph type="body" sz="quarter" idx="13"/>
          </p:nvPr>
        </p:nvSpPr>
        <p:spPr>
          <a:xfrm>
            <a:off x="6312024" y="1513061"/>
            <a:ext cx="4824289" cy="3671886"/>
          </a:xfrm>
        </p:spPr>
        <p:txBody>
          <a:bodyPr/>
          <a:lstStyle/>
          <a:p>
            <a:pPr marL="457200" indent="-457200">
              <a:buFont typeface="Arial" panose="020B0604020202020204" pitchFamily="34" charset="0"/>
              <a:buChar char="•"/>
            </a:pPr>
            <a:r>
              <a:rPr lang="en-GB"/>
              <a:t>Zero-shot is the simple question</a:t>
            </a:r>
          </a:p>
          <a:p>
            <a:pPr marL="457200" indent="-457200">
              <a:buFont typeface="Arial" panose="020B0604020202020204" pitchFamily="34" charset="0"/>
              <a:buChar char="•"/>
            </a:pPr>
            <a:r>
              <a:rPr lang="en-GB"/>
              <a:t>Few-shots: Give examples in the prompt</a:t>
            </a:r>
          </a:p>
          <a:p>
            <a:pPr marL="457200" indent="-457200">
              <a:buFont typeface="Arial" panose="020B0604020202020204" pitchFamily="34" charset="0"/>
              <a:buChar char="•"/>
            </a:pPr>
            <a:r>
              <a:rPr lang="en-GB"/>
              <a:t>Useful for creating your own </a:t>
            </a:r>
            <a:r>
              <a:rPr lang="en-GB" b="1" i="1"/>
              <a:t>text</a:t>
            </a:r>
            <a:r>
              <a:rPr lang="en-GB" b="1"/>
              <a:t> </a:t>
            </a:r>
            <a:r>
              <a:rPr lang="en-GB" b="1" i="1"/>
              <a:t>classifier</a:t>
            </a:r>
            <a:r>
              <a:rPr lang="en-GB" i="1"/>
              <a:t> </a:t>
            </a:r>
            <a:r>
              <a:rPr lang="en-GB"/>
              <a:t>(e.g. interview coding, content annotation)</a:t>
            </a:r>
          </a:p>
          <a:p>
            <a:pPr marL="457200" indent="-457200">
              <a:buFont typeface="Arial" panose="020B0604020202020204" pitchFamily="34" charset="0"/>
              <a:buChar char="•"/>
            </a:pPr>
            <a:r>
              <a:rPr lang="en-GB"/>
              <a:t>Prompt window size becomes a limitation</a:t>
            </a:r>
            <a:endParaRPr lang="fi-FI"/>
          </a:p>
        </p:txBody>
      </p:sp>
      <p:sp>
        <p:nvSpPr>
          <p:cNvPr id="9" name="TextBox 8">
            <a:extLst>
              <a:ext uri="{FF2B5EF4-FFF2-40B4-BE49-F238E27FC236}">
                <a16:creationId xmlns:a16="http://schemas.microsoft.com/office/drawing/2014/main" id="{D9E7CC33-3107-D40B-00DB-A52090B5B84B}"/>
              </a:ext>
            </a:extLst>
          </p:cNvPr>
          <p:cNvSpPr txBox="1"/>
          <p:nvPr/>
        </p:nvSpPr>
        <p:spPr>
          <a:xfrm>
            <a:off x="1055688" y="6185623"/>
            <a:ext cx="2664296" cy="338554"/>
          </a:xfrm>
          <a:prstGeom prst="rect">
            <a:avLst/>
          </a:prstGeom>
          <a:noFill/>
        </p:spPr>
        <p:txBody>
          <a:bodyPr wrap="square" rtlCol="0">
            <a:spAutoFit/>
          </a:bodyPr>
          <a:lstStyle/>
          <a:p>
            <a:pPr algn="l"/>
            <a:r>
              <a:rPr lang="en-GB" sz="1600">
                <a:latin typeface="+mj-lt"/>
              </a:rPr>
              <a:t>Source </a:t>
            </a:r>
            <a:r>
              <a:rPr lang="en-GB" sz="1600">
                <a:latin typeface="+mj-lt"/>
                <a:hlinkClick r:id="rId3"/>
              </a:rPr>
              <a:t>Ludwig.ai</a:t>
            </a:r>
            <a:endParaRPr lang="fi-FI" sz="1600" err="1">
              <a:latin typeface="+mj-lt"/>
            </a:endParaRPr>
          </a:p>
        </p:txBody>
      </p:sp>
      <p:sp>
        <p:nvSpPr>
          <p:cNvPr id="6" name="Slide Number Placeholder 5">
            <a:extLst>
              <a:ext uri="{FF2B5EF4-FFF2-40B4-BE49-F238E27FC236}">
                <a16:creationId xmlns:a16="http://schemas.microsoft.com/office/drawing/2014/main" id="{854F713B-1BF9-A36D-E179-050903023910}"/>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83</a:t>
            </a:fld>
            <a:endParaRPr lang="fi-FI"/>
          </a:p>
        </p:txBody>
      </p:sp>
      <p:sp>
        <p:nvSpPr>
          <p:cNvPr id="3" name="Date Placeholder 2">
            <a:extLst>
              <a:ext uri="{FF2B5EF4-FFF2-40B4-BE49-F238E27FC236}">
                <a16:creationId xmlns:a16="http://schemas.microsoft.com/office/drawing/2014/main" id="{4FB74850-BAD9-1896-7A49-D19F63D6E0CE}"/>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9FC667F7-5859-BD0C-5576-C9C9070F3D58}"/>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9548138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5938-0487-CEE6-E428-72ABE87695ED}"/>
              </a:ext>
            </a:extLst>
          </p:cNvPr>
          <p:cNvSpPr>
            <a:spLocks noGrp="1"/>
          </p:cNvSpPr>
          <p:nvPr>
            <p:ph type="title"/>
          </p:nvPr>
        </p:nvSpPr>
        <p:spPr/>
        <p:txBody>
          <a:bodyPr/>
          <a:lstStyle/>
          <a:p>
            <a:r>
              <a:rPr lang="en-US"/>
              <a:t>5.2. Advanced prompting techniques</a:t>
            </a:r>
            <a:br>
              <a:rPr lang="en-US"/>
            </a:br>
            <a:r>
              <a:rPr lang="en-US"/>
              <a:t>Retrieval Augmented Generation (RAG)</a:t>
            </a:r>
          </a:p>
        </p:txBody>
      </p:sp>
      <p:pic>
        <p:nvPicPr>
          <p:cNvPr id="5122" name="Picture 2" descr="Example of a RAG pipeline">
            <a:extLst>
              <a:ext uri="{FF2B5EF4-FFF2-40B4-BE49-F238E27FC236}">
                <a16:creationId xmlns:a16="http://schemas.microsoft.com/office/drawing/2014/main" id="{E8DE939E-80B6-F459-39CF-BB18C0065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76" y="1848867"/>
            <a:ext cx="5139606" cy="3615341"/>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7">
            <a:extLst>
              <a:ext uri="{FF2B5EF4-FFF2-40B4-BE49-F238E27FC236}">
                <a16:creationId xmlns:a16="http://schemas.microsoft.com/office/drawing/2014/main" id="{74DC2890-DCCE-6946-5C12-69BECDD77703}"/>
              </a:ext>
            </a:extLst>
          </p:cNvPr>
          <p:cNvSpPr>
            <a:spLocks noGrp="1"/>
          </p:cNvSpPr>
          <p:nvPr>
            <p:ph type="body" sz="quarter" idx="13"/>
          </p:nvPr>
        </p:nvSpPr>
        <p:spPr>
          <a:xfrm>
            <a:off x="6312024" y="1720129"/>
            <a:ext cx="4824289" cy="3671886"/>
          </a:xfrm>
        </p:spPr>
        <p:txBody>
          <a:bodyPr/>
          <a:lstStyle/>
          <a:p>
            <a:pPr marL="457200" indent="-457200">
              <a:buFont typeface="Arial" panose="020B0604020202020204" pitchFamily="34" charset="0"/>
              <a:buChar char="•"/>
            </a:pPr>
            <a:r>
              <a:rPr lang="en-GB" sz="2000"/>
              <a:t>Chat with your documents!</a:t>
            </a:r>
          </a:p>
          <a:p>
            <a:pPr marL="457200" indent="-457200">
              <a:buFont typeface="Arial" panose="020B0604020202020204" pitchFamily="34" charset="0"/>
              <a:buChar char="•"/>
            </a:pPr>
            <a:r>
              <a:rPr lang="en-GB" sz="2000"/>
              <a:t>One implementation worth mentioning</a:t>
            </a:r>
          </a:p>
          <a:p>
            <a:pPr marL="723900" lvl="1" indent="-457200"/>
            <a:r>
              <a:rPr lang="en-GB" b="1">
                <a:hlinkClick r:id="rId3"/>
              </a:rPr>
              <a:t>https://notebooklm.google/</a:t>
            </a:r>
            <a:r>
              <a:rPr lang="en-GB" b="1"/>
              <a:t> </a:t>
            </a:r>
          </a:p>
          <a:p>
            <a:pPr marL="457200" indent="-457200">
              <a:buFont typeface="Arial" panose="020B0604020202020204" pitchFamily="34" charset="0"/>
              <a:buChar char="•"/>
            </a:pPr>
            <a:r>
              <a:rPr lang="en-GB" sz="2000"/>
              <a:t>If you are a coder: </a:t>
            </a:r>
            <a:r>
              <a:rPr lang="en-GB" sz="2000" err="1"/>
              <a:t>langchain</a:t>
            </a:r>
            <a:r>
              <a:rPr lang="en-GB" sz="2000"/>
              <a:t>, </a:t>
            </a:r>
            <a:r>
              <a:rPr lang="en-GB" sz="2000" err="1"/>
              <a:t>llamaindex</a:t>
            </a:r>
            <a:r>
              <a:rPr lang="en-GB" sz="2000"/>
              <a:t>, </a:t>
            </a:r>
            <a:r>
              <a:rPr lang="en-GB" sz="2000" err="1"/>
              <a:t>chromadb</a:t>
            </a:r>
            <a:endParaRPr lang="en-GB" sz="2000"/>
          </a:p>
          <a:p>
            <a:pPr marL="457200" indent="-457200">
              <a:buFont typeface="Arial" panose="020B0604020202020204" pitchFamily="34" charset="0"/>
              <a:buChar char="•"/>
            </a:pPr>
            <a:r>
              <a:rPr lang="en-GB" sz="2000" b="1"/>
              <a:t>MCP</a:t>
            </a:r>
            <a:r>
              <a:rPr lang="en-GB" sz="2000"/>
              <a:t> (Model Context Protocol) as a new way to go beyond RAG by working with </a:t>
            </a:r>
            <a:r>
              <a:rPr lang="en-GB" sz="2000" b="1"/>
              <a:t>AI Agents </a:t>
            </a:r>
            <a:r>
              <a:rPr lang="en-GB" sz="1400"/>
              <a:t>(= multiple LLM systems that are able to talk to each other and connect to other APIs)</a:t>
            </a:r>
            <a:r>
              <a:rPr lang="en-GB" sz="2000"/>
              <a:t> </a:t>
            </a:r>
          </a:p>
        </p:txBody>
      </p:sp>
      <p:sp>
        <p:nvSpPr>
          <p:cNvPr id="9" name="TextBox 8">
            <a:extLst>
              <a:ext uri="{FF2B5EF4-FFF2-40B4-BE49-F238E27FC236}">
                <a16:creationId xmlns:a16="http://schemas.microsoft.com/office/drawing/2014/main" id="{D9E7CC33-3107-D40B-00DB-A52090B5B84B}"/>
              </a:ext>
            </a:extLst>
          </p:cNvPr>
          <p:cNvSpPr txBox="1"/>
          <p:nvPr/>
        </p:nvSpPr>
        <p:spPr>
          <a:xfrm>
            <a:off x="1083394" y="6212369"/>
            <a:ext cx="5976416" cy="584775"/>
          </a:xfrm>
          <a:prstGeom prst="rect">
            <a:avLst/>
          </a:prstGeom>
          <a:noFill/>
        </p:spPr>
        <p:txBody>
          <a:bodyPr wrap="square" rtlCol="0">
            <a:spAutoFit/>
          </a:bodyPr>
          <a:lstStyle/>
          <a:p>
            <a:pPr algn="l"/>
            <a:r>
              <a:rPr lang="en-GB" sz="1600">
                <a:latin typeface="+mj-lt"/>
              </a:rPr>
              <a:t>Figure source </a:t>
            </a:r>
            <a:r>
              <a:rPr lang="en-GB" sz="1600" err="1">
                <a:latin typeface="+mj-lt"/>
                <a:hlinkClick r:id="rId4"/>
              </a:rPr>
              <a:t>LangChain</a:t>
            </a:r>
            <a:r>
              <a:rPr lang="en-GB" sz="1600">
                <a:latin typeface="+mj-lt"/>
              </a:rPr>
              <a:t>; </a:t>
            </a:r>
            <a:br>
              <a:rPr lang="en-GB" sz="1600">
                <a:latin typeface="+mj-lt"/>
              </a:rPr>
            </a:br>
            <a:r>
              <a:rPr lang="en-GB" sz="1600">
                <a:latin typeface="+mj-lt"/>
              </a:rPr>
              <a:t>Useful list of </a:t>
            </a:r>
            <a:r>
              <a:rPr lang="en-GB" sz="1600">
                <a:latin typeface="+mj-lt"/>
                <a:hlinkClick r:id="rId5"/>
              </a:rPr>
              <a:t>advanced prompting techniques from Deci.ai</a:t>
            </a:r>
            <a:endParaRPr lang="fi-FI" sz="1600">
              <a:latin typeface="+mj-lt"/>
            </a:endParaRPr>
          </a:p>
        </p:txBody>
      </p:sp>
      <p:sp>
        <p:nvSpPr>
          <p:cNvPr id="6" name="Slide Number Placeholder 5">
            <a:extLst>
              <a:ext uri="{FF2B5EF4-FFF2-40B4-BE49-F238E27FC236}">
                <a16:creationId xmlns:a16="http://schemas.microsoft.com/office/drawing/2014/main" id="{8591C6D7-0AB3-E89A-B8B7-9DF75E4359D3}"/>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84</a:t>
            </a:fld>
            <a:endParaRPr lang="fi-FI"/>
          </a:p>
        </p:txBody>
      </p:sp>
      <p:sp>
        <p:nvSpPr>
          <p:cNvPr id="3" name="Date Placeholder 2">
            <a:extLst>
              <a:ext uri="{FF2B5EF4-FFF2-40B4-BE49-F238E27FC236}">
                <a16:creationId xmlns:a16="http://schemas.microsoft.com/office/drawing/2014/main" id="{1DD9748A-1FB4-F38A-C50E-46B7CC37F6D5}"/>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FF151526-E54F-1F6D-20E9-43F7CDBE2B51}"/>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5" name="TextBox 4">
            <a:extLst>
              <a:ext uri="{FF2B5EF4-FFF2-40B4-BE49-F238E27FC236}">
                <a16:creationId xmlns:a16="http://schemas.microsoft.com/office/drawing/2014/main" id="{7C22F182-4AA7-2ECC-57A2-69F32875B7B8}"/>
              </a:ext>
            </a:extLst>
          </p:cNvPr>
          <p:cNvSpPr txBox="1"/>
          <p:nvPr/>
        </p:nvSpPr>
        <p:spPr>
          <a:xfrm>
            <a:off x="2164047" y="1844374"/>
            <a:ext cx="617477" cy="246221"/>
          </a:xfrm>
          <a:prstGeom prst="rect">
            <a:avLst/>
          </a:prstGeom>
          <a:noFill/>
        </p:spPr>
        <p:txBody>
          <a:bodyPr wrap="none" rtlCol="0">
            <a:spAutoFit/>
          </a:bodyPr>
          <a:lstStyle/>
          <a:p>
            <a:pPr algn="l"/>
            <a:r>
              <a:rPr lang="en-GB" sz="1000">
                <a:latin typeface="+mj-lt"/>
              </a:rPr>
              <a:t>Chunks</a:t>
            </a:r>
            <a:endParaRPr lang="en-FI" sz="1000" err="1">
              <a:latin typeface="+mj-lt"/>
            </a:endParaRPr>
          </a:p>
        </p:txBody>
      </p:sp>
      <p:cxnSp>
        <p:nvCxnSpPr>
          <p:cNvPr id="10" name="Straight Connector 9">
            <a:extLst>
              <a:ext uri="{FF2B5EF4-FFF2-40B4-BE49-F238E27FC236}">
                <a16:creationId xmlns:a16="http://schemas.microsoft.com/office/drawing/2014/main" id="{05224536-5D04-6F80-549E-3D65A5FAC860}"/>
              </a:ext>
            </a:extLst>
          </p:cNvPr>
          <p:cNvCxnSpPr>
            <a:cxnSpLocks/>
          </p:cNvCxnSpPr>
          <p:nvPr/>
        </p:nvCxnSpPr>
        <p:spPr>
          <a:xfrm>
            <a:off x="116378" y="2568633"/>
            <a:ext cx="597962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25A31A3-119E-58F6-C439-F07877510AE2}"/>
              </a:ext>
            </a:extLst>
          </p:cNvPr>
          <p:cNvSpPr txBox="1"/>
          <p:nvPr/>
        </p:nvSpPr>
        <p:spPr>
          <a:xfrm>
            <a:off x="138610" y="2303220"/>
            <a:ext cx="753732" cy="246221"/>
          </a:xfrm>
          <a:prstGeom prst="rect">
            <a:avLst/>
          </a:prstGeom>
          <a:noFill/>
        </p:spPr>
        <p:txBody>
          <a:bodyPr wrap="none" rtlCol="0">
            <a:spAutoFit/>
          </a:bodyPr>
          <a:lstStyle/>
          <a:p>
            <a:pPr algn="l"/>
            <a:r>
              <a:rPr lang="en-GB" sz="1000" b="1" i="1">
                <a:latin typeface="+mj-lt"/>
              </a:rPr>
              <a:t>Ingestion</a:t>
            </a:r>
            <a:endParaRPr lang="en-FI" sz="1000" b="1" i="1" err="1">
              <a:latin typeface="+mj-lt"/>
            </a:endParaRPr>
          </a:p>
        </p:txBody>
      </p:sp>
      <p:sp>
        <p:nvSpPr>
          <p:cNvPr id="13" name="TextBox 12">
            <a:extLst>
              <a:ext uri="{FF2B5EF4-FFF2-40B4-BE49-F238E27FC236}">
                <a16:creationId xmlns:a16="http://schemas.microsoft.com/office/drawing/2014/main" id="{11127CE6-D7B2-967D-DE05-02F3EFC62287}"/>
              </a:ext>
            </a:extLst>
          </p:cNvPr>
          <p:cNvSpPr txBox="1"/>
          <p:nvPr/>
        </p:nvSpPr>
        <p:spPr>
          <a:xfrm>
            <a:off x="138610" y="2587826"/>
            <a:ext cx="553357" cy="246221"/>
          </a:xfrm>
          <a:prstGeom prst="rect">
            <a:avLst/>
          </a:prstGeom>
          <a:noFill/>
        </p:spPr>
        <p:txBody>
          <a:bodyPr wrap="none" rtlCol="0">
            <a:spAutoFit/>
          </a:bodyPr>
          <a:lstStyle/>
          <a:p>
            <a:pPr algn="l"/>
            <a:r>
              <a:rPr lang="en-GB" sz="1000" b="1" i="1">
                <a:latin typeface="+mj-lt"/>
              </a:rPr>
              <a:t>Query</a:t>
            </a:r>
            <a:endParaRPr lang="en-FI" sz="1000" b="1" i="1" err="1">
              <a:latin typeface="+mj-lt"/>
            </a:endParaRPr>
          </a:p>
        </p:txBody>
      </p:sp>
    </p:spTree>
    <p:extLst>
      <p:ext uri="{BB962C8B-B14F-4D97-AF65-F5344CB8AC3E}">
        <p14:creationId xmlns:p14="http://schemas.microsoft.com/office/powerpoint/2010/main" val="27054406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5938-0487-CEE6-E428-72ABE87695ED}"/>
              </a:ext>
            </a:extLst>
          </p:cNvPr>
          <p:cNvSpPr>
            <a:spLocks noGrp="1"/>
          </p:cNvSpPr>
          <p:nvPr>
            <p:ph type="title"/>
          </p:nvPr>
        </p:nvSpPr>
        <p:spPr/>
        <p:txBody>
          <a:bodyPr/>
          <a:lstStyle/>
          <a:p>
            <a:r>
              <a:rPr lang="en-US"/>
              <a:t>5.3. Advanced prompting techniques</a:t>
            </a:r>
            <a:br>
              <a:rPr lang="en-US"/>
            </a:br>
            <a:r>
              <a:rPr lang="en-US"/>
              <a:t>RAG vs fine-tuning</a:t>
            </a:r>
          </a:p>
        </p:txBody>
      </p:sp>
      <p:sp>
        <p:nvSpPr>
          <p:cNvPr id="8" name="Text Placeholder 7">
            <a:extLst>
              <a:ext uri="{FF2B5EF4-FFF2-40B4-BE49-F238E27FC236}">
                <a16:creationId xmlns:a16="http://schemas.microsoft.com/office/drawing/2014/main" id="{74DC2890-DCCE-6946-5C12-69BECDD77703}"/>
              </a:ext>
            </a:extLst>
          </p:cNvPr>
          <p:cNvSpPr>
            <a:spLocks noGrp="1"/>
          </p:cNvSpPr>
          <p:nvPr>
            <p:ph type="body" sz="quarter" idx="13"/>
          </p:nvPr>
        </p:nvSpPr>
        <p:spPr>
          <a:xfrm>
            <a:off x="6312024" y="1844824"/>
            <a:ext cx="4824289" cy="3671886"/>
          </a:xfrm>
        </p:spPr>
        <p:txBody>
          <a:bodyPr/>
          <a:lstStyle/>
          <a:p>
            <a:pPr marL="457200" indent="-457200">
              <a:buFont typeface="Arial" panose="020B0604020202020204" pitchFamily="34" charset="0"/>
              <a:buChar char="•"/>
            </a:pPr>
            <a:r>
              <a:rPr lang="en-GB" sz="2000" b="1"/>
              <a:t>Fine Tuning</a:t>
            </a:r>
            <a:endParaRPr lang="en-GB" sz="2000" b="1">
              <a:cs typeface="Arial" panose="020B0604020202020204"/>
            </a:endParaRPr>
          </a:p>
          <a:p>
            <a:pPr marL="723900" lvl="1" indent="-457200"/>
            <a:r>
              <a:rPr lang="en-GB" sz="1800"/>
              <a:t>Train the model for a specific format of answers (e.g. generating reports in a specific, not very common, structure)</a:t>
            </a:r>
            <a:endParaRPr lang="en-GB" sz="1800">
              <a:cs typeface="Arial" panose="020B0604020202020204"/>
            </a:endParaRPr>
          </a:p>
          <a:p>
            <a:pPr marL="723900" lvl="1" indent="-457200"/>
            <a:r>
              <a:rPr lang="en-GB" sz="1800">
                <a:cs typeface="Arial" panose="020B0604020202020204"/>
              </a:rPr>
              <a:t>Train for a specific type of question</a:t>
            </a:r>
          </a:p>
          <a:p>
            <a:pPr marL="723900" lvl="1" indent="-457200"/>
            <a:r>
              <a:rPr lang="en-GB" sz="1800">
                <a:cs typeface="Arial" panose="020B0604020202020204"/>
              </a:rPr>
              <a:t>Train on specific type of encoded input data, that's not easily explained</a:t>
            </a:r>
          </a:p>
          <a:p>
            <a:pPr marL="723900" lvl="1" indent="-457200"/>
            <a:r>
              <a:rPr lang="en-GB" sz="1800">
                <a:cs typeface="Arial" panose="020B0604020202020204"/>
              </a:rPr>
              <a:t>Requires a large amount of resources to re-train the model</a:t>
            </a:r>
          </a:p>
          <a:p>
            <a:pPr marL="723900" lvl="1" indent="-457200"/>
            <a:endParaRPr lang="en-GB" sz="1800">
              <a:cs typeface="Arial" panose="020B0604020202020204"/>
            </a:endParaRPr>
          </a:p>
          <a:p>
            <a:pPr marL="723900" lvl="1" indent="-457200"/>
            <a:endParaRPr lang="en-GB" sz="1800">
              <a:cs typeface="Arial" panose="020B0604020202020204"/>
            </a:endParaRPr>
          </a:p>
          <a:p>
            <a:endParaRPr lang="en-GB" sz="2000">
              <a:cs typeface="Arial" panose="020B0604020202020204"/>
            </a:endParaRPr>
          </a:p>
        </p:txBody>
      </p:sp>
      <p:sp>
        <p:nvSpPr>
          <p:cNvPr id="6" name="Slide Number Placeholder 5">
            <a:extLst>
              <a:ext uri="{FF2B5EF4-FFF2-40B4-BE49-F238E27FC236}">
                <a16:creationId xmlns:a16="http://schemas.microsoft.com/office/drawing/2014/main" id="{8591C6D7-0AB3-E89A-B8B7-9DF75E4359D3}"/>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85</a:t>
            </a:fld>
            <a:endParaRPr lang="fi-FI"/>
          </a:p>
        </p:txBody>
      </p:sp>
      <p:sp>
        <p:nvSpPr>
          <p:cNvPr id="5" name="Text Placeholder 7">
            <a:extLst>
              <a:ext uri="{FF2B5EF4-FFF2-40B4-BE49-F238E27FC236}">
                <a16:creationId xmlns:a16="http://schemas.microsoft.com/office/drawing/2014/main" id="{146913EC-44EF-6DDE-3257-F5D25A06C4A1}"/>
              </a:ext>
            </a:extLst>
          </p:cNvPr>
          <p:cNvSpPr txBox="1">
            <a:spLocks/>
          </p:cNvSpPr>
          <p:nvPr/>
        </p:nvSpPr>
        <p:spPr>
          <a:xfrm>
            <a:off x="767567" y="1843010"/>
            <a:ext cx="4824289" cy="367188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8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GB" sz="2000" b="1">
                <a:cs typeface="Arial"/>
              </a:rPr>
              <a:t>RAG</a:t>
            </a:r>
            <a:endParaRPr lang="en-GB" sz="2000" b="1"/>
          </a:p>
          <a:p>
            <a:pPr marL="723900" lvl="1" indent="-457200"/>
            <a:r>
              <a:rPr lang="en-GB" sz="1800"/>
              <a:t>Interact with a database </a:t>
            </a:r>
            <a:endParaRPr lang="en-GB" sz="1800">
              <a:cs typeface="Arial"/>
            </a:endParaRPr>
          </a:p>
          <a:p>
            <a:pPr marL="723900" lvl="1" indent="-457200"/>
            <a:r>
              <a:rPr lang="en-GB" sz="1800">
                <a:cs typeface="Arial"/>
              </a:rPr>
              <a:t>Pre-processing data</a:t>
            </a:r>
          </a:p>
          <a:p>
            <a:pPr marL="723900" lvl="1" indent="-457200"/>
            <a:r>
              <a:rPr lang="en-GB" sz="1800">
                <a:cs typeface="Arial"/>
              </a:rPr>
              <a:t>Post-process responses</a:t>
            </a:r>
          </a:p>
          <a:p>
            <a:pPr marL="723900" lvl="1" indent="-457200"/>
            <a:r>
              <a:rPr lang="en-GB" sz="1800">
                <a:cs typeface="Arial"/>
              </a:rPr>
              <a:t>For automated interaction with more complex user input</a:t>
            </a:r>
          </a:p>
          <a:p>
            <a:pPr marL="723900" lvl="1" indent="-457200"/>
            <a:r>
              <a:rPr lang="en-GB" sz="1800">
                <a:cs typeface="Arial"/>
              </a:rPr>
              <a:t>Whenever you have an additional data source that you want the model to take into account</a:t>
            </a:r>
          </a:p>
          <a:p>
            <a:pPr marL="723900" lvl="1" indent="-457200"/>
            <a:r>
              <a:rPr lang="en-GB" sz="1800">
                <a:cs typeface="Arial"/>
              </a:rPr>
              <a:t>Relatively quick to implement</a:t>
            </a:r>
          </a:p>
          <a:p>
            <a:pPr marL="723900" lvl="1" indent="-457200"/>
            <a:endParaRPr lang="en-GB" sz="1800">
              <a:cs typeface="Arial"/>
            </a:endParaRPr>
          </a:p>
          <a:p>
            <a:pPr marL="723900" lvl="1" indent="-457200"/>
            <a:endParaRPr lang="en-GB" sz="1800">
              <a:cs typeface="Arial"/>
            </a:endParaRPr>
          </a:p>
          <a:p>
            <a:pPr marL="723900" lvl="1" indent="-457200"/>
            <a:endParaRPr lang="en-GB" sz="1800">
              <a:cs typeface="Arial"/>
            </a:endParaRPr>
          </a:p>
        </p:txBody>
      </p:sp>
      <p:sp>
        <p:nvSpPr>
          <p:cNvPr id="3" name="Date Placeholder 2">
            <a:extLst>
              <a:ext uri="{FF2B5EF4-FFF2-40B4-BE49-F238E27FC236}">
                <a16:creationId xmlns:a16="http://schemas.microsoft.com/office/drawing/2014/main" id="{2DE48B21-615E-CF56-BEA3-C56792892135}"/>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39D17BD2-9AE3-3B19-7EBD-06DBB4F4B586}"/>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8501319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5938-0487-CEE6-E428-72ABE87695ED}"/>
              </a:ext>
            </a:extLst>
          </p:cNvPr>
          <p:cNvSpPr>
            <a:spLocks noGrp="1"/>
          </p:cNvSpPr>
          <p:nvPr>
            <p:ph type="title"/>
          </p:nvPr>
        </p:nvSpPr>
        <p:spPr/>
        <p:txBody>
          <a:bodyPr/>
          <a:lstStyle/>
          <a:p>
            <a:r>
              <a:rPr lang="en-US"/>
              <a:t>5.4. Advanced prompting techniques</a:t>
            </a:r>
            <a:br>
              <a:rPr lang="en-US"/>
            </a:br>
            <a:r>
              <a:rPr lang="en-US"/>
              <a:t>Chain Of Thoughts prompting I</a:t>
            </a:r>
          </a:p>
        </p:txBody>
      </p:sp>
      <p:sp>
        <p:nvSpPr>
          <p:cNvPr id="6" name="Slide Number Placeholder 5">
            <a:extLst>
              <a:ext uri="{FF2B5EF4-FFF2-40B4-BE49-F238E27FC236}">
                <a16:creationId xmlns:a16="http://schemas.microsoft.com/office/drawing/2014/main" id="{8591C6D7-0AB3-E89A-B8B7-9DF75E4359D3}"/>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86</a:t>
            </a:fld>
            <a:endParaRPr lang="fi-FI"/>
          </a:p>
        </p:txBody>
      </p:sp>
      <p:sp>
        <p:nvSpPr>
          <p:cNvPr id="3" name="Date Placeholder 2">
            <a:extLst>
              <a:ext uri="{FF2B5EF4-FFF2-40B4-BE49-F238E27FC236}">
                <a16:creationId xmlns:a16="http://schemas.microsoft.com/office/drawing/2014/main" id="{2DE48B21-615E-CF56-BEA3-C56792892135}"/>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39D17BD2-9AE3-3B19-7EBD-06DBB4F4B586}"/>
              </a:ext>
            </a:extLst>
          </p:cNvPr>
          <p:cNvSpPr>
            <a:spLocks noGrp="1"/>
          </p:cNvSpPr>
          <p:nvPr>
            <p:ph type="ftr" sz="quarter" idx="15"/>
          </p:nvPr>
        </p:nvSpPr>
        <p:spPr/>
        <p:txBody>
          <a:bodyPr/>
          <a:lstStyle/>
          <a:p>
            <a:r>
              <a:rPr lang="pt-BR"/>
              <a:t>Enrico Glerean &amp; Pedro Silva (2026) Please cite DOI: 10.5281/zenodo.14032261 (CC-BY)</a:t>
            </a:r>
            <a:endParaRPr lang="fi-FI"/>
          </a:p>
        </p:txBody>
      </p:sp>
      <p:pic>
        <p:nvPicPr>
          <p:cNvPr id="1026" name="Picture 2" descr="COT">
            <a:extLst>
              <a:ext uri="{FF2B5EF4-FFF2-40B4-BE49-F238E27FC236}">
                <a16:creationId xmlns:a16="http://schemas.microsoft.com/office/drawing/2014/main" id="{76411A7A-9FA4-2006-D986-594AE0EFC0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7" y="1778512"/>
            <a:ext cx="6560080" cy="3300976"/>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7">
            <a:extLst>
              <a:ext uri="{FF2B5EF4-FFF2-40B4-BE49-F238E27FC236}">
                <a16:creationId xmlns:a16="http://schemas.microsoft.com/office/drawing/2014/main" id="{69B9EE5A-A09C-402F-7C99-1B2154D3BBFC}"/>
              </a:ext>
            </a:extLst>
          </p:cNvPr>
          <p:cNvSpPr>
            <a:spLocks noGrp="1"/>
          </p:cNvSpPr>
          <p:nvPr>
            <p:ph type="body" sz="quarter" idx="13"/>
          </p:nvPr>
        </p:nvSpPr>
        <p:spPr>
          <a:xfrm>
            <a:off x="6959723" y="2099926"/>
            <a:ext cx="4824289" cy="3671886"/>
          </a:xfrm>
        </p:spPr>
        <p:txBody>
          <a:bodyPr/>
          <a:lstStyle/>
          <a:p>
            <a:pPr marL="457200" indent="-457200">
              <a:buFont typeface="Arial" panose="020B0604020202020204" pitchFamily="34" charset="0"/>
              <a:buChar char="•"/>
            </a:pPr>
            <a:r>
              <a:rPr lang="en-GB" sz="2000">
                <a:cs typeface="Arial" panose="020B0604020202020204"/>
              </a:rPr>
              <a:t>In the example (few shote prompting) we teach the model to perform </a:t>
            </a:r>
            <a:r>
              <a:rPr lang="en-GB" sz="2000" b="1">
                <a:cs typeface="Arial" panose="020B0604020202020204"/>
              </a:rPr>
              <a:t>reasoning steps </a:t>
            </a:r>
            <a:r>
              <a:rPr lang="en-GB" sz="2000">
                <a:cs typeface="Arial" panose="020B0604020202020204"/>
              </a:rPr>
              <a:t> to obtain the answer.</a:t>
            </a:r>
            <a:endParaRPr lang="en-GB" sz="1800">
              <a:cs typeface="Arial" panose="020B0604020202020204"/>
            </a:endParaRPr>
          </a:p>
          <a:p>
            <a:pPr marL="723900" lvl="1" indent="-457200"/>
            <a:endParaRPr lang="en-GB" sz="1800">
              <a:cs typeface="Arial" panose="020B0604020202020204"/>
            </a:endParaRPr>
          </a:p>
          <a:p>
            <a:pPr marL="723900" lvl="1" indent="-457200"/>
            <a:endParaRPr lang="en-GB" sz="1800">
              <a:cs typeface="Arial" panose="020B0604020202020204"/>
            </a:endParaRPr>
          </a:p>
          <a:p>
            <a:endParaRPr lang="en-GB" sz="2000">
              <a:cs typeface="Arial" panose="020B0604020202020204"/>
            </a:endParaRPr>
          </a:p>
        </p:txBody>
      </p:sp>
      <p:sp>
        <p:nvSpPr>
          <p:cNvPr id="11" name="TextBox 10">
            <a:extLst>
              <a:ext uri="{FF2B5EF4-FFF2-40B4-BE49-F238E27FC236}">
                <a16:creationId xmlns:a16="http://schemas.microsoft.com/office/drawing/2014/main" id="{1064AD2B-906B-5C7B-61A8-BAAECC28CCEE}"/>
              </a:ext>
            </a:extLst>
          </p:cNvPr>
          <p:cNvSpPr txBox="1"/>
          <p:nvPr/>
        </p:nvSpPr>
        <p:spPr>
          <a:xfrm>
            <a:off x="642551" y="5412259"/>
            <a:ext cx="4258963" cy="338554"/>
          </a:xfrm>
          <a:prstGeom prst="rect">
            <a:avLst/>
          </a:prstGeom>
          <a:noFill/>
        </p:spPr>
        <p:txBody>
          <a:bodyPr wrap="square" rtlCol="0">
            <a:spAutoFit/>
          </a:bodyPr>
          <a:lstStyle/>
          <a:p>
            <a:pPr algn="l"/>
            <a:r>
              <a:rPr lang="en-GB" sz="1600">
                <a:latin typeface="+mj-lt"/>
              </a:rPr>
              <a:t>From: </a:t>
            </a:r>
            <a:r>
              <a:rPr lang="en-GB" sz="1600">
                <a:latin typeface="+mj-lt"/>
                <a:hlinkClick r:id="rId3"/>
              </a:rPr>
              <a:t>https://arxiv.org/abs/2201.11903</a:t>
            </a:r>
            <a:r>
              <a:rPr lang="en-GB" sz="1600">
                <a:latin typeface="+mj-lt"/>
              </a:rPr>
              <a:t> </a:t>
            </a:r>
            <a:endParaRPr lang="en-FI" sz="1600" err="1">
              <a:latin typeface="+mj-lt"/>
            </a:endParaRPr>
          </a:p>
        </p:txBody>
      </p:sp>
    </p:spTree>
    <p:extLst>
      <p:ext uri="{BB962C8B-B14F-4D97-AF65-F5344CB8AC3E}">
        <p14:creationId xmlns:p14="http://schemas.microsoft.com/office/powerpoint/2010/main" val="10426969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5938-0487-CEE6-E428-72ABE87695ED}"/>
              </a:ext>
            </a:extLst>
          </p:cNvPr>
          <p:cNvSpPr>
            <a:spLocks noGrp="1"/>
          </p:cNvSpPr>
          <p:nvPr>
            <p:ph type="title"/>
          </p:nvPr>
        </p:nvSpPr>
        <p:spPr/>
        <p:txBody>
          <a:bodyPr/>
          <a:lstStyle/>
          <a:p>
            <a:r>
              <a:rPr lang="en-US"/>
              <a:t>5.4. Advanced prompting techniques</a:t>
            </a:r>
            <a:br>
              <a:rPr lang="en-US"/>
            </a:br>
            <a:r>
              <a:rPr lang="en-US"/>
              <a:t>Chain Of Thoughts prompting II</a:t>
            </a:r>
          </a:p>
        </p:txBody>
      </p:sp>
      <p:sp>
        <p:nvSpPr>
          <p:cNvPr id="6" name="Slide Number Placeholder 5">
            <a:extLst>
              <a:ext uri="{FF2B5EF4-FFF2-40B4-BE49-F238E27FC236}">
                <a16:creationId xmlns:a16="http://schemas.microsoft.com/office/drawing/2014/main" id="{8591C6D7-0AB3-E89A-B8B7-9DF75E4359D3}"/>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87</a:t>
            </a:fld>
            <a:endParaRPr lang="fi-FI"/>
          </a:p>
        </p:txBody>
      </p:sp>
      <p:sp>
        <p:nvSpPr>
          <p:cNvPr id="3" name="Date Placeholder 2">
            <a:extLst>
              <a:ext uri="{FF2B5EF4-FFF2-40B4-BE49-F238E27FC236}">
                <a16:creationId xmlns:a16="http://schemas.microsoft.com/office/drawing/2014/main" id="{2DE48B21-615E-CF56-BEA3-C56792892135}"/>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39D17BD2-9AE3-3B19-7EBD-06DBB4F4B586}"/>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10" name="Text Placeholder 7">
            <a:extLst>
              <a:ext uri="{FF2B5EF4-FFF2-40B4-BE49-F238E27FC236}">
                <a16:creationId xmlns:a16="http://schemas.microsoft.com/office/drawing/2014/main" id="{69B9EE5A-A09C-402F-7C99-1B2154D3BBFC}"/>
              </a:ext>
            </a:extLst>
          </p:cNvPr>
          <p:cNvSpPr>
            <a:spLocks noGrp="1"/>
          </p:cNvSpPr>
          <p:nvPr>
            <p:ph type="body" sz="quarter" idx="13"/>
          </p:nvPr>
        </p:nvSpPr>
        <p:spPr>
          <a:xfrm>
            <a:off x="6959723" y="2099926"/>
            <a:ext cx="4824289" cy="3671886"/>
          </a:xfrm>
        </p:spPr>
        <p:txBody>
          <a:bodyPr/>
          <a:lstStyle/>
          <a:p>
            <a:pPr marL="457200" indent="-457200">
              <a:buFont typeface="Arial" panose="020B0604020202020204" pitchFamily="34" charset="0"/>
              <a:buChar char="•"/>
            </a:pPr>
            <a:r>
              <a:rPr lang="en-GB" sz="2000">
                <a:cs typeface="Arial" panose="020B0604020202020204"/>
              </a:rPr>
              <a:t>Alternatively, with a zero-shot approach, we just add “</a:t>
            </a:r>
            <a:r>
              <a:rPr lang="en-GB" sz="2000" b="1" i="1">
                <a:cs typeface="Arial" panose="020B0604020202020204"/>
              </a:rPr>
              <a:t>Let’s think step-by-step</a:t>
            </a:r>
            <a:r>
              <a:rPr lang="en-GB" sz="2000">
                <a:cs typeface="Arial" panose="020B0604020202020204"/>
              </a:rPr>
              <a:t>” at the end of the prompt, to force the model into reasoning step by step to produce the answer.</a:t>
            </a:r>
            <a:endParaRPr lang="en-GB" sz="1800">
              <a:cs typeface="Arial" panose="020B0604020202020204"/>
            </a:endParaRPr>
          </a:p>
          <a:p>
            <a:pPr marL="723900" lvl="1" indent="-457200"/>
            <a:endParaRPr lang="en-GB" sz="1800">
              <a:cs typeface="Arial" panose="020B0604020202020204"/>
            </a:endParaRPr>
          </a:p>
          <a:p>
            <a:pPr marL="723900" lvl="1" indent="-457200"/>
            <a:endParaRPr lang="en-GB" sz="1800">
              <a:cs typeface="Arial" panose="020B0604020202020204"/>
            </a:endParaRPr>
          </a:p>
          <a:p>
            <a:endParaRPr lang="en-GB" sz="2000">
              <a:cs typeface="Arial" panose="020B0604020202020204"/>
            </a:endParaRPr>
          </a:p>
        </p:txBody>
      </p:sp>
      <p:sp>
        <p:nvSpPr>
          <p:cNvPr id="11" name="TextBox 10">
            <a:extLst>
              <a:ext uri="{FF2B5EF4-FFF2-40B4-BE49-F238E27FC236}">
                <a16:creationId xmlns:a16="http://schemas.microsoft.com/office/drawing/2014/main" id="{1064AD2B-906B-5C7B-61A8-BAAECC28CCEE}"/>
              </a:ext>
            </a:extLst>
          </p:cNvPr>
          <p:cNvSpPr txBox="1"/>
          <p:nvPr/>
        </p:nvSpPr>
        <p:spPr>
          <a:xfrm>
            <a:off x="642551" y="5412259"/>
            <a:ext cx="4258963" cy="338554"/>
          </a:xfrm>
          <a:prstGeom prst="rect">
            <a:avLst/>
          </a:prstGeom>
          <a:noFill/>
        </p:spPr>
        <p:txBody>
          <a:bodyPr wrap="square" rtlCol="0">
            <a:spAutoFit/>
          </a:bodyPr>
          <a:lstStyle/>
          <a:p>
            <a:pPr algn="l"/>
            <a:r>
              <a:rPr lang="en-GB" sz="1600">
                <a:latin typeface="+mj-lt"/>
              </a:rPr>
              <a:t>From: </a:t>
            </a:r>
            <a:r>
              <a:rPr lang="en-GB" sz="1600">
                <a:latin typeface="+mj-lt"/>
                <a:hlinkClick r:id="rId2"/>
              </a:rPr>
              <a:t>https://arxiv.org/abs/2201.11903</a:t>
            </a:r>
            <a:r>
              <a:rPr lang="en-GB" sz="1600">
                <a:latin typeface="+mj-lt"/>
              </a:rPr>
              <a:t> </a:t>
            </a:r>
            <a:endParaRPr lang="en-FI" sz="1600" err="1">
              <a:latin typeface="+mj-lt"/>
            </a:endParaRPr>
          </a:p>
        </p:txBody>
      </p:sp>
      <p:pic>
        <p:nvPicPr>
          <p:cNvPr id="2052" name="Picture 4" descr="Zero-shot COT">
            <a:extLst>
              <a:ext uri="{FF2B5EF4-FFF2-40B4-BE49-F238E27FC236}">
                <a16:creationId xmlns:a16="http://schemas.microsoft.com/office/drawing/2014/main" id="{E02979D2-E7BD-722D-EF4A-C2505FDFC5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714" y="1513968"/>
            <a:ext cx="6260444" cy="3368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4607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5938-0487-CEE6-E428-72ABE87695ED}"/>
              </a:ext>
            </a:extLst>
          </p:cNvPr>
          <p:cNvSpPr>
            <a:spLocks noGrp="1"/>
          </p:cNvSpPr>
          <p:nvPr>
            <p:ph type="title"/>
          </p:nvPr>
        </p:nvSpPr>
        <p:spPr/>
        <p:txBody>
          <a:bodyPr/>
          <a:lstStyle/>
          <a:p>
            <a:r>
              <a:rPr lang="en-US"/>
              <a:t>5.5. Advanced prompting techniques</a:t>
            </a:r>
            <a:br>
              <a:rPr lang="en-US"/>
            </a:br>
            <a:r>
              <a:rPr lang="en-US"/>
              <a:t>From </a:t>
            </a:r>
            <a:r>
              <a:rPr lang="en-US" err="1"/>
              <a:t>CoT</a:t>
            </a:r>
            <a:r>
              <a:rPr lang="en-US"/>
              <a:t> to Reasoning Models</a:t>
            </a:r>
          </a:p>
        </p:txBody>
      </p:sp>
      <p:sp>
        <p:nvSpPr>
          <p:cNvPr id="6" name="Slide Number Placeholder 5">
            <a:extLst>
              <a:ext uri="{FF2B5EF4-FFF2-40B4-BE49-F238E27FC236}">
                <a16:creationId xmlns:a16="http://schemas.microsoft.com/office/drawing/2014/main" id="{8591C6D7-0AB3-E89A-B8B7-9DF75E4359D3}"/>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88</a:t>
            </a:fld>
            <a:endParaRPr lang="fi-FI"/>
          </a:p>
        </p:txBody>
      </p:sp>
      <p:sp>
        <p:nvSpPr>
          <p:cNvPr id="3" name="Date Placeholder 2">
            <a:extLst>
              <a:ext uri="{FF2B5EF4-FFF2-40B4-BE49-F238E27FC236}">
                <a16:creationId xmlns:a16="http://schemas.microsoft.com/office/drawing/2014/main" id="{2DE48B21-615E-CF56-BEA3-C56792892135}"/>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39D17BD2-9AE3-3B19-7EBD-06DBB4F4B586}"/>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10" name="Text Placeholder 7">
            <a:extLst>
              <a:ext uri="{FF2B5EF4-FFF2-40B4-BE49-F238E27FC236}">
                <a16:creationId xmlns:a16="http://schemas.microsoft.com/office/drawing/2014/main" id="{69B9EE5A-A09C-402F-7C99-1B2154D3BBFC}"/>
              </a:ext>
            </a:extLst>
          </p:cNvPr>
          <p:cNvSpPr>
            <a:spLocks noGrp="1"/>
          </p:cNvSpPr>
          <p:nvPr>
            <p:ph type="body" sz="quarter" idx="13"/>
          </p:nvPr>
        </p:nvSpPr>
        <p:spPr>
          <a:xfrm>
            <a:off x="6959723" y="1440896"/>
            <a:ext cx="4824289" cy="3671886"/>
          </a:xfrm>
        </p:spPr>
        <p:txBody>
          <a:bodyPr/>
          <a:lstStyle/>
          <a:p>
            <a:pPr marL="457200" indent="-457200">
              <a:buFont typeface="Arial" panose="020B0604020202020204" pitchFamily="34" charset="0"/>
              <a:buChar char="•"/>
            </a:pPr>
            <a:r>
              <a:rPr lang="en-GB" sz="2000">
                <a:cs typeface="Arial" panose="020B0604020202020204"/>
              </a:rPr>
              <a:t>Reasoning is now </a:t>
            </a:r>
            <a:r>
              <a:rPr lang="en-GB" sz="2000" b="1">
                <a:cs typeface="Arial" panose="020B0604020202020204"/>
              </a:rPr>
              <a:t>baked into the model</a:t>
            </a:r>
            <a:r>
              <a:rPr lang="en-GB" sz="2000">
                <a:cs typeface="Arial" panose="020B0604020202020204"/>
              </a:rPr>
              <a:t> and there is no need for a detailed prompt that asks for steps</a:t>
            </a:r>
          </a:p>
          <a:p>
            <a:pPr marL="457200" indent="-457200">
              <a:buFont typeface="Arial" panose="020B0604020202020204" pitchFamily="34" charset="0"/>
              <a:buChar char="•"/>
            </a:pPr>
            <a:r>
              <a:rPr lang="en-GB" sz="2000">
                <a:cs typeface="Arial" panose="020B0604020202020204"/>
              </a:rPr>
              <a:t>Reasoning models (e.g. OpenAI o1, </a:t>
            </a:r>
            <a:r>
              <a:rPr lang="en-GB" sz="2000" err="1">
                <a:cs typeface="Arial" panose="020B0604020202020204"/>
              </a:rPr>
              <a:t>DeepSeek</a:t>
            </a:r>
            <a:r>
              <a:rPr lang="en-GB" sz="2000">
                <a:cs typeface="Arial" panose="020B0604020202020204"/>
              </a:rPr>
              <a:t> R1) work best with </a:t>
            </a:r>
            <a:r>
              <a:rPr lang="en-GB" sz="2000" b="1">
                <a:cs typeface="Arial" panose="020B0604020202020204"/>
              </a:rPr>
              <a:t>only high-level guidance.</a:t>
            </a:r>
          </a:p>
          <a:p>
            <a:pPr marL="457200" indent="-457200">
              <a:buFont typeface="Arial" panose="020B0604020202020204" pitchFamily="34" charset="0"/>
              <a:buChar char="•"/>
            </a:pPr>
            <a:r>
              <a:rPr lang="en-GB" sz="2000">
                <a:cs typeface="Arial" panose="020B0604020202020204"/>
              </a:rPr>
              <a:t>Reasoning models are like a </a:t>
            </a:r>
            <a:r>
              <a:rPr lang="en-GB" sz="2000" b="1">
                <a:cs typeface="Arial" panose="020B0604020202020204"/>
              </a:rPr>
              <a:t>senior co-worker</a:t>
            </a:r>
            <a:r>
              <a:rPr lang="en-GB" sz="2000">
                <a:cs typeface="Arial" panose="020B0604020202020204"/>
              </a:rPr>
              <a:t> compared to GPT models which are like a junior assistant.</a:t>
            </a:r>
          </a:p>
          <a:p>
            <a:r>
              <a:rPr lang="en-GB" sz="2000">
                <a:cs typeface="Arial" panose="020B0604020202020204"/>
                <a:hlinkClick r:id="rId2"/>
              </a:rPr>
              <a:t>OpenAI Reasoning Best Practices</a:t>
            </a:r>
            <a:endParaRPr lang="en-GB" sz="1800">
              <a:cs typeface="Arial" panose="020B0604020202020204"/>
            </a:endParaRPr>
          </a:p>
          <a:p>
            <a:pPr marL="723900" lvl="1" indent="-457200"/>
            <a:endParaRPr lang="en-GB" sz="1800">
              <a:cs typeface="Arial" panose="020B0604020202020204"/>
            </a:endParaRPr>
          </a:p>
          <a:p>
            <a:pPr marL="723900" lvl="1" indent="-457200"/>
            <a:endParaRPr lang="en-GB" sz="1800">
              <a:cs typeface="Arial" panose="020B0604020202020204"/>
            </a:endParaRPr>
          </a:p>
          <a:p>
            <a:endParaRPr lang="en-GB" sz="2000">
              <a:cs typeface="Arial" panose="020B0604020202020204"/>
            </a:endParaRPr>
          </a:p>
        </p:txBody>
      </p:sp>
      <p:sp>
        <p:nvSpPr>
          <p:cNvPr id="11" name="TextBox 10">
            <a:extLst>
              <a:ext uri="{FF2B5EF4-FFF2-40B4-BE49-F238E27FC236}">
                <a16:creationId xmlns:a16="http://schemas.microsoft.com/office/drawing/2014/main" id="{1064AD2B-906B-5C7B-61A8-BAAECC28CCEE}"/>
              </a:ext>
            </a:extLst>
          </p:cNvPr>
          <p:cNvSpPr txBox="1"/>
          <p:nvPr/>
        </p:nvSpPr>
        <p:spPr>
          <a:xfrm>
            <a:off x="642550" y="5412259"/>
            <a:ext cx="11219935" cy="507831"/>
          </a:xfrm>
          <a:prstGeom prst="rect">
            <a:avLst/>
          </a:prstGeom>
          <a:noFill/>
        </p:spPr>
        <p:txBody>
          <a:bodyPr wrap="square" rtlCol="0">
            <a:spAutoFit/>
          </a:bodyPr>
          <a:lstStyle/>
          <a:p>
            <a:pPr algn="l"/>
            <a:r>
              <a:rPr lang="en-GB" sz="1600">
                <a:latin typeface="+mj-lt"/>
              </a:rPr>
              <a:t>Local model with </a:t>
            </a:r>
            <a:r>
              <a:rPr lang="en-GB" sz="1600" err="1">
                <a:latin typeface="+mj-lt"/>
              </a:rPr>
              <a:t>Llamacpp</a:t>
            </a:r>
            <a:r>
              <a:rPr lang="en-GB" sz="1600">
                <a:latin typeface="+mj-lt"/>
              </a:rPr>
              <a:t> and </a:t>
            </a:r>
            <a:r>
              <a:rPr lang="en-GB" sz="1600" err="1">
                <a:latin typeface="+mj-lt"/>
              </a:rPr>
              <a:t>DeepSeek</a:t>
            </a:r>
            <a:r>
              <a:rPr lang="en-GB" sz="1600">
                <a:latin typeface="+mj-lt"/>
              </a:rPr>
              <a:t> R1 Distilled 1.5B parameters</a:t>
            </a:r>
            <a:br>
              <a:rPr lang="en-GB" sz="1600">
                <a:latin typeface="+mj-lt"/>
              </a:rPr>
            </a:br>
            <a:r>
              <a:rPr lang="en-US" sz="1100" b="1" i="0">
                <a:solidFill>
                  <a:srgbClr val="262626"/>
                </a:solidFill>
                <a:effectLst/>
                <a:latin typeface="Lucida Console" panose="020B0609040504020204" pitchFamily="49" charset="0"/>
              </a:rPr>
              <a:t>llama-server --hf-repo </a:t>
            </a:r>
            <a:r>
              <a:rPr lang="en-US" sz="1100" b="1" i="0" err="1">
                <a:solidFill>
                  <a:srgbClr val="262626"/>
                </a:solidFill>
                <a:effectLst/>
                <a:latin typeface="Lucida Console" panose="020B0609040504020204" pitchFamily="49" charset="0"/>
              </a:rPr>
              <a:t>ggml</a:t>
            </a:r>
            <a:r>
              <a:rPr lang="en-US" sz="1100" b="1" i="0">
                <a:solidFill>
                  <a:srgbClr val="262626"/>
                </a:solidFill>
                <a:effectLst/>
                <a:latin typeface="Lucida Console" panose="020B0609040504020204" pitchFamily="49" charset="0"/>
              </a:rPr>
              <a:t>-org/DeepSeek-R1-Distill-Qwen-1.5B-Q4_0-GGUF --hf-file deepseek-r1-distill-qwen-1.5b-q4_0.gguf -c 2048</a:t>
            </a:r>
            <a:endParaRPr lang="en-FI" sz="1100" b="1">
              <a:latin typeface="Lucida Console" panose="020B0609040504020204" pitchFamily="49" charset="0"/>
            </a:endParaRPr>
          </a:p>
        </p:txBody>
      </p:sp>
      <p:pic>
        <p:nvPicPr>
          <p:cNvPr id="7" name="Picture 6">
            <a:extLst>
              <a:ext uri="{FF2B5EF4-FFF2-40B4-BE49-F238E27FC236}">
                <a16:creationId xmlns:a16="http://schemas.microsoft.com/office/drawing/2014/main" id="{CACD1720-5C3E-9A4D-EDF2-D4EB851473C4}"/>
              </a:ext>
            </a:extLst>
          </p:cNvPr>
          <p:cNvPicPr>
            <a:picLocks noChangeAspect="1"/>
          </p:cNvPicPr>
          <p:nvPr/>
        </p:nvPicPr>
        <p:blipFill>
          <a:blip r:embed="rId3"/>
          <a:stretch>
            <a:fillRect/>
          </a:stretch>
        </p:blipFill>
        <p:spPr>
          <a:xfrm>
            <a:off x="407987" y="1353930"/>
            <a:ext cx="6250080" cy="3792002"/>
          </a:xfrm>
          <a:prstGeom prst="rect">
            <a:avLst/>
          </a:prstGeom>
        </p:spPr>
      </p:pic>
    </p:spTree>
    <p:extLst>
      <p:ext uri="{BB962C8B-B14F-4D97-AF65-F5344CB8AC3E}">
        <p14:creationId xmlns:p14="http://schemas.microsoft.com/office/powerpoint/2010/main" val="39474303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E13FB-BCF6-CBC0-CB60-00DEA7280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65996-282F-74C7-02D5-868E1AD55366}"/>
              </a:ext>
            </a:extLst>
          </p:cNvPr>
          <p:cNvSpPr>
            <a:spLocks noGrp="1"/>
          </p:cNvSpPr>
          <p:nvPr>
            <p:ph type="title"/>
          </p:nvPr>
        </p:nvSpPr>
        <p:spPr/>
        <p:txBody>
          <a:bodyPr/>
          <a:lstStyle/>
          <a:p>
            <a:r>
              <a:rPr lang="en-US"/>
              <a:t>5.6. Advanced prompting techniques</a:t>
            </a:r>
            <a:br>
              <a:rPr lang="en-US"/>
            </a:br>
            <a:r>
              <a:rPr lang="en-US"/>
              <a:t>Structured prompting (model/system dependent)</a:t>
            </a:r>
          </a:p>
        </p:txBody>
      </p:sp>
      <p:sp>
        <p:nvSpPr>
          <p:cNvPr id="8" name="Text Placeholder 7">
            <a:extLst>
              <a:ext uri="{FF2B5EF4-FFF2-40B4-BE49-F238E27FC236}">
                <a16:creationId xmlns:a16="http://schemas.microsoft.com/office/drawing/2014/main" id="{86E03708-2F30-6611-F399-B21BFE8AF3AB}"/>
              </a:ext>
            </a:extLst>
          </p:cNvPr>
          <p:cNvSpPr>
            <a:spLocks noGrp="1"/>
          </p:cNvSpPr>
          <p:nvPr>
            <p:ph type="body" sz="quarter" idx="13"/>
          </p:nvPr>
        </p:nvSpPr>
        <p:spPr>
          <a:xfrm>
            <a:off x="6312024" y="1844824"/>
            <a:ext cx="4824289" cy="3671886"/>
          </a:xfrm>
        </p:spPr>
        <p:txBody>
          <a:bodyPr/>
          <a:lstStyle/>
          <a:p>
            <a:pPr marL="457200" indent="-457200">
              <a:buFont typeface="Arial" panose="020B0604020202020204" pitchFamily="34" charset="0"/>
              <a:buChar char="•"/>
            </a:pPr>
            <a:r>
              <a:rPr lang="en-GB" sz="2000" b="1">
                <a:cs typeface="Arial" panose="020B0604020202020204"/>
              </a:rPr>
              <a:t>Read the docs</a:t>
            </a:r>
          </a:p>
          <a:p>
            <a:pPr marL="723900" lvl="1" indent="-457200"/>
            <a:r>
              <a:rPr lang="en-GB" sz="1800">
                <a:hlinkClick r:id="rId2"/>
              </a:rPr>
              <a:t>https://cookbook.openai.com/examples/gpt-5/gpt-5_prompting_guide</a:t>
            </a:r>
            <a:r>
              <a:rPr lang="en-GB" sz="1800"/>
              <a:t> </a:t>
            </a:r>
            <a:endParaRPr lang="en-GB" sz="1800">
              <a:cs typeface="Arial" panose="020B0604020202020204"/>
            </a:endParaRPr>
          </a:p>
          <a:p>
            <a:pPr marL="723900" lvl="1" indent="-457200"/>
            <a:endParaRPr lang="en-GB" sz="1800">
              <a:cs typeface="Arial" panose="020B0604020202020204"/>
            </a:endParaRPr>
          </a:p>
          <a:p>
            <a:pPr marL="723900" lvl="1" indent="-457200"/>
            <a:endParaRPr lang="en-GB" sz="1800">
              <a:cs typeface="Arial" panose="020B0604020202020204"/>
            </a:endParaRPr>
          </a:p>
          <a:p>
            <a:endParaRPr lang="en-GB" sz="2000">
              <a:cs typeface="Arial" panose="020B0604020202020204"/>
            </a:endParaRPr>
          </a:p>
        </p:txBody>
      </p:sp>
      <p:sp>
        <p:nvSpPr>
          <p:cNvPr id="6" name="Slide Number Placeholder 5">
            <a:extLst>
              <a:ext uri="{FF2B5EF4-FFF2-40B4-BE49-F238E27FC236}">
                <a16:creationId xmlns:a16="http://schemas.microsoft.com/office/drawing/2014/main" id="{1277F3EE-AEAC-9635-08CA-7FD023AD516D}"/>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89</a:t>
            </a:fld>
            <a:endParaRPr lang="fi-FI"/>
          </a:p>
        </p:txBody>
      </p:sp>
      <p:sp>
        <p:nvSpPr>
          <p:cNvPr id="5" name="Text Placeholder 7">
            <a:extLst>
              <a:ext uri="{FF2B5EF4-FFF2-40B4-BE49-F238E27FC236}">
                <a16:creationId xmlns:a16="http://schemas.microsoft.com/office/drawing/2014/main" id="{01E23960-DF7E-0F59-5541-288F902A5E8D}"/>
              </a:ext>
            </a:extLst>
          </p:cNvPr>
          <p:cNvSpPr txBox="1">
            <a:spLocks/>
          </p:cNvSpPr>
          <p:nvPr/>
        </p:nvSpPr>
        <p:spPr>
          <a:xfrm>
            <a:off x="767567" y="1843010"/>
            <a:ext cx="4824289" cy="367188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8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r>
              <a:rPr lang="en-GB" sz="2000" b="1">
                <a:cs typeface="Arial"/>
              </a:rPr>
              <a:t>Research relevant example for GPT5</a:t>
            </a:r>
            <a:endParaRPr lang="en-GB" sz="2000" b="1"/>
          </a:p>
          <a:p>
            <a:pPr lvl="1" indent="0">
              <a:buNone/>
            </a:pPr>
            <a:r>
              <a:rPr lang="en-US" sz="1200"/>
              <a:t>&lt;</a:t>
            </a:r>
            <a:r>
              <a:rPr lang="en-US" sz="1200" err="1"/>
              <a:t>context_gathering</a:t>
            </a:r>
            <a:r>
              <a:rPr lang="en-US" sz="1200"/>
              <a:t>&gt; </a:t>
            </a:r>
            <a:br>
              <a:rPr lang="en-US" sz="1200"/>
            </a:br>
            <a:r>
              <a:rPr lang="en-US" sz="1200"/>
              <a:t>- Search depth: comprehensive </a:t>
            </a:r>
            <a:br>
              <a:rPr lang="en-US" sz="1200"/>
            </a:br>
            <a:r>
              <a:rPr lang="en-US" sz="1200"/>
              <a:t>- Cross-reference at least 10 peer reviewed sources </a:t>
            </a:r>
            <a:br>
              <a:rPr lang="en-US" sz="1200"/>
            </a:br>
            <a:r>
              <a:rPr lang="en-US" sz="1200"/>
              <a:t>- Stop when you have enough to provide definitive insights &lt;/</a:t>
            </a:r>
            <a:r>
              <a:rPr lang="en-US" sz="1200" err="1"/>
              <a:t>context_gathering</a:t>
            </a:r>
            <a:r>
              <a:rPr lang="en-US" sz="1200"/>
              <a:t>&gt; </a:t>
            </a:r>
            <a:br>
              <a:rPr lang="en-US" sz="1200"/>
            </a:br>
            <a:br>
              <a:rPr lang="en-US" sz="1200"/>
            </a:br>
            <a:r>
              <a:rPr lang="en-US" sz="1200"/>
              <a:t>&lt;persistence&gt; </a:t>
            </a:r>
            <a:br>
              <a:rPr lang="en-US" sz="1200"/>
            </a:br>
            <a:r>
              <a:rPr lang="en-US" sz="1200"/>
              <a:t>- Complete the entire research before providing conclusions </a:t>
            </a:r>
            <a:br>
              <a:rPr lang="en-US" sz="1200"/>
            </a:br>
            <a:r>
              <a:rPr lang="en-US" sz="1200"/>
              <a:t>- Resolve conflicting information by finding authoritative sources </a:t>
            </a:r>
            <a:br>
              <a:rPr lang="en-US" sz="1200"/>
            </a:br>
            <a:r>
              <a:rPr lang="en-US" sz="1200"/>
              <a:t>- Provide actionable recommendations based on findings &lt;/persistence&gt; </a:t>
            </a:r>
            <a:br>
              <a:rPr lang="en-US" sz="1200"/>
            </a:br>
            <a:br>
              <a:rPr lang="en-US" sz="1200"/>
            </a:br>
            <a:r>
              <a:rPr lang="en-US" sz="1200"/>
              <a:t>&lt;</a:t>
            </a:r>
            <a:r>
              <a:rPr lang="en-US" sz="1200" err="1"/>
              <a:t>tool_preambles</a:t>
            </a:r>
            <a:r>
              <a:rPr lang="en-US" sz="1200"/>
              <a:t>&gt; </a:t>
            </a:r>
            <a:br>
              <a:rPr lang="en-US" sz="1200"/>
            </a:br>
            <a:r>
              <a:rPr lang="en-US" sz="1200"/>
              <a:t>- Outline your research strategy and sources you'll check </a:t>
            </a:r>
            <a:br>
              <a:rPr lang="en-US" sz="1200"/>
            </a:br>
            <a:r>
              <a:rPr lang="en-US" sz="1200"/>
              <a:t>- Update on key findings as you discover them </a:t>
            </a:r>
            <a:br>
              <a:rPr lang="en-US" sz="1200"/>
            </a:br>
            <a:r>
              <a:rPr lang="en-US" sz="1200"/>
              <a:t>- Present final analysis with clear conclusions </a:t>
            </a:r>
            <a:br>
              <a:rPr lang="en-US" sz="1200"/>
            </a:br>
            <a:r>
              <a:rPr lang="en-US" sz="1200"/>
              <a:t>&lt;/</a:t>
            </a:r>
            <a:r>
              <a:rPr lang="en-US" sz="1200" err="1"/>
              <a:t>tool_preambles</a:t>
            </a:r>
            <a:r>
              <a:rPr lang="en-US" sz="1200"/>
              <a:t>&gt; </a:t>
            </a:r>
            <a:br>
              <a:rPr lang="en-US" sz="1200"/>
            </a:br>
            <a:br>
              <a:rPr lang="en-US" sz="1200"/>
            </a:br>
            <a:r>
              <a:rPr lang="en-US" sz="1200"/>
              <a:t>Task: Research the current state of commercially available wearables in predicting mental health.</a:t>
            </a:r>
            <a:endParaRPr lang="en-GB" sz="1200">
              <a:cs typeface="Arial"/>
            </a:endParaRPr>
          </a:p>
          <a:p>
            <a:pPr marL="723900" lvl="1" indent="-457200"/>
            <a:endParaRPr lang="en-GB" sz="1800">
              <a:cs typeface="Arial"/>
            </a:endParaRPr>
          </a:p>
          <a:p>
            <a:pPr marL="723900" lvl="1" indent="-457200"/>
            <a:endParaRPr lang="en-GB" sz="1800">
              <a:cs typeface="Arial"/>
            </a:endParaRPr>
          </a:p>
          <a:p>
            <a:pPr marL="723900" lvl="1" indent="-457200"/>
            <a:endParaRPr lang="en-GB" sz="1800">
              <a:cs typeface="Arial"/>
            </a:endParaRPr>
          </a:p>
        </p:txBody>
      </p:sp>
      <p:sp>
        <p:nvSpPr>
          <p:cNvPr id="3" name="Date Placeholder 2">
            <a:extLst>
              <a:ext uri="{FF2B5EF4-FFF2-40B4-BE49-F238E27FC236}">
                <a16:creationId xmlns:a16="http://schemas.microsoft.com/office/drawing/2014/main" id="{D48BE552-BEE2-53BB-C995-2108527D31C8}"/>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8D72AC19-9831-E8E6-4FA8-09D93BCB4CA6}"/>
              </a:ext>
            </a:extLst>
          </p:cNvPr>
          <p:cNvSpPr>
            <a:spLocks noGrp="1"/>
          </p:cNvSpPr>
          <p:nvPr>
            <p:ph type="ftr" sz="quarter" idx="15"/>
          </p:nvPr>
        </p:nvSpPr>
        <p:spPr/>
        <p:txBody>
          <a:bodyPr/>
          <a:lstStyle/>
          <a:p>
            <a:r>
              <a:rPr lang="pt-BR"/>
              <a:t>Enrico Glerean &amp; Pedro Silva (2026) Please cite DOI: 10.5281/zenodo.14032261 (CC-BY)</a:t>
            </a:r>
            <a:endParaRPr lang="fi-FI"/>
          </a:p>
        </p:txBody>
      </p:sp>
      <p:pic>
        <p:nvPicPr>
          <p:cNvPr id="1026" name="Picture 2" descr="Visualization showing breakdown of SWE-Bench prompt components with percentages">
            <a:hlinkClick r:id="rId3"/>
            <a:extLst>
              <a:ext uri="{FF2B5EF4-FFF2-40B4-BE49-F238E27FC236}">
                <a16:creationId xmlns:a16="http://schemas.microsoft.com/office/drawing/2014/main" id="{8BAEB343-448D-B75F-A6DD-A2E195635A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7633" y="2841606"/>
            <a:ext cx="4876800" cy="2743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6A8C306-26AD-3FD2-6C73-8BBBBD48D1F9}"/>
              </a:ext>
            </a:extLst>
          </p:cNvPr>
          <p:cNvSpPr txBox="1"/>
          <p:nvPr/>
        </p:nvSpPr>
        <p:spPr>
          <a:xfrm>
            <a:off x="6737908" y="5709690"/>
            <a:ext cx="2170787" cy="338554"/>
          </a:xfrm>
          <a:prstGeom prst="rect">
            <a:avLst/>
          </a:prstGeom>
          <a:noFill/>
        </p:spPr>
        <p:txBody>
          <a:bodyPr wrap="none" rtlCol="0">
            <a:spAutoFit/>
          </a:bodyPr>
          <a:lstStyle/>
          <a:p>
            <a:pPr algn="l"/>
            <a:r>
              <a:rPr lang="en-US" sz="1600">
                <a:latin typeface="+mj-lt"/>
              </a:rPr>
              <a:t>Image: dbreunig.com </a:t>
            </a:r>
            <a:endParaRPr lang="en-FI" sz="1600" err="1">
              <a:latin typeface="+mj-lt"/>
            </a:endParaRPr>
          </a:p>
        </p:txBody>
      </p:sp>
    </p:spTree>
    <p:extLst>
      <p:ext uri="{BB962C8B-B14F-4D97-AF65-F5344CB8AC3E}">
        <p14:creationId xmlns:p14="http://schemas.microsoft.com/office/powerpoint/2010/main" val="28760257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59CF8-921A-44EC-AD1C-24ADAA822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66573-FD71-CFA5-DFC3-030AF3EAC59D}"/>
              </a:ext>
            </a:extLst>
          </p:cNvPr>
          <p:cNvSpPr>
            <a:spLocks noGrp="1"/>
          </p:cNvSpPr>
          <p:nvPr>
            <p:ph type="title"/>
          </p:nvPr>
        </p:nvSpPr>
        <p:spPr/>
        <p:txBody>
          <a:bodyPr/>
          <a:lstStyle/>
          <a:p>
            <a:r>
              <a:rPr lang="en-US"/>
              <a:t>5.7. Advanced prompting techniques</a:t>
            </a:r>
            <a:br>
              <a:rPr lang="en-US"/>
            </a:br>
            <a:r>
              <a:rPr lang="en-US"/>
              <a:t>Meta-prompting (is prompt engineering dead?)</a:t>
            </a:r>
          </a:p>
        </p:txBody>
      </p:sp>
      <p:sp>
        <p:nvSpPr>
          <p:cNvPr id="6" name="Slide Number Placeholder 5">
            <a:extLst>
              <a:ext uri="{FF2B5EF4-FFF2-40B4-BE49-F238E27FC236}">
                <a16:creationId xmlns:a16="http://schemas.microsoft.com/office/drawing/2014/main" id="{8888C371-0AE7-7B3F-42EF-31480311018C}"/>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90</a:t>
            </a:fld>
            <a:endParaRPr lang="fi-FI"/>
          </a:p>
        </p:txBody>
      </p:sp>
      <p:sp>
        <p:nvSpPr>
          <p:cNvPr id="5" name="Text Placeholder 7">
            <a:extLst>
              <a:ext uri="{FF2B5EF4-FFF2-40B4-BE49-F238E27FC236}">
                <a16:creationId xmlns:a16="http://schemas.microsoft.com/office/drawing/2014/main" id="{68C4C0DA-733C-9E66-B92F-9049223EB5C8}"/>
              </a:ext>
            </a:extLst>
          </p:cNvPr>
          <p:cNvSpPr txBox="1">
            <a:spLocks/>
          </p:cNvSpPr>
          <p:nvPr/>
        </p:nvSpPr>
        <p:spPr>
          <a:xfrm>
            <a:off x="767567" y="1843010"/>
            <a:ext cx="6928633" cy="402439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8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r>
              <a:rPr lang="en-GB" sz="2000" b="1" noProof="0">
                <a:cs typeface="Arial"/>
              </a:rPr>
              <a:t>Bad</a:t>
            </a:r>
            <a:endParaRPr lang="en-GB" sz="2000" b="1" noProof="0"/>
          </a:p>
          <a:p>
            <a:pPr lvl="1" indent="0">
              <a:buNone/>
            </a:pPr>
            <a:r>
              <a:rPr lang="en-GB" sz="1500" noProof="0"/>
              <a:t>Tell me some peer reviewed articles that studied the effect of generative AI on university students</a:t>
            </a:r>
          </a:p>
          <a:p>
            <a:r>
              <a:rPr lang="en-GB" sz="2000" b="1" noProof="0">
                <a:cs typeface="Arial"/>
              </a:rPr>
              <a:t>Good</a:t>
            </a:r>
            <a:endParaRPr lang="en-GB" sz="2000" b="1" noProof="0"/>
          </a:p>
          <a:p>
            <a:pPr lvl="1" indent="0">
              <a:buNone/>
            </a:pPr>
            <a:r>
              <a:rPr lang="en-GB" sz="1500" noProof="0"/>
              <a:t>Write a </a:t>
            </a:r>
            <a:r>
              <a:rPr lang="en-GB" sz="1500"/>
              <a:t>S</a:t>
            </a:r>
            <a:r>
              <a:rPr lang="en-GB" sz="1500" noProof="0" err="1"/>
              <a:t>copus</a:t>
            </a:r>
            <a:r>
              <a:rPr lang="en-GB" sz="1500" noProof="0"/>
              <a:t> query so that I can identify peer reviewed studies that looked at the effect of generative AI on university students</a:t>
            </a:r>
          </a:p>
          <a:p>
            <a:r>
              <a:rPr lang="en-GB" sz="2000" b="1" noProof="0">
                <a:cs typeface="Arial"/>
              </a:rPr>
              <a:t>Amazing</a:t>
            </a:r>
            <a:endParaRPr lang="en-GB" sz="2000" b="1" noProof="0"/>
          </a:p>
          <a:p>
            <a:pPr lvl="1" indent="0">
              <a:buNone/>
            </a:pPr>
            <a:r>
              <a:rPr lang="en-GB" sz="1500" noProof="0"/>
              <a:t>Your task is to write a prompt that I can use with OpenAI GPT model 5.1. The prompt should produce a search query for </a:t>
            </a:r>
            <a:r>
              <a:rPr lang="en-GB" sz="1500"/>
              <a:t>S</a:t>
            </a:r>
            <a:r>
              <a:rPr lang="en-GB" sz="1500" noProof="0" err="1"/>
              <a:t>copus</a:t>
            </a:r>
            <a:r>
              <a:rPr lang="en-GB" sz="1500" noProof="0"/>
              <a:t> database to identify peer reviewed studies that looked at the effect of generative AI on university students. Please ask me a few questions to refine the prompt.</a:t>
            </a:r>
          </a:p>
        </p:txBody>
      </p:sp>
      <p:sp>
        <p:nvSpPr>
          <p:cNvPr id="3" name="Date Placeholder 2">
            <a:extLst>
              <a:ext uri="{FF2B5EF4-FFF2-40B4-BE49-F238E27FC236}">
                <a16:creationId xmlns:a16="http://schemas.microsoft.com/office/drawing/2014/main" id="{DCF5D380-2DF5-846D-76F0-BB62C45743B3}"/>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6D66EF3E-29C6-4E8F-2609-8EEBDAA61670}"/>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4344583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9D2D383-3687-B108-3D95-205CFD44A6F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02F650-767F-D01B-C44C-7013DE0C6F09}"/>
              </a:ext>
            </a:extLst>
          </p:cNvPr>
          <p:cNvSpPr>
            <a:spLocks noGrp="1"/>
          </p:cNvSpPr>
          <p:nvPr>
            <p:ph type="sldNum" sz="quarter" idx="12"/>
          </p:nvPr>
        </p:nvSpPr>
        <p:spPr/>
        <p:txBody>
          <a:bodyPr/>
          <a:lstStyle/>
          <a:p>
            <a:fld id="{D701140D-C14F-41CA-99FC-0EF83E8DA40A}" type="slidenum">
              <a:rPr lang="fi-FI" smtClean="0"/>
              <a:pPr/>
              <a:t>91</a:t>
            </a:fld>
            <a:endParaRPr lang="fi-FI"/>
          </a:p>
        </p:txBody>
      </p:sp>
      <p:sp>
        <p:nvSpPr>
          <p:cNvPr id="3" name="Title 2">
            <a:extLst>
              <a:ext uri="{FF2B5EF4-FFF2-40B4-BE49-F238E27FC236}">
                <a16:creationId xmlns:a16="http://schemas.microsoft.com/office/drawing/2014/main" id="{F518BF15-DEA3-45C2-9B13-EB8B23C6DF7C}"/>
              </a:ext>
            </a:extLst>
          </p:cNvPr>
          <p:cNvSpPr>
            <a:spLocks noGrp="1"/>
          </p:cNvSpPr>
          <p:nvPr>
            <p:ph type="ctrTitle"/>
          </p:nvPr>
        </p:nvSpPr>
        <p:spPr/>
        <p:txBody>
          <a:bodyPr/>
          <a:lstStyle/>
          <a:p>
            <a:r>
              <a:rPr lang="en-US"/>
              <a:t>BREAK (10 minutes)</a:t>
            </a:r>
          </a:p>
        </p:txBody>
      </p:sp>
      <p:sp>
        <p:nvSpPr>
          <p:cNvPr id="4" name="Date Placeholder 3">
            <a:extLst>
              <a:ext uri="{FF2B5EF4-FFF2-40B4-BE49-F238E27FC236}">
                <a16:creationId xmlns:a16="http://schemas.microsoft.com/office/drawing/2014/main" id="{C5735328-3E91-ABAA-F9A2-77B22B4F772A}"/>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7E362E9F-A3C6-F4AF-26D4-555ED6EA18C2}"/>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79866378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3F16-EF03-F568-8C6A-1147A9752F6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25BEF6-B54A-F877-6712-5117D46B95F1}"/>
              </a:ext>
            </a:extLst>
          </p:cNvPr>
          <p:cNvSpPr>
            <a:spLocks noGrp="1"/>
          </p:cNvSpPr>
          <p:nvPr>
            <p:ph type="sldNum" sz="quarter" idx="12"/>
          </p:nvPr>
        </p:nvSpPr>
        <p:spPr/>
        <p:txBody>
          <a:bodyPr/>
          <a:lstStyle/>
          <a:p>
            <a:fld id="{D701140D-C14F-41CA-99FC-0EF83E8DA40A}" type="slidenum">
              <a:rPr lang="fi-FI" smtClean="0"/>
              <a:pPr/>
              <a:t>92</a:t>
            </a:fld>
            <a:endParaRPr lang="fi-FI"/>
          </a:p>
        </p:txBody>
      </p:sp>
      <p:sp>
        <p:nvSpPr>
          <p:cNvPr id="3" name="Title 2">
            <a:extLst>
              <a:ext uri="{FF2B5EF4-FFF2-40B4-BE49-F238E27FC236}">
                <a16:creationId xmlns:a16="http://schemas.microsoft.com/office/drawing/2014/main" id="{DA6CFE23-E483-69B5-31F8-D62DE8828263}"/>
              </a:ext>
            </a:extLst>
          </p:cNvPr>
          <p:cNvSpPr>
            <a:spLocks noGrp="1"/>
          </p:cNvSpPr>
          <p:nvPr>
            <p:ph type="ctrTitle"/>
          </p:nvPr>
        </p:nvSpPr>
        <p:spPr>
          <a:xfrm>
            <a:off x="412647" y="2936558"/>
            <a:ext cx="11371365" cy="984885"/>
          </a:xfrm>
        </p:spPr>
        <p:txBody>
          <a:bodyPr/>
          <a:lstStyle/>
          <a:p>
            <a:r>
              <a:rPr lang="en-FI"/>
              <a:t>6. Understanding the componets of an AI system based on generative AI</a:t>
            </a:r>
          </a:p>
        </p:txBody>
      </p:sp>
      <p:sp>
        <p:nvSpPr>
          <p:cNvPr id="4" name="Date Placeholder 3">
            <a:extLst>
              <a:ext uri="{FF2B5EF4-FFF2-40B4-BE49-F238E27FC236}">
                <a16:creationId xmlns:a16="http://schemas.microsoft.com/office/drawing/2014/main" id="{FFB267FF-FDFB-7321-6382-F6EE428DEC0F}"/>
              </a:ext>
            </a:extLst>
          </p:cNvPr>
          <p:cNvSpPr>
            <a:spLocks noGrp="1"/>
          </p:cNvSpPr>
          <p:nvPr>
            <p:ph type="dt" sz="half" idx="13"/>
          </p:nvPr>
        </p:nvSpPr>
        <p:spPr/>
        <p:txBody>
          <a:bodyPr/>
          <a:lstStyle/>
          <a:p>
            <a:r>
              <a:rPr lang="fi-FI"/>
              <a:t>28.04.2026</a:t>
            </a:r>
          </a:p>
        </p:txBody>
      </p:sp>
      <p:sp>
        <p:nvSpPr>
          <p:cNvPr id="5" name="Footer Placeholder 4">
            <a:extLst>
              <a:ext uri="{FF2B5EF4-FFF2-40B4-BE49-F238E27FC236}">
                <a16:creationId xmlns:a16="http://schemas.microsoft.com/office/drawing/2014/main" id="{0FAB1A57-4C39-B4AE-83CC-40A925F81B5C}"/>
              </a:ext>
            </a:extLst>
          </p:cNvPr>
          <p:cNvSpPr>
            <a:spLocks noGrp="1"/>
          </p:cNvSpPr>
          <p:nvPr>
            <p:ph type="ftr" sz="quarter" idx="14"/>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7288761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7D51E-6E2A-84DD-0E35-6322B87C1B5B}"/>
              </a:ext>
            </a:extLst>
          </p:cNvPr>
          <p:cNvSpPr>
            <a:spLocks noGrp="1"/>
          </p:cNvSpPr>
          <p:nvPr>
            <p:ph type="title"/>
          </p:nvPr>
        </p:nvSpPr>
        <p:spPr/>
        <p:txBody>
          <a:bodyPr/>
          <a:lstStyle/>
          <a:p>
            <a:r>
              <a:rPr lang="en-GB">
                <a:solidFill>
                  <a:sysClr val="windowText" lastClr="000000"/>
                </a:solidFill>
              </a:rPr>
              <a:t>Cybersecurity, data protection, and the geography of AI LLMs </a:t>
            </a:r>
            <a:br>
              <a:rPr lang="fi-FI">
                <a:solidFill>
                  <a:sysClr val="windowText" lastClr="000000"/>
                </a:solidFill>
              </a:rPr>
            </a:br>
            <a:endParaRPr lang="en-US"/>
          </a:p>
        </p:txBody>
      </p:sp>
      <p:sp>
        <p:nvSpPr>
          <p:cNvPr id="6" name="Slide Number Placeholder 5">
            <a:extLst>
              <a:ext uri="{FF2B5EF4-FFF2-40B4-BE49-F238E27FC236}">
                <a16:creationId xmlns:a16="http://schemas.microsoft.com/office/drawing/2014/main" id="{02E0D937-727C-1816-673B-52C4485707C4}"/>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91" name="Group 190" descr="This is a map of the actual servers that are running AI models. A longer description of this figure will be posted on Aalto.fi">
            <a:extLst>
              <a:ext uri="{FF2B5EF4-FFF2-40B4-BE49-F238E27FC236}">
                <a16:creationId xmlns:a16="http://schemas.microsoft.com/office/drawing/2014/main" id="{FD27555A-122B-D56F-6CA5-FF448165F597}"/>
              </a:ext>
            </a:extLst>
          </p:cNvPr>
          <p:cNvGrpSpPr/>
          <p:nvPr/>
        </p:nvGrpSpPr>
        <p:grpSpPr>
          <a:xfrm>
            <a:off x="699023" y="828881"/>
            <a:ext cx="11033214" cy="5078345"/>
            <a:chOff x="699023" y="828881"/>
            <a:chExt cx="11033214" cy="5078345"/>
          </a:xfrm>
        </p:grpSpPr>
        <p:grpSp>
          <p:nvGrpSpPr>
            <p:cNvPr id="190" name="Group 189">
              <a:extLst>
                <a:ext uri="{FF2B5EF4-FFF2-40B4-BE49-F238E27FC236}">
                  <a16:creationId xmlns:a16="http://schemas.microsoft.com/office/drawing/2014/main" id="{FA438682-15BE-5628-88B7-958D76E146A6}"/>
                </a:ext>
              </a:extLst>
            </p:cNvPr>
            <p:cNvGrpSpPr/>
            <p:nvPr/>
          </p:nvGrpSpPr>
          <p:grpSpPr>
            <a:xfrm>
              <a:off x="3785591" y="971034"/>
              <a:ext cx="7946646" cy="4936192"/>
              <a:chOff x="3785591" y="971034"/>
              <a:chExt cx="7946646" cy="4936192"/>
            </a:xfrm>
          </p:grpSpPr>
          <p:sp>
            <p:nvSpPr>
              <p:cNvPr id="91" name="Oval 90">
                <a:extLst>
                  <a:ext uri="{FF2B5EF4-FFF2-40B4-BE49-F238E27FC236}">
                    <a16:creationId xmlns:a16="http://schemas.microsoft.com/office/drawing/2014/main" id="{1914A973-F42D-6A05-F927-3CFC82DB87A8}"/>
                  </a:ext>
                </a:extLst>
              </p:cNvPr>
              <p:cNvSpPr/>
              <p:nvPr/>
            </p:nvSpPr>
            <p:spPr>
              <a:xfrm>
                <a:off x="3785591" y="971034"/>
                <a:ext cx="7946646" cy="4936192"/>
              </a:xfrm>
              <a:prstGeom prst="ellipse">
                <a:avLst/>
              </a:prstGeom>
              <a:solidFill>
                <a:schemeClr val="bg1">
                  <a:lumMod val="95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2" name="Graphic 91" descr="Server with solid fill">
                <a:extLst>
                  <a:ext uri="{FF2B5EF4-FFF2-40B4-BE49-F238E27FC236}">
                    <a16:creationId xmlns:a16="http://schemas.microsoft.com/office/drawing/2014/main" id="{77BB3106-FDB3-40C6-D04F-AE550CEBA2C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92309" y="1753403"/>
                <a:ext cx="807374" cy="807374"/>
              </a:xfrm>
              <a:prstGeom prst="rect">
                <a:avLst/>
              </a:prstGeom>
            </p:spPr>
          </p:pic>
          <p:sp>
            <p:nvSpPr>
              <p:cNvPr id="93" name="Oval 92">
                <a:extLst>
                  <a:ext uri="{FF2B5EF4-FFF2-40B4-BE49-F238E27FC236}">
                    <a16:creationId xmlns:a16="http://schemas.microsoft.com/office/drawing/2014/main" id="{6D9E6652-61AD-A8AF-8EEC-568D87117D31}"/>
                  </a:ext>
                </a:extLst>
              </p:cNvPr>
              <p:cNvSpPr/>
              <p:nvPr/>
            </p:nvSpPr>
            <p:spPr>
              <a:xfrm>
                <a:off x="4815218" y="2807712"/>
                <a:ext cx="4697336" cy="2983671"/>
              </a:xfrm>
              <a:prstGeom prst="ellipse">
                <a:avLst/>
              </a:prstGeom>
              <a:solidFill>
                <a:schemeClr val="accent1">
                  <a:lumMod val="20000"/>
                  <a:lumOff val="8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4" name="Graphic 93" descr="Computer outline">
                <a:extLst>
                  <a:ext uri="{FF2B5EF4-FFF2-40B4-BE49-F238E27FC236}">
                    <a16:creationId xmlns:a16="http://schemas.microsoft.com/office/drawing/2014/main" id="{2898952B-6F5D-836C-C0A6-A987E9C384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86268" y="4461777"/>
                <a:ext cx="807374" cy="807374"/>
              </a:xfrm>
              <a:prstGeom prst="rect">
                <a:avLst/>
              </a:prstGeom>
            </p:spPr>
          </p:pic>
          <p:grpSp>
            <p:nvGrpSpPr>
              <p:cNvPr id="95" name="Group 94">
                <a:extLst>
                  <a:ext uri="{FF2B5EF4-FFF2-40B4-BE49-F238E27FC236}">
                    <a16:creationId xmlns:a16="http://schemas.microsoft.com/office/drawing/2014/main" id="{F5187355-6B52-29FD-978B-17A690094382}"/>
                  </a:ext>
                </a:extLst>
              </p:cNvPr>
              <p:cNvGrpSpPr/>
              <p:nvPr/>
            </p:nvGrpSpPr>
            <p:grpSpPr>
              <a:xfrm>
                <a:off x="5972969" y="5062986"/>
                <a:ext cx="1181918" cy="542722"/>
                <a:chOff x="461485" y="3367479"/>
                <a:chExt cx="1991345" cy="914400"/>
              </a:xfrm>
            </p:grpSpPr>
            <p:pic>
              <p:nvPicPr>
                <p:cNvPr id="173" name="Graphic 172" descr="Web design with solid fill">
                  <a:extLst>
                    <a:ext uri="{FF2B5EF4-FFF2-40B4-BE49-F238E27FC236}">
                      <a16:creationId xmlns:a16="http://schemas.microsoft.com/office/drawing/2014/main" id="{A569C3C7-F16F-8E0C-5A19-B96387E7360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7894" y="3613554"/>
                  <a:ext cx="587152" cy="587152"/>
                </a:xfrm>
                <a:prstGeom prst="rect">
                  <a:avLst/>
                </a:prstGeom>
              </p:spPr>
            </p:pic>
            <p:pic>
              <p:nvPicPr>
                <p:cNvPr id="174" name="Graphic 173" descr="Browser window with solid fill">
                  <a:extLst>
                    <a:ext uri="{FF2B5EF4-FFF2-40B4-BE49-F238E27FC236}">
                      <a16:creationId xmlns:a16="http://schemas.microsoft.com/office/drawing/2014/main" id="{D394F708-ED54-918B-41A3-31F2C239EE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1485" y="3367479"/>
                  <a:ext cx="914400" cy="914400"/>
                </a:xfrm>
                <a:prstGeom prst="rect">
                  <a:avLst/>
                </a:prstGeom>
              </p:spPr>
            </p:pic>
            <p:pic>
              <p:nvPicPr>
                <p:cNvPr id="175" name="Picture 2" descr="Neural Network Icon Images – Browse 52,520 Stock Photos ...">
                  <a:extLst>
                    <a:ext uri="{FF2B5EF4-FFF2-40B4-BE49-F238E27FC236}">
                      <a16:creationId xmlns:a16="http://schemas.microsoft.com/office/drawing/2014/main" id="{30C8A93D-FE40-77F7-E195-9F8919ADE2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5855" y="3705622"/>
                  <a:ext cx="486975" cy="4030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pic>
            <p:nvPicPr>
              <p:cNvPr id="96" name="Graphic 95" descr="Web design with solid fill">
                <a:extLst>
                  <a:ext uri="{FF2B5EF4-FFF2-40B4-BE49-F238E27FC236}">
                    <a16:creationId xmlns:a16="http://schemas.microsoft.com/office/drawing/2014/main" id="{47628BFC-E385-4F22-0CFC-9FEC0F36C9B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42865" y="4446523"/>
                <a:ext cx="518429" cy="518429"/>
              </a:xfrm>
              <a:prstGeom prst="rect">
                <a:avLst/>
              </a:prstGeom>
            </p:spPr>
          </p:pic>
          <p:pic>
            <p:nvPicPr>
              <p:cNvPr id="97" name="Picture 2" descr="Neural Network Icon Images – Browse 52,520 Stock Photos ...">
                <a:extLst>
                  <a:ext uri="{FF2B5EF4-FFF2-40B4-BE49-F238E27FC236}">
                    <a16:creationId xmlns:a16="http://schemas.microsoft.com/office/drawing/2014/main" id="{39BC7032-4A38-54AD-C4B0-95167BA37AF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93589" y="4527815"/>
                <a:ext cx="429977" cy="35584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98" name="Graphic 97" descr="Server with solid fill">
                <a:extLst>
                  <a:ext uri="{FF2B5EF4-FFF2-40B4-BE49-F238E27FC236}">
                    <a16:creationId xmlns:a16="http://schemas.microsoft.com/office/drawing/2014/main" id="{8FD1DBDA-D2C8-AB87-C64A-033671BB00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39178" y="3009918"/>
                <a:ext cx="807374" cy="807374"/>
              </a:xfrm>
              <a:prstGeom prst="rect">
                <a:avLst/>
              </a:prstGeom>
            </p:spPr>
          </p:pic>
          <p:cxnSp>
            <p:nvCxnSpPr>
              <p:cNvPr id="99" name="Straight Arrow Connector 98">
                <a:extLst>
                  <a:ext uri="{FF2B5EF4-FFF2-40B4-BE49-F238E27FC236}">
                    <a16:creationId xmlns:a16="http://schemas.microsoft.com/office/drawing/2014/main" id="{76EB1566-D200-8CF7-049A-7A53347B06C7}"/>
                  </a:ext>
                </a:extLst>
              </p:cNvPr>
              <p:cNvCxnSpPr>
                <a:cxnSpLocks/>
                <a:stCxn id="92" idx="3"/>
              </p:cNvCxnSpPr>
              <p:nvPr/>
            </p:nvCxnSpPr>
            <p:spPr>
              <a:xfrm>
                <a:off x="7799683" y="2157090"/>
                <a:ext cx="1401708" cy="582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a:extLst>
                  <a:ext uri="{FF2B5EF4-FFF2-40B4-BE49-F238E27FC236}">
                    <a16:creationId xmlns:a16="http://schemas.microsoft.com/office/drawing/2014/main" id="{17243632-7CF6-6ACF-1AB6-DCE1E70568D9}"/>
                  </a:ext>
                </a:extLst>
              </p:cNvPr>
              <p:cNvCxnSpPr>
                <a:cxnSpLocks/>
              </p:cNvCxnSpPr>
              <p:nvPr/>
            </p:nvCxnSpPr>
            <p:spPr>
              <a:xfrm>
                <a:off x="8461294" y="3553417"/>
                <a:ext cx="1441607" cy="1826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a:extLst>
                  <a:ext uri="{FF2B5EF4-FFF2-40B4-BE49-F238E27FC236}">
                    <a16:creationId xmlns:a16="http://schemas.microsoft.com/office/drawing/2014/main" id="{D24D250E-1BFB-B52F-4016-8D5217B96C1A}"/>
                  </a:ext>
                </a:extLst>
              </p:cNvPr>
              <p:cNvCxnSpPr>
                <a:cxnSpLocks/>
              </p:cNvCxnSpPr>
              <p:nvPr/>
            </p:nvCxnSpPr>
            <p:spPr>
              <a:xfrm>
                <a:off x="8006754" y="3991603"/>
                <a:ext cx="195326" cy="445640"/>
              </a:xfrm>
              <a:prstGeom prst="straightConnector1">
                <a:avLst/>
              </a:prstGeom>
              <a:ln>
                <a:prstDash val="dashDot"/>
                <a:headEnd type="triangle"/>
                <a:tailEnd type="triangle"/>
              </a:ln>
            </p:spPr>
            <p:style>
              <a:lnRef idx="1">
                <a:schemeClr val="dk1"/>
              </a:lnRef>
              <a:fillRef idx="0">
                <a:schemeClr val="dk1"/>
              </a:fillRef>
              <a:effectRef idx="0">
                <a:schemeClr val="dk1"/>
              </a:effectRef>
              <a:fontRef idx="minor">
                <a:schemeClr val="tx1"/>
              </a:fontRef>
            </p:style>
          </p:cxnSp>
          <p:cxnSp>
            <p:nvCxnSpPr>
              <p:cNvPr id="102" name="Straight Arrow Connector 101">
                <a:extLst>
                  <a:ext uri="{FF2B5EF4-FFF2-40B4-BE49-F238E27FC236}">
                    <a16:creationId xmlns:a16="http://schemas.microsoft.com/office/drawing/2014/main" id="{52094E78-EEB7-E4B8-C64A-630D2F46C281}"/>
                  </a:ext>
                </a:extLst>
              </p:cNvPr>
              <p:cNvCxnSpPr>
                <a:cxnSpLocks/>
              </p:cNvCxnSpPr>
              <p:nvPr/>
            </p:nvCxnSpPr>
            <p:spPr>
              <a:xfrm flipV="1">
                <a:off x="5224117" y="2180304"/>
                <a:ext cx="1882722" cy="43645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47A2ACE8-6CC3-F417-5249-C5231B6B1EDB}"/>
                  </a:ext>
                </a:extLst>
              </p:cNvPr>
              <p:cNvCxnSpPr>
                <a:cxnSpLocks/>
              </p:cNvCxnSpPr>
              <p:nvPr/>
            </p:nvCxnSpPr>
            <p:spPr>
              <a:xfrm>
                <a:off x="5302886" y="2751099"/>
                <a:ext cx="2167703" cy="657097"/>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EF66333C-0057-FBB7-14F7-37948DBAA649}"/>
                  </a:ext>
                </a:extLst>
              </p:cNvPr>
              <p:cNvCxnSpPr>
                <a:cxnSpLocks/>
                <a:endCxn id="117" idx="1"/>
              </p:cNvCxnSpPr>
              <p:nvPr/>
            </p:nvCxnSpPr>
            <p:spPr>
              <a:xfrm>
                <a:off x="4568680" y="3522732"/>
                <a:ext cx="1249955" cy="935054"/>
              </a:xfrm>
              <a:prstGeom prst="straightConnector1">
                <a:avLst/>
              </a:prstGeom>
              <a:ln w="19050">
                <a:prstDash val="lgDash"/>
                <a:headEnd type="none"/>
                <a:tailEnd type="none"/>
              </a:ln>
            </p:spPr>
            <p:style>
              <a:lnRef idx="1">
                <a:schemeClr val="dk1"/>
              </a:lnRef>
              <a:fillRef idx="0">
                <a:schemeClr val="dk1"/>
              </a:fillRef>
              <a:effectRef idx="0">
                <a:schemeClr val="dk1"/>
              </a:effectRef>
              <a:fontRef idx="minor">
                <a:schemeClr val="tx1"/>
              </a:fontRef>
            </p:style>
          </p:cxnSp>
          <p:sp>
            <p:nvSpPr>
              <p:cNvPr id="105" name="TextBox 104">
                <a:extLst>
                  <a:ext uri="{FF2B5EF4-FFF2-40B4-BE49-F238E27FC236}">
                    <a16:creationId xmlns:a16="http://schemas.microsoft.com/office/drawing/2014/main" id="{0D49EB8E-6D47-E42E-30DC-6205E187D4FE}"/>
                  </a:ext>
                </a:extLst>
              </p:cNvPr>
              <p:cNvSpPr txBox="1"/>
              <p:nvPr/>
            </p:nvSpPr>
            <p:spPr>
              <a:xfrm>
                <a:off x="6935340" y="2425048"/>
                <a:ext cx="107141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4472C4"/>
                    </a:solidFill>
                    <a:effectLst/>
                    <a:uLnTx/>
                    <a:uFillTx/>
                    <a:latin typeface="Consolas" panose="020B0609020204030204" pitchFamily="49" charset="0"/>
                    <a:ea typeface="+mn-ea"/>
                    <a:cs typeface="+mn-cs"/>
                  </a:rPr>
                  <a:t>chatGPT</a:t>
                </a:r>
                <a:endParaRPr kumimoji="0" lang="fi-FI" sz="1800" b="0" i="0" u="none" strike="noStrike" kern="1200" cap="none" spc="0" normalizeH="0" baseline="0" noProof="0">
                  <a:ln>
                    <a:noFill/>
                  </a:ln>
                  <a:solidFill>
                    <a:srgbClr val="4472C4"/>
                  </a:solidFill>
                  <a:effectLst/>
                  <a:uLnTx/>
                  <a:uFillTx/>
                  <a:latin typeface="Consolas" panose="020B0609020204030204" pitchFamily="49" charset="0"/>
                  <a:ea typeface="+mn-ea"/>
                  <a:cs typeface="+mn-cs"/>
                </a:endParaRPr>
              </a:p>
            </p:txBody>
          </p:sp>
          <p:sp>
            <p:nvSpPr>
              <p:cNvPr id="106" name="TextBox 105">
                <a:extLst>
                  <a:ext uri="{FF2B5EF4-FFF2-40B4-BE49-F238E27FC236}">
                    <a16:creationId xmlns:a16="http://schemas.microsoft.com/office/drawing/2014/main" id="{63CBC74A-CE9F-4661-7197-0268AB235BC8}"/>
                  </a:ext>
                </a:extLst>
              </p:cNvPr>
              <p:cNvSpPr txBox="1"/>
              <p:nvPr/>
            </p:nvSpPr>
            <p:spPr>
              <a:xfrm>
                <a:off x="7261129" y="3663835"/>
                <a:ext cx="146384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4472C4"/>
                    </a:solidFill>
                    <a:effectLst/>
                    <a:uLnTx/>
                    <a:uFillTx/>
                    <a:latin typeface="Consolas" panose="020B0609020204030204" pitchFamily="49" charset="0"/>
                    <a:ea typeface="+mn-ea"/>
                    <a:cs typeface="+mn-cs"/>
                  </a:rPr>
                  <a:t>ai.aalto.fi</a:t>
                </a:r>
                <a:endParaRPr kumimoji="0" lang="fi-FI" sz="1600" b="0" i="0" u="none" strike="noStrike" kern="1200" cap="none" spc="0" normalizeH="0" baseline="0" noProof="0">
                  <a:ln>
                    <a:noFill/>
                  </a:ln>
                  <a:solidFill>
                    <a:srgbClr val="4472C4"/>
                  </a:solidFill>
                  <a:effectLst/>
                  <a:uLnTx/>
                  <a:uFillTx/>
                  <a:latin typeface="Consolas" panose="020B0609020204030204" pitchFamily="49" charset="0"/>
                  <a:ea typeface="+mn-ea"/>
                  <a:cs typeface="+mn-cs"/>
                </a:endParaRPr>
              </a:p>
            </p:txBody>
          </p:sp>
          <p:sp>
            <p:nvSpPr>
              <p:cNvPr id="107" name="TextBox 106">
                <a:extLst>
                  <a:ext uri="{FF2B5EF4-FFF2-40B4-BE49-F238E27FC236}">
                    <a16:creationId xmlns:a16="http://schemas.microsoft.com/office/drawing/2014/main" id="{B8E71215-B59C-DE19-4086-E17A283A62F5}"/>
                  </a:ext>
                </a:extLst>
              </p:cNvPr>
              <p:cNvSpPr txBox="1"/>
              <p:nvPr/>
            </p:nvSpPr>
            <p:spPr>
              <a:xfrm>
                <a:off x="5356770" y="1542552"/>
                <a:ext cx="1206608" cy="326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Consolas" panose="020B0609020204030204" pitchFamily="49" charset="0"/>
                    <a:ea typeface="+mn-ea"/>
                    <a:cs typeface="+mn-cs"/>
                  </a:rPr>
                  <a:t>Internet</a:t>
                </a:r>
                <a:endParaRPr kumimoji="0" lang="fi-FI" sz="1800" b="0" i="0" u="none" strike="noStrike" kern="1200" cap="none" spc="0" normalizeH="0" baseline="0" noProof="0">
                  <a:ln>
                    <a:noFill/>
                  </a:ln>
                  <a:solidFill>
                    <a:prstClr val="white">
                      <a:lumMod val="50000"/>
                    </a:prstClr>
                  </a:solidFill>
                  <a:effectLst/>
                  <a:uLnTx/>
                  <a:uFillTx/>
                  <a:latin typeface="Consolas" panose="020B0609020204030204" pitchFamily="49" charset="0"/>
                  <a:ea typeface="+mn-ea"/>
                  <a:cs typeface="+mn-cs"/>
                </a:endParaRPr>
              </a:p>
            </p:txBody>
          </p:sp>
          <p:sp>
            <p:nvSpPr>
              <p:cNvPr id="108" name="TextBox 107">
                <a:extLst>
                  <a:ext uri="{FF2B5EF4-FFF2-40B4-BE49-F238E27FC236}">
                    <a16:creationId xmlns:a16="http://schemas.microsoft.com/office/drawing/2014/main" id="{97BA3A5C-0F4F-2F76-4683-79A360E28F9E}"/>
                  </a:ext>
                </a:extLst>
              </p:cNvPr>
              <p:cNvSpPr txBox="1"/>
              <p:nvPr/>
            </p:nvSpPr>
            <p:spPr>
              <a:xfrm>
                <a:off x="5136381" y="3719090"/>
                <a:ext cx="14012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C000">
                        <a:lumMod val="75000"/>
                      </a:srgbClr>
                    </a:solidFill>
                    <a:effectLst/>
                    <a:uLnTx/>
                    <a:uFillTx/>
                    <a:latin typeface="Consolas" panose="020B0609020204030204" pitchFamily="49" charset="0"/>
                    <a:ea typeface="+mn-ea"/>
                    <a:cs typeface="+mn-cs"/>
                  </a:rPr>
                  <a:t>Aalto VPN</a:t>
                </a:r>
                <a:endParaRPr kumimoji="0" lang="fi-FI" sz="1800" b="0" i="0" u="none" strike="noStrike" kern="1200" cap="none" spc="0" normalizeH="0" baseline="0" noProof="0">
                  <a:ln>
                    <a:noFill/>
                  </a:ln>
                  <a:solidFill>
                    <a:srgbClr val="FFC000">
                      <a:lumMod val="75000"/>
                    </a:srgbClr>
                  </a:solidFill>
                  <a:effectLst/>
                  <a:uLnTx/>
                  <a:uFillTx/>
                  <a:latin typeface="Consolas" panose="020B0609020204030204" pitchFamily="49" charset="0"/>
                  <a:ea typeface="+mn-ea"/>
                  <a:cs typeface="+mn-cs"/>
                </a:endParaRPr>
              </a:p>
            </p:txBody>
          </p:sp>
          <p:sp>
            <p:nvSpPr>
              <p:cNvPr id="109" name="TextBox 108">
                <a:extLst>
                  <a:ext uri="{FF2B5EF4-FFF2-40B4-BE49-F238E27FC236}">
                    <a16:creationId xmlns:a16="http://schemas.microsoft.com/office/drawing/2014/main" id="{A2B360F6-6B5C-26D2-7372-2547D30FA097}"/>
                  </a:ext>
                </a:extLst>
              </p:cNvPr>
              <p:cNvSpPr txBox="1"/>
              <p:nvPr/>
            </p:nvSpPr>
            <p:spPr>
              <a:xfrm>
                <a:off x="7798432" y="4911284"/>
                <a:ext cx="839319" cy="2443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D7D31"/>
                    </a:solidFill>
                    <a:effectLst/>
                    <a:uLnTx/>
                    <a:uFillTx/>
                    <a:latin typeface="Consolas" panose="020B0609020204030204" pitchFamily="49" charset="0"/>
                    <a:ea typeface="+mn-ea"/>
                    <a:cs typeface="+mn-cs"/>
                  </a:rPr>
                  <a:t>Inference</a:t>
                </a:r>
                <a:endParaRPr kumimoji="0" lang="fi-FI" sz="1000" b="0" i="0" u="none" strike="noStrike" kern="1200" cap="none" spc="0" normalizeH="0" baseline="0" noProof="0">
                  <a:ln>
                    <a:noFill/>
                  </a:ln>
                  <a:solidFill>
                    <a:srgbClr val="ED7D31"/>
                  </a:solidFill>
                  <a:effectLst/>
                  <a:uLnTx/>
                  <a:uFillTx/>
                  <a:latin typeface="Consolas" panose="020B0609020204030204" pitchFamily="49" charset="0"/>
                  <a:ea typeface="+mn-ea"/>
                  <a:cs typeface="+mn-cs"/>
                </a:endParaRPr>
              </a:p>
            </p:txBody>
          </p:sp>
          <p:grpSp>
            <p:nvGrpSpPr>
              <p:cNvPr id="110" name="Group 109">
                <a:extLst>
                  <a:ext uri="{FF2B5EF4-FFF2-40B4-BE49-F238E27FC236}">
                    <a16:creationId xmlns:a16="http://schemas.microsoft.com/office/drawing/2014/main" id="{EBBC9E8B-B2CC-BDF5-327A-869A0D50E3CC}"/>
                  </a:ext>
                </a:extLst>
              </p:cNvPr>
              <p:cNvGrpSpPr/>
              <p:nvPr/>
            </p:nvGrpSpPr>
            <p:grpSpPr>
              <a:xfrm>
                <a:off x="5496457" y="2094418"/>
                <a:ext cx="1526045" cy="514593"/>
                <a:chOff x="4245160" y="2362704"/>
                <a:chExt cx="1728338" cy="582808"/>
              </a:xfrm>
            </p:grpSpPr>
            <p:sp>
              <p:nvSpPr>
                <p:cNvPr id="171" name="TextBox 170">
                  <a:extLst>
                    <a:ext uri="{FF2B5EF4-FFF2-40B4-BE49-F238E27FC236}">
                      <a16:creationId xmlns:a16="http://schemas.microsoft.com/office/drawing/2014/main" id="{2350D901-BF41-C9A7-CB64-BA20B79B3D2D}"/>
                    </a:ext>
                  </a:extLst>
                </p:cNvPr>
                <p:cNvSpPr txBox="1"/>
                <p:nvPr/>
              </p:nvSpPr>
              <p:spPr>
                <a:xfrm rot="20857524">
                  <a:off x="4245160" y="2362704"/>
                  <a:ext cx="1647525" cy="4182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70AD47"/>
                      </a:solidFill>
                      <a:effectLst/>
                      <a:uLnTx/>
                      <a:uFillTx/>
                      <a:latin typeface="Consolas" panose="020B0609020204030204" pitchFamily="49" charset="0"/>
                      <a:ea typeface="+mn-ea"/>
                      <a:cs typeface="+mn-cs"/>
                    </a:rPr>
                    <a:t>prompts-&gt;</a:t>
                  </a:r>
                  <a:endParaRPr kumimoji="0" lang="fi-FI" sz="1800" b="0" i="0" u="none" strike="noStrike" kern="1200" cap="none" spc="0" normalizeH="0" baseline="0" noProof="0">
                    <a:ln>
                      <a:noFill/>
                    </a:ln>
                    <a:solidFill>
                      <a:srgbClr val="70AD47"/>
                    </a:solidFill>
                    <a:effectLst/>
                    <a:uLnTx/>
                    <a:uFillTx/>
                    <a:latin typeface="Consolas" panose="020B0609020204030204" pitchFamily="49" charset="0"/>
                    <a:ea typeface="+mn-ea"/>
                    <a:cs typeface="+mn-cs"/>
                  </a:endParaRPr>
                </a:p>
              </p:txBody>
            </p:sp>
            <p:sp>
              <p:nvSpPr>
                <p:cNvPr id="172" name="TextBox 171">
                  <a:extLst>
                    <a:ext uri="{FF2B5EF4-FFF2-40B4-BE49-F238E27FC236}">
                      <a16:creationId xmlns:a16="http://schemas.microsoft.com/office/drawing/2014/main" id="{738C029B-1C79-2B02-396F-B789E929918C}"/>
                    </a:ext>
                  </a:extLst>
                </p:cNvPr>
                <p:cNvSpPr txBox="1"/>
                <p:nvPr/>
              </p:nvSpPr>
              <p:spPr>
                <a:xfrm rot="20857524">
                  <a:off x="4606941" y="2576180"/>
                  <a:ext cx="13665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0000"/>
                      </a:solidFill>
                      <a:effectLst/>
                      <a:uLnTx/>
                      <a:uFillTx/>
                      <a:latin typeface="Consolas" panose="020B0609020204030204" pitchFamily="49" charset="0"/>
                      <a:ea typeface="+mn-ea"/>
                      <a:cs typeface="+mn-cs"/>
                    </a:rPr>
                    <a:t>&lt;-HTML</a:t>
                  </a:r>
                  <a:endParaRPr kumimoji="0" lang="fi-FI" sz="1800" b="0" i="0" u="none" strike="noStrike" kern="1200" cap="none" spc="0" normalizeH="0" baseline="0" noProof="0">
                    <a:ln>
                      <a:noFill/>
                    </a:ln>
                    <a:solidFill>
                      <a:srgbClr val="FF0000"/>
                    </a:solidFill>
                    <a:effectLst/>
                    <a:uLnTx/>
                    <a:uFillTx/>
                    <a:latin typeface="Consolas" panose="020B0609020204030204" pitchFamily="49" charset="0"/>
                    <a:ea typeface="+mn-ea"/>
                    <a:cs typeface="+mn-cs"/>
                  </a:endParaRPr>
                </a:p>
              </p:txBody>
            </p:sp>
          </p:grpSp>
          <p:grpSp>
            <p:nvGrpSpPr>
              <p:cNvPr id="111" name="Group 110">
                <a:extLst>
                  <a:ext uri="{FF2B5EF4-FFF2-40B4-BE49-F238E27FC236}">
                    <a16:creationId xmlns:a16="http://schemas.microsoft.com/office/drawing/2014/main" id="{51AD1130-B457-9BFC-9632-072D872B1131}"/>
                  </a:ext>
                </a:extLst>
              </p:cNvPr>
              <p:cNvGrpSpPr/>
              <p:nvPr/>
            </p:nvGrpSpPr>
            <p:grpSpPr>
              <a:xfrm>
                <a:off x="8175689" y="1959947"/>
                <a:ext cx="1237284" cy="475741"/>
                <a:chOff x="7899670" y="2199898"/>
                <a:chExt cx="1401300" cy="538805"/>
              </a:xfrm>
            </p:grpSpPr>
            <p:sp>
              <p:nvSpPr>
                <p:cNvPr id="169" name="TextBox 168">
                  <a:extLst>
                    <a:ext uri="{FF2B5EF4-FFF2-40B4-BE49-F238E27FC236}">
                      <a16:creationId xmlns:a16="http://schemas.microsoft.com/office/drawing/2014/main" id="{2CEEDFA2-E76A-66B5-E168-67C7726F9715}"/>
                    </a:ext>
                  </a:extLst>
                </p:cNvPr>
                <p:cNvSpPr txBox="1"/>
                <p:nvPr/>
              </p:nvSpPr>
              <p:spPr>
                <a:xfrm>
                  <a:off x="7899670" y="2199898"/>
                  <a:ext cx="136655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70AD47"/>
                      </a:solidFill>
                      <a:effectLst/>
                      <a:uLnTx/>
                      <a:uFillTx/>
                      <a:latin typeface="Consolas" panose="020B0609020204030204" pitchFamily="49" charset="0"/>
                      <a:ea typeface="+mn-ea"/>
                      <a:cs typeface="+mn-cs"/>
                    </a:rPr>
                    <a:t>prompts-&gt;</a:t>
                  </a:r>
                  <a:endParaRPr kumimoji="0" lang="fi-FI" sz="1100" b="0" i="0" u="none" strike="noStrike" kern="1200" cap="none" spc="0" normalizeH="0" baseline="0" noProof="0">
                    <a:ln>
                      <a:noFill/>
                    </a:ln>
                    <a:solidFill>
                      <a:srgbClr val="70AD47"/>
                    </a:solidFill>
                    <a:effectLst/>
                    <a:uLnTx/>
                    <a:uFillTx/>
                    <a:latin typeface="Consolas" panose="020B0609020204030204" pitchFamily="49" charset="0"/>
                    <a:ea typeface="+mn-ea"/>
                    <a:cs typeface="+mn-cs"/>
                  </a:endParaRPr>
                </a:p>
              </p:txBody>
            </p:sp>
            <p:sp>
              <p:nvSpPr>
                <p:cNvPr id="170" name="TextBox 169">
                  <a:extLst>
                    <a:ext uri="{FF2B5EF4-FFF2-40B4-BE49-F238E27FC236}">
                      <a16:creationId xmlns:a16="http://schemas.microsoft.com/office/drawing/2014/main" id="{6081FFC0-32AC-A783-387E-BA900BC0038A}"/>
                    </a:ext>
                  </a:extLst>
                </p:cNvPr>
                <p:cNvSpPr txBox="1"/>
                <p:nvPr/>
              </p:nvSpPr>
              <p:spPr>
                <a:xfrm>
                  <a:off x="7934413" y="2477093"/>
                  <a:ext cx="136655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onsolas" panose="020B0609020204030204" pitchFamily="49" charset="0"/>
                      <a:ea typeface="+mn-ea"/>
                      <a:cs typeface="+mn-cs"/>
                    </a:rPr>
                    <a:t>&lt;-text</a:t>
                  </a:r>
                  <a:endParaRPr kumimoji="0" lang="fi-FI" sz="1100" b="0" i="0" u="none" strike="noStrike" kern="1200" cap="none" spc="0" normalizeH="0" baseline="0" noProof="0">
                    <a:ln>
                      <a:noFill/>
                    </a:ln>
                    <a:solidFill>
                      <a:srgbClr val="FF0000"/>
                    </a:solidFill>
                    <a:effectLst/>
                    <a:uLnTx/>
                    <a:uFillTx/>
                    <a:latin typeface="Consolas" panose="020B0609020204030204" pitchFamily="49" charset="0"/>
                    <a:ea typeface="+mn-ea"/>
                    <a:cs typeface="+mn-cs"/>
                  </a:endParaRPr>
                </a:p>
              </p:txBody>
            </p:sp>
          </p:grpSp>
          <p:sp>
            <p:nvSpPr>
              <p:cNvPr id="112" name="TextBox 111">
                <a:extLst>
                  <a:ext uri="{FF2B5EF4-FFF2-40B4-BE49-F238E27FC236}">
                    <a16:creationId xmlns:a16="http://schemas.microsoft.com/office/drawing/2014/main" id="{B015D821-CB48-F46B-B105-E96FE64ED7C7}"/>
                  </a:ext>
                </a:extLst>
              </p:cNvPr>
              <p:cNvSpPr txBox="1"/>
              <p:nvPr/>
            </p:nvSpPr>
            <p:spPr>
              <a:xfrm rot="943707">
                <a:off x="5756636" y="2809349"/>
                <a:ext cx="15215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70AD47"/>
                    </a:solidFill>
                    <a:effectLst/>
                    <a:uLnTx/>
                    <a:uFillTx/>
                    <a:latin typeface="Consolas" panose="020B0609020204030204" pitchFamily="49" charset="0"/>
                    <a:ea typeface="+mn-ea"/>
                    <a:cs typeface="+mn-cs"/>
                  </a:rPr>
                  <a:t>prompts-&gt;</a:t>
                </a:r>
                <a:endParaRPr kumimoji="0" lang="fi-FI" sz="1800" b="0" i="0" u="none" strike="noStrike" kern="1200" cap="none" spc="0" normalizeH="0" baseline="0" noProof="0">
                  <a:ln>
                    <a:noFill/>
                  </a:ln>
                  <a:solidFill>
                    <a:srgbClr val="70AD47"/>
                  </a:solidFill>
                  <a:effectLst/>
                  <a:uLnTx/>
                  <a:uFillTx/>
                  <a:latin typeface="Consolas" panose="020B0609020204030204" pitchFamily="49" charset="0"/>
                  <a:ea typeface="+mn-ea"/>
                  <a:cs typeface="+mn-cs"/>
                </a:endParaRPr>
              </a:p>
            </p:txBody>
          </p:sp>
          <p:sp>
            <p:nvSpPr>
              <p:cNvPr id="113" name="TextBox 112">
                <a:extLst>
                  <a:ext uri="{FF2B5EF4-FFF2-40B4-BE49-F238E27FC236}">
                    <a16:creationId xmlns:a16="http://schemas.microsoft.com/office/drawing/2014/main" id="{C26F1D51-5411-D446-0263-F0FEB5C3C1A6}"/>
                  </a:ext>
                </a:extLst>
              </p:cNvPr>
              <p:cNvSpPr txBox="1"/>
              <p:nvPr/>
            </p:nvSpPr>
            <p:spPr>
              <a:xfrm rot="1099207">
                <a:off x="5944897" y="3090711"/>
                <a:ext cx="1206608" cy="326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0000"/>
                    </a:solidFill>
                    <a:effectLst/>
                    <a:uLnTx/>
                    <a:uFillTx/>
                    <a:latin typeface="Consolas" panose="020B0609020204030204" pitchFamily="49" charset="0"/>
                    <a:ea typeface="+mn-ea"/>
                    <a:cs typeface="+mn-cs"/>
                  </a:rPr>
                  <a:t>&lt;-HTML</a:t>
                </a:r>
                <a:endParaRPr kumimoji="0" lang="fi-FI" sz="1800" b="0" i="0" u="none" strike="noStrike" kern="1200" cap="none" spc="0" normalizeH="0" baseline="0" noProof="0">
                  <a:ln>
                    <a:noFill/>
                  </a:ln>
                  <a:solidFill>
                    <a:srgbClr val="FF0000"/>
                  </a:solidFill>
                  <a:effectLst/>
                  <a:uLnTx/>
                  <a:uFillTx/>
                  <a:latin typeface="Consolas" panose="020B0609020204030204" pitchFamily="49" charset="0"/>
                  <a:ea typeface="+mn-ea"/>
                  <a:cs typeface="+mn-cs"/>
                </a:endParaRPr>
              </a:p>
            </p:txBody>
          </p:sp>
          <p:sp>
            <p:nvSpPr>
              <p:cNvPr id="114" name="TextBox 113">
                <a:extLst>
                  <a:ext uri="{FF2B5EF4-FFF2-40B4-BE49-F238E27FC236}">
                    <a16:creationId xmlns:a16="http://schemas.microsoft.com/office/drawing/2014/main" id="{C14CDA13-A448-E9A9-CE8C-CABAE89900A7}"/>
                  </a:ext>
                </a:extLst>
              </p:cNvPr>
              <p:cNvSpPr txBox="1"/>
              <p:nvPr/>
            </p:nvSpPr>
            <p:spPr>
              <a:xfrm>
                <a:off x="8305474" y="4878380"/>
                <a:ext cx="839319" cy="4619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OS </a:t>
                </a:r>
                <a:b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br>
                <a:r>
                  <a:rPr kumimoji="0" lang="en-US" sz="14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LLM</a:t>
                </a:r>
                <a:endParaRPr kumimoji="0" lang="fi-FI" sz="1400" b="0" i="0" u="none" strike="noStrike" kern="1200" cap="none" spc="0" normalizeH="0" baseline="0" noProof="0">
                  <a:ln>
                    <a:noFill/>
                  </a:ln>
                  <a:solidFill>
                    <a:prstClr val="black"/>
                  </a:solidFill>
                  <a:effectLst/>
                  <a:uLnTx/>
                  <a:uFillTx/>
                  <a:latin typeface="Consolas" panose="020B0609020204030204" pitchFamily="49" charset="0"/>
                  <a:ea typeface="+mn-ea"/>
                  <a:cs typeface="+mn-cs"/>
                </a:endParaRPr>
              </a:p>
            </p:txBody>
          </p:sp>
          <p:pic>
            <p:nvPicPr>
              <p:cNvPr id="115" name="Graphic 114" descr="Security camera with solid fill">
                <a:extLst>
                  <a:ext uri="{FF2B5EF4-FFF2-40B4-BE49-F238E27FC236}">
                    <a16:creationId xmlns:a16="http://schemas.microsoft.com/office/drawing/2014/main" id="{A999CF15-20CC-000D-2821-12723C0CCC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74493" y="1534320"/>
                <a:ext cx="450484" cy="450484"/>
              </a:xfrm>
              <a:prstGeom prst="rect">
                <a:avLst/>
              </a:prstGeom>
            </p:spPr>
          </p:pic>
          <p:pic>
            <p:nvPicPr>
              <p:cNvPr id="116" name="Graphic 115" descr="Security camera with solid fill">
                <a:extLst>
                  <a:ext uri="{FF2B5EF4-FFF2-40B4-BE49-F238E27FC236}">
                    <a16:creationId xmlns:a16="http://schemas.microsoft.com/office/drawing/2014/main" id="{C77D99CA-37B1-9C2D-CE16-3CE2F08F95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74760" y="1653014"/>
                <a:ext cx="450484" cy="450484"/>
              </a:xfrm>
              <a:prstGeom prst="rect">
                <a:avLst/>
              </a:prstGeom>
            </p:spPr>
          </p:pic>
          <p:sp>
            <p:nvSpPr>
              <p:cNvPr id="117" name="TextBox 116">
                <a:extLst>
                  <a:ext uri="{FF2B5EF4-FFF2-40B4-BE49-F238E27FC236}">
                    <a16:creationId xmlns:a16="http://schemas.microsoft.com/office/drawing/2014/main" id="{F5D3FECF-2F48-A05F-F14B-1A31FB829BFB}"/>
                  </a:ext>
                </a:extLst>
              </p:cNvPr>
              <p:cNvSpPr txBox="1"/>
              <p:nvPr/>
            </p:nvSpPr>
            <p:spPr>
              <a:xfrm>
                <a:off x="5818635" y="4288509"/>
                <a:ext cx="136028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Local node</a:t>
                </a:r>
                <a:endParaRPr kumimoji="0" lang="fi-FI" sz="1600" b="0" i="0" u="none" strike="noStrike" kern="1200" cap="none" spc="0" normalizeH="0" baseline="0" noProof="0">
                  <a:ln>
                    <a:noFill/>
                  </a:ln>
                  <a:solidFill>
                    <a:prstClr val="black"/>
                  </a:solidFill>
                  <a:effectLst/>
                  <a:uLnTx/>
                  <a:uFillTx/>
                  <a:latin typeface="Consolas" panose="020B0609020204030204" pitchFamily="49" charset="0"/>
                  <a:ea typeface="+mn-ea"/>
                  <a:cs typeface="+mn-cs"/>
                </a:endParaRPr>
              </a:p>
            </p:txBody>
          </p:sp>
          <p:sp>
            <p:nvSpPr>
              <p:cNvPr id="118" name="TextBox 117">
                <a:extLst>
                  <a:ext uri="{FF2B5EF4-FFF2-40B4-BE49-F238E27FC236}">
                    <a16:creationId xmlns:a16="http://schemas.microsoft.com/office/drawing/2014/main" id="{42AA9F94-F117-8C12-3EB2-484FD2E10878}"/>
                  </a:ext>
                </a:extLst>
              </p:cNvPr>
              <p:cNvSpPr txBox="1"/>
              <p:nvPr/>
            </p:nvSpPr>
            <p:spPr>
              <a:xfrm>
                <a:off x="8218024" y="4192001"/>
                <a:ext cx="136028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black"/>
                  </a:solidFill>
                  <a:effectLst/>
                  <a:uLnTx/>
                  <a:uFillTx/>
                  <a:latin typeface="Consolas" panose="020B0609020204030204" pitchFamily="49" charset="0"/>
                  <a:ea typeface="+mn-ea"/>
                  <a:cs typeface="+mn-cs"/>
                </a:endParaRPr>
              </a:p>
            </p:txBody>
          </p:sp>
          <p:sp>
            <p:nvSpPr>
              <p:cNvPr id="119" name="TextBox 118">
                <a:extLst>
                  <a:ext uri="{FF2B5EF4-FFF2-40B4-BE49-F238E27FC236}">
                    <a16:creationId xmlns:a16="http://schemas.microsoft.com/office/drawing/2014/main" id="{6776229B-B1A7-F5FA-4930-5ED219BD6236}"/>
                  </a:ext>
                </a:extLst>
              </p:cNvPr>
              <p:cNvSpPr txBox="1"/>
              <p:nvPr/>
            </p:nvSpPr>
            <p:spPr>
              <a:xfrm>
                <a:off x="9733311" y="3025251"/>
                <a:ext cx="199892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Azure OpenAI API</a:t>
                </a:r>
                <a:endParaRPr kumimoji="0" lang="fi-FI" sz="1600" b="0" i="0" u="none" strike="noStrike" kern="1200" cap="none" spc="0" normalizeH="0" baseline="0" noProof="0">
                  <a:ln>
                    <a:noFill/>
                  </a:ln>
                  <a:solidFill>
                    <a:prstClr val="black"/>
                  </a:solidFill>
                  <a:effectLst/>
                  <a:uLnTx/>
                  <a:uFillTx/>
                  <a:latin typeface="Consolas" panose="020B0609020204030204" pitchFamily="49" charset="0"/>
                  <a:ea typeface="+mn-ea"/>
                  <a:cs typeface="+mn-cs"/>
                </a:endParaRPr>
              </a:p>
            </p:txBody>
          </p:sp>
          <p:sp>
            <p:nvSpPr>
              <p:cNvPr id="120" name="TextBox 119">
                <a:extLst>
                  <a:ext uri="{FF2B5EF4-FFF2-40B4-BE49-F238E27FC236}">
                    <a16:creationId xmlns:a16="http://schemas.microsoft.com/office/drawing/2014/main" id="{8A6846E2-C922-E4B8-E47E-2FE64CCEC19A}"/>
                  </a:ext>
                </a:extLst>
              </p:cNvPr>
              <p:cNvSpPr txBox="1"/>
              <p:nvPr/>
            </p:nvSpPr>
            <p:spPr>
              <a:xfrm>
                <a:off x="8837757" y="1690093"/>
                <a:ext cx="199892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black"/>
                  </a:solidFill>
                  <a:effectLst/>
                  <a:uLnTx/>
                  <a:uFillTx/>
                  <a:latin typeface="Consolas" panose="020B0609020204030204" pitchFamily="49" charset="0"/>
                  <a:ea typeface="+mn-ea"/>
                  <a:cs typeface="+mn-cs"/>
                </a:endParaRPr>
              </a:p>
            </p:txBody>
          </p:sp>
          <p:cxnSp>
            <p:nvCxnSpPr>
              <p:cNvPr id="121" name="Straight Arrow Connector 120">
                <a:extLst>
                  <a:ext uri="{FF2B5EF4-FFF2-40B4-BE49-F238E27FC236}">
                    <a16:creationId xmlns:a16="http://schemas.microsoft.com/office/drawing/2014/main" id="{4DF1CFF6-EE7E-7A68-6235-912D61D614F9}"/>
                  </a:ext>
                </a:extLst>
              </p:cNvPr>
              <p:cNvCxnSpPr>
                <a:cxnSpLocks/>
              </p:cNvCxnSpPr>
              <p:nvPr/>
            </p:nvCxnSpPr>
            <p:spPr>
              <a:xfrm flipV="1">
                <a:off x="6943975" y="4673431"/>
                <a:ext cx="929200" cy="307479"/>
              </a:xfrm>
              <a:prstGeom prst="straightConnector1">
                <a:avLst/>
              </a:prstGeom>
              <a:ln>
                <a:prstDash val="solid"/>
                <a:headEnd type="triangle"/>
                <a:tailEnd type="triangle"/>
              </a:ln>
            </p:spPr>
            <p:style>
              <a:lnRef idx="1">
                <a:schemeClr val="dk1"/>
              </a:lnRef>
              <a:fillRef idx="0">
                <a:schemeClr val="dk1"/>
              </a:fillRef>
              <a:effectRef idx="0">
                <a:schemeClr val="dk1"/>
              </a:effectRef>
              <a:fontRef idx="minor">
                <a:schemeClr val="tx1"/>
              </a:fontRef>
            </p:style>
          </p:cxnSp>
          <p:sp>
            <p:nvSpPr>
              <p:cNvPr id="123" name="TextBox 122">
                <a:extLst>
                  <a:ext uri="{FF2B5EF4-FFF2-40B4-BE49-F238E27FC236}">
                    <a16:creationId xmlns:a16="http://schemas.microsoft.com/office/drawing/2014/main" id="{95B39AC5-D523-CE7A-0E18-29F4FCC1C6FB}"/>
                  </a:ext>
                </a:extLst>
              </p:cNvPr>
              <p:cNvSpPr txBox="1"/>
              <p:nvPr/>
            </p:nvSpPr>
            <p:spPr>
              <a:xfrm>
                <a:off x="8987600" y="2368653"/>
                <a:ext cx="103645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D7D31"/>
                    </a:solidFill>
                    <a:effectLst/>
                    <a:uLnTx/>
                    <a:uFillTx/>
                    <a:latin typeface="Consolas" panose="020B0609020204030204" pitchFamily="49" charset="0"/>
                    <a:ea typeface="+mn-ea"/>
                    <a:cs typeface="+mn-cs"/>
                  </a:rPr>
                  <a:t>Orchestrator</a:t>
                </a:r>
                <a:endParaRPr kumimoji="0" lang="fi-FI" sz="1000" b="0" i="0" u="none" strike="noStrike" kern="1200" cap="none" spc="0" normalizeH="0" baseline="0" noProof="0">
                  <a:ln>
                    <a:noFill/>
                  </a:ln>
                  <a:solidFill>
                    <a:srgbClr val="ED7D31"/>
                  </a:solidFill>
                  <a:effectLst/>
                  <a:uLnTx/>
                  <a:uFillTx/>
                  <a:latin typeface="Consolas" panose="020B0609020204030204" pitchFamily="49" charset="0"/>
                  <a:ea typeface="+mn-ea"/>
                  <a:cs typeface="+mn-cs"/>
                </a:endParaRPr>
              </a:p>
            </p:txBody>
          </p:sp>
          <p:pic>
            <p:nvPicPr>
              <p:cNvPr id="124" name="Picture 2" descr="Neural Network Icon Images – Browse 52,520 Stock Photos ...">
                <a:extLst>
                  <a:ext uri="{FF2B5EF4-FFF2-40B4-BE49-F238E27FC236}">
                    <a16:creationId xmlns:a16="http://schemas.microsoft.com/office/drawing/2014/main" id="{DA459197-43D2-4B31-D1D0-EE64D1E6DA4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07405" y="1825617"/>
                <a:ext cx="429977" cy="35584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nvGrpSpPr>
              <p:cNvPr id="127" name="Group 126">
                <a:extLst>
                  <a:ext uri="{FF2B5EF4-FFF2-40B4-BE49-F238E27FC236}">
                    <a16:creationId xmlns:a16="http://schemas.microsoft.com/office/drawing/2014/main" id="{28887B02-2F0F-6E5D-7A7D-9174072FFBAE}"/>
                  </a:ext>
                </a:extLst>
              </p:cNvPr>
              <p:cNvGrpSpPr/>
              <p:nvPr/>
            </p:nvGrpSpPr>
            <p:grpSpPr>
              <a:xfrm>
                <a:off x="8540455" y="3064762"/>
                <a:ext cx="551448" cy="551448"/>
                <a:chOff x="10911748" y="1013704"/>
                <a:chExt cx="914400" cy="914400"/>
              </a:xfrm>
            </p:grpSpPr>
            <p:pic>
              <p:nvPicPr>
                <p:cNvPr id="167" name="Graphic 166" descr="Security camera with solid fill">
                  <a:extLst>
                    <a:ext uri="{FF2B5EF4-FFF2-40B4-BE49-F238E27FC236}">
                      <a16:creationId xmlns:a16="http://schemas.microsoft.com/office/drawing/2014/main" id="{A833BD90-5C2C-766C-D946-CCC1C022EA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113848" y="1170122"/>
                  <a:ext cx="510200" cy="510200"/>
                </a:xfrm>
                <a:prstGeom prst="rect">
                  <a:avLst/>
                </a:prstGeom>
              </p:spPr>
            </p:pic>
            <p:pic>
              <p:nvPicPr>
                <p:cNvPr id="168" name="Graphic 167" descr="No sign outline">
                  <a:extLst>
                    <a:ext uri="{FF2B5EF4-FFF2-40B4-BE49-F238E27FC236}">
                      <a16:creationId xmlns:a16="http://schemas.microsoft.com/office/drawing/2014/main" id="{DC9F4C79-F396-A083-C39A-FCC4C7C13C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911748" y="1013704"/>
                  <a:ext cx="914400" cy="914400"/>
                </a:xfrm>
                <a:prstGeom prst="rect">
                  <a:avLst/>
                </a:prstGeom>
              </p:spPr>
            </p:pic>
          </p:grpSp>
          <p:grpSp>
            <p:nvGrpSpPr>
              <p:cNvPr id="129" name="Group 128">
                <a:extLst>
                  <a:ext uri="{FF2B5EF4-FFF2-40B4-BE49-F238E27FC236}">
                    <a16:creationId xmlns:a16="http://schemas.microsoft.com/office/drawing/2014/main" id="{794166C1-E365-C923-2DE6-7D5FA24B7FD0}"/>
                  </a:ext>
                </a:extLst>
              </p:cNvPr>
              <p:cNvGrpSpPr/>
              <p:nvPr/>
            </p:nvGrpSpPr>
            <p:grpSpPr>
              <a:xfrm>
                <a:off x="6930066" y="2868851"/>
                <a:ext cx="551448" cy="551448"/>
                <a:chOff x="10630730" y="1098088"/>
                <a:chExt cx="624548" cy="624548"/>
              </a:xfrm>
            </p:grpSpPr>
            <p:pic>
              <p:nvPicPr>
                <p:cNvPr id="165" name="Graphic 164" descr="No sign outline">
                  <a:extLst>
                    <a:ext uri="{FF2B5EF4-FFF2-40B4-BE49-F238E27FC236}">
                      <a16:creationId xmlns:a16="http://schemas.microsoft.com/office/drawing/2014/main" id="{AEB26256-77F9-8B59-57FB-54547EC847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630730" y="1098088"/>
                  <a:ext cx="624548" cy="624548"/>
                </a:xfrm>
                <a:prstGeom prst="rect">
                  <a:avLst/>
                </a:prstGeom>
              </p:spPr>
            </p:pic>
            <p:pic>
              <p:nvPicPr>
                <p:cNvPr id="166" name="Graphic 165" descr="Security camera with solid fill">
                  <a:extLst>
                    <a:ext uri="{FF2B5EF4-FFF2-40B4-BE49-F238E27FC236}">
                      <a16:creationId xmlns:a16="http://schemas.microsoft.com/office/drawing/2014/main" id="{0CBC0CAF-C7E3-9F45-2F13-258498E001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768767" y="1204924"/>
                  <a:ext cx="348474" cy="348474"/>
                </a:xfrm>
                <a:prstGeom prst="rect">
                  <a:avLst/>
                </a:prstGeom>
              </p:spPr>
            </p:pic>
          </p:grpSp>
          <p:pic>
            <p:nvPicPr>
              <p:cNvPr id="130" name="Graphic 129" descr="Web design with solid fill">
                <a:extLst>
                  <a:ext uri="{FF2B5EF4-FFF2-40B4-BE49-F238E27FC236}">
                    <a16:creationId xmlns:a16="http://schemas.microsoft.com/office/drawing/2014/main" id="{A0894B3B-D417-650F-BA82-5A61CA29D7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81642" y="3245574"/>
                <a:ext cx="518429" cy="518429"/>
              </a:xfrm>
              <a:prstGeom prst="rect">
                <a:avLst/>
              </a:prstGeom>
            </p:spPr>
          </p:pic>
          <p:sp>
            <p:nvSpPr>
              <p:cNvPr id="131" name="TextBox 130">
                <a:extLst>
                  <a:ext uri="{FF2B5EF4-FFF2-40B4-BE49-F238E27FC236}">
                    <a16:creationId xmlns:a16="http://schemas.microsoft.com/office/drawing/2014/main" id="{40174AD0-D365-4466-5272-9674BE1BF9F1}"/>
                  </a:ext>
                </a:extLst>
              </p:cNvPr>
              <p:cNvSpPr txBox="1"/>
              <p:nvPr/>
            </p:nvSpPr>
            <p:spPr>
              <a:xfrm>
                <a:off x="9834979" y="3634086"/>
                <a:ext cx="101548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D7D31"/>
                    </a:solidFill>
                    <a:effectLst/>
                    <a:uLnTx/>
                    <a:uFillTx/>
                    <a:latin typeface="Consolas" panose="020B0609020204030204" pitchFamily="49" charset="0"/>
                    <a:ea typeface="+mn-ea"/>
                    <a:cs typeface="+mn-cs"/>
                  </a:rPr>
                  <a:t>Inference</a:t>
                </a:r>
                <a:endParaRPr kumimoji="0" lang="fi-FI" sz="1000" b="0" i="0" u="none" strike="noStrike" kern="1200" cap="none" spc="0" normalizeH="0" baseline="0" noProof="0">
                  <a:ln>
                    <a:noFill/>
                  </a:ln>
                  <a:solidFill>
                    <a:srgbClr val="ED7D31"/>
                  </a:solidFill>
                  <a:effectLst/>
                  <a:uLnTx/>
                  <a:uFillTx/>
                  <a:latin typeface="Consolas" panose="020B0609020204030204" pitchFamily="49" charset="0"/>
                  <a:ea typeface="+mn-ea"/>
                  <a:cs typeface="+mn-cs"/>
                </a:endParaRPr>
              </a:p>
            </p:txBody>
          </p:sp>
          <p:pic>
            <p:nvPicPr>
              <p:cNvPr id="132" name="Picture 2" descr="Neural Network Icon Images – Browse 52,520 Stock Photos ...">
                <a:extLst>
                  <a:ext uri="{FF2B5EF4-FFF2-40B4-BE49-F238E27FC236}">
                    <a16:creationId xmlns:a16="http://schemas.microsoft.com/office/drawing/2014/main" id="{74029049-23E9-DCBB-2BF3-78085F57B4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37804" y="3326867"/>
                <a:ext cx="429977" cy="35584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34" name="Picture 6" descr="Europe Flag icon PNG and SVG Vector Free Download">
                <a:extLst>
                  <a:ext uri="{FF2B5EF4-FFF2-40B4-BE49-F238E27FC236}">
                    <a16:creationId xmlns:a16="http://schemas.microsoft.com/office/drawing/2014/main" id="{CF7B7D98-397C-A9E8-953E-FEC528F2BDC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67625" y="3450140"/>
                <a:ext cx="321126" cy="213695"/>
              </a:xfrm>
              <a:prstGeom prst="rect">
                <a:avLst/>
              </a:prstGeom>
              <a:noFill/>
              <a:extLst>
                <a:ext uri="{909E8E84-426E-40DD-AFC4-6F175D3DCCD1}">
                  <a14:hiddenFill xmlns:a14="http://schemas.microsoft.com/office/drawing/2010/main">
                    <a:solidFill>
                      <a:srgbClr val="FFFFFF"/>
                    </a:solidFill>
                  </a14:hiddenFill>
                </a:ext>
              </a:extLst>
            </p:spPr>
          </p:pic>
          <p:sp>
            <p:nvSpPr>
              <p:cNvPr id="135" name="TextBox 134">
                <a:extLst>
                  <a:ext uri="{FF2B5EF4-FFF2-40B4-BE49-F238E27FC236}">
                    <a16:creationId xmlns:a16="http://schemas.microsoft.com/office/drawing/2014/main" id="{CAA93F2D-85B2-9817-349A-AF5F5A63D410}"/>
                  </a:ext>
                </a:extLst>
              </p:cNvPr>
              <p:cNvSpPr txBox="1"/>
              <p:nvPr/>
            </p:nvSpPr>
            <p:spPr>
              <a:xfrm>
                <a:off x="6717313" y="5490448"/>
                <a:ext cx="573266" cy="32610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OS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LLM</a:t>
                </a:r>
                <a:endParaRPr kumimoji="0" lang="fi-FI" sz="900" b="0" i="0" u="none" strike="noStrike" kern="1200" cap="none" spc="0" normalizeH="0" baseline="0" noProof="0">
                  <a:ln>
                    <a:noFill/>
                  </a:ln>
                  <a:solidFill>
                    <a:prstClr val="black"/>
                  </a:solidFill>
                  <a:effectLst/>
                  <a:uLnTx/>
                  <a:uFillTx/>
                  <a:latin typeface="Consolas" panose="020B0609020204030204" pitchFamily="49" charset="0"/>
                  <a:ea typeface="+mn-ea"/>
                  <a:cs typeface="+mn-cs"/>
                </a:endParaRPr>
              </a:p>
            </p:txBody>
          </p:sp>
          <p:pic>
            <p:nvPicPr>
              <p:cNvPr id="136" name="Picture 10" descr="Open Ai Icons - Free SVG &amp; PNG Open Ai Images - Noun Project">
                <a:extLst>
                  <a:ext uri="{FF2B5EF4-FFF2-40B4-BE49-F238E27FC236}">
                    <a16:creationId xmlns:a16="http://schemas.microsoft.com/office/drawing/2014/main" id="{9DCE55F6-C3CA-D07B-1DA9-A65B81205F59}"/>
                  </a:ext>
                </a:extLst>
              </p:cNvPr>
              <p:cNvPicPr>
                <a:picLocks noChangeAspect="1" noChangeArrowheads="1"/>
              </p:cNvPicPr>
              <p:nvPr/>
            </p:nvPicPr>
            <p:blipFill>
              <a:blip r:embed="rId13">
                <a:alphaModFix amt="70000"/>
                <a:extLst>
                  <a:ext uri="{28A0092B-C50C-407E-A947-70E740481C1C}">
                    <a14:useLocalDpi xmlns:a14="http://schemas.microsoft.com/office/drawing/2010/main" val="0"/>
                  </a:ext>
                </a:extLst>
              </a:blip>
              <a:srcRect/>
              <a:stretch>
                <a:fillRect/>
              </a:stretch>
            </p:blipFill>
            <p:spPr bwMode="auto">
              <a:xfrm>
                <a:off x="7219642" y="1921593"/>
                <a:ext cx="333687" cy="333687"/>
              </a:xfrm>
              <a:prstGeom prst="rect">
                <a:avLst/>
              </a:prstGeom>
              <a:ln>
                <a:noFill/>
              </a:ln>
              <a:effectLst>
                <a:outerShdw blurRad="292100" dist="139700" dir="2700000" algn="tl" rotWithShape="0">
                  <a:srgbClr val="333333">
                    <a:alpha val="65000"/>
                  </a:srgbClr>
                </a:outerShdw>
              </a:effectLst>
            </p:spPr>
          </p:pic>
          <p:sp>
            <p:nvSpPr>
              <p:cNvPr id="137" name="TextBox 136">
                <a:extLst>
                  <a:ext uri="{FF2B5EF4-FFF2-40B4-BE49-F238E27FC236}">
                    <a16:creationId xmlns:a16="http://schemas.microsoft.com/office/drawing/2014/main" id="{7D546953-46F2-D9F3-09C3-EF619F9A7E9C}"/>
                  </a:ext>
                </a:extLst>
              </p:cNvPr>
              <p:cNvSpPr txBox="1"/>
              <p:nvPr/>
            </p:nvSpPr>
            <p:spPr>
              <a:xfrm>
                <a:off x="7513566" y="3074731"/>
                <a:ext cx="896578" cy="584775"/>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a:ln>
                      <a:solidFill>
                        <a:prstClr val="black"/>
                      </a:solidFill>
                    </a:ln>
                    <a:solidFill>
                      <a:prstClr val="white">
                        <a:alpha val="80000"/>
                      </a:prstClr>
                    </a:solidFill>
                    <a:effectLst/>
                    <a:uLnTx/>
                    <a:uFillTx/>
                    <a:latin typeface="Arial Black" panose="020B0A04020102020204" pitchFamily="34" charset="0"/>
                    <a:ea typeface="+mn-ea"/>
                    <a:cs typeface="+mn-cs"/>
                  </a:rPr>
                  <a:t>A!</a:t>
                </a:r>
                <a:endParaRPr kumimoji="0" lang="fi-FI" sz="3200" b="0" i="0" u="none" strike="noStrike" kern="1200" cap="none" spc="0" normalizeH="0" baseline="0" noProof="0">
                  <a:ln>
                    <a:solidFill>
                      <a:prstClr val="black"/>
                    </a:solidFill>
                  </a:ln>
                  <a:solidFill>
                    <a:prstClr val="white">
                      <a:alpha val="80000"/>
                    </a:prstClr>
                  </a:solidFill>
                  <a:effectLst/>
                  <a:uLnTx/>
                  <a:uFillTx/>
                  <a:latin typeface="Arial Black" panose="020B0A04020102020204" pitchFamily="34" charset="0"/>
                  <a:ea typeface="+mn-ea"/>
                  <a:cs typeface="+mn-cs"/>
                </a:endParaRPr>
              </a:p>
            </p:txBody>
          </p:sp>
          <p:grpSp>
            <p:nvGrpSpPr>
              <p:cNvPr id="138" name="Group 137">
                <a:extLst>
                  <a:ext uri="{FF2B5EF4-FFF2-40B4-BE49-F238E27FC236}">
                    <a16:creationId xmlns:a16="http://schemas.microsoft.com/office/drawing/2014/main" id="{33521DC1-7AD3-4942-476C-F9D53C8B3808}"/>
                  </a:ext>
                </a:extLst>
              </p:cNvPr>
              <p:cNvGrpSpPr/>
              <p:nvPr/>
            </p:nvGrpSpPr>
            <p:grpSpPr>
              <a:xfrm>
                <a:off x="9010347" y="3314357"/>
                <a:ext cx="1237284" cy="475741"/>
                <a:chOff x="7899670" y="2199898"/>
                <a:chExt cx="1401300" cy="538805"/>
              </a:xfrm>
            </p:grpSpPr>
            <p:sp>
              <p:nvSpPr>
                <p:cNvPr id="163" name="TextBox 162">
                  <a:extLst>
                    <a:ext uri="{FF2B5EF4-FFF2-40B4-BE49-F238E27FC236}">
                      <a16:creationId xmlns:a16="http://schemas.microsoft.com/office/drawing/2014/main" id="{17AAC403-95DD-C5B4-EEDA-49B8D19A4F59}"/>
                    </a:ext>
                  </a:extLst>
                </p:cNvPr>
                <p:cNvSpPr txBox="1"/>
                <p:nvPr/>
              </p:nvSpPr>
              <p:spPr>
                <a:xfrm>
                  <a:off x="7899670" y="2199898"/>
                  <a:ext cx="136655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70AD47"/>
                      </a:solidFill>
                      <a:effectLst/>
                      <a:uLnTx/>
                      <a:uFillTx/>
                      <a:latin typeface="Consolas" panose="020B0609020204030204" pitchFamily="49" charset="0"/>
                      <a:ea typeface="+mn-ea"/>
                      <a:cs typeface="+mn-cs"/>
                    </a:rPr>
                    <a:t>prompts-&gt;</a:t>
                  </a:r>
                  <a:endParaRPr kumimoji="0" lang="fi-FI" sz="1100" b="0" i="0" u="none" strike="noStrike" kern="1200" cap="none" spc="0" normalizeH="0" baseline="0" noProof="0">
                    <a:ln>
                      <a:noFill/>
                    </a:ln>
                    <a:solidFill>
                      <a:srgbClr val="70AD47"/>
                    </a:solidFill>
                    <a:effectLst/>
                    <a:uLnTx/>
                    <a:uFillTx/>
                    <a:latin typeface="Consolas" panose="020B0609020204030204" pitchFamily="49" charset="0"/>
                    <a:ea typeface="+mn-ea"/>
                    <a:cs typeface="+mn-cs"/>
                  </a:endParaRPr>
                </a:p>
              </p:txBody>
            </p:sp>
            <p:sp>
              <p:nvSpPr>
                <p:cNvPr id="164" name="TextBox 163">
                  <a:extLst>
                    <a:ext uri="{FF2B5EF4-FFF2-40B4-BE49-F238E27FC236}">
                      <a16:creationId xmlns:a16="http://schemas.microsoft.com/office/drawing/2014/main" id="{AAE6360A-8333-D78F-885D-B7135FC1ECF8}"/>
                    </a:ext>
                  </a:extLst>
                </p:cNvPr>
                <p:cNvSpPr txBox="1"/>
                <p:nvPr/>
              </p:nvSpPr>
              <p:spPr>
                <a:xfrm>
                  <a:off x="7934413" y="2477093"/>
                  <a:ext cx="136655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onsolas" panose="020B0609020204030204" pitchFamily="49" charset="0"/>
                      <a:ea typeface="+mn-ea"/>
                      <a:cs typeface="+mn-cs"/>
                    </a:rPr>
                    <a:t>&lt;-text</a:t>
                  </a:r>
                  <a:endParaRPr kumimoji="0" lang="fi-FI" sz="1100" b="0" i="0" u="none" strike="noStrike" kern="1200" cap="none" spc="0" normalizeH="0" baseline="0" noProof="0">
                    <a:ln>
                      <a:noFill/>
                    </a:ln>
                    <a:solidFill>
                      <a:srgbClr val="FF0000"/>
                    </a:solidFill>
                    <a:effectLst/>
                    <a:uLnTx/>
                    <a:uFillTx/>
                    <a:latin typeface="Consolas" panose="020B0609020204030204" pitchFamily="49" charset="0"/>
                    <a:ea typeface="+mn-ea"/>
                    <a:cs typeface="+mn-cs"/>
                  </a:endParaRPr>
                </a:p>
              </p:txBody>
            </p:sp>
          </p:grpSp>
          <p:pic>
            <p:nvPicPr>
              <p:cNvPr id="139" name="Picture 12" descr="Flag of the United States - Wikipedia">
                <a:extLst>
                  <a:ext uri="{FF2B5EF4-FFF2-40B4-BE49-F238E27FC236}">
                    <a16:creationId xmlns:a16="http://schemas.microsoft.com/office/drawing/2014/main" id="{326F572A-5C64-22B4-3CD2-0E56704C3B78}"/>
                  </a:ext>
                </a:extLst>
              </p:cNvPr>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577678" y="1968581"/>
                <a:ext cx="267006" cy="140309"/>
              </a:xfrm>
              <a:prstGeom prst="rect">
                <a:avLst/>
              </a:prstGeom>
              <a:noFill/>
              <a:extLst>
                <a:ext uri="{909E8E84-426E-40DD-AFC4-6F175D3DCCD1}">
                  <a14:hiddenFill xmlns:a14="http://schemas.microsoft.com/office/drawing/2010/main">
                    <a:solidFill>
                      <a:srgbClr val="FFFFFF"/>
                    </a:solidFill>
                  </a14:hiddenFill>
                </a:ext>
              </a:extLst>
            </p:spPr>
          </p:pic>
          <p:sp>
            <p:nvSpPr>
              <p:cNvPr id="140" name="TextBox 139">
                <a:extLst>
                  <a:ext uri="{FF2B5EF4-FFF2-40B4-BE49-F238E27FC236}">
                    <a16:creationId xmlns:a16="http://schemas.microsoft.com/office/drawing/2014/main" id="{23EC21ED-210D-0C28-3C3F-EB2146D61452}"/>
                  </a:ext>
                </a:extLst>
              </p:cNvPr>
              <p:cNvSpPr txBox="1"/>
              <p:nvPr/>
            </p:nvSpPr>
            <p:spPr>
              <a:xfrm>
                <a:off x="10789257" y="1664258"/>
                <a:ext cx="45048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6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br>
                <a:r>
                  <a:rPr kumimoji="0" lang="en-US" sz="16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a:t>
                </a:r>
                <a:endParaRPr kumimoji="0" lang="fi-FI" sz="1600" b="0" i="0" u="none" strike="noStrike" kern="1200" cap="none" spc="0" normalizeH="0" baseline="0" noProof="0">
                  <a:ln>
                    <a:noFill/>
                  </a:ln>
                  <a:solidFill>
                    <a:prstClr val="black"/>
                  </a:solidFill>
                  <a:effectLst/>
                  <a:uLnTx/>
                  <a:uFillTx/>
                  <a:latin typeface="Consolas" panose="020B0609020204030204" pitchFamily="49" charset="0"/>
                  <a:ea typeface="+mn-ea"/>
                  <a:cs typeface="+mn-cs"/>
                </a:endParaRPr>
              </a:p>
            </p:txBody>
          </p:sp>
          <p:sp>
            <p:nvSpPr>
              <p:cNvPr id="141" name="Oval 140">
                <a:extLst>
                  <a:ext uri="{FF2B5EF4-FFF2-40B4-BE49-F238E27FC236}">
                    <a16:creationId xmlns:a16="http://schemas.microsoft.com/office/drawing/2014/main" id="{54D74B92-92D7-A732-CF67-D6FEE7B8755C}"/>
                  </a:ext>
                </a:extLst>
              </p:cNvPr>
              <p:cNvSpPr/>
              <p:nvPr/>
            </p:nvSpPr>
            <p:spPr>
              <a:xfrm>
                <a:off x="7254698" y="5069977"/>
                <a:ext cx="851042" cy="616843"/>
              </a:xfrm>
              <a:prstGeom prst="ellipse">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42" name="Group 141">
                <a:extLst>
                  <a:ext uri="{FF2B5EF4-FFF2-40B4-BE49-F238E27FC236}">
                    <a16:creationId xmlns:a16="http://schemas.microsoft.com/office/drawing/2014/main" id="{97443332-EEFD-B85F-B0B0-E96692945F4D}"/>
                  </a:ext>
                </a:extLst>
              </p:cNvPr>
              <p:cNvGrpSpPr/>
              <p:nvPr/>
            </p:nvGrpSpPr>
            <p:grpSpPr>
              <a:xfrm>
                <a:off x="7323416" y="5280720"/>
                <a:ext cx="567117" cy="393251"/>
                <a:chOff x="5118221" y="5248633"/>
                <a:chExt cx="1777721" cy="1232713"/>
              </a:xfrm>
            </p:grpSpPr>
            <p:pic>
              <p:nvPicPr>
                <p:cNvPr id="158" name="Graphic 157" descr="Computer outline">
                  <a:extLst>
                    <a:ext uri="{FF2B5EF4-FFF2-40B4-BE49-F238E27FC236}">
                      <a16:creationId xmlns:a16="http://schemas.microsoft.com/office/drawing/2014/main" id="{06E9635D-F83D-EBD1-C73B-E54BEF8F7A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18221" y="5248633"/>
                  <a:ext cx="914400" cy="914400"/>
                </a:xfrm>
                <a:prstGeom prst="rect">
                  <a:avLst/>
                </a:prstGeom>
              </p:spPr>
            </p:pic>
            <p:grpSp>
              <p:nvGrpSpPr>
                <p:cNvPr id="159" name="Group 158">
                  <a:extLst>
                    <a:ext uri="{FF2B5EF4-FFF2-40B4-BE49-F238E27FC236}">
                      <a16:creationId xmlns:a16="http://schemas.microsoft.com/office/drawing/2014/main" id="{B907873C-C263-FD8E-CA33-FA49252F5282}"/>
                    </a:ext>
                  </a:extLst>
                </p:cNvPr>
                <p:cNvGrpSpPr/>
                <p:nvPr/>
              </p:nvGrpSpPr>
              <p:grpSpPr>
                <a:xfrm>
                  <a:off x="5557349" y="5866681"/>
                  <a:ext cx="1338593" cy="614665"/>
                  <a:chOff x="461485" y="3367485"/>
                  <a:chExt cx="1991345" cy="914400"/>
                </a:xfrm>
              </p:grpSpPr>
              <p:pic>
                <p:nvPicPr>
                  <p:cNvPr id="160" name="Graphic 159" descr="Web design with solid fill">
                    <a:extLst>
                      <a:ext uri="{FF2B5EF4-FFF2-40B4-BE49-F238E27FC236}">
                        <a16:creationId xmlns:a16="http://schemas.microsoft.com/office/drawing/2014/main" id="{9B21A267-26D0-9A01-B605-3729F28938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337894" y="3613554"/>
                    <a:ext cx="587152" cy="587152"/>
                  </a:xfrm>
                  <a:prstGeom prst="rect">
                    <a:avLst/>
                  </a:prstGeom>
                </p:spPr>
              </p:pic>
              <p:pic>
                <p:nvPicPr>
                  <p:cNvPr id="161" name="Graphic 160" descr="Browser window with solid fill">
                    <a:extLst>
                      <a:ext uri="{FF2B5EF4-FFF2-40B4-BE49-F238E27FC236}">
                        <a16:creationId xmlns:a16="http://schemas.microsoft.com/office/drawing/2014/main" id="{37350982-A0EA-363A-AB54-92EDC9D5A4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61485" y="3367485"/>
                    <a:ext cx="914402" cy="914400"/>
                  </a:xfrm>
                  <a:prstGeom prst="rect">
                    <a:avLst/>
                  </a:prstGeom>
                </p:spPr>
              </p:pic>
              <p:pic>
                <p:nvPicPr>
                  <p:cNvPr id="162" name="Picture 2" descr="Neural Network Icon Images – Browse 52,520 Stock Photos ...">
                    <a:extLst>
                      <a:ext uri="{FF2B5EF4-FFF2-40B4-BE49-F238E27FC236}">
                        <a16:creationId xmlns:a16="http://schemas.microsoft.com/office/drawing/2014/main" id="{198C2C4C-575A-CC50-2E43-BCDF5057E2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5855" y="3705622"/>
                    <a:ext cx="486975" cy="4030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grpSp>
          <p:sp>
            <p:nvSpPr>
              <p:cNvPr id="143" name="TextBox 142">
                <a:extLst>
                  <a:ext uri="{FF2B5EF4-FFF2-40B4-BE49-F238E27FC236}">
                    <a16:creationId xmlns:a16="http://schemas.microsoft.com/office/drawing/2014/main" id="{EFC09495-DA40-DEB1-D6FE-1269775EAB23}"/>
                  </a:ext>
                </a:extLst>
              </p:cNvPr>
              <p:cNvSpPr txBox="1"/>
              <p:nvPr/>
            </p:nvSpPr>
            <p:spPr>
              <a:xfrm>
                <a:off x="7306538" y="5076236"/>
                <a:ext cx="79365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Secdata</a:t>
                </a:r>
                <a:endParaRPr kumimoji="0" lang="fi-FI"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endParaRPr>
              </a:p>
            </p:txBody>
          </p:sp>
          <p:grpSp>
            <p:nvGrpSpPr>
              <p:cNvPr id="144" name="Group 143">
                <a:extLst>
                  <a:ext uri="{FF2B5EF4-FFF2-40B4-BE49-F238E27FC236}">
                    <a16:creationId xmlns:a16="http://schemas.microsoft.com/office/drawing/2014/main" id="{1F9DDCD9-A8FB-8E1E-D14F-873139A51E0D}"/>
                  </a:ext>
                </a:extLst>
              </p:cNvPr>
              <p:cNvGrpSpPr/>
              <p:nvPr/>
            </p:nvGrpSpPr>
            <p:grpSpPr>
              <a:xfrm rot="16200000">
                <a:off x="8294420" y="3847520"/>
                <a:ext cx="68627" cy="244053"/>
                <a:chOff x="10952564" y="6087783"/>
                <a:chExt cx="144972" cy="515554"/>
              </a:xfrm>
            </p:grpSpPr>
            <p:sp>
              <p:nvSpPr>
                <p:cNvPr id="155" name="Oval 154">
                  <a:extLst>
                    <a:ext uri="{FF2B5EF4-FFF2-40B4-BE49-F238E27FC236}">
                      <a16:creationId xmlns:a16="http://schemas.microsoft.com/office/drawing/2014/main" id="{FEF16870-1C4F-7B66-F1AD-B8FFCED210FF}"/>
                    </a:ext>
                  </a:extLst>
                </p:cNvPr>
                <p:cNvSpPr/>
                <p:nvPr/>
              </p:nvSpPr>
              <p:spPr>
                <a:xfrm>
                  <a:off x="10952564" y="6273074"/>
                  <a:ext cx="144972" cy="144972"/>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Oval 155">
                  <a:extLst>
                    <a:ext uri="{FF2B5EF4-FFF2-40B4-BE49-F238E27FC236}">
                      <a16:creationId xmlns:a16="http://schemas.microsoft.com/office/drawing/2014/main" id="{F3818C22-F3DA-4D7D-6677-E1FF5F6F3D31}"/>
                    </a:ext>
                  </a:extLst>
                </p:cNvPr>
                <p:cNvSpPr/>
                <p:nvPr/>
              </p:nvSpPr>
              <p:spPr>
                <a:xfrm>
                  <a:off x="10952564" y="6458365"/>
                  <a:ext cx="144972" cy="14497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 name="Oval 156">
                  <a:extLst>
                    <a:ext uri="{FF2B5EF4-FFF2-40B4-BE49-F238E27FC236}">
                      <a16:creationId xmlns:a16="http://schemas.microsoft.com/office/drawing/2014/main" id="{6892DE6B-1537-46AD-A22A-67FA1703CB08}"/>
                    </a:ext>
                  </a:extLst>
                </p:cNvPr>
                <p:cNvSpPr/>
                <p:nvPr/>
              </p:nvSpPr>
              <p:spPr>
                <a:xfrm>
                  <a:off x="10952564" y="6087783"/>
                  <a:ext cx="144972" cy="144972"/>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5" name="Group 144">
                <a:extLst>
                  <a:ext uri="{FF2B5EF4-FFF2-40B4-BE49-F238E27FC236}">
                    <a16:creationId xmlns:a16="http://schemas.microsoft.com/office/drawing/2014/main" id="{5EE98356-D6C9-4EE1-C7E8-D77C7D7B1FAE}"/>
                  </a:ext>
                </a:extLst>
              </p:cNvPr>
              <p:cNvGrpSpPr/>
              <p:nvPr/>
            </p:nvGrpSpPr>
            <p:grpSpPr>
              <a:xfrm rot="16200000">
                <a:off x="6524164" y="5456623"/>
                <a:ext cx="68627" cy="244053"/>
                <a:chOff x="10952564" y="6087783"/>
                <a:chExt cx="144972" cy="515554"/>
              </a:xfrm>
            </p:grpSpPr>
            <p:sp>
              <p:nvSpPr>
                <p:cNvPr id="152" name="Oval 151">
                  <a:extLst>
                    <a:ext uri="{FF2B5EF4-FFF2-40B4-BE49-F238E27FC236}">
                      <a16:creationId xmlns:a16="http://schemas.microsoft.com/office/drawing/2014/main" id="{F0DC1E9D-C58A-38E0-FE81-FEE4D707E523}"/>
                    </a:ext>
                  </a:extLst>
                </p:cNvPr>
                <p:cNvSpPr/>
                <p:nvPr/>
              </p:nvSpPr>
              <p:spPr>
                <a:xfrm>
                  <a:off x="10952564" y="6273074"/>
                  <a:ext cx="144972" cy="144972"/>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 name="Oval 152">
                  <a:extLst>
                    <a:ext uri="{FF2B5EF4-FFF2-40B4-BE49-F238E27FC236}">
                      <a16:creationId xmlns:a16="http://schemas.microsoft.com/office/drawing/2014/main" id="{ACA192F6-193E-2D91-93D3-02C835AEB2F8}"/>
                    </a:ext>
                  </a:extLst>
                </p:cNvPr>
                <p:cNvSpPr/>
                <p:nvPr/>
              </p:nvSpPr>
              <p:spPr>
                <a:xfrm>
                  <a:off x="10952564" y="6458365"/>
                  <a:ext cx="144972" cy="14497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Oval 153">
                  <a:extLst>
                    <a:ext uri="{FF2B5EF4-FFF2-40B4-BE49-F238E27FC236}">
                      <a16:creationId xmlns:a16="http://schemas.microsoft.com/office/drawing/2014/main" id="{CB4E256F-E5F3-5AA3-4232-7F6542244FD1}"/>
                    </a:ext>
                  </a:extLst>
                </p:cNvPr>
                <p:cNvSpPr/>
                <p:nvPr/>
              </p:nvSpPr>
              <p:spPr>
                <a:xfrm>
                  <a:off x="10952564" y="6087783"/>
                  <a:ext cx="144972" cy="144972"/>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7" name="Oval 146">
                <a:extLst>
                  <a:ext uri="{FF2B5EF4-FFF2-40B4-BE49-F238E27FC236}">
                    <a16:creationId xmlns:a16="http://schemas.microsoft.com/office/drawing/2014/main" id="{3A4C5480-13CB-2D10-16F9-C9B05E42818D}"/>
                  </a:ext>
                </a:extLst>
              </p:cNvPr>
              <p:cNvSpPr/>
              <p:nvPr/>
            </p:nvSpPr>
            <p:spPr>
              <a:xfrm rot="16200000">
                <a:off x="7708834" y="2690529"/>
                <a:ext cx="68627" cy="6862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 name="Oval 180">
                <a:extLst>
                  <a:ext uri="{FF2B5EF4-FFF2-40B4-BE49-F238E27FC236}">
                    <a16:creationId xmlns:a16="http://schemas.microsoft.com/office/drawing/2014/main" id="{03B37028-511A-29D9-BAA1-964597775C05}"/>
                  </a:ext>
                </a:extLst>
              </p:cNvPr>
              <p:cNvSpPr/>
              <p:nvPr/>
            </p:nvSpPr>
            <p:spPr>
              <a:xfrm rot="16200000">
                <a:off x="7796547" y="5384902"/>
                <a:ext cx="68627" cy="68627"/>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Oval 181">
                <a:extLst>
                  <a:ext uri="{FF2B5EF4-FFF2-40B4-BE49-F238E27FC236}">
                    <a16:creationId xmlns:a16="http://schemas.microsoft.com/office/drawing/2014/main" id="{D99FE016-BF7E-30AC-F80A-1056AAB522E6}"/>
                  </a:ext>
                </a:extLst>
              </p:cNvPr>
              <p:cNvSpPr/>
              <p:nvPr/>
            </p:nvSpPr>
            <p:spPr>
              <a:xfrm rot="16200000">
                <a:off x="7884260" y="5384902"/>
                <a:ext cx="68627" cy="6862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Oval 182">
                <a:extLst>
                  <a:ext uri="{FF2B5EF4-FFF2-40B4-BE49-F238E27FC236}">
                    <a16:creationId xmlns:a16="http://schemas.microsoft.com/office/drawing/2014/main" id="{CBE5F1AD-131C-2A52-E465-CF5DEF738E83}"/>
                  </a:ext>
                </a:extLst>
              </p:cNvPr>
              <p:cNvSpPr/>
              <p:nvPr/>
            </p:nvSpPr>
            <p:spPr>
              <a:xfrm rot="16200000">
                <a:off x="7708834" y="5384902"/>
                <a:ext cx="68627" cy="6862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Oval 183">
                <a:extLst>
                  <a:ext uri="{FF2B5EF4-FFF2-40B4-BE49-F238E27FC236}">
                    <a16:creationId xmlns:a16="http://schemas.microsoft.com/office/drawing/2014/main" id="{9898BFB2-2E7F-D051-6FED-D5FDEB0FF67F}"/>
                  </a:ext>
                </a:extLst>
              </p:cNvPr>
              <p:cNvSpPr/>
              <p:nvPr/>
            </p:nvSpPr>
            <p:spPr>
              <a:xfrm rot="16200000">
                <a:off x="7975545" y="5384901"/>
                <a:ext cx="68627" cy="6862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FEDF0979-E589-6DBF-65A6-315339BA1FB9}"/>
                  </a:ext>
                </a:extLst>
              </p:cNvPr>
              <p:cNvCxnSpPr>
                <a:cxnSpLocks/>
              </p:cNvCxnSpPr>
              <p:nvPr/>
            </p:nvCxnSpPr>
            <p:spPr>
              <a:xfrm flipV="1">
                <a:off x="10200456" y="2213318"/>
                <a:ext cx="0" cy="31823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33762399-9049-DB40-40B9-CCA1D0BEB502}"/>
                  </a:ext>
                </a:extLst>
              </p:cNvPr>
              <p:cNvSpPr txBox="1"/>
              <p:nvPr/>
            </p:nvSpPr>
            <p:spPr>
              <a:xfrm>
                <a:off x="10417254" y="2412197"/>
                <a:ext cx="103645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effectLst/>
                    <a:uLnTx/>
                    <a:uFillTx/>
                    <a:latin typeface="Consolas" panose="020B0609020204030204" pitchFamily="49" charset="0"/>
                    <a:ea typeface="+mn-ea"/>
                    <a:cs typeface="+mn-cs"/>
                  </a:rPr>
                  <a:t>Tools: web search, image generation, code interpreter, storage, apps</a:t>
                </a:r>
                <a:endParaRPr kumimoji="0" lang="fi-FI" sz="600" b="0" i="0" u="none" strike="noStrike" kern="1200" cap="none" spc="0" normalizeH="0" baseline="0" noProof="0">
                  <a:ln>
                    <a:noFill/>
                  </a:ln>
                  <a:effectLst/>
                  <a:uLnTx/>
                  <a:uFillTx/>
                  <a:latin typeface="Consolas" panose="020B0609020204030204" pitchFamily="49" charset="0"/>
                  <a:ea typeface="+mn-ea"/>
                  <a:cs typeface="+mn-cs"/>
                </a:endParaRPr>
              </a:p>
            </p:txBody>
          </p:sp>
          <p:cxnSp>
            <p:nvCxnSpPr>
              <p:cNvPr id="14" name="Straight Arrow Connector 13">
                <a:extLst>
                  <a:ext uri="{FF2B5EF4-FFF2-40B4-BE49-F238E27FC236}">
                    <a16:creationId xmlns:a16="http://schemas.microsoft.com/office/drawing/2014/main" id="{ACB28544-AD8F-1B36-CA1A-9C7B3CFAC6A9}"/>
                  </a:ext>
                </a:extLst>
              </p:cNvPr>
              <p:cNvCxnSpPr>
                <a:cxnSpLocks/>
              </p:cNvCxnSpPr>
              <p:nvPr/>
            </p:nvCxnSpPr>
            <p:spPr>
              <a:xfrm flipV="1">
                <a:off x="9680763" y="2085260"/>
                <a:ext cx="274221" cy="9852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9DADA533-84AA-6269-3696-FCDD69A7EC8A}"/>
                  </a:ext>
                </a:extLst>
              </p:cNvPr>
              <p:cNvCxnSpPr>
                <a:cxnSpLocks/>
              </p:cNvCxnSpPr>
              <p:nvPr/>
            </p:nvCxnSpPr>
            <p:spPr>
              <a:xfrm>
                <a:off x="9695280" y="2270867"/>
                <a:ext cx="236194" cy="13406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grpSp>
          <p:nvGrpSpPr>
            <p:cNvPr id="189" name="Group 188">
              <a:extLst>
                <a:ext uri="{FF2B5EF4-FFF2-40B4-BE49-F238E27FC236}">
                  <a16:creationId xmlns:a16="http://schemas.microsoft.com/office/drawing/2014/main" id="{68BE026E-DA2F-0F19-A436-93C9F2E15458}"/>
                </a:ext>
              </a:extLst>
            </p:cNvPr>
            <p:cNvGrpSpPr/>
            <p:nvPr/>
          </p:nvGrpSpPr>
          <p:grpSpPr>
            <a:xfrm>
              <a:off x="699023" y="828881"/>
              <a:ext cx="4497919" cy="3094183"/>
              <a:chOff x="699023" y="828881"/>
              <a:chExt cx="4497919" cy="3094183"/>
            </a:xfrm>
          </p:grpSpPr>
          <p:sp>
            <p:nvSpPr>
              <p:cNvPr id="33" name="TextBox 32">
                <a:extLst>
                  <a:ext uri="{FF2B5EF4-FFF2-40B4-BE49-F238E27FC236}">
                    <a16:creationId xmlns:a16="http://schemas.microsoft.com/office/drawing/2014/main" id="{203BBBEB-B4ED-CCB6-27A1-2421A6AC4D8B}"/>
                  </a:ext>
                </a:extLst>
              </p:cNvPr>
              <p:cNvSpPr txBox="1"/>
              <p:nvPr/>
            </p:nvSpPr>
            <p:spPr>
              <a:xfrm>
                <a:off x="699023" y="2213318"/>
                <a:ext cx="1366557"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Consolas" panose="020B0609020204030204" pitchFamily="49" charset="0"/>
                    <a:ea typeface="+mn-ea"/>
                    <a:cs typeface="+mn-cs"/>
                  </a:rPr>
                  <a:t>Local AI</a:t>
                </a:r>
                <a:br>
                  <a:rPr kumimoji="0" lang="en-US" sz="1800" b="0" i="0" u="none" strike="noStrike" kern="1200" cap="none" spc="0" normalizeH="0" baseline="0" noProof="0">
                    <a:ln>
                      <a:noFill/>
                    </a:ln>
                    <a:solidFill>
                      <a:prstClr val="white">
                        <a:lumMod val="50000"/>
                      </a:prstClr>
                    </a:solidFill>
                    <a:effectLst/>
                    <a:uLnTx/>
                    <a:uFillTx/>
                    <a:latin typeface="Consolas" panose="020B0609020204030204" pitchFamily="49" charset="0"/>
                    <a:ea typeface="+mn-ea"/>
                    <a:cs typeface="+mn-cs"/>
                  </a:rPr>
                </a:br>
                <a:r>
                  <a:rPr kumimoji="0" lang="en-US" sz="1400" b="0" i="0" u="none" strike="noStrike" kern="1200" cap="none" spc="0" normalizeH="0" baseline="0" noProof="0">
                    <a:ln>
                      <a:noFill/>
                    </a:ln>
                    <a:solidFill>
                      <a:prstClr val="white">
                        <a:lumMod val="50000"/>
                      </a:prstClr>
                    </a:solidFill>
                    <a:effectLst/>
                    <a:uLnTx/>
                    <a:uFillTx/>
                    <a:latin typeface="Consolas" panose="020B0609020204030204" pitchFamily="49" charset="0"/>
                    <a:ea typeface="+mn-ea"/>
                    <a:cs typeface="+mn-cs"/>
                  </a:rPr>
                  <a:t>(OS LLMs)</a:t>
                </a:r>
                <a:endParaRPr kumimoji="0" lang="fi-FI" sz="1400" b="0" i="0" u="none" strike="noStrike" kern="1200" cap="none" spc="0" normalizeH="0" baseline="0" noProof="0">
                  <a:ln>
                    <a:noFill/>
                  </a:ln>
                  <a:solidFill>
                    <a:prstClr val="white">
                      <a:lumMod val="50000"/>
                    </a:prstClr>
                  </a:solidFill>
                  <a:effectLst/>
                  <a:uLnTx/>
                  <a:uFillTx/>
                  <a:latin typeface="Consolas" panose="020B0609020204030204" pitchFamily="49" charset="0"/>
                  <a:ea typeface="+mn-ea"/>
                  <a:cs typeface="+mn-cs"/>
                </a:endParaRPr>
              </a:p>
            </p:txBody>
          </p:sp>
          <p:grpSp>
            <p:nvGrpSpPr>
              <p:cNvPr id="34" name="Group 33">
                <a:extLst>
                  <a:ext uri="{FF2B5EF4-FFF2-40B4-BE49-F238E27FC236}">
                    <a16:creationId xmlns:a16="http://schemas.microsoft.com/office/drawing/2014/main" id="{264D8E3A-5C40-77A4-4380-BE7949DD707F}"/>
                  </a:ext>
                </a:extLst>
              </p:cNvPr>
              <p:cNvGrpSpPr/>
              <p:nvPr/>
            </p:nvGrpSpPr>
            <p:grpSpPr>
              <a:xfrm>
                <a:off x="1495196" y="828881"/>
                <a:ext cx="3701746" cy="3094183"/>
                <a:chOff x="862938" y="1283407"/>
                <a:chExt cx="3701746" cy="3094183"/>
              </a:xfrm>
            </p:grpSpPr>
            <p:sp>
              <p:nvSpPr>
                <p:cNvPr id="35" name="Freeform: Shape 34">
                  <a:extLst>
                    <a:ext uri="{FF2B5EF4-FFF2-40B4-BE49-F238E27FC236}">
                      <a16:creationId xmlns:a16="http://schemas.microsoft.com/office/drawing/2014/main" id="{4382F091-1060-E82E-8124-8BF8372FF1B4}"/>
                    </a:ext>
                  </a:extLst>
                </p:cNvPr>
                <p:cNvSpPr/>
                <p:nvPr/>
              </p:nvSpPr>
              <p:spPr>
                <a:xfrm>
                  <a:off x="1382525" y="27239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 name="Freeform: Shape 35">
                  <a:extLst>
                    <a:ext uri="{FF2B5EF4-FFF2-40B4-BE49-F238E27FC236}">
                      <a16:creationId xmlns:a16="http://schemas.microsoft.com/office/drawing/2014/main" id="{00C997A3-806D-8025-3551-3FD1C0889DE4}"/>
                    </a:ext>
                  </a:extLst>
                </p:cNvPr>
                <p:cNvSpPr/>
                <p:nvPr/>
              </p:nvSpPr>
              <p:spPr>
                <a:xfrm>
                  <a:off x="1382525" y="26477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 name="Freeform: Shape 36">
                  <a:extLst>
                    <a:ext uri="{FF2B5EF4-FFF2-40B4-BE49-F238E27FC236}">
                      <a16:creationId xmlns:a16="http://schemas.microsoft.com/office/drawing/2014/main" id="{9CECE58B-3D74-FAEF-B1C3-D13F6B4CC707}"/>
                    </a:ext>
                  </a:extLst>
                </p:cNvPr>
                <p:cNvSpPr/>
                <p:nvPr/>
              </p:nvSpPr>
              <p:spPr>
                <a:xfrm>
                  <a:off x="1382525" y="28001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 name="Freeform: Shape 37">
                  <a:extLst>
                    <a:ext uri="{FF2B5EF4-FFF2-40B4-BE49-F238E27FC236}">
                      <a16:creationId xmlns:a16="http://schemas.microsoft.com/office/drawing/2014/main" id="{F5C0BA86-AFF6-87F5-40CF-88B0A56403FA}"/>
                    </a:ext>
                  </a:extLst>
                </p:cNvPr>
                <p:cNvSpPr/>
                <p:nvPr/>
              </p:nvSpPr>
              <p:spPr>
                <a:xfrm>
                  <a:off x="1382525" y="30287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 name="Freeform: Shape 38">
                  <a:extLst>
                    <a:ext uri="{FF2B5EF4-FFF2-40B4-BE49-F238E27FC236}">
                      <a16:creationId xmlns:a16="http://schemas.microsoft.com/office/drawing/2014/main" id="{0BF9454C-A832-332E-9204-64C0425C8B5C}"/>
                    </a:ext>
                  </a:extLst>
                </p:cNvPr>
                <p:cNvSpPr/>
                <p:nvPr/>
              </p:nvSpPr>
              <p:spPr>
                <a:xfrm>
                  <a:off x="1382525" y="29525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 name="Freeform: Shape 39">
                  <a:extLst>
                    <a:ext uri="{FF2B5EF4-FFF2-40B4-BE49-F238E27FC236}">
                      <a16:creationId xmlns:a16="http://schemas.microsoft.com/office/drawing/2014/main" id="{BEDD4ED4-E727-9969-0854-FEC6CDF6DAE3}"/>
                    </a:ext>
                  </a:extLst>
                </p:cNvPr>
                <p:cNvSpPr/>
                <p:nvPr/>
              </p:nvSpPr>
              <p:spPr>
                <a:xfrm>
                  <a:off x="1382525" y="28763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 name="Freeform: Shape 40">
                  <a:extLst>
                    <a:ext uri="{FF2B5EF4-FFF2-40B4-BE49-F238E27FC236}">
                      <a16:creationId xmlns:a16="http://schemas.microsoft.com/office/drawing/2014/main" id="{DF4A3B34-171A-0B66-CF3D-C01BF9F0B464}"/>
                    </a:ext>
                  </a:extLst>
                </p:cNvPr>
                <p:cNvSpPr/>
                <p:nvPr/>
              </p:nvSpPr>
              <p:spPr>
                <a:xfrm>
                  <a:off x="2039750" y="29525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 name="Freeform: Shape 41">
                  <a:extLst>
                    <a:ext uri="{FF2B5EF4-FFF2-40B4-BE49-F238E27FC236}">
                      <a16:creationId xmlns:a16="http://schemas.microsoft.com/office/drawing/2014/main" id="{086169D0-61DE-0C3B-021F-EAA1EFA4EC65}"/>
                    </a:ext>
                  </a:extLst>
                </p:cNvPr>
                <p:cNvSpPr/>
                <p:nvPr/>
              </p:nvSpPr>
              <p:spPr>
                <a:xfrm>
                  <a:off x="2039750" y="30287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E28CB24F-B377-2E16-8403-4BC5FB8E00AE}"/>
                    </a:ext>
                  </a:extLst>
                </p:cNvPr>
                <p:cNvSpPr/>
                <p:nvPr/>
              </p:nvSpPr>
              <p:spPr>
                <a:xfrm>
                  <a:off x="2039750" y="28763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 name="Freeform: Shape 43">
                  <a:extLst>
                    <a:ext uri="{FF2B5EF4-FFF2-40B4-BE49-F238E27FC236}">
                      <a16:creationId xmlns:a16="http://schemas.microsoft.com/office/drawing/2014/main" id="{63BA0680-A848-D1DC-92F3-F54C2DDD3756}"/>
                    </a:ext>
                  </a:extLst>
                </p:cNvPr>
                <p:cNvSpPr/>
                <p:nvPr/>
              </p:nvSpPr>
              <p:spPr>
                <a:xfrm>
                  <a:off x="2039750" y="26477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 name="Freeform: Shape 44">
                  <a:extLst>
                    <a:ext uri="{FF2B5EF4-FFF2-40B4-BE49-F238E27FC236}">
                      <a16:creationId xmlns:a16="http://schemas.microsoft.com/office/drawing/2014/main" id="{1FCE47DB-FE17-A216-2007-ABC98DECC529}"/>
                    </a:ext>
                  </a:extLst>
                </p:cNvPr>
                <p:cNvSpPr/>
                <p:nvPr/>
              </p:nvSpPr>
              <p:spPr>
                <a:xfrm>
                  <a:off x="2039750" y="28001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 name="Freeform: Shape 45">
                  <a:extLst>
                    <a:ext uri="{FF2B5EF4-FFF2-40B4-BE49-F238E27FC236}">
                      <a16:creationId xmlns:a16="http://schemas.microsoft.com/office/drawing/2014/main" id="{D9CE0705-7C93-0215-993E-7C94D1682B82}"/>
                    </a:ext>
                  </a:extLst>
                </p:cNvPr>
                <p:cNvSpPr/>
                <p:nvPr/>
              </p:nvSpPr>
              <p:spPr>
                <a:xfrm>
                  <a:off x="2039750" y="2723954"/>
                  <a:ext cx="66675" cy="38100"/>
                </a:xfrm>
                <a:custGeom>
                  <a:avLst/>
                  <a:gdLst>
                    <a:gd name="connsiteX0" fmla="*/ 0 w 66675"/>
                    <a:gd name="connsiteY0" fmla="*/ 0 h 38100"/>
                    <a:gd name="connsiteX1" fmla="*/ 66675 w 66675"/>
                    <a:gd name="connsiteY1" fmla="*/ 0 h 38100"/>
                    <a:gd name="connsiteX2" fmla="*/ 66675 w 66675"/>
                    <a:gd name="connsiteY2" fmla="*/ 38100 h 38100"/>
                    <a:gd name="connsiteX3" fmla="*/ 0 w 666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66675" h="38100">
                      <a:moveTo>
                        <a:pt x="0" y="0"/>
                      </a:moveTo>
                      <a:lnTo>
                        <a:pt x="66675" y="0"/>
                      </a:lnTo>
                      <a:lnTo>
                        <a:pt x="66675" y="38100"/>
                      </a:lnTo>
                      <a:lnTo>
                        <a:pt x="0" y="3810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7" name="Freeform: Shape 46">
                  <a:extLst>
                    <a:ext uri="{FF2B5EF4-FFF2-40B4-BE49-F238E27FC236}">
                      <a16:creationId xmlns:a16="http://schemas.microsoft.com/office/drawing/2014/main" id="{DDBD7C98-4E81-F59B-455A-699CF2396124}"/>
                    </a:ext>
                  </a:extLst>
                </p:cNvPr>
                <p:cNvSpPr/>
                <p:nvPr/>
              </p:nvSpPr>
              <p:spPr>
                <a:xfrm>
                  <a:off x="1763525" y="2495354"/>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8" name="Freeform: Shape 47">
                  <a:extLst>
                    <a:ext uri="{FF2B5EF4-FFF2-40B4-BE49-F238E27FC236}">
                      <a16:creationId xmlns:a16="http://schemas.microsoft.com/office/drawing/2014/main" id="{8D6DD6CA-160E-FBCD-EF81-4E85E6EE1B01}"/>
                    </a:ext>
                  </a:extLst>
                </p:cNvPr>
                <p:cNvSpPr/>
                <p:nvPr/>
              </p:nvSpPr>
              <p:spPr>
                <a:xfrm>
                  <a:off x="1915925" y="2495354"/>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9" name="Freeform: Shape 48">
                  <a:extLst>
                    <a:ext uri="{FF2B5EF4-FFF2-40B4-BE49-F238E27FC236}">
                      <a16:creationId xmlns:a16="http://schemas.microsoft.com/office/drawing/2014/main" id="{88ACAAF5-1BD3-7E66-8F12-BCE670D389A2}"/>
                    </a:ext>
                  </a:extLst>
                </p:cNvPr>
                <p:cNvSpPr/>
                <p:nvPr/>
              </p:nvSpPr>
              <p:spPr>
                <a:xfrm>
                  <a:off x="1839725" y="2495354"/>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0" name="Freeform: Shape 49">
                  <a:extLst>
                    <a:ext uri="{FF2B5EF4-FFF2-40B4-BE49-F238E27FC236}">
                      <a16:creationId xmlns:a16="http://schemas.microsoft.com/office/drawing/2014/main" id="{FCA0EAF7-6262-1CB0-8A16-E860D283F18C}"/>
                    </a:ext>
                  </a:extLst>
                </p:cNvPr>
                <p:cNvSpPr/>
                <p:nvPr/>
              </p:nvSpPr>
              <p:spPr>
                <a:xfrm>
                  <a:off x="1687325" y="2495354"/>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1" name="Freeform: Shape 50">
                  <a:extLst>
                    <a:ext uri="{FF2B5EF4-FFF2-40B4-BE49-F238E27FC236}">
                      <a16:creationId xmlns:a16="http://schemas.microsoft.com/office/drawing/2014/main" id="{7E7D764E-D904-6E31-CF67-C8679214BA86}"/>
                    </a:ext>
                  </a:extLst>
                </p:cNvPr>
                <p:cNvSpPr/>
                <p:nvPr/>
              </p:nvSpPr>
              <p:spPr>
                <a:xfrm>
                  <a:off x="1534925" y="2495354"/>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2" name="Freeform: Shape 51">
                  <a:extLst>
                    <a:ext uri="{FF2B5EF4-FFF2-40B4-BE49-F238E27FC236}">
                      <a16:creationId xmlns:a16="http://schemas.microsoft.com/office/drawing/2014/main" id="{BE113F5D-C789-C915-4F85-32326C33F1C2}"/>
                    </a:ext>
                  </a:extLst>
                </p:cNvPr>
                <p:cNvSpPr/>
                <p:nvPr/>
              </p:nvSpPr>
              <p:spPr>
                <a:xfrm>
                  <a:off x="1611125" y="2495354"/>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3" name="Freeform: Shape 52">
                  <a:extLst>
                    <a:ext uri="{FF2B5EF4-FFF2-40B4-BE49-F238E27FC236}">
                      <a16:creationId xmlns:a16="http://schemas.microsoft.com/office/drawing/2014/main" id="{941F4145-F5EC-90B7-755F-817A9CFCC52E}"/>
                    </a:ext>
                  </a:extLst>
                </p:cNvPr>
                <p:cNvSpPr/>
                <p:nvPr/>
              </p:nvSpPr>
              <p:spPr>
                <a:xfrm>
                  <a:off x="1611125" y="3152579"/>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4" name="Freeform: Shape 53">
                  <a:extLst>
                    <a:ext uri="{FF2B5EF4-FFF2-40B4-BE49-F238E27FC236}">
                      <a16:creationId xmlns:a16="http://schemas.microsoft.com/office/drawing/2014/main" id="{471778CD-50BD-55AD-B6E4-CFB28C78CBDF}"/>
                    </a:ext>
                  </a:extLst>
                </p:cNvPr>
                <p:cNvSpPr/>
                <p:nvPr/>
              </p:nvSpPr>
              <p:spPr>
                <a:xfrm>
                  <a:off x="1534925" y="3152579"/>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5" name="Freeform: Shape 54">
                  <a:extLst>
                    <a:ext uri="{FF2B5EF4-FFF2-40B4-BE49-F238E27FC236}">
                      <a16:creationId xmlns:a16="http://schemas.microsoft.com/office/drawing/2014/main" id="{CC6327B4-2287-2964-F747-6E52B021BB19}"/>
                    </a:ext>
                  </a:extLst>
                </p:cNvPr>
                <p:cNvSpPr/>
                <p:nvPr/>
              </p:nvSpPr>
              <p:spPr>
                <a:xfrm>
                  <a:off x="1687325" y="3152579"/>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6" name="Freeform: Shape 55">
                  <a:extLst>
                    <a:ext uri="{FF2B5EF4-FFF2-40B4-BE49-F238E27FC236}">
                      <a16:creationId xmlns:a16="http://schemas.microsoft.com/office/drawing/2014/main" id="{56AFBFAF-213E-07DA-1AEE-A56CE5947FFC}"/>
                    </a:ext>
                  </a:extLst>
                </p:cNvPr>
                <p:cNvSpPr/>
                <p:nvPr/>
              </p:nvSpPr>
              <p:spPr>
                <a:xfrm>
                  <a:off x="1763525" y="3152579"/>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7" name="Freeform: Shape 56">
                  <a:extLst>
                    <a:ext uri="{FF2B5EF4-FFF2-40B4-BE49-F238E27FC236}">
                      <a16:creationId xmlns:a16="http://schemas.microsoft.com/office/drawing/2014/main" id="{84536183-589F-21CD-3F4E-80917ED810CA}"/>
                    </a:ext>
                  </a:extLst>
                </p:cNvPr>
                <p:cNvSpPr/>
                <p:nvPr/>
              </p:nvSpPr>
              <p:spPr>
                <a:xfrm>
                  <a:off x="1839725" y="3152579"/>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8" name="Freeform: Shape 57">
                  <a:extLst>
                    <a:ext uri="{FF2B5EF4-FFF2-40B4-BE49-F238E27FC236}">
                      <a16:creationId xmlns:a16="http://schemas.microsoft.com/office/drawing/2014/main" id="{62F6406B-DD78-68DA-F31C-30BBCBC0CBEC}"/>
                    </a:ext>
                  </a:extLst>
                </p:cNvPr>
                <p:cNvSpPr/>
                <p:nvPr/>
              </p:nvSpPr>
              <p:spPr>
                <a:xfrm>
                  <a:off x="1915925" y="3152579"/>
                  <a:ext cx="38100" cy="66675"/>
                </a:xfrm>
                <a:custGeom>
                  <a:avLst/>
                  <a:gdLst>
                    <a:gd name="connsiteX0" fmla="*/ 0 w 38100"/>
                    <a:gd name="connsiteY0" fmla="*/ 0 h 66675"/>
                    <a:gd name="connsiteX1" fmla="*/ 38100 w 38100"/>
                    <a:gd name="connsiteY1" fmla="*/ 0 h 66675"/>
                    <a:gd name="connsiteX2" fmla="*/ 38100 w 38100"/>
                    <a:gd name="connsiteY2" fmla="*/ 66675 h 66675"/>
                    <a:gd name="connsiteX3" fmla="*/ 0 w 38100"/>
                    <a:gd name="connsiteY3" fmla="*/ 66675 h 66675"/>
                  </a:gdLst>
                  <a:ahLst/>
                  <a:cxnLst>
                    <a:cxn ang="0">
                      <a:pos x="connsiteX0" y="connsiteY0"/>
                    </a:cxn>
                    <a:cxn ang="0">
                      <a:pos x="connsiteX1" y="connsiteY1"/>
                    </a:cxn>
                    <a:cxn ang="0">
                      <a:pos x="connsiteX2" y="connsiteY2"/>
                    </a:cxn>
                    <a:cxn ang="0">
                      <a:pos x="connsiteX3" y="connsiteY3"/>
                    </a:cxn>
                  </a:cxnLst>
                  <a:rect l="l" t="t" r="r" b="b"/>
                  <a:pathLst>
                    <a:path w="38100" h="66675">
                      <a:moveTo>
                        <a:pt x="0" y="0"/>
                      </a:moveTo>
                      <a:lnTo>
                        <a:pt x="38100" y="0"/>
                      </a:lnTo>
                      <a:lnTo>
                        <a:pt x="38100" y="66675"/>
                      </a:lnTo>
                      <a:lnTo>
                        <a:pt x="0" y="66675"/>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9" name="Freeform: Shape 58">
                  <a:extLst>
                    <a:ext uri="{FF2B5EF4-FFF2-40B4-BE49-F238E27FC236}">
                      <a16:creationId xmlns:a16="http://schemas.microsoft.com/office/drawing/2014/main" id="{93BCE072-9AB5-2DFE-8CA1-0E81E547A3E2}"/>
                    </a:ext>
                  </a:extLst>
                </p:cNvPr>
                <p:cNvSpPr/>
                <p:nvPr/>
              </p:nvSpPr>
              <p:spPr>
                <a:xfrm>
                  <a:off x="1620650" y="2733479"/>
                  <a:ext cx="247650" cy="247650"/>
                </a:xfrm>
                <a:custGeom>
                  <a:avLst/>
                  <a:gdLst>
                    <a:gd name="connsiteX0" fmla="*/ 0 w 247650"/>
                    <a:gd name="connsiteY0" fmla="*/ 0 h 247650"/>
                    <a:gd name="connsiteX1" fmla="*/ 247650 w 247650"/>
                    <a:gd name="connsiteY1" fmla="*/ 0 h 247650"/>
                    <a:gd name="connsiteX2" fmla="*/ 247650 w 247650"/>
                    <a:gd name="connsiteY2" fmla="*/ 247650 h 247650"/>
                    <a:gd name="connsiteX3" fmla="*/ 0 w 247650"/>
                    <a:gd name="connsiteY3" fmla="*/ 247650 h 247650"/>
                  </a:gdLst>
                  <a:ahLst/>
                  <a:cxnLst>
                    <a:cxn ang="0">
                      <a:pos x="connsiteX0" y="connsiteY0"/>
                    </a:cxn>
                    <a:cxn ang="0">
                      <a:pos x="connsiteX1" y="connsiteY1"/>
                    </a:cxn>
                    <a:cxn ang="0">
                      <a:pos x="connsiteX2" y="connsiteY2"/>
                    </a:cxn>
                    <a:cxn ang="0">
                      <a:pos x="connsiteX3" y="connsiteY3"/>
                    </a:cxn>
                  </a:cxnLst>
                  <a:rect l="l" t="t" r="r" b="b"/>
                  <a:pathLst>
                    <a:path w="247650" h="247650">
                      <a:moveTo>
                        <a:pt x="0" y="0"/>
                      </a:moveTo>
                      <a:lnTo>
                        <a:pt x="247650" y="0"/>
                      </a:lnTo>
                      <a:lnTo>
                        <a:pt x="247650" y="247650"/>
                      </a:lnTo>
                      <a:lnTo>
                        <a:pt x="0" y="24765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0" name="Freeform: Shape 59">
                  <a:extLst>
                    <a:ext uri="{FF2B5EF4-FFF2-40B4-BE49-F238E27FC236}">
                      <a16:creationId xmlns:a16="http://schemas.microsoft.com/office/drawing/2014/main" id="{65FEDF14-951E-248D-9207-70E8D2E835FB}"/>
                    </a:ext>
                  </a:extLst>
                </p:cNvPr>
                <p:cNvSpPr/>
                <p:nvPr/>
              </p:nvSpPr>
              <p:spPr>
                <a:xfrm>
                  <a:off x="1487300" y="2600129"/>
                  <a:ext cx="514350" cy="514350"/>
                </a:xfrm>
                <a:custGeom>
                  <a:avLst/>
                  <a:gdLst>
                    <a:gd name="connsiteX0" fmla="*/ 476250 w 514350"/>
                    <a:gd name="connsiteY0" fmla="*/ 0 h 514350"/>
                    <a:gd name="connsiteX1" fmla="*/ 38100 w 514350"/>
                    <a:gd name="connsiteY1" fmla="*/ 0 h 514350"/>
                    <a:gd name="connsiteX2" fmla="*/ 0 w 514350"/>
                    <a:gd name="connsiteY2" fmla="*/ 38100 h 514350"/>
                    <a:gd name="connsiteX3" fmla="*/ 0 w 514350"/>
                    <a:gd name="connsiteY3" fmla="*/ 476250 h 514350"/>
                    <a:gd name="connsiteX4" fmla="*/ 38100 w 514350"/>
                    <a:gd name="connsiteY4" fmla="*/ 514350 h 514350"/>
                    <a:gd name="connsiteX5" fmla="*/ 476250 w 514350"/>
                    <a:gd name="connsiteY5" fmla="*/ 514350 h 514350"/>
                    <a:gd name="connsiteX6" fmla="*/ 514350 w 514350"/>
                    <a:gd name="connsiteY6" fmla="*/ 476250 h 514350"/>
                    <a:gd name="connsiteX7" fmla="*/ 514350 w 514350"/>
                    <a:gd name="connsiteY7" fmla="*/ 38100 h 514350"/>
                    <a:gd name="connsiteX8" fmla="*/ 476250 w 514350"/>
                    <a:gd name="connsiteY8" fmla="*/ 0 h 514350"/>
                    <a:gd name="connsiteX9" fmla="*/ 419100 w 514350"/>
                    <a:gd name="connsiteY9" fmla="*/ 419100 h 514350"/>
                    <a:gd name="connsiteX10" fmla="*/ 95250 w 514350"/>
                    <a:gd name="connsiteY10" fmla="*/ 419100 h 514350"/>
                    <a:gd name="connsiteX11" fmla="*/ 95250 w 514350"/>
                    <a:gd name="connsiteY11" fmla="*/ 95250 h 514350"/>
                    <a:gd name="connsiteX12" fmla="*/ 419100 w 514350"/>
                    <a:gd name="connsiteY12" fmla="*/ 952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4350" h="514350">
                      <a:moveTo>
                        <a:pt x="476250" y="0"/>
                      </a:moveTo>
                      <a:lnTo>
                        <a:pt x="38100" y="0"/>
                      </a:lnTo>
                      <a:cubicBezTo>
                        <a:pt x="17058" y="0"/>
                        <a:pt x="0" y="17058"/>
                        <a:pt x="0" y="38100"/>
                      </a:cubicBezTo>
                      <a:lnTo>
                        <a:pt x="0" y="476250"/>
                      </a:lnTo>
                      <a:cubicBezTo>
                        <a:pt x="0" y="497292"/>
                        <a:pt x="17058" y="514350"/>
                        <a:pt x="38100" y="514350"/>
                      </a:cubicBezTo>
                      <a:lnTo>
                        <a:pt x="476250" y="514350"/>
                      </a:lnTo>
                      <a:cubicBezTo>
                        <a:pt x="497292" y="514350"/>
                        <a:pt x="514350" y="497292"/>
                        <a:pt x="514350" y="476250"/>
                      </a:cubicBezTo>
                      <a:lnTo>
                        <a:pt x="514350" y="38100"/>
                      </a:lnTo>
                      <a:cubicBezTo>
                        <a:pt x="514350" y="17058"/>
                        <a:pt x="497292" y="0"/>
                        <a:pt x="476250" y="0"/>
                      </a:cubicBezTo>
                      <a:close/>
                      <a:moveTo>
                        <a:pt x="419100" y="419100"/>
                      </a:moveTo>
                      <a:lnTo>
                        <a:pt x="95250" y="419100"/>
                      </a:lnTo>
                      <a:lnTo>
                        <a:pt x="95250" y="95250"/>
                      </a:lnTo>
                      <a:lnTo>
                        <a:pt x="419100" y="9525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61" name="Graphic 60" descr="Database outline">
                  <a:extLst>
                    <a:ext uri="{FF2B5EF4-FFF2-40B4-BE49-F238E27FC236}">
                      <a16:creationId xmlns:a16="http://schemas.microsoft.com/office/drawing/2014/main" id="{6A339C43-76E8-BFA7-570B-38DF296C19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111500" y="2400104"/>
                  <a:ext cx="914400" cy="914400"/>
                </a:xfrm>
                <a:prstGeom prst="rect">
                  <a:avLst/>
                </a:prstGeom>
              </p:spPr>
            </p:pic>
            <p:pic>
              <p:nvPicPr>
                <p:cNvPr id="62" name="Graphic 61" descr="Laptop with solid fill">
                  <a:extLst>
                    <a:ext uri="{FF2B5EF4-FFF2-40B4-BE49-F238E27FC236}">
                      <a16:creationId xmlns:a16="http://schemas.microsoft.com/office/drawing/2014/main" id="{30CDC0FC-E891-AAAE-4664-F05E09D220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237986" y="1283407"/>
                  <a:ext cx="914400" cy="914400"/>
                </a:xfrm>
                <a:prstGeom prst="rect">
                  <a:avLst/>
                </a:prstGeom>
              </p:spPr>
            </p:pic>
            <p:pic>
              <p:nvPicPr>
                <p:cNvPr id="63" name="Graphic 62" descr="Wi-Fi with solid fill">
                  <a:extLst>
                    <a:ext uri="{FF2B5EF4-FFF2-40B4-BE49-F238E27FC236}">
                      <a16:creationId xmlns:a16="http://schemas.microsoft.com/office/drawing/2014/main" id="{8CA9A353-839C-6DD2-6B2C-5DB1DDD130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860224" y="2400104"/>
                  <a:ext cx="914400" cy="914400"/>
                </a:xfrm>
                <a:prstGeom prst="rect">
                  <a:avLst/>
                </a:prstGeom>
              </p:spPr>
            </p:pic>
            <p:pic>
              <p:nvPicPr>
                <p:cNvPr id="64" name="Graphic 63" descr="Web design with solid fill">
                  <a:extLst>
                    <a:ext uri="{FF2B5EF4-FFF2-40B4-BE49-F238E27FC236}">
                      <a16:creationId xmlns:a16="http://schemas.microsoft.com/office/drawing/2014/main" id="{0ADFEE56-66E6-22B5-6363-A59E27085D6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10596" y="3482175"/>
                  <a:ext cx="587152" cy="587152"/>
                </a:xfrm>
                <a:prstGeom prst="rect">
                  <a:avLst/>
                </a:prstGeom>
              </p:spPr>
            </p:pic>
            <p:pic>
              <p:nvPicPr>
                <p:cNvPr id="65" name="Graphic 64" descr="Browser window with solid fill">
                  <a:extLst>
                    <a:ext uri="{FF2B5EF4-FFF2-40B4-BE49-F238E27FC236}">
                      <a16:creationId xmlns:a16="http://schemas.microsoft.com/office/drawing/2014/main" id="{BCCDE659-87CC-7BC3-D7C6-128C1A07FA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2938" y="3236100"/>
                  <a:ext cx="914400" cy="914400"/>
                </a:xfrm>
                <a:prstGeom prst="rect">
                  <a:avLst/>
                </a:prstGeom>
              </p:spPr>
            </p:pic>
            <p:pic>
              <p:nvPicPr>
                <p:cNvPr id="66" name="Picture 2" descr="Neural Network Icon Images – Browse 52,520 Stock Photos ...">
                  <a:extLst>
                    <a:ext uri="{FF2B5EF4-FFF2-40B4-BE49-F238E27FC236}">
                      <a16:creationId xmlns:a16="http://schemas.microsoft.com/office/drawing/2014/main" id="{661292A2-4A3A-0CA0-0F38-99205A0A162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0188" y="3574244"/>
                  <a:ext cx="486975" cy="403014"/>
                </a:xfrm>
                <a:prstGeom prst="rect">
                  <a:avLst/>
                </a:prstGeom>
                <a:noFill/>
                <a:extLst>
                  <a:ext uri="{909E8E84-426E-40DD-AFC4-6F175D3DCCD1}">
                    <a14:hiddenFill xmlns:a14="http://schemas.microsoft.com/office/drawing/2010/main">
                      <a:solidFill>
                        <a:srgbClr val="FFFFFF"/>
                      </a:solidFill>
                    </a14:hiddenFill>
                  </a:ext>
                </a:extLst>
              </p:spPr>
            </p:pic>
            <p:sp>
              <p:nvSpPr>
                <p:cNvPr id="67" name="Left Brace 66">
                  <a:extLst>
                    <a:ext uri="{FF2B5EF4-FFF2-40B4-BE49-F238E27FC236}">
                      <a16:creationId xmlns:a16="http://schemas.microsoft.com/office/drawing/2014/main" id="{049B7DE5-685D-0B53-5626-314705C514A7}"/>
                    </a:ext>
                  </a:extLst>
                </p:cNvPr>
                <p:cNvSpPr/>
                <p:nvPr/>
              </p:nvSpPr>
              <p:spPr>
                <a:xfrm rot="5400000">
                  <a:off x="2472573" y="532474"/>
                  <a:ext cx="450943" cy="3537700"/>
                </a:xfrm>
                <a:prstGeom prst="leftBrace">
                  <a:avLst>
                    <a:gd name="adj1" fmla="val 0"/>
                    <a:gd name="adj2" fmla="val 50000"/>
                  </a:avLst>
                </a:prstGeom>
                <a:ln w="38100"/>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8" name="Group 67">
                  <a:extLst>
                    <a:ext uri="{FF2B5EF4-FFF2-40B4-BE49-F238E27FC236}">
                      <a16:creationId xmlns:a16="http://schemas.microsoft.com/office/drawing/2014/main" id="{43E32DD8-9745-6F07-0E59-11B325F1DACB}"/>
                    </a:ext>
                  </a:extLst>
                </p:cNvPr>
                <p:cNvGrpSpPr/>
                <p:nvPr/>
              </p:nvGrpSpPr>
              <p:grpSpPr>
                <a:xfrm>
                  <a:off x="3650284" y="2553585"/>
                  <a:ext cx="914400" cy="914400"/>
                  <a:chOff x="3650284" y="2553585"/>
                  <a:chExt cx="914400" cy="914400"/>
                </a:xfrm>
              </p:grpSpPr>
              <p:pic>
                <p:nvPicPr>
                  <p:cNvPr id="81" name="Graphic 80" descr="Browser window outline">
                    <a:extLst>
                      <a:ext uri="{FF2B5EF4-FFF2-40B4-BE49-F238E27FC236}">
                        <a16:creationId xmlns:a16="http://schemas.microsoft.com/office/drawing/2014/main" id="{B9ABBB5C-3A88-E351-8679-883866E01A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650284" y="2553585"/>
                    <a:ext cx="914400" cy="914400"/>
                  </a:xfrm>
                  <a:prstGeom prst="rect">
                    <a:avLst/>
                  </a:prstGeom>
                </p:spPr>
              </p:pic>
              <p:pic>
                <p:nvPicPr>
                  <p:cNvPr id="82" name="Graphic 81" descr="World with solid fill">
                    <a:extLst>
                      <a:ext uri="{FF2B5EF4-FFF2-40B4-BE49-F238E27FC236}">
                        <a16:creationId xmlns:a16="http://schemas.microsoft.com/office/drawing/2014/main" id="{0651CC23-DFAB-C146-23A8-4EF32292A7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936422" y="2880316"/>
                    <a:ext cx="361606" cy="361606"/>
                  </a:xfrm>
                  <a:prstGeom prst="rect">
                    <a:avLst/>
                  </a:prstGeom>
                </p:spPr>
              </p:pic>
            </p:grpSp>
            <p:pic>
              <p:nvPicPr>
                <p:cNvPr id="69" name="Graphic 68" descr="Cmd Terminal with solid fill">
                  <a:extLst>
                    <a:ext uri="{FF2B5EF4-FFF2-40B4-BE49-F238E27FC236}">
                      <a16:creationId xmlns:a16="http://schemas.microsoft.com/office/drawing/2014/main" id="{7F966BEE-D7D5-F3F8-7E2C-A878A3437F8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071188" y="3184436"/>
                  <a:ext cx="914400" cy="914400"/>
                </a:xfrm>
                <a:prstGeom prst="rect">
                  <a:avLst/>
                </a:prstGeom>
              </p:spPr>
            </p:pic>
            <p:sp>
              <p:nvSpPr>
                <p:cNvPr id="70" name="TextBox 69">
                  <a:extLst>
                    <a:ext uri="{FF2B5EF4-FFF2-40B4-BE49-F238E27FC236}">
                      <a16:creationId xmlns:a16="http://schemas.microsoft.com/office/drawing/2014/main" id="{2EC038D0-3550-FC5C-7E37-191622A34AC8}"/>
                    </a:ext>
                  </a:extLst>
                </p:cNvPr>
                <p:cNvSpPr txBox="1"/>
                <p:nvPr/>
              </p:nvSpPr>
              <p:spPr>
                <a:xfrm>
                  <a:off x="1628882" y="4041897"/>
                  <a:ext cx="950580" cy="27673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onsolas" panose="020B0609020204030204" pitchFamily="49" charset="0"/>
                      <a:ea typeface="+mn-ea"/>
                      <a:cs typeface="+mn-cs"/>
                    </a:rPr>
                    <a:t>Inference</a:t>
                  </a:r>
                  <a:endParaRPr kumimoji="0" lang="fi-FI" sz="1200" b="0" i="0" u="none" strike="noStrike" kern="1200" cap="none" spc="0" normalizeH="0" baseline="0" noProof="0">
                    <a:ln>
                      <a:noFill/>
                    </a:ln>
                    <a:solidFill>
                      <a:srgbClr val="ED7D31"/>
                    </a:solidFill>
                    <a:effectLst/>
                    <a:uLnTx/>
                    <a:uFillTx/>
                    <a:latin typeface="Consolas" panose="020B0609020204030204" pitchFamily="49" charset="0"/>
                    <a:ea typeface="+mn-ea"/>
                    <a:cs typeface="+mn-cs"/>
                  </a:endParaRPr>
                </a:p>
              </p:txBody>
            </p:sp>
            <p:sp>
              <p:nvSpPr>
                <p:cNvPr id="71" name="TextBox 70">
                  <a:extLst>
                    <a:ext uri="{FF2B5EF4-FFF2-40B4-BE49-F238E27FC236}">
                      <a16:creationId xmlns:a16="http://schemas.microsoft.com/office/drawing/2014/main" id="{A1285EE5-867C-7656-4031-59F76F15D7C6}"/>
                    </a:ext>
                  </a:extLst>
                </p:cNvPr>
                <p:cNvSpPr txBox="1"/>
                <p:nvPr/>
              </p:nvSpPr>
              <p:spPr>
                <a:xfrm>
                  <a:off x="928068" y="4028974"/>
                  <a:ext cx="78414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4472C4"/>
                      </a:solidFill>
                      <a:effectLst/>
                      <a:uLnTx/>
                      <a:uFillTx/>
                      <a:latin typeface="Consolas" panose="020B0609020204030204" pitchFamily="49" charset="0"/>
                      <a:ea typeface="+mn-ea"/>
                      <a:cs typeface="+mn-cs"/>
                    </a:rPr>
                    <a:t>Chat UI</a:t>
                  </a:r>
                  <a:endParaRPr kumimoji="0" lang="fi-FI" sz="1200" b="0" i="0" u="none" strike="noStrike" kern="1200" cap="none" spc="0" normalizeH="0" baseline="0" noProof="0">
                    <a:ln>
                      <a:noFill/>
                    </a:ln>
                    <a:solidFill>
                      <a:srgbClr val="4472C4"/>
                    </a:solidFill>
                    <a:effectLst/>
                    <a:uLnTx/>
                    <a:uFillTx/>
                    <a:latin typeface="Consolas" panose="020B0609020204030204" pitchFamily="49" charset="0"/>
                    <a:ea typeface="+mn-ea"/>
                    <a:cs typeface="+mn-cs"/>
                  </a:endParaRPr>
                </a:p>
              </p:txBody>
            </p:sp>
            <p:sp>
              <p:nvSpPr>
                <p:cNvPr id="72" name="TextBox 71">
                  <a:extLst>
                    <a:ext uri="{FF2B5EF4-FFF2-40B4-BE49-F238E27FC236}">
                      <a16:creationId xmlns:a16="http://schemas.microsoft.com/office/drawing/2014/main" id="{E5E1223E-CBA9-351B-C53B-6F712E5F2125}"/>
                    </a:ext>
                  </a:extLst>
                </p:cNvPr>
                <p:cNvSpPr txBox="1"/>
                <p:nvPr/>
              </p:nvSpPr>
              <p:spPr>
                <a:xfrm>
                  <a:off x="2408900" y="3906913"/>
                  <a:ext cx="5804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OS</a:t>
                  </a:r>
                  <a:b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LLM</a:t>
                  </a:r>
                  <a:endParaRPr kumimoji="0" lang="fi-FI"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endParaRPr>
                </a:p>
              </p:txBody>
            </p:sp>
            <p:cxnSp>
              <p:nvCxnSpPr>
                <p:cNvPr id="73" name="Straight Connector 72">
                  <a:extLst>
                    <a:ext uri="{FF2B5EF4-FFF2-40B4-BE49-F238E27FC236}">
                      <a16:creationId xmlns:a16="http://schemas.microsoft.com/office/drawing/2014/main" id="{2D8AFA6B-081E-9DA8-9177-65F354F36EC5}"/>
                    </a:ext>
                  </a:extLst>
                </p:cNvPr>
                <p:cNvCxnSpPr>
                  <a:cxnSpLocks/>
                </p:cNvCxnSpPr>
                <p:nvPr/>
              </p:nvCxnSpPr>
              <p:spPr>
                <a:xfrm flipH="1">
                  <a:off x="1292776" y="3175540"/>
                  <a:ext cx="184722" cy="177059"/>
                </a:xfrm>
                <a:prstGeom prst="line">
                  <a:avLst/>
                </a:prstGeom>
                <a:ln w="19050"/>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B0FB48DC-7972-47DE-D29A-1F028D95F063}"/>
                    </a:ext>
                  </a:extLst>
                </p:cNvPr>
                <p:cNvCxnSpPr>
                  <a:cxnSpLocks/>
                  <a:endCxn id="64" idx="0"/>
                </p:cNvCxnSpPr>
                <p:nvPr/>
              </p:nvCxnSpPr>
              <p:spPr>
                <a:xfrm>
                  <a:off x="2000227" y="3229287"/>
                  <a:ext cx="103945" cy="252888"/>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E21A5F07-E2DD-8F58-7BCA-2DAD81267BD9}"/>
                    </a:ext>
                  </a:extLst>
                </p:cNvPr>
                <p:cNvCxnSpPr>
                  <a:cxnSpLocks/>
                  <a:stCxn id="61" idx="2"/>
                </p:cNvCxnSpPr>
                <p:nvPr/>
              </p:nvCxnSpPr>
              <p:spPr>
                <a:xfrm>
                  <a:off x="2568700" y="3314504"/>
                  <a:ext cx="25504" cy="238720"/>
                </a:xfrm>
                <a:prstGeom prst="line">
                  <a:avLst/>
                </a:prstGeom>
                <a:ln w="19050"/>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A8C89C2E-390C-3CC5-3DDC-5609E5EA3EF9}"/>
                    </a:ext>
                  </a:extLst>
                </p:cNvPr>
                <p:cNvCxnSpPr>
                  <a:cxnSpLocks/>
                </p:cNvCxnSpPr>
                <p:nvPr/>
              </p:nvCxnSpPr>
              <p:spPr>
                <a:xfrm>
                  <a:off x="3322703" y="3114479"/>
                  <a:ext cx="56515" cy="197739"/>
                </a:xfrm>
                <a:prstGeom prst="line">
                  <a:avLst/>
                </a:prstGeom>
                <a:ln w="19050"/>
              </p:spPr>
              <p:style>
                <a:lnRef idx="1">
                  <a:schemeClr val="dk1"/>
                </a:lnRef>
                <a:fillRef idx="0">
                  <a:schemeClr val="dk1"/>
                </a:fillRef>
                <a:effectRef idx="0">
                  <a:schemeClr val="dk1"/>
                </a:effectRef>
                <a:fontRef idx="minor">
                  <a:schemeClr val="tx1"/>
                </a:fontRef>
              </p:style>
            </p:cxnSp>
            <p:cxnSp>
              <p:nvCxnSpPr>
                <p:cNvPr id="77" name="Straight Connector 76">
                  <a:extLst>
                    <a:ext uri="{FF2B5EF4-FFF2-40B4-BE49-F238E27FC236}">
                      <a16:creationId xmlns:a16="http://schemas.microsoft.com/office/drawing/2014/main" id="{4530AFB3-B1BA-61A0-F7AC-FF3235CA2636}"/>
                    </a:ext>
                  </a:extLst>
                </p:cNvPr>
                <p:cNvCxnSpPr>
                  <a:cxnSpLocks/>
                  <a:endCxn id="81" idx="1"/>
                </p:cNvCxnSpPr>
                <p:nvPr/>
              </p:nvCxnSpPr>
              <p:spPr>
                <a:xfrm>
                  <a:off x="3493865" y="2960231"/>
                  <a:ext cx="156419" cy="50554"/>
                </a:xfrm>
                <a:prstGeom prst="line">
                  <a:avLst/>
                </a:prstGeom>
                <a:ln w="19050"/>
              </p:spPr>
              <p:style>
                <a:lnRef idx="1">
                  <a:schemeClr val="dk1"/>
                </a:lnRef>
                <a:fillRef idx="0">
                  <a:schemeClr val="dk1"/>
                </a:fillRef>
                <a:effectRef idx="0">
                  <a:schemeClr val="dk1"/>
                </a:effectRef>
                <a:fontRef idx="minor">
                  <a:schemeClr val="tx1"/>
                </a:fontRef>
              </p:style>
            </p:cxnSp>
            <p:grpSp>
              <p:nvGrpSpPr>
                <p:cNvPr id="78" name="Group 77">
                  <a:extLst>
                    <a:ext uri="{FF2B5EF4-FFF2-40B4-BE49-F238E27FC236}">
                      <a16:creationId xmlns:a16="http://schemas.microsoft.com/office/drawing/2014/main" id="{AA5B8540-BC0D-14A5-9429-DDF8B8099F59}"/>
                    </a:ext>
                  </a:extLst>
                </p:cNvPr>
                <p:cNvGrpSpPr/>
                <p:nvPr/>
              </p:nvGrpSpPr>
              <p:grpSpPr>
                <a:xfrm>
                  <a:off x="1053941" y="4299866"/>
                  <a:ext cx="177064" cy="77724"/>
                  <a:chOff x="1053941" y="4299866"/>
                  <a:chExt cx="177064" cy="77724"/>
                </a:xfrm>
              </p:grpSpPr>
              <p:sp>
                <p:nvSpPr>
                  <p:cNvPr id="79" name="Oval 78">
                    <a:extLst>
                      <a:ext uri="{FF2B5EF4-FFF2-40B4-BE49-F238E27FC236}">
                        <a16:creationId xmlns:a16="http://schemas.microsoft.com/office/drawing/2014/main" id="{8844E858-8552-A666-7ED0-BB5BDD92741F}"/>
                      </a:ext>
                    </a:extLst>
                  </p:cNvPr>
                  <p:cNvSpPr/>
                  <p:nvPr/>
                </p:nvSpPr>
                <p:spPr>
                  <a:xfrm rot="16200000">
                    <a:off x="1153281" y="4299866"/>
                    <a:ext cx="77724" cy="77724"/>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Oval 79">
                    <a:extLst>
                      <a:ext uri="{FF2B5EF4-FFF2-40B4-BE49-F238E27FC236}">
                        <a16:creationId xmlns:a16="http://schemas.microsoft.com/office/drawing/2014/main" id="{2703703C-E475-3441-5F7E-1EC5FA7A4A4F}"/>
                      </a:ext>
                    </a:extLst>
                  </p:cNvPr>
                  <p:cNvSpPr/>
                  <p:nvPr/>
                </p:nvSpPr>
                <p:spPr>
                  <a:xfrm rot="16200000">
                    <a:off x="1053941" y="4299866"/>
                    <a:ext cx="77724" cy="77724"/>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grpSp>
        <p:nvGrpSpPr>
          <p:cNvPr id="16" name="Group 15" descr="Legend for the map">
            <a:extLst>
              <a:ext uri="{FF2B5EF4-FFF2-40B4-BE49-F238E27FC236}">
                <a16:creationId xmlns:a16="http://schemas.microsoft.com/office/drawing/2014/main" id="{10FC0459-EED6-C28B-80DD-635CDD3F22B7}"/>
              </a:ext>
            </a:extLst>
          </p:cNvPr>
          <p:cNvGrpSpPr/>
          <p:nvPr/>
        </p:nvGrpSpPr>
        <p:grpSpPr>
          <a:xfrm>
            <a:off x="343050" y="4525341"/>
            <a:ext cx="6044495" cy="1590392"/>
            <a:chOff x="-12550" y="5287341"/>
            <a:chExt cx="6044495" cy="1590392"/>
          </a:xfrm>
        </p:grpSpPr>
        <p:pic>
          <p:nvPicPr>
            <p:cNvPr id="17" name="Graphic 16" descr="Security camera with solid fill">
              <a:extLst>
                <a:ext uri="{FF2B5EF4-FFF2-40B4-BE49-F238E27FC236}">
                  <a16:creationId xmlns:a16="http://schemas.microsoft.com/office/drawing/2014/main" id="{B9F23410-E03F-ADD0-5632-A8A1C5C2A7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46596" y="6554152"/>
              <a:ext cx="244603" cy="244603"/>
            </a:xfrm>
            <a:prstGeom prst="rect">
              <a:avLst/>
            </a:prstGeom>
          </p:spPr>
        </p:pic>
        <p:sp>
          <p:nvSpPr>
            <p:cNvPr id="18" name="TextBox 17">
              <a:extLst>
                <a:ext uri="{FF2B5EF4-FFF2-40B4-BE49-F238E27FC236}">
                  <a16:creationId xmlns:a16="http://schemas.microsoft.com/office/drawing/2014/main" id="{93149DEF-A700-B9EB-1471-774266321218}"/>
                </a:ext>
              </a:extLst>
            </p:cNvPr>
            <p:cNvSpPr txBox="1"/>
            <p:nvPr/>
          </p:nvSpPr>
          <p:spPr>
            <a:xfrm>
              <a:off x="453582" y="5308073"/>
              <a:ext cx="5578363"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 Software that runs the </a:t>
              </a:r>
              <a:r>
                <a:rPr kumimoji="0" lang="en-US" sz="1200" b="1" i="0" u="none" strike="noStrike" kern="1200" cap="none" spc="0" normalizeH="0" baseline="0" noProof="0">
                  <a:ln>
                    <a:noFill/>
                  </a:ln>
                  <a:solidFill>
                    <a:prstClr val="black"/>
                  </a:solidFill>
                  <a:effectLst/>
                  <a:uLnTx/>
                  <a:uFillTx/>
                  <a:latin typeface="Consolas" panose="020B0609020204030204" pitchFamily="49" charset="0"/>
                  <a:ea typeface="+mn-ea"/>
                  <a:cs typeface="+mn-cs"/>
                </a:rPr>
                <a:t>user</a:t>
              </a: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 </a:t>
              </a:r>
              <a:b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  </a:t>
              </a:r>
              <a:r>
                <a:rPr kumimoji="0" lang="en-US" sz="1200" b="1" i="0" u="none" strike="noStrike" kern="1200" cap="none" spc="0" normalizeH="0" baseline="0" noProof="0">
                  <a:ln>
                    <a:noFill/>
                  </a:ln>
                  <a:solidFill>
                    <a:prstClr val="black"/>
                  </a:solidFill>
                  <a:effectLst/>
                  <a:uLnTx/>
                  <a:uFillTx/>
                  <a:latin typeface="Consolas" panose="020B0609020204030204" pitchFamily="49" charset="0"/>
                  <a:ea typeface="+mn-ea"/>
                  <a:cs typeface="+mn-cs"/>
                </a:rPr>
                <a:t>interface</a:t>
              </a: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 (it can be a web server)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 Software that runs the </a:t>
              </a:r>
              <a:r>
                <a:rPr kumimoji="0" lang="en-US" sz="1200" b="1" i="0" u="none" strike="noStrike" kern="1200" cap="none" spc="0" normalizeH="0" baseline="0" noProof="0">
                  <a:ln>
                    <a:noFill/>
                  </a:ln>
                  <a:solidFill>
                    <a:prstClr val="black"/>
                  </a:solidFill>
                  <a:effectLst/>
                  <a:uLnTx/>
                  <a:uFillTx/>
                  <a:latin typeface="Consolas" panose="020B0609020204030204" pitchFamily="49" charset="0"/>
                  <a:ea typeface="+mn-ea"/>
                  <a:cs typeface="+mn-cs"/>
                </a:rPr>
                <a:t>inference</a:t>
              </a: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 </a:t>
              </a:r>
              <a:b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  and interacts with the model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 Large language model (LLM); can be Open Source (OS)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 Conversation reused for future trainings </a:t>
              </a:r>
              <a:b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  (unless you opt out)</a:t>
              </a:r>
              <a:b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 Prompts and output stored for 30 days for abuse monitoring</a:t>
              </a:r>
            </a:p>
          </p:txBody>
        </p:sp>
        <p:pic>
          <p:nvPicPr>
            <p:cNvPr id="19" name="Graphic 18" descr="Security camera with solid fill">
              <a:extLst>
                <a:ext uri="{FF2B5EF4-FFF2-40B4-BE49-F238E27FC236}">
                  <a16:creationId xmlns:a16="http://schemas.microsoft.com/office/drawing/2014/main" id="{DC3C0571-B74C-DECC-D40C-316CD07525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6596" y="6260855"/>
              <a:ext cx="244603" cy="244603"/>
            </a:xfrm>
            <a:prstGeom prst="rect">
              <a:avLst/>
            </a:prstGeom>
          </p:spPr>
        </p:pic>
        <p:pic>
          <p:nvPicPr>
            <p:cNvPr id="20" name="Picture 2" descr="Neural Network Icon Images – Browse 52,520 Stock Photos ...">
              <a:extLst>
                <a:ext uri="{FF2B5EF4-FFF2-40B4-BE49-F238E27FC236}">
                  <a16:creationId xmlns:a16="http://schemas.microsoft.com/office/drawing/2014/main" id="{8F65A3AB-CC78-2B85-3343-8704FD6DFB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765" y="6078725"/>
              <a:ext cx="210265" cy="174013"/>
            </a:xfrm>
            <a:prstGeom prst="rect">
              <a:avLst/>
            </a:prstGeom>
            <a:noFill/>
            <a:extLst>
              <a:ext uri="{909E8E84-426E-40DD-AFC4-6F175D3DCCD1}">
                <a14:hiddenFill xmlns:a14="http://schemas.microsoft.com/office/drawing/2010/main">
                  <a:solidFill>
                    <a:srgbClr val="FFFFFF"/>
                  </a:solidFill>
                </a14:hiddenFill>
              </a:ext>
            </a:extLst>
          </p:spPr>
        </p:pic>
        <p:pic>
          <p:nvPicPr>
            <p:cNvPr id="21" name="Graphic 20" descr="Web design with solid fill">
              <a:extLst>
                <a:ext uri="{FF2B5EF4-FFF2-40B4-BE49-F238E27FC236}">
                  <a16:creationId xmlns:a16="http://schemas.microsoft.com/office/drawing/2014/main" id="{E8178503-580E-744C-4F86-FAB9D936D1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4820" y="5662005"/>
              <a:ext cx="248154" cy="248154"/>
            </a:xfrm>
            <a:prstGeom prst="rect">
              <a:avLst/>
            </a:prstGeom>
          </p:spPr>
        </p:pic>
        <p:grpSp>
          <p:nvGrpSpPr>
            <p:cNvPr id="22" name="Group 21">
              <a:extLst>
                <a:ext uri="{FF2B5EF4-FFF2-40B4-BE49-F238E27FC236}">
                  <a16:creationId xmlns:a16="http://schemas.microsoft.com/office/drawing/2014/main" id="{AC061E9D-FC0B-917E-33ED-2FCE4688C77C}"/>
                </a:ext>
              </a:extLst>
            </p:cNvPr>
            <p:cNvGrpSpPr/>
            <p:nvPr/>
          </p:nvGrpSpPr>
          <p:grpSpPr>
            <a:xfrm>
              <a:off x="-12550" y="5287341"/>
              <a:ext cx="562895" cy="256542"/>
              <a:chOff x="-12550" y="5287341"/>
              <a:chExt cx="562895" cy="256542"/>
            </a:xfrm>
          </p:grpSpPr>
          <p:pic>
            <p:nvPicPr>
              <p:cNvPr id="23" name="Graphic 22" descr="Browser window with solid fill">
                <a:extLst>
                  <a:ext uri="{FF2B5EF4-FFF2-40B4-BE49-F238E27FC236}">
                    <a16:creationId xmlns:a16="http://schemas.microsoft.com/office/drawing/2014/main" id="{A55A4CFE-0F65-B180-3F65-A6E8B886D5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2550" y="5300848"/>
                <a:ext cx="229529" cy="229529"/>
              </a:xfrm>
              <a:prstGeom prst="rect">
                <a:avLst/>
              </a:prstGeom>
            </p:spPr>
          </p:pic>
          <p:pic>
            <p:nvPicPr>
              <p:cNvPr id="24" name="Graphic 23" descr="Server with solid fill">
                <a:extLst>
                  <a:ext uri="{FF2B5EF4-FFF2-40B4-BE49-F238E27FC236}">
                    <a16:creationId xmlns:a16="http://schemas.microsoft.com/office/drawing/2014/main" id="{43773430-FDAC-AB9C-7834-B0102B1DE4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93803" y="5287341"/>
                <a:ext cx="256542" cy="256542"/>
              </a:xfrm>
              <a:prstGeom prst="rect">
                <a:avLst/>
              </a:prstGeom>
            </p:spPr>
          </p:pic>
        </p:grpSp>
      </p:grpSp>
      <p:grpSp>
        <p:nvGrpSpPr>
          <p:cNvPr id="83" name="Group 82" descr="Levels of information classification at Aalto">
            <a:extLst>
              <a:ext uri="{FF2B5EF4-FFF2-40B4-BE49-F238E27FC236}">
                <a16:creationId xmlns:a16="http://schemas.microsoft.com/office/drawing/2014/main" id="{B065992D-1DCE-C4F7-4525-F8CD5AE0908F}"/>
              </a:ext>
            </a:extLst>
          </p:cNvPr>
          <p:cNvGrpSpPr/>
          <p:nvPr/>
        </p:nvGrpSpPr>
        <p:grpSpPr>
          <a:xfrm>
            <a:off x="10776520" y="5284736"/>
            <a:ext cx="1841562" cy="830997"/>
            <a:chOff x="10952564" y="6017132"/>
            <a:chExt cx="1841562" cy="830997"/>
          </a:xfrm>
        </p:grpSpPr>
        <p:grpSp>
          <p:nvGrpSpPr>
            <p:cNvPr id="84" name="Group 83">
              <a:extLst>
                <a:ext uri="{FF2B5EF4-FFF2-40B4-BE49-F238E27FC236}">
                  <a16:creationId xmlns:a16="http://schemas.microsoft.com/office/drawing/2014/main" id="{29599F0F-340C-E97D-EBC3-1607FED3D418}"/>
                </a:ext>
              </a:extLst>
            </p:cNvPr>
            <p:cNvGrpSpPr/>
            <p:nvPr/>
          </p:nvGrpSpPr>
          <p:grpSpPr>
            <a:xfrm>
              <a:off x="10952564" y="6087783"/>
              <a:ext cx="144972" cy="700845"/>
              <a:chOff x="10952564" y="6087783"/>
              <a:chExt cx="144972" cy="700845"/>
            </a:xfrm>
          </p:grpSpPr>
          <p:sp>
            <p:nvSpPr>
              <p:cNvPr id="86" name="Oval 85">
                <a:extLst>
                  <a:ext uri="{FF2B5EF4-FFF2-40B4-BE49-F238E27FC236}">
                    <a16:creationId xmlns:a16="http://schemas.microsoft.com/office/drawing/2014/main" id="{7524998B-1BC9-1D2D-B56C-80AD9D47E452}"/>
                  </a:ext>
                </a:extLst>
              </p:cNvPr>
              <p:cNvSpPr/>
              <p:nvPr/>
            </p:nvSpPr>
            <p:spPr>
              <a:xfrm>
                <a:off x="10952564" y="6273074"/>
                <a:ext cx="144972" cy="144972"/>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Oval 86">
                <a:extLst>
                  <a:ext uri="{FF2B5EF4-FFF2-40B4-BE49-F238E27FC236}">
                    <a16:creationId xmlns:a16="http://schemas.microsoft.com/office/drawing/2014/main" id="{4F13CF44-E96C-C50C-3E3F-F36D0CFD66B4}"/>
                  </a:ext>
                </a:extLst>
              </p:cNvPr>
              <p:cNvSpPr/>
              <p:nvPr/>
            </p:nvSpPr>
            <p:spPr>
              <a:xfrm>
                <a:off x="10952564" y="6458365"/>
                <a:ext cx="144972" cy="14497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Oval 87">
                <a:extLst>
                  <a:ext uri="{FF2B5EF4-FFF2-40B4-BE49-F238E27FC236}">
                    <a16:creationId xmlns:a16="http://schemas.microsoft.com/office/drawing/2014/main" id="{E1D85F28-FD09-BFB0-7097-C582E0208073}"/>
                  </a:ext>
                </a:extLst>
              </p:cNvPr>
              <p:cNvSpPr/>
              <p:nvPr/>
            </p:nvSpPr>
            <p:spPr>
              <a:xfrm>
                <a:off x="10952564" y="6643656"/>
                <a:ext cx="144972" cy="144972"/>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97E7C92D-0A80-1808-8AC3-189752FF295A}"/>
                  </a:ext>
                </a:extLst>
              </p:cNvPr>
              <p:cNvSpPr/>
              <p:nvPr/>
            </p:nvSpPr>
            <p:spPr>
              <a:xfrm>
                <a:off x="10952564" y="6087783"/>
                <a:ext cx="144972" cy="144972"/>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i-FI"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5" name="TextBox 84">
              <a:extLst>
                <a:ext uri="{FF2B5EF4-FFF2-40B4-BE49-F238E27FC236}">
                  <a16:creationId xmlns:a16="http://schemas.microsoft.com/office/drawing/2014/main" id="{52FF4BF9-71B4-66F7-7520-3B124F2DA738}"/>
                </a:ext>
              </a:extLst>
            </p:cNvPr>
            <p:cNvSpPr txBox="1"/>
            <p:nvPr/>
          </p:nvSpPr>
          <p:spPr>
            <a:xfrm>
              <a:off x="11048182" y="6017132"/>
              <a:ext cx="17459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Public</a:t>
              </a:r>
              <a:b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Internal</a:t>
              </a:r>
              <a:b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Confidential</a:t>
              </a:r>
              <a:b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br>
              <a:r>
                <a:rPr kumimoji="0" lang="en-US" sz="1200" b="0" i="0" u="none" strike="noStrike" kern="1200" cap="none" spc="0" normalizeH="0" baseline="0" noProof="0">
                  <a:ln>
                    <a:noFill/>
                  </a:ln>
                  <a:solidFill>
                    <a:prstClr val="black"/>
                  </a:solidFill>
                  <a:effectLst/>
                  <a:uLnTx/>
                  <a:uFillTx/>
                  <a:latin typeface="Consolas" panose="020B0609020204030204" pitchFamily="49" charset="0"/>
                  <a:ea typeface="+mn-ea"/>
                  <a:cs typeface="+mn-cs"/>
                </a:rPr>
                <a:t>Secret</a:t>
              </a:r>
            </a:p>
          </p:txBody>
        </p:sp>
      </p:grpSp>
      <p:sp>
        <p:nvSpPr>
          <p:cNvPr id="3" name="Date Placeholder 2">
            <a:extLst>
              <a:ext uri="{FF2B5EF4-FFF2-40B4-BE49-F238E27FC236}">
                <a16:creationId xmlns:a16="http://schemas.microsoft.com/office/drawing/2014/main" id="{342D6278-240A-0BAE-EAFC-66F6C5A854B3}"/>
              </a:ext>
            </a:extLst>
          </p:cNvPr>
          <p:cNvSpPr>
            <a:spLocks noGrp="1"/>
          </p:cNvSpPr>
          <p:nvPr>
            <p:ph type="dt" sz="half"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Footer Placeholder 3">
            <a:extLst>
              <a:ext uri="{FF2B5EF4-FFF2-40B4-BE49-F238E27FC236}">
                <a16:creationId xmlns:a16="http://schemas.microsoft.com/office/drawing/2014/main" id="{949E3583-52D6-6CF9-2730-3EFF646CF1AA}"/>
              </a:ext>
            </a:extLst>
          </p:cNvPr>
          <p:cNvSpPr>
            <a:spLocks noGrp="1"/>
          </p:cNvSpPr>
          <p:nvPr>
            <p:ph type="ftr"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7" name="Graphic 6" descr="Conductor female with solid fill">
            <a:extLst>
              <a:ext uri="{FF2B5EF4-FFF2-40B4-BE49-F238E27FC236}">
                <a16:creationId xmlns:a16="http://schemas.microsoft.com/office/drawing/2014/main" id="{AB50A811-7F63-CED1-9712-1EBFDFF0E56F}"/>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9254843" y="1890324"/>
            <a:ext cx="508208" cy="508208"/>
          </a:xfrm>
          <a:prstGeom prst="rect">
            <a:avLst/>
          </a:prstGeom>
        </p:spPr>
      </p:pic>
      <p:pic>
        <p:nvPicPr>
          <p:cNvPr id="10" name="Graphic 9" descr="Tools with solid fill">
            <a:extLst>
              <a:ext uri="{FF2B5EF4-FFF2-40B4-BE49-F238E27FC236}">
                <a16:creationId xmlns:a16="http://schemas.microsoft.com/office/drawing/2014/main" id="{F9B69956-F306-C3F4-F58D-8A915C072AE5}"/>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10030294" y="2406292"/>
            <a:ext cx="373368" cy="373368"/>
          </a:xfrm>
          <a:prstGeom prst="rect">
            <a:avLst/>
          </a:prstGeom>
        </p:spPr>
      </p:pic>
    </p:spTree>
    <p:extLst>
      <p:ext uri="{BB962C8B-B14F-4D97-AF65-F5344CB8AC3E}">
        <p14:creationId xmlns:p14="http://schemas.microsoft.com/office/powerpoint/2010/main" val="29627173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41406-BEB4-2A1C-275A-9562BF7DF07F}"/>
              </a:ext>
            </a:extLst>
          </p:cNvPr>
          <p:cNvSpPr>
            <a:spLocks noGrp="1"/>
          </p:cNvSpPr>
          <p:nvPr>
            <p:ph type="title"/>
          </p:nvPr>
        </p:nvSpPr>
        <p:spPr/>
        <p:txBody>
          <a:bodyPr/>
          <a:lstStyle/>
          <a:p>
            <a:r>
              <a:rPr lang="en-FI"/>
              <a:t>Tool calls, harnesses, claws, model context protocol…</a:t>
            </a:r>
          </a:p>
        </p:txBody>
      </p:sp>
      <p:sp>
        <p:nvSpPr>
          <p:cNvPr id="3" name="Text Placeholder 2">
            <a:extLst>
              <a:ext uri="{FF2B5EF4-FFF2-40B4-BE49-F238E27FC236}">
                <a16:creationId xmlns:a16="http://schemas.microsoft.com/office/drawing/2014/main" id="{508D486C-D5B3-178E-FADF-5E11EC438D3B}"/>
              </a:ext>
            </a:extLst>
          </p:cNvPr>
          <p:cNvSpPr>
            <a:spLocks noGrp="1"/>
          </p:cNvSpPr>
          <p:nvPr>
            <p:ph type="body" sz="quarter" idx="13"/>
          </p:nvPr>
        </p:nvSpPr>
        <p:spPr>
          <a:xfrm>
            <a:off x="1055688" y="2125029"/>
            <a:ext cx="10080625" cy="3671886"/>
          </a:xfrm>
        </p:spPr>
        <p:txBody>
          <a:bodyPr/>
          <a:lstStyle/>
          <a:p>
            <a:pPr marL="457200" indent="-457200">
              <a:buFont typeface="Arial" panose="020B0604020202020204" pitchFamily="34" charset="0"/>
              <a:buChar char="•"/>
            </a:pPr>
            <a:r>
              <a:rPr lang="en-FI"/>
              <a:t>An </a:t>
            </a:r>
            <a:r>
              <a:rPr lang="en-FI" b="1" i="1"/>
              <a:t>orchestrator</a:t>
            </a:r>
            <a:r>
              <a:rPr lang="en-FI" b="1"/>
              <a:t> </a:t>
            </a:r>
            <a:r>
              <a:rPr lang="en-FI"/>
              <a:t>(which could be a</a:t>
            </a:r>
            <a:r>
              <a:rPr lang="en-FI">
                <a:hlinkClick r:id="rId2"/>
              </a:rPr>
              <a:t> simple loop</a:t>
            </a:r>
            <a:r>
              <a:rPr lang="en-FI"/>
              <a:t>) routes the prompt + context to the LLM and depending on the context or model response it can call </a:t>
            </a:r>
            <a:r>
              <a:rPr lang="en-FI" b="1" i="1"/>
              <a:t>tools</a:t>
            </a:r>
            <a:r>
              <a:rPr lang="en-FI" b="1"/>
              <a:t>: </a:t>
            </a:r>
            <a:r>
              <a:rPr lang="en-FI"/>
              <a:t>a python interpreter, a web search, a local app, read/write files, any other API that is defined with </a:t>
            </a:r>
            <a:r>
              <a:rPr lang="en-FI" b="1"/>
              <a:t>Model Context Protocol</a:t>
            </a:r>
          </a:p>
          <a:p>
            <a:pPr marL="457200" indent="-457200">
              <a:buFont typeface="Arial" panose="020B0604020202020204" pitchFamily="34" charset="0"/>
              <a:buChar char="•"/>
            </a:pPr>
            <a:r>
              <a:rPr lang="en-FI"/>
              <a:t>This can sometimes prevent hallucinations since newer data or right answer (the famous “how many Rs in strawberry” works if python is used to count the “Rs”)</a:t>
            </a:r>
          </a:p>
          <a:p>
            <a:pPr marL="457200" indent="-457200">
              <a:buFont typeface="Arial" panose="020B0604020202020204" pitchFamily="34" charset="0"/>
              <a:buChar char="•"/>
            </a:pPr>
            <a:r>
              <a:rPr lang="en-FI"/>
              <a:t>This also suffers from prompt injection (</a:t>
            </a:r>
            <a:r>
              <a:rPr lang="en-FI">
                <a:hlinkClick r:id="rId3"/>
              </a:rPr>
              <a:t>Nature, 2026</a:t>
            </a:r>
            <a:r>
              <a:rPr lang="en-FI"/>
              <a:t>)</a:t>
            </a:r>
          </a:p>
          <a:p>
            <a:endParaRPr lang="en-FI" b="1" i="1"/>
          </a:p>
        </p:txBody>
      </p:sp>
      <p:sp>
        <p:nvSpPr>
          <p:cNvPr id="4" name="Date Placeholder 3">
            <a:extLst>
              <a:ext uri="{FF2B5EF4-FFF2-40B4-BE49-F238E27FC236}">
                <a16:creationId xmlns:a16="http://schemas.microsoft.com/office/drawing/2014/main" id="{E611E1FE-818A-3DCA-7ADE-DA0EC43B8E1C}"/>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C5045662-E664-F742-0C29-7C2EDC3246A2}"/>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3C236E81-E6D9-66F9-03A2-6B53946ECB1B}"/>
              </a:ext>
            </a:extLst>
          </p:cNvPr>
          <p:cNvSpPr>
            <a:spLocks noGrp="1"/>
          </p:cNvSpPr>
          <p:nvPr>
            <p:ph type="sldNum" sz="quarter" idx="16"/>
          </p:nvPr>
        </p:nvSpPr>
        <p:spPr/>
        <p:txBody>
          <a:bodyPr/>
          <a:lstStyle/>
          <a:p>
            <a:fld id="{D701140D-C14F-41CA-99FC-0EF83E8DA40A}" type="slidenum">
              <a:rPr lang="fi-FI" smtClean="0"/>
              <a:pPr/>
              <a:t>94</a:t>
            </a:fld>
            <a:endParaRPr lang="fi-FI"/>
          </a:p>
        </p:txBody>
      </p:sp>
    </p:spTree>
    <p:extLst>
      <p:ext uri="{BB962C8B-B14F-4D97-AF65-F5344CB8AC3E}">
        <p14:creationId xmlns:p14="http://schemas.microsoft.com/office/powerpoint/2010/main" val="8335973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9363BA-CEB3-F6A8-C0CE-419CC37F4A97}"/>
              </a:ext>
            </a:extLst>
          </p:cNvPr>
          <p:cNvSpPr>
            <a:spLocks noGrp="1"/>
          </p:cNvSpPr>
          <p:nvPr>
            <p:ph type="title"/>
          </p:nvPr>
        </p:nvSpPr>
        <p:spPr/>
        <p:txBody>
          <a:bodyPr/>
          <a:lstStyle/>
          <a:p>
            <a:r>
              <a:rPr lang="en-US"/>
              <a:t>7. Conclusions and references</a:t>
            </a:r>
          </a:p>
        </p:txBody>
      </p:sp>
      <p:pic>
        <p:nvPicPr>
          <p:cNvPr id="8" name="Picture Placeholder 5" descr="Illustration of a person sitting at a desk, surrounded by books, scrolls, and digital tablets. Above them, floating icons of books, quills, and eyeglasses form a cloud. A guiding hand reaches out from the cloud, pointing towards a book labeled 'Essential Reads' as a suggested reference.">
            <a:extLst>
              <a:ext uri="{FF2B5EF4-FFF2-40B4-BE49-F238E27FC236}">
                <a16:creationId xmlns:a16="http://schemas.microsoft.com/office/drawing/2014/main" id="{113C3D65-21D2-BCF2-DCBA-2DF881928C1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5556" r="5556"/>
          <a:stretch>
            <a:fillRect/>
          </a:stretch>
        </p:blipFill>
        <p:spPr>
          <a:xfrm>
            <a:off x="6096000" y="0"/>
            <a:ext cx="6096000" cy="6858000"/>
          </a:xfrm>
        </p:spPr>
      </p:pic>
      <p:sp>
        <p:nvSpPr>
          <p:cNvPr id="4" name="Slide Number Placeholder 3">
            <a:extLst>
              <a:ext uri="{FF2B5EF4-FFF2-40B4-BE49-F238E27FC236}">
                <a16:creationId xmlns:a16="http://schemas.microsoft.com/office/drawing/2014/main" id="{A6250ED4-D8ED-78B2-B4DC-86CCDE01EEE1}"/>
              </a:ext>
              <a:ext uri="{C183D7F6-B498-43B3-948B-1728B52AA6E4}">
                <adec:decorative xmlns:adec="http://schemas.microsoft.com/office/drawing/2017/decorative" val="1"/>
              </a:ext>
            </a:extLst>
          </p:cNvPr>
          <p:cNvSpPr>
            <a:spLocks noGrp="1"/>
          </p:cNvSpPr>
          <p:nvPr>
            <p:ph type="sldNum" sz="quarter" idx="16"/>
          </p:nvPr>
        </p:nvSpPr>
        <p:spPr/>
        <p:txBody>
          <a:bodyPr/>
          <a:lstStyle/>
          <a:p>
            <a:fld id="{D701140D-C14F-41CA-99FC-0EF83E8DA40A}" type="slidenum">
              <a:rPr lang="fi-FI" smtClean="0"/>
              <a:pPr/>
              <a:t>95</a:t>
            </a:fld>
            <a:endParaRPr lang="fi-FI"/>
          </a:p>
        </p:txBody>
      </p:sp>
      <p:sp>
        <p:nvSpPr>
          <p:cNvPr id="2" name="Date Placeholder 1">
            <a:extLst>
              <a:ext uri="{FF2B5EF4-FFF2-40B4-BE49-F238E27FC236}">
                <a16:creationId xmlns:a16="http://schemas.microsoft.com/office/drawing/2014/main" id="{73D2F08E-F8A2-6ACD-95AA-DAEFE6C3D9A0}"/>
              </a:ext>
            </a:extLst>
          </p:cNvPr>
          <p:cNvSpPr>
            <a:spLocks noGrp="1"/>
          </p:cNvSpPr>
          <p:nvPr>
            <p:ph type="dt" sz="half" idx="17"/>
          </p:nvPr>
        </p:nvSpPr>
        <p:spPr/>
        <p:txBody>
          <a:bodyPr/>
          <a:lstStyle/>
          <a:p>
            <a:r>
              <a:rPr lang="fi-FI"/>
              <a:t>28.04.2026</a:t>
            </a:r>
          </a:p>
        </p:txBody>
      </p:sp>
      <p:sp>
        <p:nvSpPr>
          <p:cNvPr id="5" name="Footer Placeholder 4">
            <a:extLst>
              <a:ext uri="{FF2B5EF4-FFF2-40B4-BE49-F238E27FC236}">
                <a16:creationId xmlns:a16="http://schemas.microsoft.com/office/drawing/2014/main" id="{B21AC8AA-7FC3-3886-B110-3236D21984A6}"/>
              </a:ext>
            </a:extLst>
          </p:cNvPr>
          <p:cNvSpPr>
            <a:spLocks noGrp="1"/>
          </p:cNvSpPr>
          <p:nvPr>
            <p:ph type="ftr" sz="quarter" idx="18"/>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4430582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D7742-9FDC-1EE3-D2D9-6C07E93E660C}"/>
              </a:ext>
            </a:extLst>
          </p:cNvPr>
          <p:cNvSpPr>
            <a:spLocks noGrp="1"/>
          </p:cNvSpPr>
          <p:nvPr>
            <p:ph type="title"/>
          </p:nvPr>
        </p:nvSpPr>
        <p:spPr/>
        <p:txBody>
          <a:bodyPr/>
          <a:lstStyle/>
          <a:p>
            <a:r>
              <a:rPr lang="en-US"/>
              <a:t>Take home message</a:t>
            </a:r>
          </a:p>
        </p:txBody>
      </p:sp>
      <p:sp>
        <p:nvSpPr>
          <p:cNvPr id="6" name="Text Placeholder 5">
            <a:extLst>
              <a:ext uri="{FF2B5EF4-FFF2-40B4-BE49-F238E27FC236}">
                <a16:creationId xmlns:a16="http://schemas.microsoft.com/office/drawing/2014/main" id="{C2FF985B-447F-2013-FDA9-094D529D24C7}"/>
              </a:ext>
            </a:extLst>
          </p:cNvPr>
          <p:cNvSpPr>
            <a:spLocks noGrp="1"/>
          </p:cNvSpPr>
          <p:nvPr>
            <p:ph type="body" sz="quarter" idx="13"/>
          </p:nvPr>
        </p:nvSpPr>
        <p:spPr/>
        <p:txBody>
          <a:bodyPr/>
          <a:lstStyle/>
          <a:p>
            <a:pPr marL="457200" indent="-457200" algn="l">
              <a:buFont typeface="Arial" panose="020B0604020202020204" pitchFamily="34" charset="0"/>
              <a:buChar char="•"/>
            </a:pPr>
            <a:r>
              <a:rPr lang="en-US" sz="2000" i="0">
                <a:solidFill>
                  <a:srgbClr val="222222"/>
                </a:solidFill>
                <a:effectLst/>
                <a:latin typeface="Arial" panose="020B0604020202020204" pitchFamily="34" charset="0"/>
              </a:rPr>
              <a:t>AI is a</a:t>
            </a:r>
            <a:r>
              <a:rPr lang="en-US" sz="2000" b="1" i="0">
                <a:solidFill>
                  <a:srgbClr val="222222"/>
                </a:solidFill>
                <a:effectLst/>
                <a:latin typeface="Arial" panose="020B0604020202020204" pitchFamily="34" charset="0"/>
              </a:rPr>
              <a:t> junior assistant</a:t>
            </a:r>
            <a:r>
              <a:rPr lang="en-US" sz="2000" b="0" i="0">
                <a:solidFill>
                  <a:srgbClr val="222222"/>
                </a:solidFill>
                <a:effectLst/>
                <a:latin typeface="Arial" panose="020B0604020202020204" pitchFamily="34" charset="0"/>
              </a:rPr>
              <a:t>: you don’t want to assign the most critical tasks to them, you want to </a:t>
            </a:r>
            <a:r>
              <a:rPr lang="en-US" sz="2000">
                <a:solidFill>
                  <a:srgbClr val="222222"/>
                </a:solidFill>
                <a:latin typeface="Arial" panose="020B0604020202020204" pitchFamily="34" charset="0"/>
              </a:rPr>
              <a:t>delegate</a:t>
            </a:r>
            <a:r>
              <a:rPr lang="en-US" sz="2000" b="0" i="0">
                <a:solidFill>
                  <a:srgbClr val="222222"/>
                </a:solidFill>
                <a:effectLst/>
                <a:latin typeface="Arial" panose="020B0604020202020204" pitchFamily="34" charset="0"/>
              </a:rPr>
              <a:t> </a:t>
            </a:r>
            <a:r>
              <a:rPr lang="en-US" sz="2000" b="1" i="0">
                <a:solidFill>
                  <a:srgbClr val="222222"/>
                </a:solidFill>
                <a:effectLst/>
                <a:latin typeface="Arial" panose="020B0604020202020204" pitchFamily="34" charset="0"/>
              </a:rPr>
              <a:t>tedious tasks</a:t>
            </a:r>
            <a:r>
              <a:rPr lang="en-US" sz="2000" b="0" i="0">
                <a:solidFill>
                  <a:srgbClr val="222222"/>
                </a:solidFill>
                <a:effectLst/>
                <a:latin typeface="Arial" panose="020B0604020202020204" pitchFamily="34" charset="0"/>
              </a:rPr>
              <a:t> where you are an expert so that it’s easy to verify the output or </a:t>
            </a:r>
            <a:r>
              <a:rPr lang="en-US" sz="2000" b="1" i="0">
                <a:solidFill>
                  <a:srgbClr val="222222"/>
                </a:solidFill>
                <a:effectLst/>
                <a:latin typeface="Arial" panose="020B0604020202020204" pitchFamily="34" charset="0"/>
              </a:rPr>
              <a:t>exploratory tasks</a:t>
            </a:r>
            <a:r>
              <a:rPr lang="en-US" sz="2000" b="0" i="0">
                <a:solidFill>
                  <a:srgbClr val="222222"/>
                </a:solidFill>
                <a:effectLst/>
                <a:latin typeface="Arial" panose="020B0604020202020204" pitchFamily="34" charset="0"/>
              </a:rPr>
              <a:t> for you to critically evaluate.</a:t>
            </a:r>
          </a:p>
          <a:p>
            <a:pPr marL="457200" indent="-457200" algn="l">
              <a:buFont typeface="Arial" panose="020B0604020202020204" pitchFamily="34" charset="0"/>
              <a:buChar char="•"/>
            </a:pPr>
            <a:r>
              <a:rPr lang="en-US" sz="2000" b="0" i="0">
                <a:solidFill>
                  <a:srgbClr val="222222"/>
                </a:solidFill>
                <a:effectLst/>
                <a:latin typeface="Arial" panose="020B0604020202020204" pitchFamily="34" charset="0"/>
              </a:rPr>
              <a:t>Autoregressive LLMs as they are today </a:t>
            </a:r>
            <a:r>
              <a:rPr lang="en-US" sz="2000" i="0">
                <a:solidFill>
                  <a:srgbClr val="222222"/>
                </a:solidFill>
                <a:effectLst/>
                <a:latin typeface="Arial" panose="020B0604020202020204" pitchFamily="34" charset="0"/>
              </a:rPr>
              <a:t>are</a:t>
            </a:r>
            <a:r>
              <a:rPr lang="en-US" sz="2000" b="1" i="0">
                <a:solidFill>
                  <a:srgbClr val="222222"/>
                </a:solidFill>
                <a:effectLst/>
                <a:latin typeface="Arial" panose="020B0604020202020204" pitchFamily="34" charset="0"/>
              </a:rPr>
              <a:t> not “intelligent”</a:t>
            </a:r>
            <a:r>
              <a:rPr lang="en-US" sz="2000" b="0" i="0">
                <a:solidFill>
                  <a:srgbClr val="222222"/>
                </a:solidFill>
                <a:effectLst/>
                <a:latin typeface="Arial" panose="020B0604020202020204" pitchFamily="34" charset="0"/>
              </a:rPr>
              <a:t>. They are great at generating an average of all the things they were exposed to…. and carry all the </a:t>
            </a:r>
            <a:r>
              <a:rPr lang="en-US" sz="2000" b="1" i="0">
                <a:solidFill>
                  <a:srgbClr val="222222"/>
                </a:solidFill>
                <a:effectLst/>
                <a:latin typeface="Arial" panose="020B0604020202020204" pitchFamily="34" charset="0"/>
              </a:rPr>
              <a:t>biases and errors from the past.</a:t>
            </a:r>
          </a:p>
          <a:p>
            <a:pPr marL="457200" indent="-457200" algn="l">
              <a:buFont typeface="Arial" panose="020B0604020202020204" pitchFamily="34" charset="0"/>
              <a:buChar char="•"/>
            </a:pPr>
            <a:r>
              <a:rPr lang="en-US" sz="2000" b="1" i="0">
                <a:solidFill>
                  <a:srgbClr val="222222"/>
                </a:solidFill>
                <a:effectLst/>
                <a:latin typeface="Arial" panose="020B0604020202020204" pitchFamily="34" charset="0"/>
              </a:rPr>
              <a:t>New models and new prompting techniques </a:t>
            </a:r>
            <a:r>
              <a:rPr lang="en-US" sz="2000" b="0" i="0">
                <a:solidFill>
                  <a:srgbClr val="222222"/>
                </a:solidFill>
                <a:effectLst/>
                <a:latin typeface="Arial" panose="020B0604020202020204" pitchFamily="34" charset="0"/>
              </a:rPr>
              <a:t>are being explored (e.g.</a:t>
            </a:r>
            <a:r>
              <a:rPr lang="en-US" sz="2000">
                <a:solidFill>
                  <a:srgbClr val="222222"/>
                </a:solidFill>
                <a:latin typeface="Arial" panose="020B0604020202020204" pitchFamily="34" charset="0"/>
              </a:rPr>
              <a:t> reasoning models, mixture of experts, integration with automation) to improve results and combine inference with live sources of data using </a:t>
            </a:r>
            <a:r>
              <a:rPr lang="en-US" sz="2000" b="1">
                <a:solidFill>
                  <a:srgbClr val="222222"/>
                </a:solidFill>
                <a:latin typeface="Arial" panose="020B0604020202020204" pitchFamily="34" charset="0"/>
              </a:rPr>
              <a:t>Agentic-AI/MCP.</a:t>
            </a:r>
            <a:r>
              <a:rPr lang="en-US" sz="2000">
                <a:solidFill>
                  <a:srgbClr val="222222"/>
                </a:solidFill>
                <a:latin typeface="Arial" panose="020B0604020202020204" pitchFamily="34" charset="0"/>
              </a:rPr>
              <a:t> Most likely we will see better results and less errors in the years to come… and most likely we will hear more news stories about privacy breaches and gen AI misuses.</a:t>
            </a:r>
            <a:endParaRPr lang="en-US" sz="2000" b="0" i="0">
              <a:solidFill>
                <a:srgbClr val="222222"/>
              </a:solidFill>
              <a:effectLst/>
              <a:latin typeface="Arial" panose="020B0604020202020204" pitchFamily="34" charset="0"/>
            </a:endParaRPr>
          </a:p>
        </p:txBody>
      </p:sp>
      <p:sp>
        <p:nvSpPr>
          <p:cNvPr id="7" name="Slide Number Placeholder 6">
            <a:extLst>
              <a:ext uri="{FF2B5EF4-FFF2-40B4-BE49-F238E27FC236}">
                <a16:creationId xmlns:a16="http://schemas.microsoft.com/office/drawing/2014/main" id="{99A19D74-9B39-C2D5-456A-F6AA84702BD1}"/>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96</a:t>
            </a:fld>
            <a:endParaRPr lang="fi-FI"/>
          </a:p>
        </p:txBody>
      </p:sp>
      <p:sp>
        <p:nvSpPr>
          <p:cNvPr id="3" name="Date Placeholder 2">
            <a:extLst>
              <a:ext uri="{FF2B5EF4-FFF2-40B4-BE49-F238E27FC236}">
                <a16:creationId xmlns:a16="http://schemas.microsoft.com/office/drawing/2014/main" id="{FADC43E8-31CC-1205-FB76-8770FDED164E}"/>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D67B7395-EFB7-EA86-5C42-D475578F22EF}"/>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5005679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B3294-6875-4281-53BF-C60DF9897F29}"/>
              </a:ext>
            </a:extLst>
          </p:cNvPr>
          <p:cNvSpPr>
            <a:spLocks noGrp="1"/>
          </p:cNvSpPr>
          <p:nvPr>
            <p:ph type="title"/>
          </p:nvPr>
        </p:nvSpPr>
        <p:spPr/>
        <p:txBody>
          <a:bodyPr/>
          <a:lstStyle/>
          <a:p>
            <a:r>
              <a:rPr lang="en-US"/>
              <a:t>Where to go from here?</a:t>
            </a:r>
          </a:p>
        </p:txBody>
      </p:sp>
      <p:sp>
        <p:nvSpPr>
          <p:cNvPr id="6" name="Text Placeholder 5">
            <a:extLst>
              <a:ext uri="{FF2B5EF4-FFF2-40B4-BE49-F238E27FC236}">
                <a16:creationId xmlns:a16="http://schemas.microsoft.com/office/drawing/2014/main" id="{2ACF6DAB-1A88-9A33-2F75-FF7E4910FF07}"/>
              </a:ext>
            </a:extLst>
          </p:cNvPr>
          <p:cNvSpPr>
            <a:spLocks noGrp="1"/>
          </p:cNvSpPr>
          <p:nvPr>
            <p:ph type="body" sz="quarter" idx="13"/>
          </p:nvPr>
        </p:nvSpPr>
        <p:spPr>
          <a:xfrm>
            <a:off x="1055688" y="1890708"/>
            <a:ext cx="10080625" cy="3671886"/>
          </a:xfrm>
        </p:spPr>
        <p:txBody>
          <a:bodyPr/>
          <a:lstStyle/>
          <a:p>
            <a:pPr marL="457200" indent="-457200" algn="l">
              <a:buFont typeface="Arial" panose="020B0604020202020204" pitchFamily="34" charset="0"/>
              <a:buChar char="•"/>
            </a:pPr>
            <a:endParaRPr lang="en-US" sz="2000" b="0">
              <a:solidFill>
                <a:srgbClr val="222222"/>
              </a:solidFill>
              <a:latin typeface="+mj-lt"/>
            </a:endParaRPr>
          </a:p>
          <a:p>
            <a:pPr marL="457200" indent="-457200" algn="l">
              <a:buFont typeface="Arial" panose="020B0604020202020204" pitchFamily="34" charset="0"/>
              <a:buChar char="•"/>
            </a:pPr>
            <a:r>
              <a:rPr lang="en-US" sz="2000" b="0">
                <a:solidFill>
                  <a:srgbClr val="222222"/>
                </a:solidFill>
                <a:latin typeface="+mj-lt"/>
              </a:rPr>
              <a:t>There are great </a:t>
            </a:r>
            <a:r>
              <a:rPr lang="en-US" sz="2000">
                <a:solidFill>
                  <a:srgbClr val="222222"/>
                </a:solidFill>
                <a:latin typeface="+mj-lt"/>
              </a:rPr>
              <a:t>resources for self learning</a:t>
            </a:r>
            <a:r>
              <a:rPr lang="en-US" sz="2000" b="0">
                <a:solidFill>
                  <a:srgbClr val="222222"/>
                </a:solidFill>
                <a:latin typeface="+mj-lt"/>
              </a:rPr>
              <a:t>, beware of scammers. A reliable list available at </a:t>
            </a:r>
            <a:r>
              <a:rPr lang="en-US" sz="2000" b="1">
                <a:latin typeface="+mj-lt"/>
                <a:hlinkClick r:id="rId2"/>
              </a:rPr>
              <a:t>this link</a:t>
            </a:r>
            <a:r>
              <a:rPr lang="en-US" sz="2000" b="1">
                <a:latin typeface="+mj-lt"/>
              </a:rPr>
              <a:t> </a:t>
            </a:r>
            <a:r>
              <a:rPr lang="en-FI" sz="2000">
                <a:latin typeface="+mj-lt"/>
              </a:rPr>
              <a:t> </a:t>
            </a:r>
          </a:p>
          <a:p>
            <a:pPr marL="457200" indent="-457200">
              <a:buFont typeface="Arial" panose="020B0604020202020204" pitchFamily="34" charset="0"/>
              <a:buChar char="•"/>
            </a:pPr>
            <a:r>
              <a:rPr lang="en-FI" sz="2000" b="0">
                <a:solidFill>
                  <a:srgbClr val="222222"/>
                </a:solidFill>
                <a:latin typeface="+mj-lt"/>
              </a:rPr>
              <a:t>Explore the </a:t>
            </a:r>
            <a:r>
              <a:rPr lang="en-FI" sz="2000" b="1">
                <a:latin typeface="+mj-lt"/>
                <a:hlinkClick r:id="rId3"/>
              </a:rPr>
              <a:t>ITHAKA SR</a:t>
            </a:r>
            <a:r>
              <a:rPr lang="en-FI" sz="2000" b="1">
                <a:latin typeface="+mj-lt"/>
              </a:rPr>
              <a:t> </a:t>
            </a:r>
            <a:r>
              <a:rPr lang="en-FI" sz="2000">
                <a:latin typeface="+mj-lt"/>
              </a:rPr>
              <a:t>list, for each tool you also get a list of pros and cons and considerations from a higher education/research organisation perspective</a:t>
            </a:r>
            <a:endParaRPr lang="en-GB" sz="2000">
              <a:latin typeface="+mj-lt"/>
            </a:endParaRPr>
          </a:p>
          <a:p>
            <a:pPr marL="457200" indent="-457200">
              <a:buFont typeface="Arial" panose="020B0604020202020204" pitchFamily="34" charset="0"/>
              <a:buChar char="•"/>
            </a:pPr>
            <a:r>
              <a:rPr lang="en-GB" sz="2000" b="0">
                <a:solidFill>
                  <a:srgbClr val="222222"/>
                </a:solidFill>
                <a:latin typeface="+mj-lt"/>
              </a:rPr>
              <a:t>If you would like to go deeper into one specific topic, suggest a new </a:t>
            </a:r>
            <a:r>
              <a:rPr lang="en-GB" sz="2000">
                <a:solidFill>
                  <a:srgbClr val="222222"/>
                </a:solidFill>
                <a:latin typeface="+mj-lt"/>
              </a:rPr>
              <a:t>topic for the </a:t>
            </a:r>
            <a:r>
              <a:rPr lang="en-GB" sz="2000" b="1" err="1">
                <a:solidFill>
                  <a:srgbClr val="222222"/>
                </a:solidFill>
                <a:latin typeface="+mj-lt"/>
                <a:hlinkClick r:id="rId4"/>
              </a:rPr>
              <a:t>CodeRefinery</a:t>
            </a:r>
            <a:r>
              <a:rPr lang="en-GB" sz="2000">
                <a:solidFill>
                  <a:srgbClr val="222222"/>
                </a:solidFill>
                <a:latin typeface="+mj-lt"/>
              </a:rPr>
              <a:t> training events.</a:t>
            </a:r>
            <a:endParaRPr lang="en-US" sz="2000" b="0">
              <a:solidFill>
                <a:srgbClr val="222222"/>
              </a:solidFill>
              <a:latin typeface="+mj-lt"/>
            </a:endParaRPr>
          </a:p>
          <a:p>
            <a:endParaRPr lang="en-US" sz="2000">
              <a:latin typeface="+mj-lt"/>
            </a:endParaRPr>
          </a:p>
        </p:txBody>
      </p:sp>
      <p:sp>
        <p:nvSpPr>
          <p:cNvPr id="7" name="Slide Number Placeholder 6">
            <a:extLst>
              <a:ext uri="{FF2B5EF4-FFF2-40B4-BE49-F238E27FC236}">
                <a16:creationId xmlns:a16="http://schemas.microsoft.com/office/drawing/2014/main" id="{9A1C52FF-F83D-C4DC-9191-C5BA82802F5E}"/>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97</a:t>
            </a:fld>
            <a:endParaRPr lang="fi-FI"/>
          </a:p>
        </p:txBody>
      </p:sp>
      <p:sp>
        <p:nvSpPr>
          <p:cNvPr id="3" name="Date Placeholder 2">
            <a:extLst>
              <a:ext uri="{FF2B5EF4-FFF2-40B4-BE49-F238E27FC236}">
                <a16:creationId xmlns:a16="http://schemas.microsoft.com/office/drawing/2014/main" id="{DC6A4D5E-51FE-C7FC-463F-A8B1A1500E7E}"/>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9D6E8FF0-9D5D-78F2-DC76-6401176AD895}"/>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353221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FBDE-7399-26C8-18C9-B18293A99440}"/>
              </a:ext>
            </a:extLst>
          </p:cNvPr>
          <p:cNvSpPr>
            <a:spLocks noGrp="1"/>
          </p:cNvSpPr>
          <p:nvPr>
            <p:ph type="title"/>
          </p:nvPr>
        </p:nvSpPr>
        <p:spPr/>
        <p:txBody>
          <a:bodyPr/>
          <a:lstStyle/>
          <a:p>
            <a:r>
              <a:rPr lang="en-US"/>
              <a:t>References</a:t>
            </a:r>
          </a:p>
        </p:txBody>
      </p:sp>
      <p:sp>
        <p:nvSpPr>
          <p:cNvPr id="6" name="Text Placeholder 5">
            <a:extLst>
              <a:ext uri="{FF2B5EF4-FFF2-40B4-BE49-F238E27FC236}">
                <a16:creationId xmlns:a16="http://schemas.microsoft.com/office/drawing/2014/main" id="{1524A373-C9C3-C706-72EA-2793656A4B02}"/>
              </a:ext>
            </a:extLst>
          </p:cNvPr>
          <p:cNvSpPr>
            <a:spLocks noGrp="1"/>
          </p:cNvSpPr>
          <p:nvPr>
            <p:ph type="body" sz="quarter" idx="13"/>
          </p:nvPr>
        </p:nvSpPr>
        <p:spPr/>
        <p:txBody>
          <a:bodyPr/>
          <a:lstStyle/>
          <a:p>
            <a:pPr marL="457200" indent="-457200">
              <a:buFont typeface="Arial" panose="020B0604020202020204" pitchFamily="34" charset="0"/>
              <a:buChar char="•"/>
            </a:pPr>
            <a:r>
              <a:rPr lang="en-US" sz="2000">
                <a:solidFill>
                  <a:srgbClr val="222222"/>
                </a:solidFill>
                <a:latin typeface="Arial"/>
                <a:cs typeface="Arial"/>
                <a:hlinkClick r:id="rId2"/>
              </a:rPr>
              <a:t>Unesco guidelines for generative AI</a:t>
            </a:r>
          </a:p>
          <a:p>
            <a:pPr marL="457200" indent="-457200">
              <a:buFont typeface="Arial" panose="020B0604020202020204" pitchFamily="34" charset="0"/>
              <a:buChar char="•"/>
            </a:pPr>
            <a:r>
              <a:rPr lang="en-US" sz="2000">
                <a:solidFill>
                  <a:srgbClr val="222222"/>
                </a:solidFill>
                <a:latin typeface="Arial"/>
                <a:cs typeface="Arial"/>
                <a:hlinkClick r:id="rId3"/>
              </a:rPr>
              <a:t>Excellent guide from Aalborg University</a:t>
            </a:r>
          </a:p>
          <a:p>
            <a:pPr marL="457200" indent="-457200">
              <a:buFont typeface="Arial" panose="020B0604020202020204" pitchFamily="34" charset="0"/>
              <a:buChar char="•"/>
            </a:pPr>
            <a:r>
              <a:rPr lang="en-US" sz="2000">
                <a:solidFill>
                  <a:srgbClr val="222222"/>
                </a:solidFill>
                <a:latin typeface="Arial"/>
                <a:cs typeface="Arial"/>
                <a:hlinkClick r:id="rId4"/>
              </a:rPr>
              <a:t>Jeremy Howards's Hacker guide to Language Models</a:t>
            </a:r>
            <a:endParaRPr lang="en-US" sz="2000">
              <a:solidFill>
                <a:srgbClr val="222222"/>
              </a:solidFill>
              <a:latin typeface="Arial"/>
              <a:cs typeface="Arial"/>
            </a:endParaRPr>
          </a:p>
          <a:p>
            <a:pPr marL="457200" indent="-457200">
              <a:buFont typeface="Arial" panose="020B0604020202020204" pitchFamily="34" charset="0"/>
              <a:buChar char="•"/>
            </a:pPr>
            <a:r>
              <a:rPr lang="en-US" sz="2000">
                <a:solidFill>
                  <a:srgbClr val="222222"/>
                </a:solidFill>
                <a:latin typeface="Arial"/>
                <a:cs typeface="Arial"/>
                <a:hlinkClick r:id="rId5"/>
              </a:rPr>
              <a:t>YouTube course by 3blue1brown on deep learning, transformers, attention, and how LLMs store information</a:t>
            </a:r>
            <a:endParaRPr lang="en-US" sz="2000">
              <a:solidFill>
                <a:srgbClr val="222222"/>
              </a:solidFill>
              <a:latin typeface="Arial"/>
              <a:cs typeface="Arial"/>
            </a:endParaRPr>
          </a:p>
          <a:p>
            <a:pPr marL="457200" indent="-457200">
              <a:buFont typeface="Arial" panose="020B0604020202020204" pitchFamily="34" charset="0"/>
              <a:buChar char="•"/>
            </a:pPr>
            <a:r>
              <a:rPr lang="en-US" sz="2000">
                <a:solidFill>
                  <a:srgbClr val="222222"/>
                </a:solidFill>
                <a:latin typeface="Arial"/>
                <a:cs typeface="Arial"/>
                <a:hlinkClick r:id="rId6"/>
              </a:rPr>
              <a:t>Karpathy’s Intro to Large Language Models</a:t>
            </a:r>
            <a:endParaRPr lang="en-US" sz="2000">
              <a:solidFill>
                <a:srgbClr val="222222"/>
              </a:solidFill>
              <a:latin typeface="Arial"/>
              <a:cs typeface="Arial"/>
            </a:endParaRPr>
          </a:p>
          <a:p>
            <a:pPr marL="457200" indent="-457200">
              <a:buFont typeface="Arial" panose="020B0604020202020204" pitchFamily="34" charset="0"/>
              <a:buChar char="•"/>
            </a:pPr>
            <a:r>
              <a:rPr lang="en-US" sz="2000">
                <a:solidFill>
                  <a:srgbClr val="222222"/>
                </a:solidFill>
                <a:latin typeface="Arial"/>
                <a:cs typeface="Arial"/>
                <a:hlinkClick r:id="rId7"/>
              </a:rPr>
              <a:t>Learning resources on more advanced topics (transformers, word2vec, …)</a:t>
            </a:r>
            <a:endParaRPr lang="en-US" sz="2000">
              <a:solidFill>
                <a:srgbClr val="222222"/>
              </a:solidFill>
              <a:latin typeface="Arial"/>
              <a:cs typeface="Arial"/>
            </a:endParaRPr>
          </a:p>
          <a:p>
            <a:pPr marL="457200" indent="-457200">
              <a:buFont typeface="Arial" panose="020B0604020202020204" pitchFamily="34" charset="0"/>
              <a:buChar char="•"/>
            </a:pPr>
            <a:r>
              <a:rPr lang="en-US" sz="2000">
                <a:solidFill>
                  <a:srgbClr val="222222"/>
                </a:solidFill>
                <a:latin typeface="Arial"/>
                <a:cs typeface="Arial"/>
                <a:hlinkClick r:id="rId8"/>
              </a:rPr>
              <a:t>Elements of AI open course</a:t>
            </a:r>
            <a:endParaRPr lang="en-US" sz="2000">
              <a:solidFill>
                <a:srgbClr val="222222"/>
              </a:solidFill>
              <a:latin typeface="Arial"/>
              <a:cs typeface="Arial"/>
            </a:endParaRPr>
          </a:p>
          <a:p>
            <a:pPr marL="457200" indent="-457200">
              <a:buFont typeface="Arial" panose="020B0604020202020204" pitchFamily="34" charset="0"/>
              <a:buChar char="•"/>
            </a:pPr>
            <a:r>
              <a:rPr lang="en-US" sz="2000">
                <a:solidFill>
                  <a:srgbClr val="222222"/>
                </a:solidFill>
                <a:latin typeface="Arial"/>
                <a:cs typeface="Arial"/>
                <a:hlinkClick r:id="rId9"/>
              </a:rPr>
              <a:t>Ethics of AI open course</a:t>
            </a:r>
            <a:endParaRPr lang="en-US" sz="2000">
              <a:solidFill>
                <a:srgbClr val="222222"/>
              </a:solidFill>
              <a:latin typeface="Arial"/>
              <a:cs typeface="Arial"/>
            </a:endParaRPr>
          </a:p>
          <a:p>
            <a:br>
              <a:rPr lang="en-US" sz="2000">
                <a:solidFill>
                  <a:srgbClr val="222222"/>
                </a:solidFill>
                <a:latin typeface="Arial"/>
                <a:cs typeface="Arial"/>
              </a:rPr>
            </a:br>
            <a:r>
              <a:rPr lang="en-US" sz="1400">
                <a:solidFill>
                  <a:schemeClr val="bg1">
                    <a:lumMod val="50000"/>
                  </a:schemeClr>
                </a:solidFill>
                <a:latin typeface="Arial"/>
                <a:cs typeface="Arial"/>
              </a:rPr>
              <a:t>A</a:t>
            </a:r>
            <a:endParaRPr lang="en-US" sz="2000">
              <a:solidFill>
                <a:srgbClr val="222222"/>
              </a:solidFill>
              <a:latin typeface="Arial"/>
              <a:cs typeface="Arial"/>
            </a:endParaRPr>
          </a:p>
        </p:txBody>
      </p:sp>
      <p:sp>
        <p:nvSpPr>
          <p:cNvPr id="7" name="Slide Number Placeholder 6">
            <a:extLst>
              <a:ext uri="{FF2B5EF4-FFF2-40B4-BE49-F238E27FC236}">
                <a16:creationId xmlns:a16="http://schemas.microsoft.com/office/drawing/2014/main" id="{FDF334C0-0707-5F60-2639-7A7D3834010D}"/>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p:spPr>
        <p:txBody>
          <a:bodyPr/>
          <a:lstStyle/>
          <a:p>
            <a:fld id="{D701140D-C14F-41CA-99FC-0EF83E8DA40A}" type="slidenum">
              <a:rPr lang="fi-FI" smtClean="0"/>
              <a:t>98</a:t>
            </a:fld>
            <a:endParaRPr lang="fi-FI"/>
          </a:p>
        </p:txBody>
      </p:sp>
      <p:sp>
        <p:nvSpPr>
          <p:cNvPr id="3" name="Date Placeholder 2">
            <a:extLst>
              <a:ext uri="{FF2B5EF4-FFF2-40B4-BE49-F238E27FC236}">
                <a16:creationId xmlns:a16="http://schemas.microsoft.com/office/drawing/2014/main" id="{D1333C57-0CE9-19D7-47CF-695D887345F4}"/>
              </a:ext>
            </a:extLst>
          </p:cNvPr>
          <p:cNvSpPr>
            <a:spLocks noGrp="1"/>
          </p:cNvSpPr>
          <p:nvPr>
            <p:ph type="dt" sz="half" idx="14"/>
          </p:nvPr>
        </p:nvSpPr>
        <p:spPr/>
        <p:txBody>
          <a:bodyPr/>
          <a:lstStyle/>
          <a:p>
            <a:r>
              <a:rPr lang="fi-FI"/>
              <a:t>28.04.2026</a:t>
            </a:r>
          </a:p>
        </p:txBody>
      </p:sp>
      <p:sp>
        <p:nvSpPr>
          <p:cNvPr id="4" name="Footer Placeholder 3">
            <a:extLst>
              <a:ext uri="{FF2B5EF4-FFF2-40B4-BE49-F238E27FC236}">
                <a16:creationId xmlns:a16="http://schemas.microsoft.com/office/drawing/2014/main" id="{16A453AF-85F9-0A90-9625-371AFCE6FCAE}"/>
              </a:ext>
            </a:extLst>
          </p:cNvPr>
          <p:cNvSpPr>
            <a:spLocks noGrp="1"/>
          </p:cNvSpPr>
          <p:nvPr>
            <p:ph type="ftr" sz="quarter" idx="15"/>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232392690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8D044-CDAB-6EB0-3904-4ACE57B732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DC6A9E-0C12-9CF4-D8F3-2D0E555B01F2}"/>
              </a:ext>
            </a:extLst>
          </p:cNvPr>
          <p:cNvSpPr>
            <a:spLocks noGrp="1"/>
          </p:cNvSpPr>
          <p:nvPr>
            <p:ph type="sldNum" sz="quarter" idx="12"/>
          </p:nvPr>
        </p:nvSpPr>
        <p:spPr>
          <a:xfrm>
            <a:off x="11352584" y="6309320"/>
            <a:ext cx="431428" cy="143869"/>
          </a:xfrm>
        </p:spPr>
        <p:txBody>
          <a:bodyPr/>
          <a:lstStyle/>
          <a:p>
            <a:fld id="{D701140D-C14F-41CA-99FC-0EF83E8DA40A}" type="slidenum">
              <a:rPr lang="fi-FI" smtClean="0"/>
              <a:pPr/>
              <a:t>99</a:t>
            </a:fld>
            <a:endParaRPr lang="fi-FI"/>
          </a:p>
        </p:txBody>
      </p:sp>
      <p:sp>
        <p:nvSpPr>
          <p:cNvPr id="3" name="Title 2">
            <a:extLst>
              <a:ext uri="{FF2B5EF4-FFF2-40B4-BE49-F238E27FC236}">
                <a16:creationId xmlns:a16="http://schemas.microsoft.com/office/drawing/2014/main" id="{8FE8F562-B290-0988-9E01-78CFFFEA715C}"/>
              </a:ext>
            </a:extLst>
          </p:cNvPr>
          <p:cNvSpPr>
            <a:spLocks noGrp="1"/>
          </p:cNvSpPr>
          <p:nvPr>
            <p:ph type="ctrTitle"/>
          </p:nvPr>
        </p:nvSpPr>
        <p:spPr>
          <a:xfrm>
            <a:off x="412750" y="2936558"/>
            <a:ext cx="11371263" cy="984885"/>
          </a:xfrm>
        </p:spPr>
        <p:txBody>
          <a:bodyPr/>
          <a:lstStyle/>
          <a:p>
            <a:r>
              <a:rPr lang="en-US"/>
              <a:t>LUNCH BREAK</a:t>
            </a:r>
            <a:br>
              <a:rPr lang="en-US"/>
            </a:br>
            <a:r>
              <a:rPr lang="en-US"/>
              <a:t>or demos if there is time…</a:t>
            </a:r>
          </a:p>
        </p:txBody>
      </p:sp>
      <p:sp>
        <p:nvSpPr>
          <p:cNvPr id="4" name="Date Placeholder 3">
            <a:extLst>
              <a:ext uri="{FF2B5EF4-FFF2-40B4-BE49-F238E27FC236}">
                <a16:creationId xmlns:a16="http://schemas.microsoft.com/office/drawing/2014/main" id="{469A3D01-4C48-0D1C-06DF-C6443A483BEC}"/>
              </a:ext>
            </a:extLst>
          </p:cNvPr>
          <p:cNvSpPr>
            <a:spLocks noGrp="1"/>
          </p:cNvSpPr>
          <p:nvPr>
            <p:ph type="dt" sz="half" idx="13"/>
          </p:nvPr>
        </p:nvSpPr>
        <p:spPr>
          <a:xfrm>
            <a:off x="10200456" y="6309320"/>
            <a:ext cx="1152128" cy="143868"/>
          </a:xfrm>
        </p:spPr>
        <p:txBody>
          <a:bodyPr/>
          <a:lstStyle/>
          <a:p>
            <a:r>
              <a:rPr lang="fi-FI"/>
              <a:t>28.04.2026</a:t>
            </a:r>
          </a:p>
        </p:txBody>
      </p:sp>
      <p:sp>
        <p:nvSpPr>
          <p:cNvPr id="5" name="Footer Placeholder 4">
            <a:extLst>
              <a:ext uri="{FF2B5EF4-FFF2-40B4-BE49-F238E27FC236}">
                <a16:creationId xmlns:a16="http://schemas.microsoft.com/office/drawing/2014/main" id="{D12EFE29-2AFC-7F1D-3385-8C327D8040DE}"/>
              </a:ext>
            </a:extLst>
          </p:cNvPr>
          <p:cNvSpPr>
            <a:spLocks noGrp="1"/>
          </p:cNvSpPr>
          <p:nvPr>
            <p:ph type="ftr" sz="quarter" idx="14"/>
          </p:nvPr>
        </p:nvSpPr>
        <p:spPr>
          <a:xfrm>
            <a:off x="1271464" y="6309320"/>
            <a:ext cx="8928992" cy="143869"/>
          </a:xfrm>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120965121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AFCF4D4-2201-8FCC-1B40-A1396900240C}"/>
              </a:ext>
            </a:extLst>
          </p:cNvPr>
          <p:cNvSpPr>
            <a:spLocks noGrp="1"/>
          </p:cNvSpPr>
          <p:nvPr>
            <p:ph type="ctrTitle"/>
          </p:nvPr>
        </p:nvSpPr>
        <p:spPr>
          <a:xfrm>
            <a:off x="407988" y="2348880"/>
            <a:ext cx="11376024" cy="984885"/>
          </a:xfrm>
        </p:spPr>
        <p:txBody>
          <a:bodyPr/>
          <a:lstStyle/>
          <a:p>
            <a:r>
              <a:rPr lang="en-GB" noProof="0"/>
              <a:t>Artificial Intelligence and Responsible Conduct of Research</a:t>
            </a:r>
          </a:p>
        </p:txBody>
      </p:sp>
      <p:sp>
        <p:nvSpPr>
          <p:cNvPr id="8" name="Subtitle 7">
            <a:extLst>
              <a:ext uri="{FF2B5EF4-FFF2-40B4-BE49-F238E27FC236}">
                <a16:creationId xmlns:a16="http://schemas.microsoft.com/office/drawing/2014/main" id="{8F3FEDF3-FCFD-B920-B76B-BA64F2DE91A3}"/>
              </a:ext>
            </a:extLst>
          </p:cNvPr>
          <p:cNvSpPr>
            <a:spLocks noGrp="1"/>
          </p:cNvSpPr>
          <p:nvPr>
            <p:ph type="subTitle" idx="1"/>
          </p:nvPr>
        </p:nvSpPr>
        <p:spPr>
          <a:xfrm>
            <a:off x="407988" y="3812267"/>
            <a:ext cx="9792468" cy="984885"/>
          </a:xfrm>
        </p:spPr>
        <p:txBody>
          <a:bodyPr/>
          <a:lstStyle/>
          <a:p>
            <a:r>
              <a:rPr lang="en-GB" noProof="0"/>
              <a:t>The interplay between Responsible Conduct of Research and use of Artificial Intelligence tools</a:t>
            </a:r>
          </a:p>
        </p:txBody>
      </p:sp>
      <p:sp>
        <p:nvSpPr>
          <p:cNvPr id="4" name="Date Placeholder 3">
            <a:extLst>
              <a:ext uri="{FF2B5EF4-FFF2-40B4-BE49-F238E27FC236}">
                <a16:creationId xmlns:a16="http://schemas.microsoft.com/office/drawing/2014/main" id="{02564668-E1DF-E032-3809-908D5DB2CB20}"/>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28.04.2026</a:t>
            </a:r>
          </a:p>
        </p:txBody>
      </p:sp>
      <p:sp>
        <p:nvSpPr>
          <p:cNvPr id="5" name="Slide Number Placeholder 4">
            <a:extLst>
              <a:ext uri="{FF2B5EF4-FFF2-40B4-BE49-F238E27FC236}">
                <a16:creationId xmlns:a16="http://schemas.microsoft.com/office/drawing/2014/main" id="{60894164-4AF8-A937-0B2D-74DEFCE0363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9" name="Text Placeholder 8">
            <a:extLst>
              <a:ext uri="{FF2B5EF4-FFF2-40B4-BE49-F238E27FC236}">
                <a16:creationId xmlns:a16="http://schemas.microsoft.com/office/drawing/2014/main" id="{8CAACAA8-D1EE-2E73-2141-EB540DC5F1B0}"/>
              </a:ext>
            </a:extLst>
          </p:cNvPr>
          <p:cNvSpPr>
            <a:spLocks noGrp="1"/>
          </p:cNvSpPr>
          <p:nvPr>
            <p:ph type="body" sz="quarter" idx="13"/>
          </p:nvPr>
        </p:nvSpPr>
        <p:spPr>
          <a:xfrm>
            <a:off x="407989" y="4869160"/>
            <a:ext cx="9792468" cy="553998"/>
          </a:xfrm>
        </p:spPr>
        <p:txBody>
          <a:bodyPr/>
          <a:lstStyle/>
          <a:p>
            <a:r>
              <a:rPr lang="en-US"/>
              <a:t>Dr. Enrico Glerean, Staff Scientist and Data Agent at </a:t>
            </a:r>
            <a:r>
              <a:rPr lang="en-US" b="1"/>
              <a:t>Aalto University</a:t>
            </a:r>
          </a:p>
          <a:p>
            <a:r>
              <a:rPr lang="en-US"/>
              <a:t>Dr. Pedro Silva, Researcher and Data Agent at </a:t>
            </a:r>
            <a:r>
              <a:rPr lang="en-US" b="1"/>
              <a:t>Aalto University</a:t>
            </a:r>
            <a:endParaRPr lang="en-US"/>
          </a:p>
        </p:txBody>
      </p:sp>
      <p:sp>
        <p:nvSpPr>
          <p:cNvPr id="23" name="Footer Placeholder 22">
            <a:extLst>
              <a:ext uri="{FF2B5EF4-FFF2-40B4-BE49-F238E27FC236}">
                <a16:creationId xmlns:a16="http://schemas.microsoft.com/office/drawing/2014/main" id="{E1ABD8C8-A954-D3E6-D2C1-9D48F9B02521}"/>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622146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F1B65-55F1-4E4C-5D49-986AF084D390}"/>
              </a:ext>
            </a:extLst>
          </p:cNvPr>
          <p:cNvSpPr>
            <a:spLocks noGrp="1"/>
          </p:cNvSpPr>
          <p:nvPr>
            <p:ph type="title"/>
          </p:nvPr>
        </p:nvSpPr>
        <p:spPr/>
        <p:txBody>
          <a:bodyPr/>
          <a:lstStyle/>
          <a:p>
            <a:r>
              <a:rPr lang="en-US"/>
              <a:t>Outline: </a:t>
            </a:r>
            <a:r>
              <a:rPr lang="en-GB"/>
              <a:t>AI and responsible conduct of research</a:t>
            </a:r>
            <a:endParaRPr lang="en-FI"/>
          </a:p>
        </p:txBody>
      </p:sp>
      <p:sp>
        <p:nvSpPr>
          <p:cNvPr id="3" name="Date Placeholder 2">
            <a:extLst>
              <a:ext uri="{FF2B5EF4-FFF2-40B4-BE49-F238E27FC236}">
                <a16:creationId xmlns:a16="http://schemas.microsoft.com/office/drawing/2014/main" id="{DDB4DC24-6FA5-4908-CB6C-C5D17E095F49}"/>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6EB0A2D0-DCF5-32B9-CD05-F5DB7215D44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Content Placeholder 4">
            <a:extLst>
              <a:ext uri="{FF2B5EF4-FFF2-40B4-BE49-F238E27FC236}">
                <a16:creationId xmlns:a16="http://schemas.microsoft.com/office/drawing/2014/main" id="{4921D9D8-984B-4613-2CB4-466C13EFF089}"/>
              </a:ext>
            </a:extLst>
          </p:cNvPr>
          <p:cNvSpPr>
            <a:spLocks noGrp="1"/>
          </p:cNvSpPr>
          <p:nvPr>
            <p:ph sz="half" idx="1"/>
          </p:nvPr>
        </p:nvSpPr>
        <p:spPr/>
        <p:txBody>
          <a:bodyPr/>
          <a:lstStyle/>
          <a:p>
            <a:pPr marL="514350" indent="-514350">
              <a:buFont typeface="+mj-lt"/>
              <a:buAutoNum type="arabicPeriod"/>
            </a:pPr>
            <a:r>
              <a:rPr lang="en-US"/>
              <a:t>Principles of Responsible Conduct of Research</a:t>
            </a:r>
          </a:p>
          <a:p>
            <a:pPr marL="514350" indent="-514350">
              <a:buFont typeface="+mj-lt"/>
              <a:buAutoNum type="arabicPeriod"/>
            </a:pPr>
            <a:r>
              <a:rPr lang="en-US"/>
              <a:t>Principles of AI ethics and responsible AI</a:t>
            </a:r>
          </a:p>
          <a:p>
            <a:pPr marL="514350" indent="-514350">
              <a:buFont typeface="+mj-lt"/>
              <a:buAutoNum type="arabicPeriod"/>
            </a:pPr>
            <a:r>
              <a:rPr lang="en-US"/>
              <a:t>Challenges posed by AI tools in research: truth, trust, competence, compliance</a:t>
            </a:r>
          </a:p>
          <a:p>
            <a:pPr marL="514350" indent="-514350">
              <a:buFont typeface="+mj-lt"/>
              <a:buAutoNum type="arabicPeriod"/>
            </a:pPr>
            <a:r>
              <a:rPr lang="en-US"/>
              <a:t>Possible solutions</a:t>
            </a:r>
          </a:p>
          <a:p>
            <a:pPr marL="514350" indent="-514350">
              <a:buFont typeface="+mj-lt"/>
              <a:buAutoNum type="arabicPeriod"/>
            </a:pPr>
            <a:endParaRPr lang="en-US"/>
          </a:p>
        </p:txBody>
      </p:sp>
      <p:sp>
        <p:nvSpPr>
          <p:cNvPr id="6" name="Content Placeholder 5">
            <a:extLst>
              <a:ext uri="{FF2B5EF4-FFF2-40B4-BE49-F238E27FC236}">
                <a16:creationId xmlns:a16="http://schemas.microsoft.com/office/drawing/2014/main" id="{B504110B-23F7-644E-F627-C63B4C709AB7}"/>
              </a:ext>
            </a:extLst>
          </p:cNvPr>
          <p:cNvSpPr>
            <a:spLocks noGrp="1"/>
          </p:cNvSpPr>
          <p:nvPr>
            <p:ph sz="half" idx="2"/>
          </p:nvPr>
        </p:nvSpPr>
        <p:spPr/>
        <p:txBody>
          <a:bodyPr/>
          <a:lstStyle/>
          <a:p>
            <a:r>
              <a:rPr lang="en-US"/>
              <a:t>Learning outcomes</a:t>
            </a:r>
          </a:p>
          <a:p>
            <a:pPr marL="456565" indent="-456565">
              <a:buFontTx/>
              <a:buChar char="-"/>
            </a:pPr>
            <a:r>
              <a:rPr lang="en-US">
                <a:cs typeface="Arial"/>
              </a:rPr>
              <a:t>Understanding research ethics, research integrity, and compliance</a:t>
            </a:r>
          </a:p>
          <a:p>
            <a:pPr marL="456565" indent="-456565">
              <a:buFontTx/>
              <a:buChar char="-"/>
            </a:pPr>
            <a:r>
              <a:rPr lang="en-US" err="1">
                <a:cs typeface="Arial"/>
              </a:rPr>
              <a:t>Familiarise</a:t>
            </a:r>
            <a:r>
              <a:rPr lang="en-US">
                <a:cs typeface="Arial"/>
              </a:rPr>
              <a:t> with ALLEA and TENK guidelines</a:t>
            </a:r>
          </a:p>
          <a:p>
            <a:pPr marL="456565" indent="-456565">
              <a:buFontTx/>
              <a:buChar char="-"/>
            </a:pPr>
            <a:r>
              <a:rPr lang="en-US">
                <a:cs typeface="Arial"/>
              </a:rPr>
              <a:t>Consider how to responsibly use AI tools in education/research work</a:t>
            </a:r>
          </a:p>
          <a:p>
            <a:pPr marL="456565" indent="-456565">
              <a:buFontTx/>
              <a:buChar char="-"/>
            </a:pPr>
            <a:endParaRPr lang="en-US">
              <a:cs typeface="Arial"/>
            </a:endParaRPr>
          </a:p>
          <a:p>
            <a:endParaRPr lang="en-FI"/>
          </a:p>
        </p:txBody>
      </p:sp>
      <p:sp>
        <p:nvSpPr>
          <p:cNvPr id="7" name="Footer Placeholder 6">
            <a:extLst>
              <a:ext uri="{FF2B5EF4-FFF2-40B4-BE49-F238E27FC236}">
                <a16:creationId xmlns:a16="http://schemas.microsoft.com/office/drawing/2014/main" id="{49A91809-12D3-62CB-57DB-FCC08A9C3E88}"/>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1181080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92746-BA7F-F45F-97B6-F39567E92EAF}"/>
              </a:ext>
            </a:extLst>
          </p:cNvPr>
          <p:cNvSpPr>
            <a:spLocks noGrp="1"/>
          </p:cNvSpPr>
          <p:nvPr>
            <p:ph type="title"/>
          </p:nvPr>
        </p:nvSpPr>
        <p:spPr/>
        <p:txBody>
          <a:bodyPr/>
          <a:lstStyle/>
          <a:p>
            <a:pPr algn="ctr"/>
            <a:r>
              <a:rPr kumimoji="0" lang="en-GB" sz="3200" b="1" i="0" u="none" strike="noStrike" kern="1200" cap="none" spc="0" normalizeH="0" baseline="0" noProof="0">
                <a:ln>
                  <a:noFill/>
                </a:ln>
                <a:solidFill>
                  <a:srgbClr val="FF0000"/>
                </a:solidFill>
                <a:effectLst/>
                <a:uLnTx/>
                <a:uFillTx/>
                <a:ea typeface="+mn-ea"/>
                <a:cs typeface="Helvetica"/>
              </a:rPr>
              <a:t>DISCLAIMER</a:t>
            </a:r>
            <a:endParaRPr lang="en-US"/>
          </a:p>
        </p:txBody>
      </p:sp>
      <p:sp>
        <p:nvSpPr>
          <p:cNvPr id="6" name="Text Placeholder 5">
            <a:extLst>
              <a:ext uri="{FF2B5EF4-FFF2-40B4-BE49-F238E27FC236}">
                <a16:creationId xmlns:a16="http://schemas.microsoft.com/office/drawing/2014/main" id="{6B04EE80-E991-09E2-8D89-AC4A3D54185F}"/>
              </a:ext>
            </a:extLst>
          </p:cNvPr>
          <p:cNvSpPr>
            <a:spLocks noGrp="1"/>
          </p:cNvSpPr>
          <p:nvPr>
            <p:ph type="body" sz="quarter" idx="13"/>
          </p:nvPr>
        </p:nvSpPr>
        <p:spPr>
          <a:xfrm>
            <a:off x="1055688" y="1628800"/>
            <a:ext cx="10080625" cy="3671886"/>
          </a:xfrm>
        </p:spPr>
        <p:txBody>
          <a:bodyPr/>
          <a:lstStyle/>
          <a:p>
            <a:pPr algn="ctr"/>
            <a:r>
              <a:rPr lang="en-GB" sz="2400" cap="all">
                <a:solidFill>
                  <a:schemeClr val="bg1"/>
                </a:solidFill>
                <a:latin typeface="+mj-lt"/>
                <a:cs typeface="Helvetica"/>
              </a:rPr>
              <a:t>The topic covered in this session could be a full course of its own</a:t>
            </a:r>
          </a:p>
          <a:p>
            <a:pPr algn="ctr"/>
            <a:endParaRPr lang="en-GB" sz="2400" cap="all">
              <a:solidFill>
                <a:schemeClr val="bg1"/>
              </a:solidFill>
              <a:latin typeface="+mj-lt"/>
              <a:cs typeface="Helvetica"/>
            </a:endParaRPr>
          </a:p>
          <a:p>
            <a:pPr algn="ctr"/>
            <a:r>
              <a:rPr lang="en-US" sz="2400" cap="all">
                <a:latin typeface="+mj-lt"/>
                <a:cs typeface="Helvetica"/>
              </a:rPr>
              <a:t>For this reason, explanations will stay at the intuitive level</a:t>
            </a:r>
          </a:p>
          <a:p>
            <a:pPr algn="ctr"/>
            <a:endParaRPr lang="en-US" sz="2400" cap="all">
              <a:latin typeface="+mj-lt"/>
              <a:cs typeface="Helvetica"/>
            </a:endParaRPr>
          </a:p>
          <a:p>
            <a:pPr algn="ctr"/>
            <a:r>
              <a:rPr lang="en-US" sz="2400" cap="all">
                <a:latin typeface="+mj-lt"/>
                <a:cs typeface="Helvetica"/>
              </a:rPr>
              <a:t>While we do focus on Artificial Intelligence tools, you can replace AI with “technology XYZ” and the whole set would still work as it is</a:t>
            </a:r>
          </a:p>
          <a:p>
            <a:pPr algn="ctr"/>
            <a:endParaRPr lang="en-GB" sz="2400" cap="all">
              <a:latin typeface="+mj-lt"/>
              <a:cs typeface="Helvetica"/>
            </a:endParaRPr>
          </a:p>
        </p:txBody>
      </p:sp>
      <p:sp>
        <p:nvSpPr>
          <p:cNvPr id="7" name="Slide Number Placeholder 6">
            <a:extLst>
              <a:ext uri="{FF2B5EF4-FFF2-40B4-BE49-F238E27FC236}">
                <a16:creationId xmlns:a16="http://schemas.microsoft.com/office/drawing/2014/main" id="{ABEA387B-3D69-2A67-6273-DFABE5B5AFC6}"/>
              </a:ext>
              <a:ext uri="{C183D7F6-B498-43B3-948B-1728B52AA6E4}">
                <adec:decorative xmlns:adec="http://schemas.microsoft.com/office/drawing/2017/decorative" val="1"/>
              </a:ext>
            </a:extLst>
          </p:cNvPr>
          <p:cNvSpPr>
            <a:spLocks noGrp="1"/>
          </p:cNvSpPr>
          <p:nvPr>
            <p:ph type="sldNum" sz="quarter" idx="16"/>
          </p:nvPr>
        </p:nvSpPr>
        <p:spPr>
          <a:xfrm>
            <a:off x="11352584" y="6309320"/>
            <a:ext cx="431428"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 name="Date Placeholder 2">
            <a:extLst>
              <a:ext uri="{FF2B5EF4-FFF2-40B4-BE49-F238E27FC236}">
                <a16:creationId xmlns:a16="http://schemas.microsoft.com/office/drawing/2014/main" id="{50D5F19E-92A2-8305-3B18-BBA446D229F2}"/>
              </a:ext>
            </a:extLst>
          </p:cNvPr>
          <p:cNvSpPr>
            <a:spLocks noGrp="1"/>
          </p:cNvSpPr>
          <p:nvPr>
            <p:ph type="dt" sz="half" idx="14"/>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Footer Placeholder 3">
            <a:extLst>
              <a:ext uri="{FF2B5EF4-FFF2-40B4-BE49-F238E27FC236}">
                <a16:creationId xmlns:a16="http://schemas.microsoft.com/office/drawing/2014/main" id="{6DAB67B9-8711-DE60-6137-94D981FE016B}"/>
              </a:ext>
            </a:extLst>
          </p:cNvPr>
          <p:cNvSpPr>
            <a:spLocks noGrp="1"/>
          </p:cNvSpPr>
          <p:nvPr>
            <p:ph type="ftr" sz="quarter" idx="15"/>
          </p:nvPr>
        </p:nvSpPr>
        <p:spPr>
          <a:xfrm>
            <a:off x="1271464" y="6309320"/>
            <a:ext cx="8928992"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56692694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8F61-6E7B-3484-C833-9DD937A972DE}"/>
              </a:ext>
            </a:extLst>
          </p:cNvPr>
          <p:cNvSpPr>
            <a:spLocks noGrp="1"/>
          </p:cNvSpPr>
          <p:nvPr>
            <p:ph type="title"/>
          </p:nvPr>
        </p:nvSpPr>
        <p:spPr/>
        <p:txBody>
          <a:bodyPr/>
          <a:lstStyle/>
          <a:p>
            <a:r>
              <a:rPr lang="en-FI"/>
              <a:t>Ethics is not Law</a:t>
            </a:r>
          </a:p>
        </p:txBody>
      </p:sp>
      <p:sp>
        <p:nvSpPr>
          <p:cNvPr id="3" name="Date Placeholder 2">
            <a:extLst>
              <a:ext uri="{FF2B5EF4-FFF2-40B4-BE49-F238E27FC236}">
                <a16:creationId xmlns:a16="http://schemas.microsoft.com/office/drawing/2014/main" id="{C77B5B93-A8EB-8450-B4D5-AA11BF87E42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F186BA37-8192-F36A-F6B0-84220B2BE92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Google Shape;203;p35">
            <a:extLst>
              <a:ext uri="{FF2B5EF4-FFF2-40B4-BE49-F238E27FC236}">
                <a16:creationId xmlns:a16="http://schemas.microsoft.com/office/drawing/2014/main" id="{12D1B506-1DA0-3DD8-8F96-D1895FC3C525}"/>
              </a:ext>
            </a:extLst>
          </p:cNvPr>
          <p:cNvSpPr/>
          <p:nvPr/>
        </p:nvSpPr>
        <p:spPr>
          <a:xfrm>
            <a:off x="4465028" y="1669684"/>
            <a:ext cx="3415500" cy="3415500"/>
          </a:xfrm>
          <a:prstGeom prst="ellipse">
            <a:avLst/>
          </a:prstGeom>
          <a:solidFill>
            <a:srgbClr val="C9DAF8">
              <a:alpha val="457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Google Shape;206;p35">
            <a:extLst>
              <a:ext uri="{FF2B5EF4-FFF2-40B4-BE49-F238E27FC236}">
                <a16:creationId xmlns:a16="http://schemas.microsoft.com/office/drawing/2014/main" id="{961A5BAD-103D-8D93-5A2A-3DCF952E50E4}"/>
              </a:ext>
            </a:extLst>
          </p:cNvPr>
          <p:cNvSpPr/>
          <p:nvPr/>
        </p:nvSpPr>
        <p:spPr>
          <a:xfrm>
            <a:off x="3601503" y="1669684"/>
            <a:ext cx="3415500" cy="3415500"/>
          </a:xfrm>
          <a:prstGeom prst="ellipse">
            <a:avLst/>
          </a:prstGeom>
          <a:solidFill>
            <a:srgbClr val="F4CCCC">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 name="Google Shape;207;p35">
            <a:extLst>
              <a:ext uri="{FF2B5EF4-FFF2-40B4-BE49-F238E27FC236}">
                <a16:creationId xmlns:a16="http://schemas.microsoft.com/office/drawing/2014/main" id="{2CF5C358-2C69-9571-2522-248531DA460B}"/>
              </a:ext>
            </a:extLst>
          </p:cNvPr>
          <p:cNvSpPr txBox="1"/>
          <p:nvPr/>
        </p:nvSpPr>
        <p:spPr>
          <a:xfrm>
            <a:off x="1847528" y="2899009"/>
            <a:ext cx="2269200"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990000"/>
                </a:solidFill>
                <a:effectLst/>
                <a:uLnTx/>
                <a:uFillTx/>
                <a:latin typeface="Arial" panose="020B0604020202020204"/>
                <a:ea typeface="+mn-ea"/>
                <a:cs typeface="+mn-cs"/>
              </a:rPr>
              <a:t>Ethics</a:t>
            </a:r>
            <a:endParaRPr kumimoji="0" sz="4800" b="1" i="0" u="none" strike="noStrike" kern="1200" cap="none" spc="0" normalizeH="0" baseline="0" noProof="0">
              <a:ln>
                <a:noFill/>
              </a:ln>
              <a:solidFill>
                <a:srgbClr val="990000"/>
              </a:solidFill>
              <a:effectLst/>
              <a:uLnTx/>
              <a:uFillTx/>
              <a:latin typeface="Arial" panose="020B0604020202020204"/>
              <a:ea typeface="+mn-ea"/>
              <a:cs typeface="+mn-cs"/>
            </a:endParaRPr>
          </a:p>
        </p:txBody>
      </p:sp>
      <p:sp>
        <p:nvSpPr>
          <p:cNvPr id="9" name="Google Shape;208;p35">
            <a:extLst>
              <a:ext uri="{FF2B5EF4-FFF2-40B4-BE49-F238E27FC236}">
                <a16:creationId xmlns:a16="http://schemas.microsoft.com/office/drawing/2014/main" id="{C644FE46-CD5B-5DC2-266B-30577B9CE1B8}"/>
              </a:ext>
            </a:extLst>
          </p:cNvPr>
          <p:cNvSpPr txBox="1"/>
          <p:nvPr/>
        </p:nvSpPr>
        <p:spPr>
          <a:xfrm>
            <a:off x="6566503" y="2899009"/>
            <a:ext cx="2269200" cy="7329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1155CC"/>
                </a:solidFill>
                <a:effectLst/>
                <a:uLnTx/>
                <a:uFillTx/>
                <a:latin typeface="Arial" panose="020B0604020202020204"/>
                <a:ea typeface="+mn-ea"/>
                <a:cs typeface="+mn-cs"/>
              </a:rPr>
              <a:t>Law</a:t>
            </a:r>
            <a:endParaRPr kumimoji="0" sz="4800" b="1" i="0" u="none" strike="noStrike" kern="1200" cap="none" spc="0" normalizeH="0" baseline="0" noProof="0">
              <a:ln>
                <a:noFill/>
              </a:ln>
              <a:solidFill>
                <a:srgbClr val="1155CC"/>
              </a:solidFill>
              <a:effectLst/>
              <a:uLnTx/>
              <a:uFillTx/>
              <a:latin typeface="Arial" panose="020B0604020202020204"/>
              <a:ea typeface="+mn-ea"/>
              <a:cs typeface="+mn-cs"/>
            </a:endParaRPr>
          </a:p>
        </p:txBody>
      </p:sp>
      <p:sp>
        <p:nvSpPr>
          <p:cNvPr id="5" name="Footer Placeholder 4">
            <a:extLst>
              <a:ext uri="{FF2B5EF4-FFF2-40B4-BE49-F238E27FC236}">
                <a16:creationId xmlns:a16="http://schemas.microsoft.com/office/drawing/2014/main" id="{3AE93597-0F52-4611-4891-AE2BA72817A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9648344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59632-4BD8-C183-7103-96BAF4926290}"/>
              </a:ext>
            </a:extLst>
          </p:cNvPr>
          <p:cNvSpPr>
            <a:spLocks noGrp="1"/>
          </p:cNvSpPr>
          <p:nvPr>
            <p:ph type="title"/>
          </p:nvPr>
        </p:nvSpPr>
        <p:spPr/>
        <p:txBody>
          <a:bodyPr/>
          <a:lstStyle/>
          <a:p>
            <a:r>
              <a:rPr lang="en-FI"/>
              <a:t>Ethics and law</a:t>
            </a:r>
          </a:p>
        </p:txBody>
      </p:sp>
      <p:sp>
        <p:nvSpPr>
          <p:cNvPr id="3" name="Date Placeholder 2">
            <a:extLst>
              <a:ext uri="{FF2B5EF4-FFF2-40B4-BE49-F238E27FC236}">
                <a16:creationId xmlns:a16="http://schemas.microsoft.com/office/drawing/2014/main" id="{092353F4-6831-8C73-A9C6-3065DB61C225}"/>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C73426A2-44A8-43DA-C790-70355629170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Content Placeholder 4">
            <a:extLst>
              <a:ext uri="{FF2B5EF4-FFF2-40B4-BE49-F238E27FC236}">
                <a16:creationId xmlns:a16="http://schemas.microsoft.com/office/drawing/2014/main" id="{C1E6C1E4-0C4A-259A-7710-8CAF3D5957CD}"/>
              </a:ext>
            </a:extLst>
          </p:cNvPr>
          <p:cNvSpPr>
            <a:spLocks noGrp="1"/>
          </p:cNvSpPr>
          <p:nvPr>
            <p:ph sz="half" idx="1"/>
          </p:nvPr>
        </p:nvSpPr>
        <p:spPr/>
        <p:txBody>
          <a:bodyPr/>
          <a:lstStyle/>
          <a:p>
            <a:r>
              <a:rPr lang="en-FI">
                <a:hlinkClick r:id="rId2"/>
              </a:rPr>
              <a:t>Ethics</a:t>
            </a:r>
            <a:r>
              <a:rPr lang="en-GB"/>
              <a:t>:</a:t>
            </a:r>
            <a:br>
              <a:rPr lang="en-FI"/>
            </a:br>
            <a:r>
              <a:rPr lang="en-GB" b="1" i="1"/>
              <a:t>- </a:t>
            </a:r>
            <a:r>
              <a:rPr lang="en-GB" i="1"/>
              <a:t>a set of moral principles </a:t>
            </a:r>
            <a:r>
              <a:rPr lang="en-GB" b="1" i="1"/>
              <a:t>: </a:t>
            </a:r>
            <a:r>
              <a:rPr lang="en-GB" i="1"/>
              <a:t>a theory or system of moral values</a:t>
            </a:r>
          </a:p>
          <a:p>
            <a:endParaRPr lang="en-GB" i="1"/>
          </a:p>
          <a:p>
            <a:r>
              <a:rPr lang="en-GB">
                <a:hlinkClick r:id="rId3"/>
              </a:rPr>
              <a:t>Moral</a:t>
            </a:r>
            <a:r>
              <a:rPr lang="en-GB"/>
              <a:t>:</a:t>
            </a:r>
          </a:p>
          <a:p>
            <a:r>
              <a:rPr lang="en-GB" i="1"/>
              <a:t>- of or relating to principles of right and wrong in </a:t>
            </a:r>
            <a:r>
              <a:rPr lang="en-GB" i="1" err="1"/>
              <a:t>behavior</a:t>
            </a:r>
            <a:endParaRPr lang="en-FI" i="1"/>
          </a:p>
        </p:txBody>
      </p:sp>
      <p:sp>
        <p:nvSpPr>
          <p:cNvPr id="6" name="Content Placeholder 5">
            <a:extLst>
              <a:ext uri="{FF2B5EF4-FFF2-40B4-BE49-F238E27FC236}">
                <a16:creationId xmlns:a16="http://schemas.microsoft.com/office/drawing/2014/main" id="{E753270A-CB0E-4019-EBDE-0E800D5A9916}"/>
              </a:ext>
            </a:extLst>
          </p:cNvPr>
          <p:cNvSpPr>
            <a:spLocks noGrp="1"/>
          </p:cNvSpPr>
          <p:nvPr>
            <p:ph sz="half" idx="2"/>
          </p:nvPr>
        </p:nvSpPr>
        <p:spPr/>
        <p:txBody>
          <a:bodyPr/>
          <a:lstStyle/>
          <a:p>
            <a:r>
              <a:rPr lang="en-FI">
                <a:hlinkClick r:id="rId4"/>
              </a:rPr>
              <a:t>Law</a:t>
            </a:r>
            <a:r>
              <a:rPr lang="en-FI"/>
              <a:t>:</a:t>
            </a:r>
            <a:br>
              <a:rPr lang="en-FI"/>
            </a:br>
            <a:r>
              <a:rPr lang="en-FI" i="1"/>
              <a:t>- </a:t>
            </a:r>
            <a:r>
              <a:rPr lang="en-GB" i="1"/>
              <a:t>a binding custom or practice of a community </a:t>
            </a:r>
            <a:r>
              <a:rPr lang="en-GB" b="1" i="1"/>
              <a:t>: </a:t>
            </a:r>
            <a:r>
              <a:rPr lang="en-GB" i="1"/>
              <a:t>a rule of conduct or action prescribed or formally recognized as binding or enforced by a controlling authority</a:t>
            </a:r>
            <a:endParaRPr lang="en-FI" i="1"/>
          </a:p>
        </p:txBody>
      </p:sp>
      <p:sp>
        <p:nvSpPr>
          <p:cNvPr id="7" name="Footer Placeholder 6">
            <a:extLst>
              <a:ext uri="{FF2B5EF4-FFF2-40B4-BE49-F238E27FC236}">
                <a16:creationId xmlns:a16="http://schemas.microsoft.com/office/drawing/2014/main" id="{58B9FEAA-F025-385B-05E6-FEC5B08EEE4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5012638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B344F-89B4-CEB2-FC86-78962AE9F8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90632-23BD-FE3E-FC58-111C3DC69553}"/>
              </a:ext>
            </a:extLst>
          </p:cNvPr>
          <p:cNvSpPr>
            <a:spLocks noGrp="1"/>
          </p:cNvSpPr>
          <p:nvPr>
            <p:ph type="title"/>
          </p:nvPr>
        </p:nvSpPr>
        <p:spPr/>
        <p:txBody>
          <a:bodyPr/>
          <a:lstStyle/>
          <a:p>
            <a:r>
              <a:rPr lang="en-US"/>
              <a:t>Ethics is not law</a:t>
            </a:r>
            <a:endParaRPr lang="en-FI"/>
          </a:p>
        </p:txBody>
      </p:sp>
      <p:sp>
        <p:nvSpPr>
          <p:cNvPr id="3" name="Date Placeholder 2">
            <a:extLst>
              <a:ext uri="{FF2B5EF4-FFF2-40B4-BE49-F238E27FC236}">
                <a16:creationId xmlns:a16="http://schemas.microsoft.com/office/drawing/2014/main" id="{9DF29B7D-1320-B4CA-70A6-7C5CBF2633F3}"/>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08E17F27-4C62-9184-AB4F-639BB3504A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4FCDADDD-9936-AD6A-F8D8-91E27BBCDFF6}"/>
              </a:ext>
            </a:extLst>
          </p:cNvPr>
          <p:cNvSpPr>
            <a:spLocks noGrp="1"/>
          </p:cNvSpPr>
          <p:nvPr>
            <p:ph type="body" sz="quarter" idx="13"/>
          </p:nvPr>
        </p:nvSpPr>
        <p:spPr>
          <a:xfrm>
            <a:off x="1055688" y="1772815"/>
            <a:ext cx="10080625" cy="4680371"/>
          </a:xfrm>
        </p:spPr>
        <p:txBody>
          <a:bodyPr/>
          <a:lstStyle/>
          <a:p>
            <a:pPr marL="457200" indent="-457200">
              <a:buFont typeface="Arial" panose="020B0604020202020204" pitchFamily="34" charset="0"/>
              <a:buChar char="•"/>
            </a:pPr>
            <a:r>
              <a:rPr lang="en-FI" sz="2000"/>
              <a:t>In some countries ethics and law overlap a lot, in some other they are completely separated</a:t>
            </a:r>
          </a:p>
          <a:p>
            <a:pPr marL="457200" indent="-457200">
              <a:buFont typeface="Arial" panose="020B0604020202020204" pitchFamily="34" charset="0"/>
              <a:buChar char="•"/>
            </a:pPr>
            <a:r>
              <a:rPr lang="en-FI" sz="2000"/>
              <a:t>Ethics is based on </a:t>
            </a:r>
            <a:r>
              <a:rPr lang="en-FI" sz="2000" b="1"/>
              <a:t>fundamental human rights, </a:t>
            </a:r>
            <a:r>
              <a:rPr lang="en-FI" sz="2000"/>
              <a:t>laws are changing with what the current government of a country </a:t>
            </a:r>
            <a:r>
              <a:rPr lang="en-FI" sz="2000" b="1" i="1"/>
              <a:t>think</a:t>
            </a:r>
            <a:r>
              <a:rPr lang="en-FI" sz="2000"/>
              <a:t> is right (although in Europe, individual governments have less freedom to do that)</a:t>
            </a:r>
          </a:p>
          <a:p>
            <a:pPr marL="457200" indent="-457200">
              <a:buFont typeface="Arial" panose="020B0604020202020204" pitchFamily="34" charset="0"/>
              <a:buChar char="•"/>
            </a:pPr>
            <a:r>
              <a:rPr lang="en-FI" sz="2000"/>
              <a:t>Example 1: NGOs in the Mediterranean sea facing prosecution for smuggling illegal immigrants stranded at sea (</a:t>
            </a:r>
            <a:r>
              <a:rPr lang="en-FI" sz="2000">
                <a:hlinkClick r:id="rId2"/>
              </a:rPr>
              <a:t>Jonio/Mediterranea case</a:t>
            </a:r>
            <a:r>
              <a:rPr lang="en-FI" sz="2000"/>
              <a:t>) [ethical but not legal]</a:t>
            </a:r>
          </a:p>
          <a:p>
            <a:pPr marL="457200" indent="-457200">
              <a:buFont typeface="Arial" panose="020B0604020202020204" pitchFamily="34" charset="0"/>
              <a:buChar char="•"/>
            </a:pPr>
            <a:r>
              <a:rPr lang="en-FI" sz="2000"/>
              <a:t>Example 2: Italian military forces were fined for not helping stranded immigrants (case </a:t>
            </a:r>
            <a:r>
              <a:rPr lang="en-GB" sz="2000">
                <a:hlinkClick r:id="rId3"/>
              </a:rPr>
              <a:t>Hirsi Jamaa and Others v. Italy</a:t>
            </a:r>
            <a:r>
              <a:rPr lang="en-GB" sz="2000"/>
              <a:t> before the European Court of Human Rights) [legal but not ethical]</a:t>
            </a:r>
            <a:br>
              <a:rPr lang="en-GB" sz="2000"/>
            </a:br>
            <a:endParaRPr lang="en-GB" sz="2000"/>
          </a:p>
          <a:p>
            <a:r>
              <a:rPr lang="en-GB" sz="2000" b="1"/>
              <a:t>	</a:t>
            </a:r>
            <a:r>
              <a:rPr lang="en-GB" sz="2400" b="1"/>
              <a:t>What is the right thing to do?</a:t>
            </a:r>
            <a:endParaRPr lang="en-FI" sz="2400" b="1"/>
          </a:p>
        </p:txBody>
      </p:sp>
      <p:grpSp>
        <p:nvGrpSpPr>
          <p:cNvPr id="6" name="Group 5">
            <a:extLst>
              <a:ext uri="{FF2B5EF4-FFF2-40B4-BE49-F238E27FC236}">
                <a16:creationId xmlns:a16="http://schemas.microsoft.com/office/drawing/2014/main" id="{B967762B-EB79-EE75-D31B-A71923B1E999}"/>
              </a:ext>
            </a:extLst>
          </p:cNvPr>
          <p:cNvGrpSpPr/>
          <p:nvPr/>
        </p:nvGrpSpPr>
        <p:grpSpPr>
          <a:xfrm>
            <a:off x="8468865" y="44624"/>
            <a:ext cx="3675807" cy="1796566"/>
            <a:chOff x="1847528" y="1669684"/>
            <a:chExt cx="6988175" cy="3415500"/>
          </a:xfrm>
        </p:grpSpPr>
        <p:sp>
          <p:nvSpPr>
            <p:cNvPr id="7" name="Google Shape;203;p35">
              <a:extLst>
                <a:ext uri="{FF2B5EF4-FFF2-40B4-BE49-F238E27FC236}">
                  <a16:creationId xmlns:a16="http://schemas.microsoft.com/office/drawing/2014/main" id="{24C3F6DA-C342-905B-FF13-E47C6CFB5E9A}"/>
                </a:ext>
              </a:extLst>
            </p:cNvPr>
            <p:cNvSpPr/>
            <p:nvPr/>
          </p:nvSpPr>
          <p:spPr>
            <a:xfrm>
              <a:off x="4465028" y="1669684"/>
              <a:ext cx="3415500" cy="3415500"/>
            </a:xfrm>
            <a:prstGeom prst="ellipse">
              <a:avLst/>
            </a:prstGeom>
            <a:solidFill>
              <a:srgbClr val="C9DAF8">
                <a:alpha val="457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 name="Google Shape;206;p35">
              <a:extLst>
                <a:ext uri="{FF2B5EF4-FFF2-40B4-BE49-F238E27FC236}">
                  <a16:creationId xmlns:a16="http://schemas.microsoft.com/office/drawing/2014/main" id="{274198C3-FA6F-C6F7-C451-3330C62B8A45}"/>
                </a:ext>
              </a:extLst>
            </p:cNvPr>
            <p:cNvSpPr/>
            <p:nvPr/>
          </p:nvSpPr>
          <p:spPr>
            <a:xfrm>
              <a:off x="3601503" y="1669684"/>
              <a:ext cx="3415500" cy="3415500"/>
            </a:xfrm>
            <a:prstGeom prst="ellipse">
              <a:avLst/>
            </a:prstGeom>
            <a:solidFill>
              <a:srgbClr val="F4CCCC">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9" name="Google Shape;207;p35">
              <a:extLst>
                <a:ext uri="{FF2B5EF4-FFF2-40B4-BE49-F238E27FC236}">
                  <a16:creationId xmlns:a16="http://schemas.microsoft.com/office/drawing/2014/main" id="{E95AD6B4-B451-6A10-C44A-E4EC5E450C97}"/>
                </a:ext>
              </a:extLst>
            </p:cNvPr>
            <p:cNvSpPr txBox="1"/>
            <p:nvPr/>
          </p:nvSpPr>
          <p:spPr>
            <a:xfrm>
              <a:off x="1847528" y="2899009"/>
              <a:ext cx="2269200"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990000"/>
                  </a:solidFill>
                  <a:effectLst/>
                  <a:uLnTx/>
                  <a:uFillTx/>
                  <a:latin typeface="Arial" panose="020B0604020202020204"/>
                  <a:ea typeface="+mn-ea"/>
                  <a:cs typeface="+mn-cs"/>
                </a:rPr>
                <a:t>Ethics</a:t>
              </a:r>
              <a:endParaRPr kumimoji="0" sz="2400" b="1" i="0" u="none" strike="noStrike" kern="1200" cap="none" spc="0" normalizeH="0" baseline="0" noProof="0">
                <a:ln>
                  <a:noFill/>
                </a:ln>
                <a:solidFill>
                  <a:srgbClr val="990000"/>
                </a:solidFill>
                <a:effectLst/>
                <a:uLnTx/>
                <a:uFillTx/>
                <a:latin typeface="Arial" panose="020B0604020202020204"/>
                <a:ea typeface="+mn-ea"/>
                <a:cs typeface="+mn-cs"/>
              </a:endParaRPr>
            </a:p>
          </p:txBody>
        </p:sp>
        <p:sp>
          <p:nvSpPr>
            <p:cNvPr id="10" name="Google Shape;208;p35">
              <a:extLst>
                <a:ext uri="{FF2B5EF4-FFF2-40B4-BE49-F238E27FC236}">
                  <a16:creationId xmlns:a16="http://schemas.microsoft.com/office/drawing/2014/main" id="{CCEBCB63-CC50-951C-2192-155846DAFB72}"/>
                </a:ext>
              </a:extLst>
            </p:cNvPr>
            <p:cNvSpPr txBox="1"/>
            <p:nvPr/>
          </p:nvSpPr>
          <p:spPr>
            <a:xfrm>
              <a:off x="6566503" y="2899009"/>
              <a:ext cx="2269200" cy="7329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1155CC"/>
                  </a:solidFill>
                  <a:effectLst/>
                  <a:uLnTx/>
                  <a:uFillTx/>
                  <a:latin typeface="Arial" panose="020B0604020202020204"/>
                  <a:ea typeface="+mn-ea"/>
                  <a:cs typeface="+mn-cs"/>
                </a:rPr>
                <a:t>Law</a:t>
              </a:r>
              <a:endParaRPr kumimoji="0" sz="2400" b="1" i="0" u="none" strike="noStrike" kern="1200" cap="none" spc="0" normalizeH="0" baseline="0" noProof="0">
                <a:ln>
                  <a:noFill/>
                </a:ln>
                <a:solidFill>
                  <a:srgbClr val="1155CC"/>
                </a:solidFill>
                <a:effectLst/>
                <a:uLnTx/>
                <a:uFillTx/>
                <a:latin typeface="Arial" panose="020B0604020202020204"/>
                <a:ea typeface="+mn-ea"/>
                <a:cs typeface="+mn-cs"/>
              </a:endParaRPr>
            </a:p>
          </p:txBody>
        </p:sp>
      </p:grpSp>
      <p:sp>
        <p:nvSpPr>
          <p:cNvPr id="11" name="Footer Placeholder 10">
            <a:extLst>
              <a:ext uri="{FF2B5EF4-FFF2-40B4-BE49-F238E27FC236}">
                <a16:creationId xmlns:a16="http://schemas.microsoft.com/office/drawing/2014/main" id="{41EDCADE-C46B-5643-CDC7-C543F10C1E4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2995302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E29A3-57BB-D4C7-F068-DD3F36E0050B}"/>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509E2C4A-B743-152F-566B-DD9CBF71C4E5}"/>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A8A11437-EFA4-C28F-A503-877EA95B850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Google Shape;203;p35">
            <a:extLst>
              <a:ext uri="{FF2B5EF4-FFF2-40B4-BE49-F238E27FC236}">
                <a16:creationId xmlns:a16="http://schemas.microsoft.com/office/drawing/2014/main" id="{30CA2BA4-1112-AFAD-446B-867F4A47B8BF}"/>
              </a:ext>
            </a:extLst>
          </p:cNvPr>
          <p:cNvSpPr/>
          <p:nvPr/>
        </p:nvSpPr>
        <p:spPr>
          <a:xfrm>
            <a:off x="4465028" y="2204864"/>
            <a:ext cx="3415500" cy="3415500"/>
          </a:xfrm>
          <a:prstGeom prst="ellipse">
            <a:avLst/>
          </a:prstGeom>
          <a:solidFill>
            <a:srgbClr val="C9DAF8">
              <a:alpha val="457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Google Shape;206;p35">
            <a:extLst>
              <a:ext uri="{FF2B5EF4-FFF2-40B4-BE49-F238E27FC236}">
                <a16:creationId xmlns:a16="http://schemas.microsoft.com/office/drawing/2014/main" id="{320260A2-BB4C-6905-E43A-A4DC9DA10F60}"/>
              </a:ext>
            </a:extLst>
          </p:cNvPr>
          <p:cNvSpPr/>
          <p:nvPr/>
        </p:nvSpPr>
        <p:spPr>
          <a:xfrm>
            <a:off x="3601503" y="2204864"/>
            <a:ext cx="3415500" cy="3415500"/>
          </a:xfrm>
          <a:prstGeom prst="ellipse">
            <a:avLst/>
          </a:prstGeom>
          <a:solidFill>
            <a:srgbClr val="F4CCCC">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 name="Google Shape;207;p35">
            <a:extLst>
              <a:ext uri="{FF2B5EF4-FFF2-40B4-BE49-F238E27FC236}">
                <a16:creationId xmlns:a16="http://schemas.microsoft.com/office/drawing/2014/main" id="{1FB866F6-9079-7DF0-5086-642D006E3608}"/>
              </a:ext>
            </a:extLst>
          </p:cNvPr>
          <p:cNvSpPr txBox="1"/>
          <p:nvPr/>
        </p:nvSpPr>
        <p:spPr>
          <a:xfrm>
            <a:off x="1847528" y="3434189"/>
            <a:ext cx="2269200"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990000"/>
                </a:solidFill>
                <a:effectLst/>
                <a:uLnTx/>
                <a:uFillTx/>
                <a:latin typeface="Arial" panose="020B0604020202020204"/>
                <a:ea typeface="+mn-ea"/>
                <a:cs typeface="+mn-cs"/>
              </a:rPr>
              <a:t>Ethics</a:t>
            </a:r>
            <a:endParaRPr kumimoji="0" sz="4800" b="1" i="0" u="none" strike="noStrike" kern="1200" cap="none" spc="0" normalizeH="0" baseline="0" noProof="0">
              <a:ln>
                <a:noFill/>
              </a:ln>
              <a:solidFill>
                <a:srgbClr val="990000"/>
              </a:solidFill>
              <a:effectLst/>
              <a:uLnTx/>
              <a:uFillTx/>
              <a:latin typeface="Arial" panose="020B0604020202020204"/>
              <a:ea typeface="+mn-ea"/>
              <a:cs typeface="+mn-cs"/>
            </a:endParaRPr>
          </a:p>
        </p:txBody>
      </p:sp>
      <p:sp>
        <p:nvSpPr>
          <p:cNvPr id="9" name="Google Shape;208;p35">
            <a:extLst>
              <a:ext uri="{FF2B5EF4-FFF2-40B4-BE49-F238E27FC236}">
                <a16:creationId xmlns:a16="http://schemas.microsoft.com/office/drawing/2014/main" id="{2923BC25-7C5D-E868-79E7-C738DB8A97C9}"/>
              </a:ext>
            </a:extLst>
          </p:cNvPr>
          <p:cNvSpPr txBox="1"/>
          <p:nvPr/>
        </p:nvSpPr>
        <p:spPr>
          <a:xfrm>
            <a:off x="6566503" y="3434189"/>
            <a:ext cx="2269200" cy="7329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1155CC"/>
                </a:solidFill>
                <a:effectLst/>
                <a:uLnTx/>
                <a:uFillTx/>
                <a:latin typeface="Arial" panose="020B0604020202020204"/>
                <a:ea typeface="+mn-ea"/>
                <a:cs typeface="+mn-cs"/>
              </a:rPr>
              <a:t>Law</a:t>
            </a:r>
            <a:endParaRPr kumimoji="0" sz="4800" b="1" i="0" u="none" strike="noStrike" kern="1200" cap="none" spc="0" normalizeH="0" baseline="0" noProof="0">
              <a:ln>
                <a:noFill/>
              </a:ln>
              <a:solidFill>
                <a:srgbClr val="1155CC"/>
              </a:solidFill>
              <a:effectLst/>
              <a:uLnTx/>
              <a:uFillTx/>
              <a:latin typeface="Arial" panose="020B0604020202020204"/>
              <a:ea typeface="+mn-ea"/>
              <a:cs typeface="+mn-cs"/>
            </a:endParaRPr>
          </a:p>
        </p:txBody>
      </p:sp>
      <p:sp>
        <p:nvSpPr>
          <p:cNvPr id="5" name="Google Shape;203;p35">
            <a:extLst>
              <a:ext uri="{FF2B5EF4-FFF2-40B4-BE49-F238E27FC236}">
                <a16:creationId xmlns:a16="http://schemas.microsoft.com/office/drawing/2014/main" id="{A1BCC1C6-0898-B81B-A78E-BE3C1440ACFB}"/>
              </a:ext>
            </a:extLst>
          </p:cNvPr>
          <p:cNvSpPr/>
          <p:nvPr/>
        </p:nvSpPr>
        <p:spPr>
          <a:xfrm>
            <a:off x="3976644" y="1525668"/>
            <a:ext cx="3415500" cy="3415500"/>
          </a:xfrm>
          <a:prstGeom prst="ellipse">
            <a:avLst/>
          </a:prstGeom>
          <a:solidFill>
            <a:srgbClr val="92D050">
              <a:alpha val="34118"/>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 name="Google Shape;207;p35">
            <a:extLst>
              <a:ext uri="{FF2B5EF4-FFF2-40B4-BE49-F238E27FC236}">
                <a16:creationId xmlns:a16="http://schemas.microsoft.com/office/drawing/2014/main" id="{FADE3C14-4F86-9B80-22FB-018429856130}"/>
              </a:ext>
            </a:extLst>
          </p:cNvPr>
          <p:cNvSpPr txBox="1"/>
          <p:nvPr/>
        </p:nvSpPr>
        <p:spPr>
          <a:xfrm>
            <a:off x="4087012" y="697885"/>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00B050"/>
                </a:solidFill>
                <a:effectLst/>
                <a:uLnTx/>
                <a:uFillTx/>
                <a:latin typeface="Arial" panose="020B0604020202020204"/>
                <a:ea typeface="+mn-ea"/>
                <a:cs typeface="+mn-cs"/>
              </a:rPr>
              <a:t>Research</a:t>
            </a:r>
            <a:endParaRPr kumimoji="0" sz="4800" b="1" i="0" u="none" strike="noStrike" kern="1200" cap="none" spc="0" normalizeH="0" baseline="0" noProof="0">
              <a:ln>
                <a:noFill/>
              </a:ln>
              <a:solidFill>
                <a:srgbClr val="00B050"/>
              </a:solidFill>
              <a:effectLst/>
              <a:uLnTx/>
              <a:uFillTx/>
              <a:latin typeface="Arial" panose="020B0604020202020204"/>
              <a:ea typeface="+mn-ea"/>
              <a:cs typeface="+mn-cs"/>
            </a:endParaRPr>
          </a:p>
        </p:txBody>
      </p:sp>
      <p:sp>
        <p:nvSpPr>
          <p:cNvPr id="11" name="Footer Placeholder 10">
            <a:extLst>
              <a:ext uri="{FF2B5EF4-FFF2-40B4-BE49-F238E27FC236}">
                <a16:creationId xmlns:a16="http://schemas.microsoft.com/office/drawing/2014/main" id="{8B8F8917-CC85-34AD-967D-BFF84A2A94E1}"/>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18020897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F3329-4249-1817-C326-514A9A916038}"/>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C86550FE-DC08-7AA0-C982-CA99AEB5A78F}"/>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1ED16733-9F74-1B5A-0538-68E8033A76C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Google Shape;203;p35">
            <a:extLst>
              <a:ext uri="{FF2B5EF4-FFF2-40B4-BE49-F238E27FC236}">
                <a16:creationId xmlns:a16="http://schemas.microsoft.com/office/drawing/2014/main" id="{DA00AA32-4831-933C-2E7F-16788BA1A26C}"/>
              </a:ext>
            </a:extLst>
          </p:cNvPr>
          <p:cNvSpPr/>
          <p:nvPr/>
        </p:nvSpPr>
        <p:spPr>
          <a:xfrm>
            <a:off x="4465028" y="2204864"/>
            <a:ext cx="3415500" cy="3415500"/>
          </a:xfrm>
          <a:prstGeom prst="ellipse">
            <a:avLst/>
          </a:prstGeom>
          <a:solidFill>
            <a:srgbClr val="C9DAF8">
              <a:alpha val="457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Google Shape;206;p35">
            <a:extLst>
              <a:ext uri="{FF2B5EF4-FFF2-40B4-BE49-F238E27FC236}">
                <a16:creationId xmlns:a16="http://schemas.microsoft.com/office/drawing/2014/main" id="{5A599A27-E0FD-61FE-FAA7-78A15098B4D1}"/>
              </a:ext>
            </a:extLst>
          </p:cNvPr>
          <p:cNvSpPr/>
          <p:nvPr/>
        </p:nvSpPr>
        <p:spPr>
          <a:xfrm>
            <a:off x="3601503" y="2204864"/>
            <a:ext cx="3415500" cy="3415500"/>
          </a:xfrm>
          <a:prstGeom prst="ellipse">
            <a:avLst/>
          </a:prstGeom>
          <a:solidFill>
            <a:srgbClr val="F4CCCC">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 name="Google Shape;207;p35">
            <a:extLst>
              <a:ext uri="{FF2B5EF4-FFF2-40B4-BE49-F238E27FC236}">
                <a16:creationId xmlns:a16="http://schemas.microsoft.com/office/drawing/2014/main" id="{52AA973C-9B57-A90C-EA90-2F4E9E944E4A}"/>
              </a:ext>
            </a:extLst>
          </p:cNvPr>
          <p:cNvSpPr txBox="1"/>
          <p:nvPr/>
        </p:nvSpPr>
        <p:spPr>
          <a:xfrm>
            <a:off x="1127448" y="3434189"/>
            <a:ext cx="2989280"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990000"/>
                </a:solidFill>
                <a:effectLst/>
                <a:uLnTx/>
                <a:uFillTx/>
                <a:latin typeface="Arial" panose="020B0604020202020204"/>
                <a:ea typeface="+mn-ea"/>
                <a:cs typeface="+mn-cs"/>
              </a:rPr>
              <a:t>Research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990000"/>
                </a:solidFill>
                <a:effectLst/>
                <a:uLnTx/>
                <a:uFillTx/>
                <a:latin typeface="Arial" panose="020B0604020202020204"/>
                <a:ea typeface="+mn-ea"/>
                <a:cs typeface="+mn-cs"/>
              </a:rPr>
              <a:t>Ethics</a:t>
            </a:r>
            <a:endParaRPr kumimoji="0" sz="4800" b="1" i="0" u="none" strike="noStrike" kern="1200" cap="none" spc="0" normalizeH="0" baseline="0" noProof="0">
              <a:ln>
                <a:noFill/>
              </a:ln>
              <a:solidFill>
                <a:srgbClr val="990000"/>
              </a:solidFill>
              <a:effectLst/>
              <a:uLnTx/>
              <a:uFillTx/>
              <a:latin typeface="Arial" panose="020B0604020202020204"/>
              <a:ea typeface="+mn-ea"/>
              <a:cs typeface="+mn-cs"/>
            </a:endParaRPr>
          </a:p>
        </p:txBody>
      </p:sp>
      <p:sp>
        <p:nvSpPr>
          <p:cNvPr id="9" name="Google Shape;208;p35">
            <a:extLst>
              <a:ext uri="{FF2B5EF4-FFF2-40B4-BE49-F238E27FC236}">
                <a16:creationId xmlns:a16="http://schemas.microsoft.com/office/drawing/2014/main" id="{53183C76-6542-79B8-BE5E-0946B90A4028}"/>
              </a:ext>
            </a:extLst>
          </p:cNvPr>
          <p:cNvSpPr txBox="1"/>
          <p:nvPr/>
        </p:nvSpPr>
        <p:spPr>
          <a:xfrm>
            <a:off x="6566502" y="3434189"/>
            <a:ext cx="3777969" cy="7329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1155CC"/>
                </a:solidFill>
                <a:effectLst/>
                <a:uLnTx/>
                <a:uFillTx/>
                <a:latin typeface="Arial" panose="020B0604020202020204"/>
                <a:ea typeface="+mn-ea"/>
                <a:cs typeface="+mn-cs"/>
              </a:rPr>
              <a:t>Research</a:t>
            </a:r>
            <a:br>
              <a:rPr kumimoji="0" lang="en-GB" sz="4800" b="1" i="0" u="none" strike="noStrike" kern="1200" cap="none" spc="0" normalizeH="0" baseline="0" noProof="0">
                <a:ln>
                  <a:noFill/>
                </a:ln>
                <a:solidFill>
                  <a:srgbClr val="1155CC"/>
                </a:solidFill>
                <a:effectLst/>
                <a:uLnTx/>
                <a:uFillTx/>
                <a:latin typeface="Arial" panose="020B0604020202020204"/>
                <a:ea typeface="+mn-ea"/>
                <a:cs typeface="+mn-cs"/>
              </a:rPr>
            </a:br>
            <a:r>
              <a:rPr kumimoji="0" lang="en-GB" sz="4800" b="1" i="0" u="none" strike="noStrike" kern="1200" cap="none" spc="0" normalizeH="0" baseline="0" noProof="0">
                <a:ln>
                  <a:noFill/>
                </a:ln>
                <a:solidFill>
                  <a:srgbClr val="1155CC"/>
                </a:solidFill>
                <a:effectLst/>
                <a:uLnTx/>
                <a:uFillTx/>
                <a:latin typeface="Arial" panose="020B0604020202020204"/>
                <a:ea typeface="+mn-ea"/>
                <a:cs typeface="+mn-cs"/>
              </a:rPr>
              <a:t>Compliance</a:t>
            </a:r>
            <a:endParaRPr kumimoji="0" sz="4800" b="1" i="0" u="none" strike="noStrike" kern="1200" cap="none" spc="0" normalizeH="0" baseline="0" noProof="0">
              <a:ln>
                <a:noFill/>
              </a:ln>
              <a:solidFill>
                <a:srgbClr val="1155CC"/>
              </a:solidFill>
              <a:effectLst/>
              <a:uLnTx/>
              <a:uFillTx/>
              <a:latin typeface="Arial" panose="020B0604020202020204"/>
              <a:ea typeface="+mn-ea"/>
              <a:cs typeface="+mn-cs"/>
            </a:endParaRPr>
          </a:p>
        </p:txBody>
      </p:sp>
      <p:sp>
        <p:nvSpPr>
          <p:cNvPr id="5" name="Google Shape;203;p35">
            <a:extLst>
              <a:ext uri="{FF2B5EF4-FFF2-40B4-BE49-F238E27FC236}">
                <a16:creationId xmlns:a16="http://schemas.microsoft.com/office/drawing/2014/main" id="{C414F3A8-3984-F025-D539-2254AC69969D}"/>
              </a:ext>
            </a:extLst>
          </p:cNvPr>
          <p:cNvSpPr/>
          <p:nvPr/>
        </p:nvSpPr>
        <p:spPr>
          <a:xfrm>
            <a:off x="3976644" y="1525668"/>
            <a:ext cx="3415500" cy="3415500"/>
          </a:xfrm>
          <a:prstGeom prst="ellipse">
            <a:avLst/>
          </a:prstGeom>
          <a:solidFill>
            <a:srgbClr val="92D050">
              <a:alpha val="34118"/>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 name="Google Shape;207;p35">
            <a:extLst>
              <a:ext uri="{FF2B5EF4-FFF2-40B4-BE49-F238E27FC236}">
                <a16:creationId xmlns:a16="http://schemas.microsoft.com/office/drawing/2014/main" id="{117B9DD4-ECC5-D4E3-8BFE-B2F992F5BB9C}"/>
              </a:ext>
            </a:extLst>
          </p:cNvPr>
          <p:cNvSpPr txBox="1"/>
          <p:nvPr/>
        </p:nvSpPr>
        <p:spPr>
          <a:xfrm>
            <a:off x="4087012" y="-27384"/>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00B050"/>
                </a:solidFill>
                <a:effectLst/>
                <a:uLnTx/>
                <a:uFillTx/>
                <a:latin typeface="Arial" panose="020B0604020202020204"/>
                <a:ea typeface="+mn-ea"/>
                <a:cs typeface="+mn-cs"/>
              </a:rPr>
              <a:t>Research Integrity</a:t>
            </a:r>
          </a:p>
        </p:txBody>
      </p:sp>
      <p:sp>
        <p:nvSpPr>
          <p:cNvPr id="2" name="Footer Placeholder 1">
            <a:extLst>
              <a:ext uri="{FF2B5EF4-FFF2-40B4-BE49-F238E27FC236}">
                <a16:creationId xmlns:a16="http://schemas.microsoft.com/office/drawing/2014/main" id="{797E7DCB-8BAC-BEE8-CC51-B28BD25AB49D}"/>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284784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D7A09-96EA-841D-6A77-FE3E9752180A}"/>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5B78785F-812B-187B-C027-868892E135B9}"/>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757A91EF-B2D9-C305-712C-3AEEC42576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Google Shape;203;p35">
            <a:extLst>
              <a:ext uri="{FF2B5EF4-FFF2-40B4-BE49-F238E27FC236}">
                <a16:creationId xmlns:a16="http://schemas.microsoft.com/office/drawing/2014/main" id="{F3B39200-F0FC-BEA8-AEC5-030DEC44FD65}"/>
              </a:ext>
            </a:extLst>
          </p:cNvPr>
          <p:cNvSpPr/>
          <p:nvPr/>
        </p:nvSpPr>
        <p:spPr>
          <a:xfrm>
            <a:off x="4465028" y="2204864"/>
            <a:ext cx="3415500" cy="3415500"/>
          </a:xfrm>
          <a:prstGeom prst="ellipse">
            <a:avLst/>
          </a:prstGeom>
          <a:solidFill>
            <a:srgbClr val="C9DAF8">
              <a:alpha val="457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Google Shape;206;p35">
            <a:extLst>
              <a:ext uri="{FF2B5EF4-FFF2-40B4-BE49-F238E27FC236}">
                <a16:creationId xmlns:a16="http://schemas.microsoft.com/office/drawing/2014/main" id="{589F709C-D694-AE5C-74C5-E6B879E5E100}"/>
              </a:ext>
            </a:extLst>
          </p:cNvPr>
          <p:cNvSpPr/>
          <p:nvPr/>
        </p:nvSpPr>
        <p:spPr>
          <a:xfrm>
            <a:off x="3601503" y="2204864"/>
            <a:ext cx="3415500" cy="3415500"/>
          </a:xfrm>
          <a:prstGeom prst="ellipse">
            <a:avLst/>
          </a:prstGeom>
          <a:solidFill>
            <a:srgbClr val="F4CCCC">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 name="Google Shape;207;p35">
            <a:extLst>
              <a:ext uri="{FF2B5EF4-FFF2-40B4-BE49-F238E27FC236}">
                <a16:creationId xmlns:a16="http://schemas.microsoft.com/office/drawing/2014/main" id="{10D1EF82-9B5C-FF7D-22A5-4688E9F0BB3F}"/>
              </a:ext>
            </a:extLst>
          </p:cNvPr>
          <p:cNvSpPr txBox="1"/>
          <p:nvPr/>
        </p:nvSpPr>
        <p:spPr>
          <a:xfrm>
            <a:off x="1127448" y="3434189"/>
            <a:ext cx="2989280"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990000"/>
                </a:solidFill>
                <a:effectLst/>
                <a:uLnTx/>
                <a:uFillTx/>
                <a:latin typeface="Arial" panose="020B0604020202020204"/>
                <a:ea typeface="+mn-ea"/>
                <a:cs typeface="+mn-cs"/>
              </a:rPr>
              <a:t>Research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990000"/>
                </a:solidFill>
                <a:effectLst/>
                <a:uLnTx/>
                <a:uFillTx/>
                <a:latin typeface="Arial" panose="020B0604020202020204"/>
                <a:ea typeface="+mn-ea"/>
                <a:cs typeface="+mn-cs"/>
              </a:rPr>
              <a:t>Ethics</a:t>
            </a:r>
            <a:endParaRPr kumimoji="0" sz="4800" b="1" i="0" u="none" strike="noStrike" kern="1200" cap="none" spc="0" normalizeH="0" baseline="0" noProof="0">
              <a:ln>
                <a:noFill/>
              </a:ln>
              <a:solidFill>
                <a:srgbClr val="990000"/>
              </a:solidFill>
              <a:effectLst/>
              <a:uLnTx/>
              <a:uFillTx/>
              <a:latin typeface="Arial" panose="020B0604020202020204"/>
              <a:ea typeface="+mn-ea"/>
              <a:cs typeface="+mn-cs"/>
            </a:endParaRPr>
          </a:p>
        </p:txBody>
      </p:sp>
      <p:sp>
        <p:nvSpPr>
          <p:cNvPr id="9" name="Google Shape;208;p35">
            <a:extLst>
              <a:ext uri="{FF2B5EF4-FFF2-40B4-BE49-F238E27FC236}">
                <a16:creationId xmlns:a16="http://schemas.microsoft.com/office/drawing/2014/main" id="{C3B8545D-F117-4B0A-FC22-DEBD7F38F793}"/>
              </a:ext>
            </a:extLst>
          </p:cNvPr>
          <p:cNvSpPr txBox="1"/>
          <p:nvPr/>
        </p:nvSpPr>
        <p:spPr>
          <a:xfrm>
            <a:off x="6566502" y="3356992"/>
            <a:ext cx="3777969" cy="7329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1155CC"/>
                </a:solidFill>
                <a:effectLst/>
                <a:uLnTx/>
                <a:uFillTx/>
                <a:latin typeface="Arial" panose="020B0604020202020204"/>
                <a:ea typeface="+mn-ea"/>
                <a:cs typeface="+mn-cs"/>
              </a:rPr>
              <a:t>Research</a:t>
            </a:r>
            <a:br>
              <a:rPr kumimoji="0" lang="en-GB" sz="4800" b="1" i="0" u="none" strike="noStrike" kern="1200" cap="none" spc="0" normalizeH="0" baseline="0" noProof="0">
                <a:ln>
                  <a:noFill/>
                </a:ln>
                <a:solidFill>
                  <a:srgbClr val="1155CC"/>
                </a:solidFill>
                <a:effectLst/>
                <a:uLnTx/>
                <a:uFillTx/>
                <a:latin typeface="Arial" panose="020B0604020202020204"/>
                <a:ea typeface="+mn-ea"/>
                <a:cs typeface="+mn-cs"/>
              </a:rPr>
            </a:br>
            <a:r>
              <a:rPr kumimoji="0" lang="en-GB" sz="4800" b="1" i="0" u="none" strike="noStrike" kern="1200" cap="none" spc="0" normalizeH="0" baseline="0" noProof="0">
                <a:ln>
                  <a:noFill/>
                </a:ln>
                <a:solidFill>
                  <a:srgbClr val="1155CC"/>
                </a:solidFill>
                <a:effectLst/>
                <a:uLnTx/>
                <a:uFillTx/>
                <a:latin typeface="Arial" panose="020B0604020202020204"/>
                <a:ea typeface="+mn-ea"/>
                <a:cs typeface="+mn-cs"/>
              </a:rPr>
              <a:t>Compliance</a:t>
            </a:r>
            <a:endParaRPr kumimoji="0" sz="4800" b="1" i="0" u="none" strike="noStrike" kern="1200" cap="none" spc="0" normalizeH="0" baseline="0" noProof="0">
              <a:ln>
                <a:noFill/>
              </a:ln>
              <a:solidFill>
                <a:srgbClr val="1155CC"/>
              </a:solidFill>
              <a:effectLst/>
              <a:uLnTx/>
              <a:uFillTx/>
              <a:latin typeface="Arial" panose="020B0604020202020204"/>
              <a:ea typeface="+mn-ea"/>
              <a:cs typeface="+mn-cs"/>
            </a:endParaRPr>
          </a:p>
        </p:txBody>
      </p:sp>
      <p:sp>
        <p:nvSpPr>
          <p:cNvPr id="5" name="Google Shape;203;p35">
            <a:extLst>
              <a:ext uri="{FF2B5EF4-FFF2-40B4-BE49-F238E27FC236}">
                <a16:creationId xmlns:a16="http://schemas.microsoft.com/office/drawing/2014/main" id="{A34E20B2-2B16-D5B4-EBD5-F791D1C2BFD1}"/>
              </a:ext>
            </a:extLst>
          </p:cNvPr>
          <p:cNvSpPr/>
          <p:nvPr/>
        </p:nvSpPr>
        <p:spPr>
          <a:xfrm>
            <a:off x="3976644" y="1525668"/>
            <a:ext cx="3415500" cy="3415500"/>
          </a:xfrm>
          <a:prstGeom prst="ellipse">
            <a:avLst/>
          </a:prstGeom>
          <a:solidFill>
            <a:srgbClr val="92D050">
              <a:alpha val="34118"/>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 name="Google Shape;207;p35">
            <a:extLst>
              <a:ext uri="{FF2B5EF4-FFF2-40B4-BE49-F238E27FC236}">
                <a16:creationId xmlns:a16="http://schemas.microsoft.com/office/drawing/2014/main" id="{38070BE0-DF9A-DC29-591A-17A3D70BD7B8}"/>
              </a:ext>
            </a:extLst>
          </p:cNvPr>
          <p:cNvSpPr txBox="1"/>
          <p:nvPr/>
        </p:nvSpPr>
        <p:spPr>
          <a:xfrm>
            <a:off x="4087012" y="-27384"/>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00B050"/>
                </a:solidFill>
                <a:effectLst/>
                <a:uLnTx/>
                <a:uFillTx/>
                <a:latin typeface="Arial" panose="020B0604020202020204"/>
                <a:ea typeface="+mn-ea"/>
                <a:cs typeface="+mn-cs"/>
              </a:rPr>
              <a:t>Research Integrity</a:t>
            </a:r>
          </a:p>
        </p:txBody>
      </p:sp>
      <p:sp>
        <p:nvSpPr>
          <p:cNvPr id="2" name="TextBox 1">
            <a:extLst>
              <a:ext uri="{FF2B5EF4-FFF2-40B4-BE49-F238E27FC236}">
                <a16:creationId xmlns:a16="http://schemas.microsoft.com/office/drawing/2014/main" id="{2BC2F561-15C5-CE64-0F32-7F19B66E7042}"/>
              </a:ext>
            </a:extLst>
          </p:cNvPr>
          <p:cNvSpPr txBox="1"/>
          <p:nvPr/>
        </p:nvSpPr>
        <p:spPr>
          <a:xfrm>
            <a:off x="7536160" y="404664"/>
            <a:ext cx="3816424"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a:ea typeface="+mn-ea"/>
                <a:cs typeface="+mn-cs"/>
              </a:rPr>
              <a:t>Research integrity</a:t>
            </a: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 primarily concerns the </a:t>
            </a:r>
            <a:r>
              <a:rPr kumimoji="0" lang="en-US" sz="1800" b="1" i="0" u="none" strike="noStrike" kern="1200" cap="none" spc="0" normalizeH="0" baseline="0" noProof="0">
                <a:ln>
                  <a:noFill/>
                </a:ln>
                <a:solidFill>
                  <a:prstClr val="black"/>
                </a:solidFill>
                <a:effectLst/>
                <a:highlight>
                  <a:srgbClr val="9ACBB6"/>
                </a:highlight>
                <a:uLnTx/>
                <a:uFillTx/>
                <a:latin typeface="Arial" panose="020B0604020202020204"/>
                <a:ea typeface="+mn-ea"/>
                <a:cs typeface="+mn-cs"/>
              </a:rPr>
              <a:t>practice</a:t>
            </a: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 </a:t>
            </a:r>
            <a:r>
              <a:rPr kumimoji="0" lang="en-US" sz="1800" b="1" i="0" u="none" strike="noStrike" kern="1200" cap="none" spc="0" normalizeH="0" baseline="0" noProof="0">
                <a:ln>
                  <a:noFill/>
                </a:ln>
                <a:solidFill>
                  <a:prstClr val="black"/>
                </a:solidFill>
                <a:effectLst/>
                <a:uLnTx/>
                <a:uFillTx/>
                <a:latin typeface="Arial" panose="020B0604020202020204"/>
                <a:ea typeface="+mn-ea"/>
                <a:cs typeface="+mn-cs"/>
              </a:rPr>
              <a:t>researchers’ actions and </a:t>
            </a:r>
            <a:r>
              <a:rPr kumimoji="0" lang="en-US" sz="1800" b="1" i="0" u="none" strike="noStrike" kern="1200" cap="none" spc="0" normalizeH="0" baseline="0" noProof="0" err="1">
                <a:ln>
                  <a:noFill/>
                </a:ln>
                <a:solidFill>
                  <a:prstClr val="black"/>
                </a:solidFill>
                <a:effectLst/>
                <a:uLnTx/>
                <a:uFillTx/>
                <a:latin typeface="Arial" panose="020B0604020202020204"/>
                <a:ea typeface="+mn-ea"/>
                <a:cs typeface="+mn-cs"/>
              </a:rPr>
              <a:t>behaviours</a:t>
            </a: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 following the rules and regulations governing their disciplines (</a:t>
            </a:r>
            <a:r>
              <a:rPr kumimoji="0" lang="en-US" sz="1800" b="1" i="0" u="none" strike="noStrike" kern="1200" cap="none" spc="0" normalizeH="0" baseline="0" noProof="0">
                <a:ln>
                  <a:noFill/>
                </a:ln>
                <a:solidFill>
                  <a:prstClr val="black"/>
                </a:solidFill>
                <a:effectLst/>
                <a:uLnTx/>
                <a:uFillTx/>
                <a:latin typeface="Arial" panose="020B0604020202020204"/>
                <a:ea typeface="+mn-ea"/>
                <a:cs typeface="+mn-cs"/>
              </a:rPr>
              <a:t>Reliability, Honesty, Respect, Accountability</a:t>
            </a: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a:t>
            </a: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86F88376-CCD8-46D9-6450-F121034087FA}"/>
              </a:ext>
            </a:extLst>
          </p:cNvPr>
          <p:cNvSpPr txBox="1"/>
          <p:nvPr/>
        </p:nvSpPr>
        <p:spPr>
          <a:xfrm>
            <a:off x="623392" y="1772816"/>
            <a:ext cx="3137228"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a:ea typeface="+mn-ea"/>
                <a:cs typeface="+mn-cs"/>
              </a:rPr>
              <a:t>Research ethics</a:t>
            </a: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 is a set of </a:t>
            </a:r>
            <a:r>
              <a:rPr kumimoji="0" lang="en-US" sz="1800" b="1" i="0" u="none" strike="noStrike" kern="1200" cap="none" spc="0" normalizeH="0" baseline="0" noProof="0">
                <a:ln>
                  <a:noFill/>
                </a:ln>
                <a:solidFill>
                  <a:prstClr val="black"/>
                </a:solidFill>
                <a:effectLst/>
                <a:highlight>
                  <a:srgbClr val="FACFBE"/>
                </a:highlight>
                <a:uLnTx/>
                <a:uFillTx/>
                <a:latin typeface="Arial" panose="020B0604020202020204"/>
                <a:ea typeface="+mn-ea"/>
                <a:cs typeface="+mn-cs"/>
              </a:rPr>
              <a:t>principles</a:t>
            </a: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 that researchers must follow for conducting research (</a:t>
            </a:r>
            <a:r>
              <a:rPr kumimoji="0" lang="en-US" sz="1800" b="1" i="0" u="none" strike="noStrike" kern="1200" cap="none" spc="0" normalizeH="0" baseline="0" noProof="0" err="1">
                <a:ln>
                  <a:noFill/>
                </a:ln>
                <a:solidFill>
                  <a:prstClr val="black"/>
                </a:solidFill>
                <a:effectLst/>
                <a:uLnTx/>
                <a:uFillTx/>
                <a:latin typeface="Arial" panose="020B0604020202020204"/>
                <a:ea typeface="+mn-ea"/>
                <a:cs typeface="+mn-cs"/>
              </a:rPr>
              <a:t>Beneficience</a:t>
            </a:r>
            <a:r>
              <a:rPr kumimoji="0" lang="en-US" sz="1800" b="1" i="0" u="none" strike="noStrike" kern="1200" cap="none" spc="0" normalizeH="0" baseline="0" noProof="0">
                <a:ln>
                  <a:noFill/>
                </a:ln>
                <a:solidFill>
                  <a:prstClr val="black"/>
                </a:solidFill>
                <a:effectLst/>
                <a:uLnTx/>
                <a:uFillTx/>
                <a:latin typeface="Arial" panose="020B0604020202020204"/>
                <a:ea typeface="+mn-ea"/>
                <a:cs typeface="+mn-cs"/>
              </a:rPr>
              <a:t>, </a:t>
            </a:r>
            <a:r>
              <a:rPr kumimoji="0" lang="en-US" sz="1800" b="1" i="0" u="none" strike="noStrike" kern="1200" cap="none" spc="0" normalizeH="0" baseline="0" noProof="0" err="1">
                <a:ln>
                  <a:noFill/>
                </a:ln>
                <a:solidFill>
                  <a:prstClr val="black"/>
                </a:solidFill>
                <a:effectLst/>
                <a:uLnTx/>
                <a:uFillTx/>
                <a:latin typeface="Arial" panose="020B0604020202020204"/>
                <a:ea typeface="+mn-ea"/>
                <a:cs typeface="+mn-cs"/>
              </a:rPr>
              <a:t>Nonmaleficience</a:t>
            </a:r>
            <a:r>
              <a:rPr kumimoji="0" lang="en-US" sz="1800" b="1" i="0" u="none" strike="noStrike" kern="1200" cap="none" spc="0" normalizeH="0" baseline="0" noProof="0">
                <a:ln>
                  <a:noFill/>
                </a:ln>
                <a:solidFill>
                  <a:prstClr val="black"/>
                </a:solidFill>
                <a:effectLst/>
                <a:uLnTx/>
                <a:uFillTx/>
                <a:latin typeface="Arial" panose="020B0604020202020204"/>
                <a:ea typeface="+mn-ea"/>
                <a:cs typeface="+mn-cs"/>
              </a:rPr>
              <a:t>, Autonomy, Justice</a:t>
            </a: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a:t>
            </a: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3" name="Footer Placeholder 12">
            <a:extLst>
              <a:ext uri="{FF2B5EF4-FFF2-40B4-BE49-F238E27FC236}">
                <a16:creationId xmlns:a16="http://schemas.microsoft.com/office/drawing/2014/main" id="{7855CDCF-DBA5-0E09-2ECA-D7D9806450B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F2170C76-32D7-3ACB-F4E2-A10C9CA1796A}"/>
              </a:ext>
            </a:extLst>
          </p:cNvPr>
          <p:cNvSpPr txBox="1"/>
          <p:nvPr/>
        </p:nvSpPr>
        <p:spPr>
          <a:xfrm>
            <a:off x="7654571" y="4838670"/>
            <a:ext cx="4129441" cy="2046714"/>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a:ea typeface="+mn-ea"/>
                <a:cs typeface="+mn-cs"/>
              </a:rPr>
              <a:t>Research compliance</a:t>
            </a: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 involves the </a:t>
            </a:r>
            <a:r>
              <a:rPr kumimoji="0" lang="en-US" sz="1800" b="1" i="0" u="none" strike="noStrike" kern="1200" cap="none" spc="0" normalizeH="0" baseline="0" noProof="0">
                <a:ln>
                  <a:noFill/>
                </a:ln>
                <a:solidFill>
                  <a:prstClr val="white"/>
                </a:solidFill>
                <a:effectLst/>
                <a:highlight>
                  <a:srgbClr val="0000FF"/>
                </a:highlight>
                <a:uLnTx/>
                <a:uFillTx/>
                <a:latin typeface="Arial" panose="020B0604020202020204"/>
                <a:ea typeface="+mn-ea"/>
                <a:cs typeface="+mn-cs"/>
              </a:rPr>
              <a:t>adherence</a:t>
            </a: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 to regulations, directives, and national laws that apply to research and research outputs </a:t>
            </a:r>
            <a:r>
              <a:rPr kumimoji="0" lang="en-US" sz="1100" b="1" i="0" u="none" strike="noStrike" kern="1200" cap="none" spc="0" normalizeH="0" baseline="0" noProof="0">
                <a:ln>
                  <a:noFill/>
                </a:ln>
                <a:solidFill>
                  <a:prstClr val="black"/>
                </a:solidFill>
                <a:effectLst/>
                <a:uLnTx/>
                <a:uFillTx/>
                <a:latin typeface="Arial" panose="020B0604020202020204"/>
                <a:ea typeface="+mn-ea"/>
                <a:cs typeface="+mn-cs"/>
              </a:rPr>
              <a:t>(General Data Protection Regulation, Dual Use and Export Control regulation, Sanctions regulation, Medical Device Regulation, Clinical Trial regulation, Animal Welfare directive, Finnish Act on the Secondary Use of Health and Social Data …</a:t>
            </a: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a:t>
            </a:r>
            <a:endParaRPr kumimoji="0" lang="en-FI" sz="11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68652104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BAA22-A720-6FB8-C81D-E4180D5860C0}"/>
              </a:ext>
            </a:extLst>
          </p:cNvPr>
          <p:cNvSpPr>
            <a:spLocks noGrp="1"/>
          </p:cNvSpPr>
          <p:nvPr>
            <p:ph type="title"/>
          </p:nvPr>
        </p:nvSpPr>
        <p:spPr/>
        <p:txBody>
          <a:bodyPr/>
          <a:lstStyle/>
          <a:p>
            <a:r>
              <a:rPr lang="en-FI"/>
              <a:t>Example of tensions between the three dimensions</a:t>
            </a:r>
          </a:p>
        </p:txBody>
      </p:sp>
      <p:sp>
        <p:nvSpPr>
          <p:cNvPr id="3" name="Date Placeholder 2">
            <a:extLst>
              <a:ext uri="{FF2B5EF4-FFF2-40B4-BE49-F238E27FC236}">
                <a16:creationId xmlns:a16="http://schemas.microsoft.com/office/drawing/2014/main" id="{C16DA0BB-88B2-445D-6973-FFA8C407FA83}"/>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Footer Placeholder 3">
            <a:extLst>
              <a:ext uri="{FF2B5EF4-FFF2-40B4-BE49-F238E27FC236}">
                <a16:creationId xmlns:a16="http://schemas.microsoft.com/office/drawing/2014/main" id="{80D12689-D640-A914-AD8D-40B297403F7B}"/>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188DB17C-E80A-1067-31EC-A034F4A4895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ext Placeholder 5">
            <a:extLst>
              <a:ext uri="{FF2B5EF4-FFF2-40B4-BE49-F238E27FC236}">
                <a16:creationId xmlns:a16="http://schemas.microsoft.com/office/drawing/2014/main" id="{EB0F94BA-4829-A84C-86C1-C75BF0DEFD76}"/>
              </a:ext>
            </a:extLst>
          </p:cNvPr>
          <p:cNvSpPr>
            <a:spLocks noGrp="1"/>
          </p:cNvSpPr>
          <p:nvPr>
            <p:ph type="body" sz="quarter" idx="13"/>
          </p:nvPr>
        </p:nvSpPr>
        <p:spPr/>
        <p:txBody>
          <a:bodyPr/>
          <a:lstStyle/>
          <a:p>
            <a:pPr marL="457200" indent="-457200">
              <a:buFont typeface="Arial" panose="020B0604020202020204" pitchFamily="34" charset="0"/>
              <a:buChar char="•"/>
            </a:pPr>
            <a:r>
              <a:rPr lang="en-FI" b="1"/>
              <a:t>Academic freedom</a:t>
            </a:r>
            <a:r>
              <a:rPr lang="en-FI"/>
              <a:t> can be limited by research compliance</a:t>
            </a:r>
          </a:p>
          <a:p>
            <a:pPr marL="457200" indent="-457200">
              <a:buFont typeface="Arial" panose="020B0604020202020204" pitchFamily="34" charset="0"/>
              <a:buChar char="•"/>
            </a:pPr>
            <a:r>
              <a:rPr lang="en-FI" b="1"/>
              <a:t>Open science practices</a:t>
            </a:r>
            <a:r>
              <a:rPr lang="en-FI"/>
              <a:t> can be limited by ethics and/or law</a:t>
            </a:r>
          </a:p>
          <a:p>
            <a:pPr marL="457200" indent="-457200">
              <a:buFont typeface="Arial" panose="020B0604020202020204" pitchFamily="34" charset="0"/>
              <a:buChar char="•"/>
            </a:pPr>
            <a:r>
              <a:rPr lang="en-FI" b="1"/>
              <a:t>Adherence to ethics</a:t>
            </a:r>
            <a:r>
              <a:rPr lang="en-FI"/>
              <a:t> can put your research career at risk</a:t>
            </a:r>
          </a:p>
          <a:p>
            <a:pPr marL="457200" indent="-457200">
              <a:buFont typeface="Arial" panose="020B0604020202020204" pitchFamily="34" charset="0"/>
              <a:buChar char="•"/>
            </a:pPr>
            <a:r>
              <a:rPr lang="en-GB" i="1"/>
              <a:t>A</a:t>
            </a:r>
            <a:r>
              <a:rPr lang="en-FI" i="1"/>
              <a:t>dd more…?</a:t>
            </a:r>
          </a:p>
        </p:txBody>
      </p:sp>
    </p:spTree>
    <p:extLst>
      <p:ext uri="{BB962C8B-B14F-4D97-AF65-F5344CB8AC3E}">
        <p14:creationId xmlns:p14="http://schemas.microsoft.com/office/powerpoint/2010/main" val="224952962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6E755-ECEF-0940-3C82-7CE340D1370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583C2E5-C5C6-6BFC-5B1B-3D450C4E06C4}"/>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28.04.2026</a:t>
            </a:r>
          </a:p>
        </p:txBody>
      </p:sp>
      <p:sp>
        <p:nvSpPr>
          <p:cNvPr id="3" name="Slide Number Placeholder 2">
            <a:extLst>
              <a:ext uri="{FF2B5EF4-FFF2-40B4-BE49-F238E27FC236}">
                <a16:creationId xmlns:a16="http://schemas.microsoft.com/office/drawing/2014/main" id="{CA73A429-BA1D-3189-29E8-5FB753AAA97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04C80983-7644-C4FE-3DC4-45E62CE0E0B1}"/>
              </a:ext>
            </a:extLst>
          </p:cNvPr>
          <p:cNvSpPr>
            <a:spLocks noGrp="1"/>
          </p:cNvSpPr>
          <p:nvPr>
            <p:ph type="ctrTitle"/>
          </p:nvPr>
        </p:nvSpPr>
        <p:spPr/>
        <p:txBody>
          <a:bodyPr/>
          <a:lstStyle/>
          <a:p>
            <a:r>
              <a:rPr lang="en-US"/>
              <a:t>Research Ethics in the European Union</a:t>
            </a:r>
            <a:endParaRPr lang="en-FI"/>
          </a:p>
        </p:txBody>
      </p:sp>
      <p:sp>
        <p:nvSpPr>
          <p:cNvPr id="7" name="Footer Placeholder 6">
            <a:extLst>
              <a:ext uri="{FF2B5EF4-FFF2-40B4-BE49-F238E27FC236}">
                <a16:creationId xmlns:a16="http://schemas.microsoft.com/office/drawing/2014/main" id="{F9D8408F-E321-04F0-6235-3E806CEABCA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302554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024E4-FE91-970B-2DCA-DBCBA93E9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CC4D2-EBBC-B23B-0943-30F51777B1FC}"/>
              </a:ext>
            </a:extLst>
          </p:cNvPr>
          <p:cNvSpPr>
            <a:spLocks noGrp="1"/>
          </p:cNvSpPr>
          <p:nvPr>
            <p:ph type="title"/>
          </p:nvPr>
        </p:nvSpPr>
        <p:spPr/>
        <p:txBody>
          <a:bodyPr/>
          <a:lstStyle/>
          <a:p>
            <a:r>
              <a:rPr lang="en-US"/>
              <a:t>The four principles for ethics in research</a:t>
            </a:r>
          </a:p>
        </p:txBody>
      </p:sp>
      <p:graphicFrame>
        <p:nvGraphicFramePr>
          <p:cNvPr id="3" name="Content Placeholder 2">
            <a:extLst>
              <a:ext uri="{FF2B5EF4-FFF2-40B4-BE49-F238E27FC236}">
                <a16:creationId xmlns:a16="http://schemas.microsoft.com/office/drawing/2014/main" id="{23AF59AA-92A5-6BB5-181E-0960B5ECE92D}"/>
              </a:ext>
            </a:extLst>
          </p:cNvPr>
          <p:cNvGraphicFramePr>
            <a:graphicFrameLocks noGrp="1"/>
          </p:cNvGraphicFramePr>
          <p:nvPr>
            <p:ph sz="half" idx="2"/>
          </p:nvPr>
        </p:nvGraphicFramePr>
        <p:xfrm>
          <a:off x="1287855" y="1780967"/>
          <a:ext cx="8336537" cy="4564713"/>
        </p:xfrm>
        <a:graphic>
          <a:graphicData uri="http://schemas.openxmlformats.org/drawingml/2006/table">
            <a:tbl>
              <a:tblPr/>
              <a:tblGrid>
                <a:gridCol w="2866879">
                  <a:extLst>
                    <a:ext uri="{9D8B030D-6E8A-4147-A177-3AD203B41FA5}">
                      <a16:colId xmlns:a16="http://schemas.microsoft.com/office/drawing/2014/main" val="667454194"/>
                    </a:ext>
                  </a:extLst>
                </a:gridCol>
                <a:gridCol w="5469658">
                  <a:extLst>
                    <a:ext uri="{9D8B030D-6E8A-4147-A177-3AD203B41FA5}">
                      <a16:colId xmlns:a16="http://schemas.microsoft.com/office/drawing/2014/main" val="3591264334"/>
                    </a:ext>
                  </a:extLst>
                </a:gridCol>
              </a:tblGrid>
              <a:tr h="285825">
                <a:tc>
                  <a:txBody>
                    <a:bodyPr/>
                    <a:lstStyle/>
                    <a:p>
                      <a:pPr algn="l"/>
                      <a:r>
                        <a:rPr lang="en-GB" sz="1800" b="1" i="1">
                          <a:effectLst/>
                        </a:rPr>
                        <a:t>Principle</a:t>
                      </a:r>
                      <a:endParaRPr lang="en-GB" sz="1800" i="1">
                        <a:effectLst/>
                      </a:endParaRP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lang="en-GB" sz="1800" b="1" i="1">
                          <a:effectLst/>
                        </a:rPr>
                        <a:t>Definition</a:t>
                      </a:r>
                      <a:endParaRPr lang="en-GB" sz="1800" i="1">
                        <a:effectLst/>
                      </a:endParaRP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070647420"/>
                  </a:ext>
                </a:extLst>
              </a:tr>
              <a:tr h="909361">
                <a:tc>
                  <a:txBody>
                    <a:bodyPr/>
                    <a:lstStyle/>
                    <a:p>
                      <a:r>
                        <a:rPr lang="en-GB" sz="1800" b="1">
                          <a:effectLst/>
                        </a:rPr>
                        <a:t>Beneficence</a:t>
                      </a:r>
                      <a:endParaRPr lang="en-GB" sz="1800">
                        <a:effectLst/>
                      </a:endParaRP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800">
                          <a:effectLst/>
                        </a:rPr>
                        <a:t>Do only good: Promote well-being, preserve dignity, and sustain the environment.</a:t>
                      </a: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7617993"/>
                  </a:ext>
                </a:extLst>
              </a:tr>
              <a:tr h="946680">
                <a:tc>
                  <a:txBody>
                    <a:bodyPr/>
                    <a:lstStyle/>
                    <a:p>
                      <a:r>
                        <a:rPr lang="en-GB" sz="1800" b="1">
                          <a:effectLst/>
                        </a:rPr>
                        <a:t>Nonmaleficence</a:t>
                      </a:r>
                      <a:endParaRPr lang="en-GB" sz="1800">
                        <a:effectLst/>
                      </a:endParaRP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800">
                          <a:effectLst/>
                        </a:rPr>
                        <a:t>Do no harm: Avoid harm by ensuring privacy, security, and fundamental rights.</a:t>
                      </a: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16222328"/>
                  </a:ext>
                </a:extLst>
              </a:tr>
              <a:tr h="719903">
                <a:tc>
                  <a:txBody>
                    <a:bodyPr/>
                    <a:lstStyle/>
                    <a:p>
                      <a:r>
                        <a:rPr lang="en-GB" sz="1800" b="1">
                          <a:effectLst/>
                        </a:rPr>
                        <a:t>Autonomy</a:t>
                      </a:r>
                      <a:endParaRPr lang="en-GB" sz="1800">
                        <a:effectLst/>
                      </a:endParaRP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800">
                          <a:effectLst/>
                        </a:rPr>
                        <a:t>Preserve human decision-making and dignity</a:t>
                      </a: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767034"/>
                  </a:ext>
                </a:extLst>
              </a:tr>
              <a:tr h="719903">
                <a:tc>
                  <a:txBody>
                    <a:bodyPr/>
                    <a:lstStyle/>
                    <a:p>
                      <a:r>
                        <a:rPr lang="en-GB" sz="1800" b="1">
                          <a:effectLst/>
                        </a:rPr>
                        <a:t>Justice</a:t>
                      </a:r>
                      <a:endParaRPr lang="en-GB" sz="1800">
                        <a:effectLst/>
                      </a:endParaRP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800">
                          <a:effectLst/>
                        </a:rPr>
                        <a:t>Promote fairness and solidarity: Ensure equitable outcomes and avoid discrimination.</a:t>
                      </a: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32258048"/>
                  </a:ext>
                </a:extLst>
              </a:tr>
              <a:tr h="946680">
                <a:tc>
                  <a:txBody>
                    <a:bodyPr/>
                    <a:lstStyle/>
                    <a:p>
                      <a:endParaRPr lang="en-GB" sz="1800">
                        <a:effectLst/>
                      </a:endParaRP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GB" sz="1800">
                        <a:effectLst/>
                      </a:endParaRPr>
                    </a:p>
                  </a:txBody>
                  <a:tcPr marL="47866" marR="47866" marT="23933" marB="2393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95574677"/>
                  </a:ext>
                </a:extLst>
              </a:tr>
            </a:tbl>
          </a:graphicData>
        </a:graphic>
      </p:graphicFrame>
      <p:sp>
        <p:nvSpPr>
          <p:cNvPr id="8" name="Slide Number Placeholder 7">
            <a:extLst>
              <a:ext uri="{FF2B5EF4-FFF2-40B4-BE49-F238E27FC236}">
                <a16:creationId xmlns:a16="http://schemas.microsoft.com/office/drawing/2014/main" id="{6A911B3E-D23F-84D8-1A32-70EE4D2E974D}"/>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 name="Date Placeholder 3">
            <a:extLst>
              <a:ext uri="{FF2B5EF4-FFF2-40B4-BE49-F238E27FC236}">
                <a16:creationId xmlns:a16="http://schemas.microsoft.com/office/drawing/2014/main" id="{BA16D7B9-0D37-8902-6554-88C88050F2B4}"/>
              </a:ext>
              <a:ext uri="{C183D7F6-B498-43B3-948B-1728B52AA6E4}">
                <adec:decorative xmlns:adec="http://schemas.microsoft.com/office/drawing/2017/decorative" val="0"/>
              </a:ext>
            </a:extLst>
          </p:cNvPr>
          <p:cNvSpPr>
            <a:spLocks noGrp="1"/>
          </p:cNvSpPr>
          <p:nvPr>
            <p:ph type="dt" sz="half" idx="10"/>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6" name="TextBox 5">
            <a:extLst>
              <a:ext uri="{FF2B5EF4-FFF2-40B4-BE49-F238E27FC236}">
                <a16:creationId xmlns:a16="http://schemas.microsoft.com/office/drawing/2014/main" id="{99C5A31E-4B52-ADC2-0658-CCA71907F114}"/>
              </a:ext>
            </a:extLst>
          </p:cNvPr>
          <p:cNvSpPr txBox="1"/>
          <p:nvPr/>
        </p:nvSpPr>
        <p:spPr>
          <a:xfrm>
            <a:off x="2423592" y="6016932"/>
            <a:ext cx="4495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1" u="none" strike="noStrike" kern="1200" cap="none" spc="0" normalizeH="0" baseline="0" noProof="0">
                <a:ln>
                  <a:noFill/>
                </a:ln>
                <a:solidFill>
                  <a:prstClr val="black"/>
                </a:solidFill>
                <a:effectLst/>
                <a:uLnTx/>
                <a:uFillTx/>
                <a:latin typeface="Arial" panose="020B0604020202020204"/>
                <a:ea typeface="+mn-ea"/>
                <a:cs typeface="+mn-cs"/>
              </a:rPr>
              <a:t>Adapted from </a:t>
            </a:r>
            <a:r>
              <a:rPr kumimoji="0" lang="en-GB" sz="1600" b="0" i="1" u="none" strike="noStrike" kern="1200" cap="none" spc="0" normalizeH="0" baseline="0" noProof="0">
                <a:ln>
                  <a:noFill/>
                </a:ln>
                <a:solidFill>
                  <a:prstClr val="black"/>
                </a:solidFill>
                <a:effectLst/>
                <a:uLnTx/>
                <a:uFillTx/>
                <a:latin typeface="Arial" panose="020B0604020202020204"/>
                <a:ea typeface="+mn-ea"/>
                <a:cs typeface="+mn-cs"/>
                <a:hlinkClick r:id="rId2"/>
              </a:rPr>
              <a:t>Beauchamp &amp; Childress</a:t>
            </a:r>
            <a:r>
              <a:rPr kumimoji="0" lang="en-GB" sz="1600" b="0" i="1" u="none" strike="noStrike" kern="1200" cap="none" spc="0" normalizeH="0" baseline="0" noProof="0">
                <a:ln>
                  <a:noFill/>
                </a:ln>
                <a:solidFill>
                  <a:prstClr val="black"/>
                </a:solidFill>
                <a:effectLst/>
                <a:uLnTx/>
                <a:uFillTx/>
                <a:latin typeface="Arial" panose="020B0604020202020204"/>
                <a:ea typeface="+mn-ea"/>
                <a:cs typeface="+mn-cs"/>
              </a:rPr>
              <a:t> (2019)</a:t>
            </a:r>
            <a:endParaRPr kumimoji="0" lang="en-GB" sz="16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5" name="Footer Placeholder 4">
            <a:extLst>
              <a:ext uri="{FF2B5EF4-FFF2-40B4-BE49-F238E27FC236}">
                <a16:creationId xmlns:a16="http://schemas.microsoft.com/office/drawing/2014/main" id="{66213723-8179-220B-C79C-B49606713AFE}"/>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87997523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ECAED-DDD1-40FF-275F-5580A16538F8}"/>
              </a:ext>
            </a:extLst>
          </p:cNvPr>
          <p:cNvSpPr>
            <a:spLocks noGrp="1"/>
          </p:cNvSpPr>
          <p:nvPr>
            <p:ph type="title"/>
          </p:nvPr>
        </p:nvSpPr>
        <p:spPr/>
        <p:txBody>
          <a:bodyPr/>
          <a:lstStyle/>
          <a:p>
            <a:r>
              <a:rPr lang="en-US"/>
              <a:t>Ethical self evaluation: the dimensions to consider when assessing the ethicality of your research (Horizon Europe)</a:t>
            </a:r>
            <a:endParaRPr lang="en-FI"/>
          </a:p>
        </p:txBody>
      </p:sp>
      <p:sp>
        <p:nvSpPr>
          <p:cNvPr id="3" name="Date Placeholder 2">
            <a:extLst>
              <a:ext uri="{FF2B5EF4-FFF2-40B4-BE49-F238E27FC236}">
                <a16:creationId xmlns:a16="http://schemas.microsoft.com/office/drawing/2014/main" id="{331D2B60-9285-F440-97D8-646E9A351ABB}"/>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Footer Placeholder 3">
            <a:extLst>
              <a:ext uri="{FF2B5EF4-FFF2-40B4-BE49-F238E27FC236}">
                <a16:creationId xmlns:a16="http://schemas.microsoft.com/office/drawing/2014/main" id="{14D001E4-54E7-8A3F-9F1D-A115E06208B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D7A910A4-42BE-C028-66F0-B1972A297D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ext Placeholder 5">
            <a:extLst>
              <a:ext uri="{FF2B5EF4-FFF2-40B4-BE49-F238E27FC236}">
                <a16:creationId xmlns:a16="http://schemas.microsoft.com/office/drawing/2014/main" id="{7162081F-F6F7-478A-CDAD-3FD843BD23F4}"/>
              </a:ext>
            </a:extLst>
          </p:cNvPr>
          <p:cNvSpPr>
            <a:spLocks noGrp="1"/>
          </p:cNvSpPr>
          <p:nvPr>
            <p:ph type="body" sz="quarter" idx="13"/>
          </p:nvPr>
        </p:nvSpPr>
        <p:spPr>
          <a:xfrm>
            <a:off x="1055688" y="1484784"/>
            <a:ext cx="10872960" cy="3671886"/>
          </a:xfrm>
        </p:spPr>
        <p:txBody>
          <a:bodyPr/>
          <a:lstStyle/>
          <a:p>
            <a:pPr marL="514350" indent="-514350">
              <a:buFont typeface="+mj-lt"/>
              <a:buAutoNum type="arabicPeriod"/>
            </a:pPr>
            <a:r>
              <a:rPr lang="en-US" sz="2400"/>
              <a:t>Medical research with </a:t>
            </a:r>
            <a:r>
              <a:rPr lang="en-US" sz="2400" b="1"/>
              <a:t>human</a:t>
            </a:r>
            <a:r>
              <a:rPr lang="en-US" sz="2400"/>
              <a:t> participants, human organs, tissues and cells</a:t>
            </a:r>
          </a:p>
          <a:p>
            <a:pPr marL="514350" indent="-514350">
              <a:buFont typeface="+mj-lt"/>
              <a:buAutoNum type="arabicPeriod"/>
            </a:pPr>
            <a:r>
              <a:rPr lang="en-US" sz="2400"/>
              <a:t>Non-medical research with </a:t>
            </a:r>
            <a:r>
              <a:rPr lang="en-US" sz="2400" b="1"/>
              <a:t>human</a:t>
            </a:r>
            <a:r>
              <a:rPr lang="en-US" sz="2400"/>
              <a:t> participants</a:t>
            </a:r>
          </a:p>
          <a:p>
            <a:pPr marL="514350" indent="-514350">
              <a:buFont typeface="+mj-lt"/>
              <a:buAutoNum type="arabicPeriod"/>
            </a:pPr>
            <a:r>
              <a:rPr lang="en-US" sz="2400"/>
              <a:t>Processing of </a:t>
            </a:r>
            <a:r>
              <a:rPr lang="en-US" sz="2400" b="1"/>
              <a:t>personal</a:t>
            </a:r>
            <a:r>
              <a:rPr lang="en-US" sz="2400"/>
              <a:t> data</a:t>
            </a:r>
          </a:p>
          <a:p>
            <a:pPr marL="514350" indent="-514350">
              <a:buFont typeface="+mj-lt"/>
              <a:buAutoNum type="arabicPeriod"/>
            </a:pPr>
            <a:r>
              <a:rPr lang="en-US" sz="2400"/>
              <a:t>Research with </a:t>
            </a:r>
            <a:r>
              <a:rPr lang="en-US" sz="2400" b="1"/>
              <a:t>animals</a:t>
            </a:r>
          </a:p>
          <a:p>
            <a:pPr marL="514350" indent="-514350">
              <a:buFont typeface="+mj-lt"/>
              <a:buAutoNum type="arabicPeriod"/>
            </a:pPr>
            <a:r>
              <a:rPr lang="en-US" sz="2400"/>
              <a:t>Research in </a:t>
            </a:r>
            <a:r>
              <a:rPr lang="en-US" sz="2400" b="1"/>
              <a:t>non-EU</a:t>
            </a:r>
            <a:r>
              <a:rPr lang="en-US" sz="2400"/>
              <a:t> countries, global south/developing countries</a:t>
            </a:r>
          </a:p>
          <a:p>
            <a:pPr marL="514350" indent="-514350">
              <a:buFont typeface="+mj-lt"/>
              <a:buAutoNum type="arabicPeriod"/>
            </a:pPr>
            <a:r>
              <a:rPr lang="en-US" sz="2400" b="1"/>
              <a:t>Environment</a:t>
            </a:r>
            <a:r>
              <a:rPr lang="en-US" sz="2400"/>
              <a:t> &amp; safety</a:t>
            </a:r>
          </a:p>
          <a:p>
            <a:pPr marL="514350" indent="-514350">
              <a:buFont typeface="+mj-lt"/>
              <a:buAutoNum type="arabicPeriod"/>
            </a:pPr>
            <a:r>
              <a:rPr lang="en-US" sz="2400" b="1"/>
              <a:t>Artificial Intelligence</a:t>
            </a:r>
          </a:p>
          <a:p>
            <a:pPr marL="514350" indent="-514350">
              <a:buFont typeface="+mj-lt"/>
              <a:buAutoNum type="arabicPeriod"/>
            </a:pPr>
            <a:r>
              <a:rPr lang="en-US" sz="2400" b="1"/>
              <a:t>Dual use</a:t>
            </a:r>
            <a:r>
              <a:rPr lang="en-US" sz="2400"/>
              <a:t> items</a:t>
            </a:r>
          </a:p>
          <a:p>
            <a:pPr marL="514350" indent="-514350">
              <a:buFont typeface="+mj-lt"/>
              <a:buAutoNum type="arabicPeriod"/>
            </a:pPr>
            <a:r>
              <a:rPr lang="en-US" sz="2400"/>
              <a:t>Potential </a:t>
            </a:r>
            <a:r>
              <a:rPr lang="en-US" sz="2400" b="1"/>
              <a:t>misuse</a:t>
            </a:r>
            <a:r>
              <a:rPr lang="en-US" sz="2400"/>
              <a:t> of results</a:t>
            </a:r>
            <a:endParaRPr lang="en-FI" sz="2400"/>
          </a:p>
        </p:txBody>
      </p:sp>
      <p:sp>
        <p:nvSpPr>
          <p:cNvPr id="8" name="TextBox 7">
            <a:extLst>
              <a:ext uri="{FF2B5EF4-FFF2-40B4-BE49-F238E27FC236}">
                <a16:creationId xmlns:a16="http://schemas.microsoft.com/office/drawing/2014/main" id="{84FCE8C1-C87F-47CF-2F33-893D026294CE}"/>
              </a:ext>
            </a:extLst>
          </p:cNvPr>
          <p:cNvSpPr txBox="1"/>
          <p:nvPr/>
        </p:nvSpPr>
        <p:spPr>
          <a:xfrm>
            <a:off x="983432" y="5900499"/>
            <a:ext cx="8208912" cy="9848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pitchFamily="34" charset="0"/>
                <a:ea typeface="+mn-ea"/>
                <a:cs typeface="+mn-cs"/>
              </a:rPr>
              <a:t>References and more materials at </a:t>
            </a:r>
            <a:r>
              <a:rPr kumimoji="0" lang="en-US" sz="1100" b="0" i="0" u="sng" strike="noStrike" kern="1200" cap="none" spc="0" normalizeH="0" baseline="0" noProof="0">
                <a:ln>
                  <a:noFill/>
                </a:ln>
                <a:solidFill>
                  <a:srgbClr val="000000"/>
                </a:solidFill>
                <a:effectLst/>
                <a:uLnTx/>
                <a:uFillTx/>
                <a:latin typeface="Arial" panose="020B0604020202020204" pitchFamily="34" charset="0"/>
                <a:ea typeface="+mn-ea"/>
                <a:cs typeface="+mn-cs"/>
                <a:hlinkClick r:id="rId2"/>
              </a:rPr>
              <a:t>https://www.aalto.fi/en/aalto-community-hub/how-to-make-an-ethics-self-assessment-in-research-projects-aalto-support-and-guidelines</a:t>
            </a:r>
            <a:r>
              <a:rPr kumimoji="0" lang="en-US" sz="11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endParaRPr kumimoji="0" lang="en-US" sz="11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br>
            <a:endParaRPr kumimoji="0" lang="en-FI"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5523177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11946-2095-264C-09E5-790ED6A658ED}"/>
              </a:ext>
            </a:extLst>
          </p:cNvPr>
          <p:cNvSpPr>
            <a:spLocks noGrp="1"/>
          </p:cNvSpPr>
          <p:nvPr>
            <p:ph type="title"/>
          </p:nvPr>
        </p:nvSpPr>
        <p:spPr/>
        <p:txBody>
          <a:bodyPr/>
          <a:lstStyle/>
          <a:p>
            <a:r>
              <a:rPr lang="en-US"/>
              <a:t>Finnish guidelines for non-medical studies with human participants (TENK)</a:t>
            </a:r>
            <a:endParaRPr lang="en-FI"/>
          </a:p>
        </p:txBody>
      </p:sp>
      <p:sp>
        <p:nvSpPr>
          <p:cNvPr id="3" name="Date Placeholder 2">
            <a:extLst>
              <a:ext uri="{FF2B5EF4-FFF2-40B4-BE49-F238E27FC236}">
                <a16:creationId xmlns:a16="http://schemas.microsoft.com/office/drawing/2014/main" id="{3888D2C1-96D3-B79D-BF3D-B0D32CA3019E}"/>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Footer Placeholder 3">
            <a:extLst>
              <a:ext uri="{FF2B5EF4-FFF2-40B4-BE49-F238E27FC236}">
                <a16:creationId xmlns:a16="http://schemas.microsoft.com/office/drawing/2014/main" id="{4279998F-64A9-8743-8EBA-58433A8AE8DB}"/>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AD41D72D-9ADA-3AAF-AE0E-0AED94C965C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ext Placeholder 5">
            <a:extLst>
              <a:ext uri="{FF2B5EF4-FFF2-40B4-BE49-F238E27FC236}">
                <a16:creationId xmlns:a16="http://schemas.microsoft.com/office/drawing/2014/main" id="{36EC4C41-AB75-ACE3-41F8-0A60F592A689}"/>
              </a:ext>
            </a:extLst>
          </p:cNvPr>
          <p:cNvSpPr>
            <a:spLocks noGrp="1"/>
          </p:cNvSpPr>
          <p:nvPr>
            <p:ph type="body" sz="quarter" idx="13"/>
          </p:nvPr>
        </p:nvSpPr>
        <p:spPr>
          <a:xfrm>
            <a:off x="1055688" y="1844824"/>
            <a:ext cx="10080625" cy="3671886"/>
          </a:xfrm>
        </p:spPr>
        <p:txBody>
          <a:bodyPr/>
          <a:lstStyle/>
          <a:p>
            <a:r>
              <a:rPr lang="en-US" sz="1600" b="1"/>
              <a:t>TENK Guidelines Section 4.2 </a:t>
            </a:r>
            <a:r>
              <a:rPr lang="en-US" sz="1600" b="1" u="sng">
                <a:hlinkClick r:id="rId2"/>
              </a:rPr>
              <a:t>https://www.tenk.fi/sites/tenk.fi/files/Ihmistieteiden_eettisen_ennakkoarvioinnin_ohje_2019.pdf</a:t>
            </a:r>
            <a:r>
              <a:rPr lang="en-US" sz="1600" b="1"/>
              <a:t> </a:t>
            </a:r>
            <a:endParaRPr lang="en-US" sz="1600"/>
          </a:p>
          <a:p>
            <a:r>
              <a:rPr lang="en-US" sz="1600" b="1"/>
              <a:t>The researcher must request an ethical review statement from a human sciences ethics committee, if their research contains any of the following: </a:t>
            </a:r>
            <a:endParaRPr lang="en-US" sz="1600"/>
          </a:p>
          <a:p>
            <a:r>
              <a:rPr lang="en-US" sz="1600"/>
              <a:t>a) Participation in the research </a:t>
            </a:r>
            <a:r>
              <a:rPr lang="en-US" sz="1600" b="1"/>
              <a:t>deviates from the principle of informed consent</a:t>
            </a:r>
            <a:r>
              <a:rPr lang="en-US" sz="1600"/>
              <a:t>, </a:t>
            </a:r>
          </a:p>
          <a:p>
            <a:r>
              <a:rPr lang="en-US" sz="1600"/>
              <a:t>b) the research involves </a:t>
            </a:r>
            <a:r>
              <a:rPr lang="en-US" sz="1600" b="1"/>
              <a:t>intervening in the physical integrity </a:t>
            </a:r>
            <a:r>
              <a:rPr lang="en-US" sz="1600"/>
              <a:t>of research participants, </a:t>
            </a:r>
          </a:p>
          <a:p>
            <a:r>
              <a:rPr lang="en-US" sz="1600"/>
              <a:t>c) the focus of the research is on </a:t>
            </a:r>
            <a:r>
              <a:rPr lang="en-US" sz="1600" b="1"/>
              <a:t>minors under the age of 15</a:t>
            </a:r>
            <a:r>
              <a:rPr lang="en-US" sz="1600"/>
              <a:t>, without separate consent from a parent or carer or without informing a parent or carer in a way that would enable them to prevent the child’s participation in the research, </a:t>
            </a:r>
          </a:p>
          <a:p>
            <a:r>
              <a:rPr lang="en-US" sz="1600"/>
              <a:t>d) research that exposes participants to </a:t>
            </a:r>
            <a:r>
              <a:rPr lang="en-US" sz="1600" b="1"/>
              <a:t>exceptionally strong stimuli,</a:t>
            </a:r>
            <a:r>
              <a:rPr lang="en-US" sz="1600"/>
              <a:t> </a:t>
            </a:r>
          </a:p>
          <a:p>
            <a:r>
              <a:rPr lang="en-US" sz="1600"/>
              <a:t>e) research that involves a risk of </a:t>
            </a:r>
            <a:r>
              <a:rPr lang="en-US" sz="1600" b="1"/>
              <a:t>causing mental harm </a:t>
            </a:r>
            <a:r>
              <a:rPr lang="en-US" sz="1600"/>
              <a:t>that exceeds the limits of normal daily life to the research participants or their family members or others closest to them or </a:t>
            </a:r>
          </a:p>
          <a:p>
            <a:r>
              <a:rPr lang="en-US" sz="1600"/>
              <a:t>f) conducting the research could involve a </a:t>
            </a:r>
            <a:r>
              <a:rPr lang="en-US" sz="1600" b="1"/>
              <a:t>threat to the safety of participants</a:t>
            </a:r>
            <a:r>
              <a:rPr lang="en-US" sz="1600"/>
              <a:t> or researchers or their family members or others closest to them. </a:t>
            </a:r>
          </a:p>
          <a:p>
            <a:br>
              <a:rPr lang="en-US" sz="1600"/>
            </a:br>
            <a:endParaRPr lang="en-FI" sz="1600"/>
          </a:p>
        </p:txBody>
      </p:sp>
    </p:spTree>
    <p:extLst>
      <p:ext uri="{BB962C8B-B14F-4D97-AF65-F5344CB8AC3E}">
        <p14:creationId xmlns:p14="http://schemas.microsoft.com/office/powerpoint/2010/main" val="101261583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8137A9-2865-6114-7A83-3339227FF650}"/>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28.04.2026</a:t>
            </a:r>
          </a:p>
        </p:txBody>
      </p:sp>
      <p:sp>
        <p:nvSpPr>
          <p:cNvPr id="3" name="Slide Number Placeholder 2">
            <a:extLst>
              <a:ext uri="{FF2B5EF4-FFF2-40B4-BE49-F238E27FC236}">
                <a16:creationId xmlns:a16="http://schemas.microsoft.com/office/drawing/2014/main" id="{FC88EA6C-D00C-4D00-5D50-A841EEE0E2C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BA5C6B3A-E5A9-208C-1F95-66D2877E3F88}"/>
              </a:ext>
            </a:extLst>
          </p:cNvPr>
          <p:cNvSpPr>
            <a:spLocks noGrp="1"/>
          </p:cNvSpPr>
          <p:nvPr>
            <p:ph type="ctrTitle"/>
          </p:nvPr>
        </p:nvSpPr>
        <p:spPr/>
        <p:txBody>
          <a:bodyPr/>
          <a:lstStyle/>
          <a:p>
            <a:r>
              <a:rPr lang="en-US"/>
              <a:t>Research Integrity in the European Union</a:t>
            </a:r>
            <a:endParaRPr lang="en-FI"/>
          </a:p>
        </p:txBody>
      </p:sp>
      <p:sp>
        <p:nvSpPr>
          <p:cNvPr id="7" name="Footer Placeholder 6">
            <a:extLst>
              <a:ext uri="{FF2B5EF4-FFF2-40B4-BE49-F238E27FC236}">
                <a16:creationId xmlns:a16="http://schemas.microsoft.com/office/drawing/2014/main" id="{A0BB4740-641E-5F1B-E3E7-72710C7FD8A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8629514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AA31A-A53D-D72D-4D9F-76C6CB3A9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C3CDE-936A-0CE2-0B07-B07803216230}"/>
              </a:ext>
            </a:extLst>
          </p:cNvPr>
          <p:cNvSpPr>
            <a:spLocks noGrp="1"/>
          </p:cNvSpPr>
          <p:nvPr>
            <p:ph type="title"/>
          </p:nvPr>
        </p:nvSpPr>
        <p:spPr/>
        <p:txBody>
          <a:bodyPr/>
          <a:lstStyle/>
          <a:p>
            <a:r>
              <a:rPr lang="en-US"/>
              <a:t>Allea principles (2023) and Finnish Code of Conduct for RI (2023)</a:t>
            </a:r>
          </a:p>
        </p:txBody>
      </p:sp>
      <p:sp>
        <p:nvSpPr>
          <p:cNvPr id="8" name="Slide Number Placeholder 7">
            <a:extLst>
              <a:ext uri="{FF2B5EF4-FFF2-40B4-BE49-F238E27FC236}">
                <a16:creationId xmlns:a16="http://schemas.microsoft.com/office/drawing/2014/main" id="{3ACB3325-74FD-2AA3-733B-94DC76BBB526}"/>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115</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 name="Date Placeholder 3">
            <a:extLst>
              <a:ext uri="{FF2B5EF4-FFF2-40B4-BE49-F238E27FC236}">
                <a16:creationId xmlns:a16="http://schemas.microsoft.com/office/drawing/2014/main" id="{0DA66CB9-AFB5-9BE2-EE0B-C0C102B9DE6D}"/>
              </a:ext>
              <a:ext uri="{C183D7F6-B498-43B3-948B-1728B52AA6E4}">
                <adec:decorative xmlns:adec="http://schemas.microsoft.com/office/drawing/2017/decorative" val="0"/>
              </a:ext>
            </a:extLst>
          </p:cNvPr>
          <p:cNvSpPr>
            <a:spLocks noGrp="1"/>
          </p:cNvSpPr>
          <p:nvPr>
            <p:ph type="dt" sz="half" idx="10"/>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5" name="Footer Placeholder 5">
            <a:extLst>
              <a:ext uri="{FF2B5EF4-FFF2-40B4-BE49-F238E27FC236}">
                <a16:creationId xmlns:a16="http://schemas.microsoft.com/office/drawing/2014/main" id="{F25E7630-D984-E95C-CE47-41232C5F20FB}"/>
              </a:ext>
              <a:ext uri="{C183D7F6-B498-43B3-948B-1728B52AA6E4}">
                <adec:decorative xmlns:adec="http://schemas.microsoft.com/office/drawing/2017/decorative" val="1"/>
              </a:ext>
            </a:extLst>
          </p:cNvPr>
          <p:cNvSpPr>
            <a:spLocks noGrp="1"/>
          </p:cNvSpPr>
          <p:nvPr>
            <p:ph type="ftr" sz="quarter" idx="11"/>
          </p:nvPr>
        </p:nvSpPr>
        <p:spPr>
          <a:xfrm>
            <a:off x="1271464" y="6309320"/>
            <a:ext cx="8928992"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9" name="Content Placeholder 6">
            <a:extLst>
              <a:ext uri="{FF2B5EF4-FFF2-40B4-BE49-F238E27FC236}">
                <a16:creationId xmlns:a16="http://schemas.microsoft.com/office/drawing/2014/main" id="{2EEFC304-5862-7F9C-AC9B-10028CA51884}"/>
              </a:ext>
            </a:extLst>
          </p:cNvPr>
          <p:cNvSpPr txBox="1">
            <a:spLocks/>
          </p:cNvSpPr>
          <p:nvPr/>
        </p:nvSpPr>
        <p:spPr>
          <a:xfrm>
            <a:off x="407987" y="1138519"/>
            <a:ext cx="10728325" cy="473840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hlinkClick r:id="rId2"/>
              </a:rPr>
              <a:t>ALLEA: The European Code of Conduct for Research Integrity</a:t>
            </a: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hlinkClick r:id="rId3"/>
              </a:rPr>
              <a:t>The Finnish Code of Conduct for Research Integrity</a:t>
            </a: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GB" sz="2000" b="1" i="0" u="none" strike="noStrike" kern="1200" cap="none" spc="0" normalizeH="0" baseline="0" noProof="0">
              <a:ln>
                <a:noFill/>
              </a:ln>
              <a:solidFill>
                <a:srgbClr val="343A40"/>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a:ln>
                <a:noFill/>
              </a:ln>
              <a:solidFill>
                <a:srgbClr val="343A40"/>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3" name="Table 2">
            <a:extLst>
              <a:ext uri="{FF2B5EF4-FFF2-40B4-BE49-F238E27FC236}">
                <a16:creationId xmlns:a16="http://schemas.microsoft.com/office/drawing/2014/main" id="{9105B3DE-8462-1BF9-ED0C-EB39CBDB97F2}"/>
              </a:ext>
            </a:extLst>
          </p:cNvPr>
          <p:cNvGraphicFramePr>
            <a:graphicFrameLocks noGrp="1"/>
          </p:cNvGraphicFramePr>
          <p:nvPr/>
        </p:nvGraphicFramePr>
        <p:xfrm>
          <a:off x="749147" y="2116706"/>
          <a:ext cx="9634069" cy="3241536"/>
        </p:xfrm>
        <a:graphic>
          <a:graphicData uri="http://schemas.openxmlformats.org/drawingml/2006/table">
            <a:tbl>
              <a:tblPr/>
              <a:tblGrid>
                <a:gridCol w="2445583">
                  <a:extLst>
                    <a:ext uri="{9D8B030D-6E8A-4147-A177-3AD203B41FA5}">
                      <a16:colId xmlns:a16="http://schemas.microsoft.com/office/drawing/2014/main" val="1921099216"/>
                    </a:ext>
                  </a:extLst>
                </a:gridCol>
                <a:gridCol w="7188486">
                  <a:extLst>
                    <a:ext uri="{9D8B030D-6E8A-4147-A177-3AD203B41FA5}">
                      <a16:colId xmlns:a16="http://schemas.microsoft.com/office/drawing/2014/main" val="318476322"/>
                    </a:ext>
                  </a:extLst>
                </a:gridCol>
              </a:tblGrid>
              <a:tr h="0">
                <a:tc>
                  <a:txBody>
                    <a:bodyPr/>
                    <a:lstStyle/>
                    <a:p>
                      <a:pPr algn="l"/>
                      <a:r>
                        <a:rPr lang="en-GB" sz="1800" b="1" i="1">
                          <a:effectLst/>
                        </a:rPr>
                        <a:t>Principle</a:t>
                      </a:r>
                      <a:endParaRPr lang="en-GB" sz="1800" i="1">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l"/>
                      <a:r>
                        <a:rPr lang="en-GB" sz="1800" b="1" i="1">
                          <a:effectLst/>
                        </a:rPr>
                        <a:t>Definition</a:t>
                      </a:r>
                      <a:endParaRPr lang="en-GB" sz="1800" i="1">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659571579"/>
                  </a:ext>
                </a:extLst>
              </a:tr>
              <a:tr h="278724">
                <a:tc>
                  <a:txBody>
                    <a:bodyPr/>
                    <a:lstStyle/>
                    <a:p>
                      <a:r>
                        <a:rPr lang="en-GB" sz="1800" b="1">
                          <a:effectLst/>
                        </a:rPr>
                        <a:t>Reliability</a:t>
                      </a:r>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a:t>Ensuring the quality of research, reflected in the design, methodology, analysis, and use of resources. </a:t>
                      </a:r>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38356728"/>
                  </a:ext>
                </a:extLst>
              </a:tr>
              <a:tr h="322733">
                <a:tc>
                  <a:txBody>
                    <a:bodyPr/>
                    <a:lstStyle/>
                    <a:p>
                      <a:r>
                        <a:rPr lang="en-GB" b="1"/>
                        <a:t>Honesty</a:t>
                      </a:r>
                      <a:endParaRPr lang="en-GB" sz="1800" b="1">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a:t>Developing, undertaking, reviewing, reporting, and communicating research in a transparent, fair, full, and unbiased way</a:t>
                      </a:r>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24278065"/>
                  </a:ext>
                </a:extLst>
              </a:tr>
              <a:tr h="322733">
                <a:tc>
                  <a:txBody>
                    <a:bodyPr/>
                    <a:lstStyle/>
                    <a:p>
                      <a:r>
                        <a:rPr lang="en-GB" b="1"/>
                        <a:t>Respect</a:t>
                      </a:r>
                      <a:endParaRPr lang="en-GB" sz="1800" b="1">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800">
                          <a:effectLst/>
                        </a:rPr>
                        <a:t>Towards </a:t>
                      </a:r>
                      <a:r>
                        <a:rPr lang="en-GB"/>
                        <a:t>colleagues, research participants, research subjects, society, ecosystems, cultural heritage, and the environment.</a:t>
                      </a:r>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97952188"/>
                  </a:ext>
                </a:extLst>
              </a:tr>
              <a:tr h="322733">
                <a:tc>
                  <a:txBody>
                    <a:bodyPr/>
                    <a:lstStyle/>
                    <a:p>
                      <a:r>
                        <a:rPr lang="en-GB" sz="1800" b="1">
                          <a:effectLst/>
                        </a:rPr>
                        <a:t>Accountability</a:t>
                      </a:r>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800">
                          <a:effectLst/>
                        </a:rPr>
                        <a:t>Accountability </a:t>
                      </a:r>
                      <a:r>
                        <a:rPr lang="en-GB"/>
                        <a:t>for the research from idea to publication, for its management and organisation, for training, supervision, and mentoring, and for its wider societal impacts.</a:t>
                      </a:r>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72406344"/>
                  </a:ext>
                </a:extLst>
              </a:tr>
              <a:tr h="69446">
                <a:tc>
                  <a:txBody>
                    <a:bodyPr/>
                    <a:lstStyle/>
                    <a:p>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39864663"/>
                  </a:ext>
                </a:extLst>
              </a:tr>
            </a:tbl>
          </a:graphicData>
        </a:graphic>
      </p:graphicFrame>
    </p:spTree>
    <p:extLst>
      <p:ext uri="{BB962C8B-B14F-4D97-AF65-F5344CB8AC3E}">
        <p14:creationId xmlns:p14="http://schemas.microsoft.com/office/powerpoint/2010/main" val="363443945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1B345-7656-9243-49E2-204897DA4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143F5-663C-7FB4-686E-2F608B6430E2}"/>
              </a:ext>
            </a:extLst>
          </p:cNvPr>
          <p:cNvSpPr>
            <a:spLocks noGrp="1"/>
          </p:cNvSpPr>
          <p:nvPr>
            <p:ph type="title"/>
          </p:nvPr>
        </p:nvSpPr>
        <p:spPr/>
        <p:txBody>
          <a:bodyPr/>
          <a:lstStyle/>
          <a:p>
            <a:r>
              <a:rPr lang="en-US"/>
              <a:t>Violation of research integrity</a:t>
            </a:r>
          </a:p>
        </p:txBody>
      </p:sp>
      <p:sp>
        <p:nvSpPr>
          <p:cNvPr id="8" name="Slide Number Placeholder 7">
            <a:extLst>
              <a:ext uri="{FF2B5EF4-FFF2-40B4-BE49-F238E27FC236}">
                <a16:creationId xmlns:a16="http://schemas.microsoft.com/office/drawing/2014/main" id="{4A93B7EC-00A0-7BB7-63DF-A6FC63BE77FE}"/>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 name="Date Placeholder 3">
            <a:extLst>
              <a:ext uri="{FF2B5EF4-FFF2-40B4-BE49-F238E27FC236}">
                <a16:creationId xmlns:a16="http://schemas.microsoft.com/office/drawing/2014/main" id="{BB232E4E-7611-22B5-5ACF-34118C680345}"/>
              </a:ext>
              <a:ext uri="{C183D7F6-B498-43B3-948B-1728B52AA6E4}">
                <adec:decorative xmlns:adec="http://schemas.microsoft.com/office/drawing/2017/decorative" val="0"/>
              </a:ext>
            </a:extLst>
          </p:cNvPr>
          <p:cNvSpPr>
            <a:spLocks noGrp="1"/>
          </p:cNvSpPr>
          <p:nvPr>
            <p:ph type="dt" sz="half" idx="10"/>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5" name="Footer Placeholder 5">
            <a:extLst>
              <a:ext uri="{FF2B5EF4-FFF2-40B4-BE49-F238E27FC236}">
                <a16:creationId xmlns:a16="http://schemas.microsoft.com/office/drawing/2014/main" id="{5D0A3B84-D9F4-BFA8-4A86-5506030BC7CF}"/>
              </a:ext>
              <a:ext uri="{C183D7F6-B498-43B3-948B-1728B52AA6E4}">
                <adec:decorative xmlns:adec="http://schemas.microsoft.com/office/drawing/2017/decorative" val="1"/>
              </a:ext>
            </a:extLst>
          </p:cNvPr>
          <p:cNvSpPr>
            <a:spLocks noGrp="1"/>
          </p:cNvSpPr>
          <p:nvPr>
            <p:ph type="ftr" sz="quarter" idx="11"/>
          </p:nvPr>
        </p:nvSpPr>
        <p:spPr>
          <a:xfrm>
            <a:off x="1271464" y="6309320"/>
            <a:ext cx="8928992"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9" name="Content Placeholder 6">
            <a:extLst>
              <a:ext uri="{FF2B5EF4-FFF2-40B4-BE49-F238E27FC236}">
                <a16:creationId xmlns:a16="http://schemas.microsoft.com/office/drawing/2014/main" id="{18BF10B8-D684-9EA4-57D0-F8CA23899133}"/>
              </a:ext>
            </a:extLst>
          </p:cNvPr>
          <p:cNvSpPr txBox="1">
            <a:spLocks/>
          </p:cNvSpPr>
          <p:nvPr/>
        </p:nvSpPr>
        <p:spPr>
          <a:xfrm>
            <a:off x="407987" y="1138519"/>
            <a:ext cx="10728325" cy="473840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hlinkClick r:id="rId2"/>
              </a:rPr>
              <a:t>ALLEA: The European Code of Conduct for Research Integrity</a:t>
            </a: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hlinkClick r:id="rId3"/>
              </a:rPr>
              <a:t>The Finnish Code of Conduct for Research Integrity</a:t>
            </a: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GB" sz="2000" b="1" i="0" u="none" strike="noStrike" kern="1200" cap="none" spc="0" normalizeH="0" baseline="0" noProof="0">
              <a:ln>
                <a:noFill/>
              </a:ln>
              <a:solidFill>
                <a:srgbClr val="343A40"/>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a:ln>
                <a:noFill/>
              </a:ln>
              <a:solidFill>
                <a:srgbClr val="343A40"/>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a:ea typeface="+mn-ea"/>
                <a:cs typeface="+mn-cs"/>
              </a:rPr>
              <a:t>Plagiarism vs. Intellectual Property Rights = Research Ethics vs Law</a:t>
            </a: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panose="020B0604020202020204"/>
                <a:ea typeface="+mn-ea"/>
                <a:cs typeface="+mn-cs"/>
              </a:rPr>
              <a:t>Unacknowledged</a:t>
            </a:r>
            <a:r>
              <a:rPr kumimoji="0" lang="en-US" sz="2000" b="0" i="0" u="none" strike="noStrike" kern="1200" cap="none" spc="0" normalizeH="0" baseline="0" noProof="0">
                <a:ln>
                  <a:noFill/>
                </a:ln>
                <a:solidFill>
                  <a:prstClr val="black"/>
                </a:solidFill>
                <a:effectLst/>
                <a:uLnTx/>
                <a:uFillTx/>
                <a:latin typeface="Arial" panose="020B0604020202020204"/>
                <a:ea typeface="+mn-ea"/>
                <a:cs typeface="+mn-cs"/>
              </a:rPr>
              <a:t> use of another person’s work (Plagiarism) </a:t>
            </a:r>
            <a:br>
              <a:rPr kumimoji="0" lang="en-US" sz="2000" b="0" i="0" u="none" strike="noStrike" kern="1200" cap="none" spc="0" normalizeH="0" baseline="0" noProof="0">
                <a:ln>
                  <a:noFill/>
                </a:ln>
                <a:solidFill>
                  <a:prstClr val="black"/>
                </a:solidFill>
                <a:effectLst/>
                <a:uLnTx/>
                <a:uFillTx/>
                <a:latin typeface="Arial" panose="020B0604020202020204"/>
                <a:ea typeface="+mn-ea"/>
                <a:cs typeface="+mn-cs"/>
              </a:rPr>
            </a:br>
            <a:r>
              <a:rPr kumimoji="0" lang="en-GB" sz="2000" b="1" i="0" u="none" strike="noStrike" kern="1200" cap="none" spc="0" normalizeH="0" baseline="0" noProof="0">
                <a:ln>
                  <a:noFill/>
                </a:ln>
                <a:solidFill>
                  <a:prstClr val="black"/>
                </a:solidFill>
                <a:effectLst/>
                <a:uLnTx/>
                <a:uFillTx/>
                <a:latin typeface="Arial" panose="020B0604020202020204"/>
                <a:ea typeface="+mn-ea"/>
                <a:cs typeface="+mn-cs"/>
              </a:rPr>
              <a:t>Unauthorised</a:t>
            </a:r>
            <a:r>
              <a:rPr kumimoji="0" lang="en-US" sz="2000" b="0" i="0" u="none" strike="noStrike" kern="1200" cap="none" spc="0" normalizeH="0" baseline="0" noProof="0">
                <a:ln>
                  <a:noFill/>
                </a:ln>
                <a:solidFill>
                  <a:prstClr val="black"/>
                </a:solidFill>
                <a:effectLst/>
                <a:uLnTx/>
                <a:uFillTx/>
                <a:latin typeface="Arial" panose="020B0604020202020204"/>
                <a:ea typeface="+mn-ea"/>
                <a:cs typeface="+mn-cs"/>
              </a:rPr>
              <a:t> use of another person’s work (IPR infringement)</a:t>
            </a:r>
            <a:endParaRPr kumimoji="0" lang="en-US" sz="2000" b="1"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3" name="Table 2">
            <a:extLst>
              <a:ext uri="{FF2B5EF4-FFF2-40B4-BE49-F238E27FC236}">
                <a16:creationId xmlns:a16="http://schemas.microsoft.com/office/drawing/2014/main" id="{911491A6-5501-DD6F-BC21-BCF172CB5A8C}"/>
              </a:ext>
            </a:extLst>
          </p:cNvPr>
          <p:cNvGraphicFramePr>
            <a:graphicFrameLocks noGrp="1"/>
          </p:cNvGraphicFramePr>
          <p:nvPr/>
        </p:nvGraphicFramePr>
        <p:xfrm>
          <a:off x="749147" y="2116706"/>
          <a:ext cx="9634069" cy="2106920"/>
        </p:xfrm>
        <a:graphic>
          <a:graphicData uri="http://schemas.openxmlformats.org/drawingml/2006/table">
            <a:tbl>
              <a:tblPr/>
              <a:tblGrid>
                <a:gridCol w="2445583">
                  <a:extLst>
                    <a:ext uri="{9D8B030D-6E8A-4147-A177-3AD203B41FA5}">
                      <a16:colId xmlns:a16="http://schemas.microsoft.com/office/drawing/2014/main" val="1921099216"/>
                    </a:ext>
                  </a:extLst>
                </a:gridCol>
                <a:gridCol w="7188486">
                  <a:extLst>
                    <a:ext uri="{9D8B030D-6E8A-4147-A177-3AD203B41FA5}">
                      <a16:colId xmlns:a16="http://schemas.microsoft.com/office/drawing/2014/main" val="318476322"/>
                    </a:ext>
                  </a:extLst>
                </a:gridCol>
              </a:tblGrid>
              <a:tr h="0">
                <a:tc>
                  <a:txBody>
                    <a:bodyPr/>
                    <a:lstStyle/>
                    <a:p>
                      <a:pPr algn="l"/>
                      <a:r>
                        <a:rPr lang="en-GB" sz="1800" b="1" i="1">
                          <a:effectLst/>
                        </a:rPr>
                        <a:t>Misconduct</a:t>
                      </a:r>
                      <a:endParaRPr lang="en-GB" sz="1800" i="1">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l"/>
                      <a:r>
                        <a:rPr lang="en-GB" sz="1800" b="1" i="1">
                          <a:effectLst/>
                        </a:rPr>
                        <a:t>Definition</a:t>
                      </a:r>
                      <a:endParaRPr lang="en-GB" sz="1800" i="1">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659571579"/>
                  </a:ext>
                </a:extLst>
              </a:tr>
              <a:tr h="278724">
                <a:tc>
                  <a:txBody>
                    <a:bodyPr/>
                    <a:lstStyle/>
                    <a:p>
                      <a:r>
                        <a:rPr lang="en-GB" sz="1800" b="1">
                          <a:effectLst/>
                        </a:rPr>
                        <a:t>Fabrication </a:t>
                      </a:r>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a:t>Making up data or results and recording them as if they were real. </a:t>
                      </a:r>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38356728"/>
                  </a:ext>
                </a:extLst>
              </a:tr>
              <a:tr h="322733">
                <a:tc>
                  <a:txBody>
                    <a:bodyPr/>
                    <a:lstStyle/>
                    <a:p>
                      <a:r>
                        <a:rPr lang="en-GB" b="1"/>
                        <a:t>Falsification</a:t>
                      </a:r>
                      <a:endParaRPr lang="en-GB" sz="1800" b="1">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a:t>Manipulating research materials, equipment, images, or processes, or changing, omitting, or suppressing data or results without justification</a:t>
                      </a:r>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24278065"/>
                  </a:ext>
                </a:extLst>
              </a:tr>
              <a:tr h="322733">
                <a:tc>
                  <a:txBody>
                    <a:bodyPr/>
                    <a:lstStyle/>
                    <a:p>
                      <a:r>
                        <a:rPr lang="en-GB" b="1"/>
                        <a:t>Plagiarism</a:t>
                      </a:r>
                      <a:endParaRPr lang="en-GB" sz="1800" b="1">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a:t>Using other people’s work or ideas without giving proper credit to the original source.</a:t>
                      </a:r>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97952188"/>
                  </a:ext>
                </a:extLst>
              </a:tr>
              <a:tr h="69446">
                <a:tc>
                  <a:txBody>
                    <a:bodyPr/>
                    <a:lstStyle/>
                    <a:p>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GB" sz="1800">
                        <a:effectLst/>
                      </a:endParaRPr>
                    </a:p>
                  </a:txBody>
                  <a:tcPr marL="37336" marR="37336" marT="18668" marB="1866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39864663"/>
                  </a:ext>
                </a:extLst>
              </a:tr>
            </a:tbl>
          </a:graphicData>
        </a:graphic>
      </p:graphicFrame>
    </p:spTree>
    <p:extLst>
      <p:ext uri="{BB962C8B-B14F-4D97-AF65-F5344CB8AC3E}">
        <p14:creationId xmlns:p14="http://schemas.microsoft.com/office/powerpoint/2010/main" val="414946560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6E6D6-AE3B-CBEA-0E1D-3B45BEC20E6F}"/>
              </a:ext>
            </a:extLst>
          </p:cNvPr>
          <p:cNvSpPr>
            <a:spLocks noGrp="1"/>
          </p:cNvSpPr>
          <p:nvPr>
            <p:ph type="title"/>
          </p:nvPr>
        </p:nvSpPr>
        <p:spPr/>
        <p:txBody>
          <a:bodyPr/>
          <a:lstStyle/>
          <a:p>
            <a:r>
              <a:rPr lang="en-FI"/>
              <a:t>Violations of research integrity</a:t>
            </a:r>
            <a:r>
              <a:rPr lang="en-US"/>
              <a:t>, questionable research practices</a:t>
            </a:r>
            <a:endParaRPr lang="en-FI"/>
          </a:p>
        </p:txBody>
      </p:sp>
      <p:sp>
        <p:nvSpPr>
          <p:cNvPr id="3" name="Content Placeholder 2">
            <a:extLst>
              <a:ext uri="{FF2B5EF4-FFF2-40B4-BE49-F238E27FC236}">
                <a16:creationId xmlns:a16="http://schemas.microsoft.com/office/drawing/2014/main" id="{4F3CE944-97A8-A4C7-08C3-F62E50573793}"/>
              </a:ext>
            </a:extLst>
          </p:cNvPr>
          <p:cNvSpPr>
            <a:spLocks noGrp="1"/>
          </p:cNvSpPr>
          <p:nvPr>
            <p:ph sz="half" idx="1"/>
          </p:nvPr>
        </p:nvSpPr>
        <p:spPr>
          <a:xfrm>
            <a:off x="1055688" y="1499958"/>
            <a:ext cx="3168104" cy="3671887"/>
          </a:xfrm>
        </p:spPr>
        <p:txBody>
          <a:bodyPr/>
          <a:lstStyle/>
          <a:p>
            <a:pPr marL="342900" indent="-342900">
              <a:buFont typeface="Arial" panose="020B0604020202020204" pitchFamily="34" charset="0"/>
              <a:buChar char="•"/>
            </a:pPr>
            <a:r>
              <a:rPr lang="en-FI" b="1"/>
              <a:t>Fabrication</a:t>
            </a:r>
          </a:p>
          <a:p>
            <a:pPr marL="342900" indent="-342900">
              <a:buFont typeface="Arial" panose="020B0604020202020204" pitchFamily="34" charset="0"/>
              <a:buChar char="•"/>
            </a:pPr>
            <a:r>
              <a:rPr lang="en-FI" b="1"/>
              <a:t>Falsification</a:t>
            </a:r>
          </a:p>
          <a:p>
            <a:pPr marL="342900" indent="-342900">
              <a:buFont typeface="Arial" panose="020B0604020202020204" pitchFamily="34" charset="0"/>
              <a:buChar char="•"/>
            </a:pPr>
            <a:r>
              <a:rPr lang="en-FI" b="1"/>
              <a:t>Plagiarism</a:t>
            </a:r>
          </a:p>
          <a:p>
            <a:pPr marL="342900" indent="-342900">
              <a:buFont typeface="Arial" panose="020B0604020202020204" pitchFamily="34" charset="0"/>
              <a:buChar char="•"/>
            </a:pPr>
            <a:r>
              <a:rPr lang="en-FI"/>
              <a:t>Conflict of interests</a:t>
            </a:r>
          </a:p>
          <a:p>
            <a:pPr marL="342900" indent="-342900">
              <a:buFont typeface="Arial" panose="020B0604020202020204" pitchFamily="34" charset="0"/>
              <a:buChar char="•"/>
            </a:pPr>
            <a:r>
              <a:rPr lang="en-FI"/>
              <a:t>Misusing seniority to encourage violations or to advance one’s career</a:t>
            </a:r>
          </a:p>
          <a:p>
            <a:pPr marL="342900" indent="-342900">
              <a:buFont typeface="Arial" panose="020B0604020202020204" pitchFamily="34" charset="0"/>
              <a:buChar char="•"/>
            </a:pPr>
            <a:r>
              <a:rPr lang="en-FI"/>
              <a:t>Delaying or hampering the work of others (malicious peer reviewer)</a:t>
            </a:r>
          </a:p>
          <a:p>
            <a:pPr marL="342900" indent="-342900">
              <a:buFont typeface="Arial" panose="020B0604020202020204" pitchFamily="34" charset="0"/>
              <a:buChar char="•"/>
            </a:pPr>
            <a:r>
              <a:rPr lang="en-FI" b="1"/>
              <a:t>Misusing statistics</a:t>
            </a:r>
          </a:p>
        </p:txBody>
      </p:sp>
      <p:sp>
        <p:nvSpPr>
          <p:cNvPr id="4" name="Content Placeholder 3">
            <a:extLst>
              <a:ext uri="{FF2B5EF4-FFF2-40B4-BE49-F238E27FC236}">
                <a16:creationId xmlns:a16="http://schemas.microsoft.com/office/drawing/2014/main" id="{B9577B89-03E6-684A-0149-9E1F12BB5800}"/>
              </a:ext>
            </a:extLst>
          </p:cNvPr>
          <p:cNvSpPr>
            <a:spLocks noGrp="1"/>
          </p:cNvSpPr>
          <p:nvPr>
            <p:ph sz="half" idx="2"/>
          </p:nvPr>
        </p:nvSpPr>
        <p:spPr>
          <a:xfrm>
            <a:off x="4511825" y="1499958"/>
            <a:ext cx="3168352" cy="3671887"/>
          </a:xfrm>
        </p:spPr>
        <p:txBody>
          <a:bodyPr/>
          <a:lstStyle/>
          <a:p>
            <a:pPr marL="342900" indent="-342900">
              <a:buFont typeface="Arial" panose="020B0604020202020204" pitchFamily="34" charset="0"/>
              <a:buChar char="•"/>
            </a:pPr>
            <a:r>
              <a:rPr lang="en-FI" b="1"/>
              <a:t>Hiding the use of AI</a:t>
            </a:r>
            <a:r>
              <a:rPr lang="en-FI"/>
              <a:t> in the research process</a:t>
            </a:r>
          </a:p>
          <a:p>
            <a:pPr marL="342900" indent="-342900">
              <a:buFont typeface="Arial" panose="020B0604020202020204" pitchFamily="34" charset="0"/>
              <a:buChar char="•"/>
            </a:pPr>
            <a:r>
              <a:rPr lang="en-FI"/>
              <a:t>Withholding data or results without justification</a:t>
            </a:r>
          </a:p>
          <a:p>
            <a:pPr marL="342900" indent="-342900">
              <a:buFont typeface="Arial" panose="020B0604020202020204" pitchFamily="34" charset="0"/>
              <a:buChar char="•"/>
            </a:pPr>
            <a:r>
              <a:rPr lang="en-FI"/>
              <a:t>Chopping up results to increase number of publications</a:t>
            </a:r>
            <a:r>
              <a:rPr lang="en-US"/>
              <a:t> (salami)</a:t>
            </a:r>
            <a:endParaRPr lang="en-FI"/>
          </a:p>
          <a:p>
            <a:pPr marL="342900" indent="-342900">
              <a:buFont typeface="Arial" panose="020B0604020202020204" pitchFamily="34" charset="0"/>
              <a:buChar char="•"/>
            </a:pPr>
            <a:r>
              <a:rPr lang="en-FI"/>
              <a:t>Selective or </a:t>
            </a:r>
            <a:r>
              <a:rPr lang="en-FI" b="1"/>
              <a:t>inaccurate citing</a:t>
            </a:r>
          </a:p>
          <a:p>
            <a:pPr marL="342900" indent="-342900">
              <a:buFont typeface="Arial" panose="020B0604020202020204" pitchFamily="34" charset="0"/>
              <a:buChar char="•"/>
            </a:pPr>
            <a:r>
              <a:rPr lang="en-FI"/>
              <a:t>Expand citations to please editors/reviewers/friends</a:t>
            </a:r>
          </a:p>
        </p:txBody>
      </p:sp>
      <p:sp>
        <p:nvSpPr>
          <p:cNvPr id="5" name="Date Placeholder 4">
            <a:extLst>
              <a:ext uri="{FF2B5EF4-FFF2-40B4-BE49-F238E27FC236}">
                <a16:creationId xmlns:a16="http://schemas.microsoft.com/office/drawing/2014/main" id="{C563A88F-60AE-9140-DC21-2FD8D4339190}"/>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6" name="Footer Placeholder 5">
            <a:extLst>
              <a:ext uri="{FF2B5EF4-FFF2-40B4-BE49-F238E27FC236}">
                <a16:creationId xmlns:a16="http://schemas.microsoft.com/office/drawing/2014/main" id="{DE854749-1662-0F25-45A3-0D6003E3D76E}"/>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Slide Number Placeholder 6">
            <a:extLst>
              <a:ext uri="{FF2B5EF4-FFF2-40B4-BE49-F238E27FC236}">
                <a16:creationId xmlns:a16="http://schemas.microsoft.com/office/drawing/2014/main" id="{5B4C32B8-37D4-CBE0-F308-F66658D084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 name="Content Placeholder 7">
            <a:extLst>
              <a:ext uri="{FF2B5EF4-FFF2-40B4-BE49-F238E27FC236}">
                <a16:creationId xmlns:a16="http://schemas.microsoft.com/office/drawing/2014/main" id="{22307E7D-A867-FA00-BAA1-F134D3939707}"/>
              </a:ext>
            </a:extLst>
          </p:cNvPr>
          <p:cNvSpPr>
            <a:spLocks noGrp="1"/>
          </p:cNvSpPr>
          <p:nvPr>
            <p:ph sz="half" idx="13"/>
          </p:nvPr>
        </p:nvSpPr>
        <p:spPr>
          <a:xfrm>
            <a:off x="7968208" y="1499958"/>
            <a:ext cx="3168105" cy="3671887"/>
          </a:xfrm>
        </p:spPr>
        <p:txBody>
          <a:bodyPr/>
          <a:lstStyle/>
          <a:p>
            <a:pPr marL="342900" indent="-342900">
              <a:buFont typeface="Arial" panose="020B0604020202020204" pitchFamily="34" charset="0"/>
              <a:buChar char="•"/>
            </a:pPr>
            <a:r>
              <a:rPr lang="en-FI"/>
              <a:t>Manipulating authorship</a:t>
            </a:r>
          </a:p>
          <a:p>
            <a:pPr marL="342900" indent="-342900">
              <a:buFont typeface="Arial" panose="020B0604020202020204" pitchFamily="34" charset="0"/>
              <a:buChar char="•"/>
            </a:pPr>
            <a:r>
              <a:rPr lang="en-FI"/>
              <a:t>Self-plagiarism</a:t>
            </a:r>
          </a:p>
          <a:p>
            <a:pPr marL="342900" indent="-342900">
              <a:buFont typeface="Arial" panose="020B0604020202020204" pitchFamily="34" charset="0"/>
              <a:buChar char="•"/>
            </a:pPr>
            <a:r>
              <a:rPr lang="en-FI"/>
              <a:t>Establishing or supporting </a:t>
            </a:r>
            <a:r>
              <a:rPr lang="en-FI" i="1"/>
              <a:t>predatory</a:t>
            </a:r>
            <a:r>
              <a:rPr lang="en-FI"/>
              <a:t> journals</a:t>
            </a:r>
          </a:p>
          <a:p>
            <a:pPr marL="342900" indent="-342900">
              <a:buFont typeface="Arial" panose="020B0604020202020204" pitchFamily="34" charset="0"/>
              <a:buChar char="•"/>
            </a:pPr>
            <a:r>
              <a:rPr lang="en-FI"/>
              <a:t>Reviewers cartels</a:t>
            </a:r>
          </a:p>
          <a:p>
            <a:pPr marL="342900" indent="-342900">
              <a:buFont typeface="Arial" panose="020B0604020202020204" pitchFamily="34" charset="0"/>
              <a:buChar char="•"/>
            </a:pPr>
            <a:r>
              <a:rPr lang="en-FI"/>
              <a:t>Misinterpreting achievements (pump that CV)</a:t>
            </a:r>
          </a:p>
          <a:p>
            <a:pPr marL="342900" indent="-342900">
              <a:buFont typeface="Arial" panose="020B0604020202020204" pitchFamily="34" charset="0"/>
              <a:buChar char="•"/>
            </a:pPr>
            <a:r>
              <a:rPr lang="en-US"/>
              <a:t>Falsely accusing </a:t>
            </a:r>
            <a:r>
              <a:rPr lang="en-FI"/>
              <a:t>others of misconduct</a:t>
            </a:r>
          </a:p>
          <a:p>
            <a:pPr marL="342900" indent="-342900">
              <a:buFont typeface="Arial" panose="020B0604020202020204" pitchFamily="34" charset="0"/>
              <a:buChar char="•"/>
            </a:pPr>
            <a:r>
              <a:rPr lang="en-FI"/>
              <a:t>Ignoring RI violations</a:t>
            </a:r>
          </a:p>
        </p:txBody>
      </p:sp>
    </p:spTree>
    <p:extLst>
      <p:ext uri="{BB962C8B-B14F-4D97-AF65-F5344CB8AC3E}">
        <p14:creationId xmlns:p14="http://schemas.microsoft.com/office/powerpoint/2010/main" val="199667712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9A156-094E-AEF2-DFFC-807D9542828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74A8512-3EAE-C2E2-3440-571BC514D651}"/>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28.04.2026</a:t>
            </a:r>
          </a:p>
        </p:txBody>
      </p:sp>
      <p:sp>
        <p:nvSpPr>
          <p:cNvPr id="3" name="Slide Number Placeholder 2">
            <a:extLst>
              <a:ext uri="{FF2B5EF4-FFF2-40B4-BE49-F238E27FC236}">
                <a16:creationId xmlns:a16="http://schemas.microsoft.com/office/drawing/2014/main" id="{17BB2C88-62C7-5E0B-D2E1-7E41FED3792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3705B29-65A4-B779-C23E-5DF97039DA60}"/>
              </a:ext>
            </a:extLst>
          </p:cNvPr>
          <p:cNvSpPr>
            <a:spLocks noGrp="1"/>
          </p:cNvSpPr>
          <p:nvPr>
            <p:ph type="ctrTitle"/>
          </p:nvPr>
        </p:nvSpPr>
        <p:spPr>
          <a:xfrm>
            <a:off x="412647" y="2936558"/>
            <a:ext cx="11371365" cy="984885"/>
          </a:xfrm>
        </p:spPr>
        <p:txBody>
          <a:bodyPr/>
          <a:lstStyle/>
          <a:p>
            <a:r>
              <a:rPr lang="en-US"/>
              <a:t>We covered research ethics and research integrity, what is their relationship?</a:t>
            </a:r>
            <a:endParaRPr lang="en-FI"/>
          </a:p>
        </p:txBody>
      </p:sp>
      <p:sp>
        <p:nvSpPr>
          <p:cNvPr id="7" name="Footer Placeholder 6">
            <a:extLst>
              <a:ext uri="{FF2B5EF4-FFF2-40B4-BE49-F238E27FC236}">
                <a16:creationId xmlns:a16="http://schemas.microsoft.com/office/drawing/2014/main" id="{F34350D7-5BBD-345A-06C3-23B24B756D3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52067448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8218D-2D86-FC07-4C07-95B7F87C3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AEE1C-5F78-746E-95CB-BDEBF65F100D}"/>
              </a:ext>
            </a:extLst>
          </p:cNvPr>
          <p:cNvSpPr>
            <a:spLocks noGrp="1"/>
          </p:cNvSpPr>
          <p:nvPr>
            <p:ph type="title"/>
          </p:nvPr>
        </p:nvSpPr>
        <p:spPr/>
        <p:txBody>
          <a:bodyPr/>
          <a:lstStyle/>
          <a:p>
            <a:r>
              <a:rPr lang="en-US"/>
              <a:t> Interrelationship between research ethics and research integrity</a:t>
            </a:r>
            <a:br>
              <a:rPr lang="en-US"/>
            </a:br>
            <a:r>
              <a:rPr lang="en-US"/>
              <a:t>Truth, Trust, Competence</a:t>
            </a:r>
          </a:p>
        </p:txBody>
      </p:sp>
      <p:sp>
        <p:nvSpPr>
          <p:cNvPr id="8" name="Slide Number Placeholder 7">
            <a:extLst>
              <a:ext uri="{FF2B5EF4-FFF2-40B4-BE49-F238E27FC236}">
                <a16:creationId xmlns:a16="http://schemas.microsoft.com/office/drawing/2014/main" id="{B0573A54-F045-9636-9426-D8A833094620}"/>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 name="Date Placeholder 3">
            <a:extLst>
              <a:ext uri="{FF2B5EF4-FFF2-40B4-BE49-F238E27FC236}">
                <a16:creationId xmlns:a16="http://schemas.microsoft.com/office/drawing/2014/main" id="{618E6AAD-9DCA-9BEF-E87F-4347F6338540}"/>
              </a:ext>
              <a:ext uri="{C183D7F6-B498-43B3-948B-1728B52AA6E4}">
                <adec:decorative xmlns:adec="http://schemas.microsoft.com/office/drawing/2017/decorative" val="0"/>
              </a:ext>
            </a:extLst>
          </p:cNvPr>
          <p:cNvSpPr>
            <a:spLocks noGrp="1"/>
          </p:cNvSpPr>
          <p:nvPr>
            <p:ph type="dt" sz="half" idx="10"/>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5" name="Footer Placeholder 5">
            <a:extLst>
              <a:ext uri="{FF2B5EF4-FFF2-40B4-BE49-F238E27FC236}">
                <a16:creationId xmlns:a16="http://schemas.microsoft.com/office/drawing/2014/main" id="{BF2AAA32-DD50-D7E9-126E-55BA48A096C2}"/>
              </a:ext>
              <a:ext uri="{C183D7F6-B498-43B3-948B-1728B52AA6E4}">
                <adec:decorative xmlns:adec="http://schemas.microsoft.com/office/drawing/2017/decorative" val="1"/>
              </a:ext>
            </a:extLst>
          </p:cNvPr>
          <p:cNvSpPr>
            <a:spLocks noGrp="1"/>
          </p:cNvSpPr>
          <p:nvPr>
            <p:ph type="ftr" sz="quarter" idx="11"/>
          </p:nvPr>
        </p:nvSpPr>
        <p:spPr>
          <a:xfrm>
            <a:off x="1271464" y="6309320"/>
            <a:ext cx="8928992"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9" name="Content Placeholder 6">
            <a:extLst>
              <a:ext uri="{FF2B5EF4-FFF2-40B4-BE49-F238E27FC236}">
                <a16:creationId xmlns:a16="http://schemas.microsoft.com/office/drawing/2014/main" id="{DC4A2FA8-6F0D-AD28-2136-3BAF44C75C93}"/>
              </a:ext>
            </a:extLst>
          </p:cNvPr>
          <p:cNvSpPr txBox="1">
            <a:spLocks/>
          </p:cNvSpPr>
          <p:nvPr/>
        </p:nvSpPr>
        <p:spPr>
          <a:xfrm>
            <a:off x="407987" y="1138519"/>
            <a:ext cx="10728325" cy="473840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80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1" name="Picture 10" descr="A diagram of a company's company&#10;&#10;AI-generated content may be incorrect.">
            <a:extLst>
              <a:ext uri="{FF2B5EF4-FFF2-40B4-BE49-F238E27FC236}">
                <a16:creationId xmlns:a16="http://schemas.microsoft.com/office/drawing/2014/main" id="{58849E9F-CCA8-8454-1CB6-DE3969713C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221" y="1484784"/>
            <a:ext cx="8290075" cy="4497366"/>
          </a:xfrm>
          <a:prstGeom prst="rect">
            <a:avLst/>
          </a:prstGeom>
        </p:spPr>
      </p:pic>
      <p:sp>
        <p:nvSpPr>
          <p:cNvPr id="13" name="TextBox 12">
            <a:extLst>
              <a:ext uri="{FF2B5EF4-FFF2-40B4-BE49-F238E27FC236}">
                <a16:creationId xmlns:a16="http://schemas.microsoft.com/office/drawing/2014/main" id="{D7100987-D603-CBE1-6E73-1DE9F8DF05FF}"/>
              </a:ext>
            </a:extLst>
          </p:cNvPr>
          <p:cNvSpPr txBox="1"/>
          <p:nvPr/>
        </p:nvSpPr>
        <p:spPr>
          <a:xfrm>
            <a:off x="3484342" y="5816124"/>
            <a:ext cx="6093912"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222"/>
                </a:solidFill>
                <a:effectLst/>
                <a:uLnTx/>
                <a:uFillTx/>
                <a:latin typeface="Arial" panose="020B0604020202020204" pitchFamily="34" charset="0"/>
                <a:ea typeface="+mn-ea"/>
                <a:cs typeface="+mn-cs"/>
              </a:rPr>
              <a:t>Muthanna, A., Chaaban, Y., &amp; Qadhi, S. (2024). A model of the interrelationship between research ethics and research integrity. </a:t>
            </a:r>
            <a:r>
              <a:rPr kumimoji="0" lang="en-US" sz="1000" b="0" i="1" u="none" strike="noStrike" kern="1200" cap="none" spc="0" normalizeH="0" baseline="0" noProof="0">
                <a:ln>
                  <a:noFill/>
                </a:ln>
                <a:solidFill>
                  <a:srgbClr val="222222"/>
                </a:solidFill>
                <a:effectLst/>
                <a:uLnTx/>
                <a:uFillTx/>
                <a:latin typeface="Arial" panose="020B0604020202020204" pitchFamily="34" charset="0"/>
                <a:ea typeface="+mn-ea"/>
                <a:cs typeface="+mn-cs"/>
              </a:rPr>
              <a:t>International journal of qualitative studies on health and well-being</a:t>
            </a:r>
            <a:r>
              <a:rPr kumimoji="0" lang="en-US" sz="1000" b="0" i="0" u="none" strike="noStrike" kern="1200" cap="none" spc="0" normalizeH="0" baseline="0" noProof="0">
                <a:ln>
                  <a:noFill/>
                </a:ln>
                <a:solidFill>
                  <a:srgbClr val="222222"/>
                </a:solidFill>
                <a:effectLst/>
                <a:uLnTx/>
                <a:uFillTx/>
                <a:latin typeface="Arial" panose="020B0604020202020204" pitchFamily="34" charset="0"/>
                <a:ea typeface="+mn-ea"/>
                <a:cs typeface="+mn-cs"/>
              </a:rPr>
              <a:t>, </a:t>
            </a:r>
            <a:r>
              <a:rPr kumimoji="0" lang="en-US" sz="1000" b="0" i="1" u="none" strike="noStrike" kern="1200" cap="none" spc="0" normalizeH="0" baseline="0" noProof="0">
                <a:ln>
                  <a:noFill/>
                </a:ln>
                <a:solidFill>
                  <a:srgbClr val="222222"/>
                </a:solidFill>
                <a:effectLst/>
                <a:uLnTx/>
                <a:uFillTx/>
                <a:latin typeface="Arial" panose="020B0604020202020204" pitchFamily="34" charset="0"/>
                <a:ea typeface="+mn-ea"/>
                <a:cs typeface="+mn-cs"/>
              </a:rPr>
              <a:t>19</a:t>
            </a:r>
            <a:r>
              <a:rPr kumimoji="0" lang="en-US" sz="1000" b="0" i="0" u="none" strike="noStrike" kern="1200" cap="none" spc="0" normalizeH="0" baseline="0" noProof="0">
                <a:ln>
                  <a:noFill/>
                </a:ln>
                <a:solidFill>
                  <a:srgbClr val="222222"/>
                </a:solidFill>
                <a:effectLst/>
                <a:uLnTx/>
                <a:uFillTx/>
                <a:latin typeface="Arial" panose="020B0604020202020204" pitchFamily="34" charset="0"/>
                <a:ea typeface="+mn-ea"/>
                <a:cs typeface="+mn-cs"/>
              </a:rPr>
              <a:t>(1), 2295151.</a:t>
            </a:r>
            <a:endParaRPr kumimoji="0" lang="en-FI" sz="10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8728791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A4A6D-F239-2B0B-F0D6-6CE148857BB5}"/>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8B483201-1E87-4E63-62B8-5B9D72E9AA0F}"/>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B10F2080-F182-7914-B71F-D5F179B22F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120</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Google Shape;203;p35">
            <a:extLst>
              <a:ext uri="{FF2B5EF4-FFF2-40B4-BE49-F238E27FC236}">
                <a16:creationId xmlns:a16="http://schemas.microsoft.com/office/drawing/2014/main" id="{55204CE5-216D-52BC-24CC-58D473275EB7}"/>
              </a:ext>
            </a:extLst>
          </p:cNvPr>
          <p:cNvSpPr/>
          <p:nvPr/>
        </p:nvSpPr>
        <p:spPr>
          <a:xfrm>
            <a:off x="4465028" y="2204864"/>
            <a:ext cx="3415500" cy="3415500"/>
          </a:xfrm>
          <a:prstGeom prst="ellipse">
            <a:avLst/>
          </a:prstGeom>
          <a:solidFill>
            <a:srgbClr val="C9DAF8">
              <a:alpha val="4577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Google Shape;206;p35">
            <a:extLst>
              <a:ext uri="{FF2B5EF4-FFF2-40B4-BE49-F238E27FC236}">
                <a16:creationId xmlns:a16="http://schemas.microsoft.com/office/drawing/2014/main" id="{35A80085-3A2A-6C5D-8677-591B9491B129}"/>
              </a:ext>
            </a:extLst>
          </p:cNvPr>
          <p:cNvSpPr/>
          <p:nvPr/>
        </p:nvSpPr>
        <p:spPr>
          <a:xfrm>
            <a:off x="3601503" y="2204864"/>
            <a:ext cx="3415500" cy="3415500"/>
          </a:xfrm>
          <a:prstGeom prst="ellipse">
            <a:avLst/>
          </a:prstGeom>
          <a:solidFill>
            <a:srgbClr val="F4CCCC">
              <a:alpha val="4500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 name="Google Shape;207;p35">
            <a:extLst>
              <a:ext uri="{FF2B5EF4-FFF2-40B4-BE49-F238E27FC236}">
                <a16:creationId xmlns:a16="http://schemas.microsoft.com/office/drawing/2014/main" id="{0E37844A-F188-1B7B-F5B9-271DEF75E583}"/>
              </a:ext>
            </a:extLst>
          </p:cNvPr>
          <p:cNvSpPr txBox="1"/>
          <p:nvPr/>
        </p:nvSpPr>
        <p:spPr>
          <a:xfrm>
            <a:off x="1127448" y="3434189"/>
            <a:ext cx="2989280"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990000"/>
                </a:solidFill>
                <a:effectLst/>
                <a:uLnTx/>
                <a:uFillTx/>
                <a:latin typeface="Arial" panose="020B0604020202020204"/>
                <a:ea typeface="+mn-ea"/>
                <a:cs typeface="+mn-cs"/>
              </a:rPr>
              <a:t>Research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990000"/>
                </a:solidFill>
                <a:effectLst/>
                <a:uLnTx/>
                <a:uFillTx/>
                <a:latin typeface="Arial" panose="020B0604020202020204"/>
                <a:ea typeface="+mn-ea"/>
                <a:cs typeface="+mn-cs"/>
              </a:rPr>
              <a:t>Ethics</a:t>
            </a:r>
            <a:endParaRPr kumimoji="0" sz="4800" b="1" i="0" u="none" strike="noStrike" kern="1200" cap="none" spc="0" normalizeH="0" baseline="0" noProof="0">
              <a:ln>
                <a:noFill/>
              </a:ln>
              <a:solidFill>
                <a:srgbClr val="990000"/>
              </a:solidFill>
              <a:effectLst/>
              <a:uLnTx/>
              <a:uFillTx/>
              <a:latin typeface="Arial" panose="020B0604020202020204"/>
              <a:ea typeface="+mn-ea"/>
              <a:cs typeface="+mn-cs"/>
            </a:endParaRPr>
          </a:p>
        </p:txBody>
      </p:sp>
      <p:sp>
        <p:nvSpPr>
          <p:cNvPr id="9" name="Google Shape;208;p35">
            <a:extLst>
              <a:ext uri="{FF2B5EF4-FFF2-40B4-BE49-F238E27FC236}">
                <a16:creationId xmlns:a16="http://schemas.microsoft.com/office/drawing/2014/main" id="{71578DB1-72FD-7601-A645-3572043831F6}"/>
              </a:ext>
            </a:extLst>
          </p:cNvPr>
          <p:cNvSpPr txBox="1"/>
          <p:nvPr/>
        </p:nvSpPr>
        <p:spPr>
          <a:xfrm>
            <a:off x="6566502" y="3434189"/>
            <a:ext cx="3777969" cy="7329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1155CC"/>
                </a:solidFill>
                <a:effectLst/>
                <a:uLnTx/>
                <a:uFillTx/>
                <a:latin typeface="Arial" panose="020B0604020202020204"/>
                <a:ea typeface="+mn-ea"/>
                <a:cs typeface="+mn-cs"/>
              </a:rPr>
              <a:t>Research</a:t>
            </a:r>
            <a:br>
              <a:rPr kumimoji="0" lang="en-GB" sz="4800" b="1" i="0" u="none" strike="noStrike" kern="1200" cap="none" spc="0" normalizeH="0" baseline="0" noProof="0">
                <a:ln>
                  <a:noFill/>
                </a:ln>
                <a:solidFill>
                  <a:srgbClr val="1155CC"/>
                </a:solidFill>
                <a:effectLst/>
                <a:uLnTx/>
                <a:uFillTx/>
                <a:latin typeface="Arial" panose="020B0604020202020204"/>
                <a:ea typeface="+mn-ea"/>
                <a:cs typeface="+mn-cs"/>
              </a:rPr>
            </a:br>
            <a:r>
              <a:rPr kumimoji="0" lang="en-GB" sz="4800" b="1" i="0" u="none" strike="noStrike" kern="1200" cap="none" spc="0" normalizeH="0" baseline="0" noProof="0">
                <a:ln>
                  <a:noFill/>
                </a:ln>
                <a:solidFill>
                  <a:srgbClr val="1155CC"/>
                </a:solidFill>
                <a:effectLst/>
                <a:uLnTx/>
                <a:uFillTx/>
                <a:latin typeface="Arial" panose="020B0604020202020204"/>
                <a:ea typeface="+mn-ea"/>
                <a:cs typeface="+mn-cs"/>
              </a:rPr>
              <a:t>Compliance</a:t>
            </a:r>
            <a:endParaRPr kumimoji="0" sz="4800" b="1" i="0" u="none" strike="noStrike" kern="1200" cap="none" spc="0" normalizeH="0" baseline="0" noProof="0">
              <a:ln>
                <a:noFill/>
              </a:ln>
              <a:solidFill>
                <a:srgbClr val="1155CC"/>
              </a:solidFill>
              <a:effectLst/>
              <a:uLnTx/>
              <a:uFillTx/>
              <a:latin typeface="Arial" panose="020B0604020202020204"/>
              <a:ea typeface="+mn-ea"/>
              <a:cs typeface="+mn-cs"/>
            </a:endParaRPr>
          </a:p>
        </p:txBody>
      </p:sp>
      <p:sp>
        <p:nvSpPr>
          <p:cNvPr id="5" name="Google Shape;203;p35">
            <a:extLst>
              <a:ext uri="{FF2B5EF4-FFF2-40B4-BE49-F238E27FC236}">
                <a16:creationId xmlns:a16="http://schemas.microsoft.com/office/drawing/2014/main" id="{CECA0982-8401-463A-8ACC-A0167D22FB96}"/>
              </a:ext>
            </a:extLst>
          </p:cNvPr>
          <p:cNvSpPr/>
          <p:nvPr/>
        </p:nvSpPr>
        <p:spPr>
          <a:xfrm>
            <a:off x="3976644" y="1525668"/>
            <a:ext cx="3415500" cy="3415500"/>
          </a:xfrm>
          <a:prstGeom prst="ellipse">
            <a:avLst/>
          </a:prstGeom>
          <a:solidFill>
            <a:srgbClr val="92D050">
              <a:alpha val="34118"/>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 name="Google Shape;207;p35">
            <a:extLst>
              <a:ext uri="{FF2B5EF4-FFF2-40B4-BE49-F238E27FC236}">
                <a16:creationId xmlns:a16="http://schemas.microsoft.com/office/drawing/2014/main" id="{1FA030D5-108A-692A-3BB4-0839ACFE2C09}"/>
              </a:ext>
            </a:extLst>
          </p:cNvPr>
          <p:cNvSpPr txBox="1"/>
          <p:nvPr/>
        </p:nvSpPr>
        <p:spPr>
          <a:xfrm>
            <a:off x="4087012" y="-27384"/>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800" b="1" i="0" u="none" strike="noStrike" kern="1200" cap="none" spc="0" normalizeH="0" baseline="0" noProof="0">
                <a:ln>
                  <a:noFill/>
                </a:ln>
                <a:solidFill>
                  <a:srgbClr val="00B050"/>
                </a:solidFill>
                <a:effectLst/>
                <a:uLnTx/>
                <a:uFillTx/>
                <a:latin typeface="Arial" panose="020B0604020202020204"/>
                <a:ea typeface="+mn-ea"/>
                <a:cs typeface="+mn-cs"/>
              </a:rPr>
              <a:t>Research Integrity</a:t>
            </a:r>
          </a:p>
        </p:txBody>
      </p:sp>
      <p:sp>
        <p:nvSpPr>
          <p:cNvPr id="2" name="Footer Placeholder 1">
            <a:extLst>
              <a:ext uri="{FF2B5EF4-FFF2-40B4-BE49-F238E27FC236}">
                <a16:creationId xmlns:a16="http://schemas.microsoft.com/office/drawing/2014/main" id="{5BED3E2C-3E39-758C-905F-B5E315145E0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Google Shape;207;p35">
            <a:extLst>
              <a:ext uri="{FF2B5EF4-FFF2-40B4-BE49-F238E27FC236}">
                <a16:creationId xmlns:a16="http://schemas.microsoft.com/office/drawing/2014/main" id="{E3C897BA-B3D1-72CC-CCA6-90C3246D2AE7}"/>
              </a:ext>
            </a:extLst>
          </p:cNvPr>
          <p:cNvSpPr txBox="1"/>
          <p:nvPr/>
        </p:nvSpPr>
        <p:spPr>
          <a:xfrm>
            <a:off x="4721444" y="2291213"/>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black"/>
                </a:solidFill>
                <a:effectLst/>
                <a:uLnTx/>
                <a:uFillTx/>
                <a:latin typeface="Arial" panose="020B0604020202020204"/>
                <a:ea typeface="+mn-ea"/>
                <a:cs typeface="+mn-cs"/>
              </a:rPr>
              <a:t>Truth</a:t>
            </a:r>
          </a:p>
        </p:txBody>
      </p:sp>
      <p:sp>
        <p:nvSpPr>
          <p:cNvPr id="12" name="Google Shape;207;p35">
            <a:extLst>
              <a:ext uri="{FF2B5EF4-FFF2-40B4-BE49-F238E27FC236}">
                <a16:creationId xmlns:a16="http://schemas.microsoft.com/office/drawing/2014/main" id="{953DAD9A-AD74-492D-BA3D-5A9315FC36FE}"/>
              </a:ext>
            </a:extLst>
          </p:cNvPr>
          <p:cNvSpPr txBox="1"/>
          <p:nvPr/>
        </p:nvSpPr>
        <p:spPr>
          <a:xfrm>
            <a:off x="4070009" y="2957200"/>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black"/>
                </a:solidFill>
                <a:effectLst/>
                <a:uLnTx/>
                <a:uFillTx/>
                <a:latin typeface="Arial" panose="020B0604020202020204"/>
                <a:ea typeface="+mn-ea"/>
                <a:cs typeface="+mn-cs"/>
              </a:rPr>
              <a:t>Trust</a:t>
            </a:r>
          </a:p>
        </p:txBody>
      </p:sp>
      <p:sp>
        <p:nvSpPr>
          <p:cNvPr id="13" name="Google Shape;207;p35">
            <a:extLst>
              <a:ext uri="{FF2B5EF4-FFF2-40B4-BE49-F238E27FC236}">
                <a16:creationId xmlns:a16="http://schemas.microsoft.com/office/drawing/2014/main" id="{089DD692-7204-BB85-A2BB-E70656301C2A}"/>
              </a:ext>
            </a:extLst>
          </p:cNvPr>
          <p:cNvSpPr txBox="1"/>
          <p:nvPr/>
        </p:nvSpPr>
        <p:spPr>
          <a:xfrm>
            <a:off x="4210196" y="3668128"/>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black"/>
                </a:solidFill>
                <a:effectLst/>
                <a:uLnTx/>
                <a:uFillTx/>
                <a:latin typeface="Arial" panose="020B0604020202020204"/>
                <a:ea typeface="+mn-ea"/>
                <a:cs typeface="+mn-cs"/>
              </a:rPr>
              <a:t>Competence</a:t>
            </a:r>
          </a:p>
        </p:txBody>
      </p:sp>
      <p:sp>
        <p:nvSpPr>
          <p:cNvPr id="14" name="Google Shape;207;p35">
            <a:extLst>
              <a:ext uri="{FF2B5EF4-FFF2-40B4-BE49-F238E27FC236}">
                <a16:creationId xmlns:a16="http://schemas.microsoft.com/office/drawing/2014/main" id="{C0D7C990-0B1C-BFBE-A883-F24E8A9702B8}"/>
              </a:ext>
            </a:extLst>
          </p:cNvPr>
          <p:cNvSpPr txBox="1"/>
          <p:nvPr/>
        </p:nvSpPr>
        <p:spPr>
          <a:xfrm>
            <a:off x="5487523" y="2956918"/>
            <a:ext cx="2948396" cy="732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1" u="none" strike="noStrike" kern="1200" cap="none" spc="0" normalizeH="0" baseline="0" noProof="0">
                <a:ln>
                  <a:noFill/>
                </a:ln>
                <a:solidFill>
                  <a:prstClr val="black"/>
                </a:solidFill>
                <a:effectLst/>
                <a:uLnTx/>
                <a:uFillTx/>
                <a:latin typeface="Arial" panose="020B0604020202020204"/>
                <a:ea typeface="+mn-ea"/>
                <a:cs typeface="+mn-cs"/>
              </a:rPr>
              <a:t>Compliance</a:t>
            </a:r>
          </a:p>
        </p:txBody>
      </p:sp>
    </p:spTree>
    <p:extLst>
      <p:ext uri="{BB962C8B-B14F-4D97-AF65-F5344CB8AC3E}">
        <p14:creationId xmlns:p14="http://schemas.microsoft.com/office/powerpoint/2010/main" val="271171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0DF9FB-72AE-E3AF-EB6B-AAAB68CA1404}"/>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28.04.2026</a:t>
            </a:r>
          </a:p>
        </p:txBody>
      </p:sp>
      <p:sp>
        <p:nvSpPr>
          <p:cNvPr id="3" name="Footer Placeholder 2">
            <a:extLst>
              <a:ext uri="{FF2B5EF4-FFF2-40B4-BE49-F238E27FC236}">
                <a16:creationId xmlns:a16="http://schemas.microsoft.com/office/drawing/2014/main" id="{EAD915DA-38C4-08F0-1D8D-717E1B41BB2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Slide Number Placeholder 3">
            <a:extLst>
              <a:ext uri="{FF2B5EF4-FFF2-40B4-BE49-F238E27FC236}">
                <a16:creationId xmlns:a16="http://schemas.microsoft.com/office/drawing/2014/main" id="{9C87DC62-3163-5298-61B5-0CF33B708FF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7A9BA793-7BD1-CECC-E0BA-A48A23DC3BF4}"/>
              </a:ext>
            </a:extLst>
          </p:cNvPr>
          <p:cNvSpPr>
            <a:spLocks noGrp="1"/>
          </p:cNvSpPr>
          <p:nvPr>
            <p:ph type="ctrTitle"/>
          </p:nvPr>
        </p:nvSpPr>
        <p:spPr>
          <a:xfrm>
            <a:off x="410317" y="906393"/>
            <a:ext cx="11371365" cy="2234575"/>
          </a:xfrm>
        </p:spPr>
        <p:txBody>
          <a:bodyPr/>
          <a:lstStyle/>
          <a:p>
            <a:pPr algn="l"/>
            <a:r>
              <a:rPr lang="en-US"/>
              <a:t>Which core principles might be compromised by adopting a new technology?</a:t>
            </a:r>
            <a:br>
              <a:rPr lang="en-US"/>
            </a:br>
            <a:r>
              <a:rPr lang="en-US" b="0"/>
              <a:t>A framework for evaluating new technologies in research</a:t>
            </a:r>
            <a:br>
              <a:rPr lang="en-US" b="0"/>
            </a:br>
            <a:br>
              <a:rPr lang="en-US" b="0"/>
            </a:br>
            <a:br>
              <a:rPr lang="en-US"/>
            </a:br>
            <a:endParaRPr lang="en-FI"/>
          </a:p>
        </p:txBody>
      </p:sp>
      <p:sp>
        <p:nvSpPr>
          <p:cNvPr id="6" name="Content Placeholder 2">
            <a:extLst>
              <a:ext uri="{FF2B5EF4-FFF2-40B4-BE49-F238E27FC236}">
                <a16:creationId xmlns:a16="http://schemas.microsoft.com/office/drawing/2014/main" id="{94EBE545-294A-8FC7-51CC-0C0BD7BED0BE}"/>
              </a:ext>
            </a:extLst>
          </p:cNvPr>
          <p:cNvSpPr txBox="1">
            <a:spLocks/>
          </p:cNvSpPr>
          <p:nvPr/>
        </p:nvSpPr>
        <p:spPr>
          <a:xfrm>
            <a:off x="1055689" y="2205037"/>
            <a:ext cx="10080625" cy="3671887"/>
          </a:xfrm>
          <a:prstGeom prst="rect">
            <a:avLst/>
          </a:prstGeom>
        </p:spPr>
        <p:txBody>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marL="514350" marR="0" lvl="0" indent="-514350" algn="l" defTabSz="914400" rtl="0" eaLnBrk="1" fontAlgn="auto" latinLnBrk="0" hangingPunct="1">
              <a:lnSpc>
                <a:spcPct val="100000"/>
              </a:lnSpc>
              <a:spcBef>
                <a:spcPts val="800"/>
              </a:spcBef>
              <a:spcAft>
                <a:spcPts val="0"/>
              </a:spcAft>
              <a:buClrTx/>
              <a:buSzTx/>
              <a:buFont typeface="+mj-lt"/>
              <a:buAutoNum type="arabicPeriod"/>
              <a:tabLst/>
              <a:defRPr/>
            </a:pPr>
            <a:r>
              <a:rPr kumimoji="0" lang="en-US" sz="2800" b="1" i="0" u="none" strike="noStrike" kern="1200" cap="none" spc="0" normalizeH="0" baseline="0" noProof="0">
                <a:ln>
                  <a:noFill/>
                </a:ln>
                <a:solidFill>
                  <a:prstClr val="white"/>
                </a:solidFill>
                <a:effectLst/>
                <a:uLnTx/>
                <a:uFillTx/>
                <a:latin typeface="Arial" panose="020B0604020202020204"/>
                <a:ea typeface="+mn-ea"/>
                <a:cs typeface="+mn-cs"/>
              </a:rPr>
              <a:t>Truth:</a:t>
            </a:r>
            <a:r>
              <a:rPr kumimoji="0" lang="en-US" sz="2800" b="0" i="0" u="none" strike="noStrike" kern="1200" cap="none" spc="0" normalizeH="0" baseline="0" noProof="0">
                <a:ln>
                  <a:noFill/>
                </a:ln>
                <a:solidFill>
                  <a:prstClr val="white"/>
                </a:solidFill>
                <a:effectLst/>
                <a:uLnTx/>
                <a:uFillTx/>
                <a:latin typeface="Arial" panose="020B0604020202020204"/>
                <a:ea typeface="+mn-ea"/>
                <a:cs typeface="+mn-cs"/>
              </a:rPr>
              <a:t> Could the use of this technology compromise the accuracy or integrity of my research findings?</a:t>
            </a:r>
          </a:p>
          <a:p>
            <a:pPr marL="514350" marR="0" lvl="0" indent="-514350" algn="l" defTabSz="914400" rtl="0" eaLnBrk="1" fontAlgn="auto" latinLnBrk="0" hangingPunct="1">
              <a:lnSpc>
                <a:spcPct val="100000"/>
              </a:lnSpc>
              <a:spcBef>
                <a:spcPts val="800"/>
              </a:spcBef>
              <a:spcAft>
                <a:spcPts val="0"/>
              </a:spcAft>
              <a:buClrTx/>
              <a:buSzTx/>
              <a:buFont typeface="+mj-lt"/>
              <a:buAutoNum type="arabicPeriod"/>
              <a:tabLst/>
              <a:defRPr/>
            </a:pPr>
            <a:r>
              <a:rPr kumimoji="0" lang="en-US" sz="2800" b="1" i="0" u="none" strike="noStrike" kern="1200" cap="none" spc="0" normalizeH="0" baseline="0" noProof="0">
                <a:ln>
                  <a:noFill/>
                </a:ln>
                <a:solidFill>
                  <a:prstClr val="white"/>
                </a:solidFill>
                <a:effectLst/>
                <a:uLnTx/>
                <a:uFillTx/>
                <a:latin typeface="Arial" panose="020B0604020202020204"/>
                <a:ea typeface="+mn-ea"/>
                <a:cs typeface="+mn-cs"/>
              </a:rPr>
              <a:t>Trust:</a:t>
            </a:r>
            <a:r>
              <a:rPr kumimoji="0" lang="en-US" sz="2800" b="0" i="0" u="none" strike="noStrike" kern="1200" cap="none" spc="0" normalizeH="0" baseline="0" noProof="0">
                <a:ln>
                  <a:noFill/>
                </a:ln>
                <a:solidFill>
                  <a:prstClr val="white"/>
                </a:solidFill>
                <a:effectLst/>
                <a:uLnTx/>
                <a:uFillTx/>
                <a:latin typeface="Arial" panose="020B0604020202020204"/>
                <a:ea typeface="+mn-ea"/>
                <a:cs typeface="+mn-cs"/>
              </a:rPr>
              <a:t> Could using this technology undermine others’ confidence in my work or in me as a researcher?</a:t>
            </a:r>
          </a:p>
          <a:p>
            <a:pPr marL="514350" marR="0" lvl="0" indent="-514350" algn="l" defTabSz="914400" rtl="0" eaLnBrk="1" fontAlgn="auto" latinLnBrk="0" hangingPunct="1">
              <a:lnSpc>
                <a:spcPct val="100000"/>
              </a:lnSpc>
              <a:spcBef>
                <a:spcPts val="800"/>
              </a:spcBef>
              <a:spcAft>
                <a:spcPts val="0"/>
              </a:spcAft>
              <a:buClrTx/>
              <a:buSzTx/>
              <a:buFont typeface="+mj-lt"/>
              <a:buAutoNum type="arabicPeriod"/>
              <a:tabLst/>
              <a:defRPr/>
            </a:pPr>
            <a:r>
              <a:rPr kumimoji="0" lang="en-US" sz="2800" b="1" i="0" u="none" strike="noStrike" kern="1200" cap="none" spc="0" normalizeH="0" baseline="0" noProof="0">
                <a:ln>
                  <a:noFill/>
                </a:ln>
                <a:solidFill>
                  <a:prstClr val="white"/>
                </a:solidFill>
                <a:effectLst/>
                <a:uLnTx/>
                <a:uFillTx/>
                <a:latin typeface="Arial" panose="020B0604020202020204"/>
                <a:ea typeface="+mn-ea"/>
                <a:cs typeface="+mn-cs"/>
              </a:rPr>
              <a:t>Competence:</a:t>
            </a:r>
            <a:r>
              <a:rPr kumimoji="0" lang="en-US" sz="2800" b="0" i="0" u="none" strike="noStrike" kern="1200" cap="none" spc="0" normalizeH="0" baseline="0" noProof="0">
                <a:ln>
                  <a:noFill/>
                </a:ln>
                <a:solidFill>
                  <a:prstClr val="white"/>
                </a:solidFill>
                <a:effectLst/>
                <a:uLnTx/>
                <a:uFillTx/>
                <a:latin typeface="Arial" panose="020B0604020202020204"/>
                <a:ea typeface="+mn-ea"/>
                <a:cs typeface="+mn-cs"/>
              </a:rPr>
              <a:t> Might this technology diminish my own skills, expertise, or critical thinking abilities?</a:t>
            </a:r>
          </a:p>
          <a:p>
            <a:pPr marL="514350" marR="0" lvl="0" indent="-514350" algn="l" defTabSz="914400" rtl="0" eaLnBrk="1" fontAlgn="auto" latinLnBrk="0" hangingPunct="1">
              <a:lnSpc>
                <a:spcPct val="100000"/>
              </a:lnSpc>
              <a:spcBef>
                <a:spcPts val="800"/>
              </a:spcBef>
              <a:spcAft>
                <a:spcPts val="0"/>
              </a:spcAft>
              <a:buClrTx/>
              <a:buSzTx/>
              <a:buFont typeface="+mj-lt"/>
              <a:buAutoNum type="arabicPeriod"/>
              <a:tabLst/>
              <a:defRPr/>
            </a:pPr>
            <a:r>
              <a:rPr kumimoji="0" lang="en-US" sz="2800" b="1" i="0" u="none" strike="noStrike" kern="1200" cap="none" spc="0" normalizeH="0" baseline="0" noProof="0">
                <a:ln>
                  <a:noFill/>
                </a:ln>
                <a:solidFill>
                  <a:prstClr val="white"/>
                </a:solidFill>
                <a:effectLst/>
                <a:uLnTx/>
                <a:uFillTx/>
                <a:latin typeface="Arial" panose="020B0604020202020204"/>
                <a:ea typeface="+mn-ea"/>
                <a:cs typeface="+mn-cs"/>
              </a:rPr>
              <a:t>Compliance:</a:t>
            </a:r>
            <a:r>
              <a:rPr kumimoji="0" lang="en-US" sz="2800" b="0" i="0" u="none" strike="noStrike" kern="1200" cap="none" spc="0" normalizeH="0" baseline="0" noProof="0">
                <a:ln>
                  <a:noFill/>
                </a:ln>
                <a:solidFill>
                  <a:prstClr val="white"/>
                </a:solidFill>
                <a:effectLst/>
                <a:uLnTx/>
                <a:uFillTx/>
                <a:latin typeface="Arial" panose="020B0604020202020204"/>
                <a:ea typeface="+mn-ea"/>
                <a:cs typeface="+mn-cs"/>
              </a:rPr>
              <a:t> Does using this technology pose any risk of legal violations?</a:t>
            </a: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FI" sz="2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83651974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3002C3A-5AAC-7C81-C7ED-6CE2C59CAF1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C3683E2C-7F08-186B-887B-D5AC4304982E}"/>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80A2057C-1AE4-6F85-CFDB-44EB8D1C4D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itle 5">
            <a:extLst>
              <a:ext uri="{FF2B5EF4-FFF2-40B4-BE49-F238E27FC236}">
                <a16:creationId xmlns:a16="http://schemas.microsoft.com/office/drawing/2014/main" id="{3603A834-1C1B-F32B-ED6F-3E6A8F34D7FE}"/>
              </a:ext>
            </a:extLst>
          </p:cNvPr>
          <p:cNvSpPr>
            <a:spLocks noGrp="1"/>
          </p:cNvSpPr>
          <p:nvPr>
            <p:ph type="ctrTitle"/>
          </p:nvPr>
        </p:nvSpPr>
        <p:spPr>
          <a:xfrm>
            <a:off x="412647" y="2690338"/>
            <a:ext cx="11371366" cy="1477328"/>
          </a:xfrm>
        </p:spPr>
        <p:txBody>
          <a:bodyPr/>
          <a:lstStyle/>
          <a:p>
            <a:r>
              <a:rPr lang="en-US">
                <a:solidFill>
                  <a:schemeClr val="bg1"/>
                </a:solidFill>
              </a:rPr>
              <a:t>(Generative) Artificial Intelligence</a:t>
            </a:r>
            <a:br>
              <a:rPr lang="en-US">
                <a:solidFill>
                  <a:schemeClr val="bg1"/>
                </a:solidFill>
              </a:rPr>
            </a:br>
            <a:br>
              <a:rPr lang="en-US">
                <a:solidFill>
                  <a:schemeClr val="bg1"/>
                </a:solidFill>
              </a:rPr>
            </a:br>
            <a:r>
              <a:rPr lang="en-US">
                <a:solidFill>
                  <a:schemeClr val="bg1"/>
                </a:solidFill>
              </a:rPr>
              <a:t>and Research Integrity</a:t>
            </a:r>
          </a:p>
        </p:txBody>
      </p:sp>
      <p:sp>
        <p:nvSpPr>
          <p:cNvPr id="2" name="Footer Placeholder 1">
            <a:extLst>
              <a:ext uri="{FF2B5EF4-FFF2-40B4-BE49-F238E27FC236}">
                <a16:creationId xmlns:a16="http://schemas.microsoft.com/office/drawing/2014/main" id="{105B7E82-D5CB-80D6-4B13-DF7A707F96FC}"/>
              </a:ext>
            </a:extLst>
          </p:cNvPr>
          <p:cNvSpPr>
            <a:spLocks noGrp="1"/>
          </p:cNvSpPr>
          <p:nvPr>
            <p:ph type="ftr" sz="quarter" idx="11"/>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6998278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120BC76-712B-47ED-20B9-FFD5ABCE491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4B95A0D0-E910-9514-BB77-1646D20255F7}"/>
              </a:ext>
            </a:extLst>
          </p:cNvPr>
          <p:cNvSpPr>
            <a:spLocks noGrp="1"/>
          </p:cNvSpPr>
          <p:nvPr>
            <p:ph type="body" sz="quarter" idx="13"/>
          </p:nvPr>
        </p:nvSpPr>
        <p:spPr>
          <a:xfrm>
            <a:off x="1055688" y="1209597"/>
            <a:ext cx="10080623" cy="1290521"/>
          </a:xfrm>
        </p:spPr>
        <p:txBody>
          <a:bodyPr/>
          <a:lstStyle/>
          <a:p>
            <a:r>
              <a:rPr lang="en-GB" sz="2400"/>
              <a:t>For simplicity we focus on </a:t>
            </a:r>
            <a:r>
              <a:rPr lang="en-GB" sz="2400" b="1"/>
              <a:t>generative AI systems</a:t>
            </a:r>
            <a:r>
              <a:rPr lang="en-GB" sz="2400"/>
              <a:t> that use </a:t>
            </a:r>
            <a:r>
              <a:rPr lang="en-GB" sz="2400" b="1"/>
              <a:t>General Purpose AI models</a:t>
            </a:r>
            <a:r>
              <a:rPr lang="en-GB" sz="2400"/>
              <a:t> such as </a:t>
            </a:r>
            <a:r>
              <a:rPr lang="en-GB" sz="2400" b="1"/>
              <a:t>Large Language Models</a:t>
            </a:r>
            <a:r>
              <a:rPr lang="en-GB" sz="2400"/>
              <a:t> that can be used in your research work. </a:t>
            </a:r>
            <a:br>
              <a:rPr lang="en-GB" sz="2400"/>
            </a:br>
            <a:r>
              <a:rPr lang="en-GB" sz="1600"/>
              <a:t>Other uses of AI are not covered in this section (classifiers, recommendation systems, ML approaches to analyse data, etc…)</a:t>
            </a:r>
          </a:p>
          <a:p>
            <a:endParaRPr lang="en-GB" sz="2400"/>
          </a:p>
          <a:p>
            <a:r>
              <a:rPr lang="en-GB" sz="2400" i="1"/>
              <a:t>Text </a:t>
            </a:r>
            <a:r>
              <a:rPr lang="en-FI"/>
              <a:t>→ </a:t>
            </a:r>
            <a:r>
              <a:rPr lang="en-GB" sz="2400" i="1"/>
              <a:t>Text</a:t>
            </a:r>
          </a:p>
          <a:p>
            <a:r>
              <a:rPr lang="en-GB" sz="2400" i="1"/>
              <a:t>Text </a:t>
            </a:r>
            <a:r>
              <a:rPr lang="en-FI" sz="2400"/>
              <a:t>→ </a:t>
            </a:r>
            <a:r>
              <a:rPr lang="en-GB" sz="2400" i="1"/>
              <a:t>Code</a:t>
            </a:r>
          </a:p>
          <a:p>
            <a:r>
              <a:rPr lang="en-GB" sz="2400" i="1"/>
              <a:t>Speech </a:t>
            </a:r>
            <a:r>
              <a:rPr lang="en-FI" sz="2400"/>
              <a:t>→ </a:t>
            </a:r>
            <a:r>
              <a:rPr lang="en-GB" sz="2400" i="1"/>
              <a:t>Text</a:t>
            </a:r>
          </a:p>
          <a:p>
            <a:r>
              <a:rPr lang="en-GB" sz="2400" i="1"/>
              <a:t>Text </a:t>
            </a:r>
            <a:r>
              <a:rPr lang="en-FI" sz="2400"/>
              <a:t>→ </a:t>
            </a:r>
            <a:r>
              <a:rPr lang="en-GB" sz="2400" i="1"/>
              <a:t>Speech</a:t>
            </a:r>
          </a:p>
          <a:p>
            <a:r>
              <a:rPr lang="en-GB" sz="2400" i="1"/>
              <a:t>Text </a:t>
            </a:r>
            <a:r>
              <a:rPr lang="en-FI" sz="2400"/>
              <a:t>→ </a:t>
            </a:r>
            <a:r>
              <a:rPr lang="en-GB" sz="2400" i="1"/>
              <a:t>Image</a:t>
            </a:r>
          </a:p>
          <a:p>
            <a:r>
              <a:rPr lang="en-GB" sz="2400" i="1"/>
              <a:t>Image </a:t>
            </a:r>
            <a:r>
              <a:rPr lang="en-FI" sz="2400"/>
              <a:t>→ </a:t>
            </a:r>
            <a:r>
              <a:rPr lang="en-GB" sz="2400" i="1"/>
              <a:t>Text</a:t>
            </a:r>
          </a:p>
          <a:p>
            <a:r>
              <a:rPr lang="en-GB" sz="2400" i="1"/>
              <a:t>…</a:t>
            </a:r>
          </a:p>
          <a:p>
            <a:endParaRPr lang="en-GB" sz="1600">
              <a:cs typeface="Arial"/>
            </a:endParaRPr>
          </a:p>
        </p:txBody>
      </p:sp>
      <p:sp>
        <p:nvSpPr>
          <p:cNvPr id="2" name="Title 1">
            <a:extLst>
              <a:ext uri="{FF2B5EF4-FFF2-40B4-BE49-F238E27FC236}">
                <a16:creationId xmlns:a16="http://schemas.microsoft.com/office/drawing/2014/main" id="{78FB41A3-39C9-51EB-5306-E417DA4C6CB0}"/>
              </a:ext>
            </a:extLst>
          </p:cNvPr>
          <p:cNvSpPr>
            <a:spLocks noGrp="1"/>
          </p:cNvSpPr>
          <p:nvPr>
            <p:ph type="title"/>
          </p:nvPr>
        </p:nvSpPr>
        <p:spPr/>
        <p:txBody>
          <a:bodyPr/>
          <a:lst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a:lstStyle>
          <a:p>
            <a:r>
              <a:rPr lang="en-US" sz="3000"/>
              <a:t>Generative AI and Research Integrity</a:t>
            </a:r>
            <a:br>
              <a:rPr lang="en-US" sz="3000"/>
            </a:br>
            <a:endParaRPr lang="fi-FI" sz="1600" b="0" i="1"/>
          </a:p>
        </p:txBody>
      </p:sp>
      <p:sp>
        <p:nvSpPr>
          <p:cNvPr id="8" name="TextBox 7">
            <a:extLst>
              <a:ext uri="{FF2B5EF4-FFF2-40B4-BE49-F238E27FC236}">
                <a16:creationId xmlns:a16="http://schemas.microsoft.com/office/drawing/2014/main" id="{4C7E0562-7EC5-B83D-6FC9-D4E3343FBA0C}"/>
              </a:ext>
            </a:extLst>
          </p:cNvPr>
          <p:cNvSpPr txBox="1"/>
          <p:nvPr/>
        </p:nvSpPr>
        <p:spPr>
          <a:xfrm>
            <a:off x="4213184" y="5514563"/>
            <a:ext cx="557899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400" b="0" i="1" u="none" strike="noStrike" kern="1200" cap="none" spc="0" normalizeH="0" baseline="0" noProof="0">
                <a:ln>
                  <a:noFill/>
                </a:ln>
                <a:solidFill>
                  <a:prstClr val="black"/>
                </a:solidFill>
                <a:effectLst/>
                <a:uLnTx/>
                <a:uFillTx/>
                <a:latin typeface="Arial" panose="020B0604020202020204"/>
                <a:ea typeface="+mn-ea"/>
                <a:cs typeface="+mn-cs"/>
              </a:rPr>
              <a:t>Figure from </a:t>
            </a:r>
            <a:r>
              <a:rPr kumimoji="0" lang="en-FI" sz="1400" b="0" i="1" u="none" strike="noStrike" kern="1200" cap="none" spc="0" normalizeH="0" baseline="0" noProof="0">
                <a:ln>
                  <a:noFill/>
                </a:ln>
                <a:solidFill>
                  <a:prstClr val="black"/>
                </a:solidFill>
                <a:effectLst/>
                <a:uLnTx/>
                <a:uFillTx/>
                <a:latin typeface="Arial" panose="020B0604020202020204"/>
                <a:ea typeface="+mn-ea"/>
                <a:cs typeface="+mn-cs"/>
                <a:hlinkClick r:id="rId3"/>
              </a:rPr>
              <a:t>Glerean (2025) “Fundamentals of secure AI systems with personal data” European Data Protection Board</a:t>
            </a:r>
            <a:endParaRPr kumimoji="0" lang="en-FI" sz="1400" b="0" i="1"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5" name="Picture 4" descr="A diagram of an AI system">
            <a:extLst>
              <a:ext uri="{FF2B5EF4-FFF2-40B4-BE49-F238E27FC236}">
                <a16:creationId xmlns:a16="http://schemas.microsoft.com/office/drawing/2014/main" id="{15B06A4F-B863-A12C-C6BB-2FB647C97E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3184" y="3304902"/>
            <a:ext cx="5770179" cy="2190046"/>
          </a:xfrm>
          <a:prstGeom prst="rect">
            <a:avLst/>
          </a:prstGeom>
        </p:spPr>
      </p:pic>
      <p:sp>
        <p:nvSpPr>
          <p:cNvPr id="3" name="Date Placeholder 2">
            <a:extLst>
              <a:ext uri="{FF2B5EF4-FFF2-40B4-BE49-F238E27FC236}">
                <a16:creationId xmlns:a16="http://schemas.microsoft.com/office/drawing/2014/main" id="{1731E471-5D05-A2EF-1F2F-C251C4ED10B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Footer Placeholder 3">
            <a:extLst>
              <a:ext uri="{FF2B5EF4-FFF2-40B4-BE49-F238E27FC236}">
                <a16:creationId xmlns:a16="http://schemas.microsoft.com/office/drawing/2014/main" id="{9949AD61-B9B2-FDD3-5D3A-DFA2BBFF3B6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Slide Number Placeholder 6">
            <a:extLst>
              <a:ext uri="{FF2B5EF4-FFF2-40B4-BE49-F238E27FC236}">
                <a16:creationId xmlns:a16="http://schemas.microsoft.com/office/drawing/2014/main" id="{2F085E94-7CB3-0642-6A2E-FE5135582A4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123</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67149712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9302-1099-3179-5116-97354D453091}"/>
              </a:ext>
            </a:extLst>
          </p:cNvPr>
          <p:cNvSpPr>
            <a:spLocks noGrp="1"/>
          </p:cNvSpPr>
          <p:nvPr>
            <p:ph type="title"/>
          </p:nvPr>
        </p:nvSpPr>
        <p:spPr/>
        <p:txBody>
          <a:bodyPr/>
          <a:lstStyle/>
          <a:p>
            <a:r>
              <a:rPr lang="en-US"/>
              <a:t>The Research Process aided by AI tools: Examples</a:t>
            </a:r>
            <a:br>
              <a:rPr lang="en-US"/>
            </a:br>
            <a:r>
              <a:rPr lang="en-US" sz="1400"/>
              <a:t>with Responsible Conduct of Research at its core</a:t>
            </a:r>
          </a:p>
        </p:txBody>
      </p:sp>
      <p:pic>
        <p:nvPicPr>
          <p:cNvPr id="7" name="Graphic 4" descr="A circular diagram depicting the life cycle of research data in several connected steps: Plan, Collect, Process, Analyse, Preserve, Share, and Reuse. Each step is represented as a section of the wheel, illustrating the continuous and cyclical nature of the research data life cycle, highlighting how each stage is interconnected and sequential.">
            <a:extLst>
              <a:ext uri="{FF2B5EF4-FFF2-40B4-BE49-F238E27FC236}">
                <a16:creationId xmlns:a16="http://schemas.microsoft.com/office/drawing/2014/main" id="{9BBD2C4D-2D1C-F357-F039-E42413A70A60}"/>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40341" y="1439085"/>
            <a:ext cx="4612006" cy="4612000"/>
          </a:xfrm>
          <a:prstGeom prst="rect">
            <a:avLst/>
          </a:prstGeom>
        </p:spPr>
      </p:pic>
      <p:sp>
        <p:nvSpPr>
          <p:cNvPr id="8" name="Text Placeholder 3">
            <a:extLst>
              <a:ext uri="{FF2B5EF4-FFF2-40B4-BE49-F238E27FC236}">
                <a16:creationId xmlns:a16="http://schemas.microsoft.com/office/drawing/2014/main" id="{4FDA8CB0-5E96-5850-F14F-C465FAD6C7FC}"/>
              </a:ext>
              <a:ext uri="{C183D7F6-B498-43B3-948B-1728B52AA6E4}">
                <adec:decorative xmlns:adec="http://schemas.microsoft.com/office/drawing/2017/decorative" val="1"/>
              </a:ext>
            </a:extLst>
          </p:cNvPr>
          <p:cNvSpPr txBox="1">
            <a:spLocks/>
          </p:cNvSpPr>
          <p:nvPr/>
        </p:nvSpPr>
        <p:spPr>
          <a:xfrm>
            <a:off x="5186008" y="3236464"/>
            <a:ext cx="1664629" cy="656605"/>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a:ln>
                  <a:noFill/>
                </a:ln>
                <a:solidFill>
                  <a:prstClr val="black"/>
                </a:solidFill>
                <a:effectLst/>
                <a:uLnTx/>
                <a:uFillTx/>
                <a:latin typeface="Arial" panose="020B0604020202020204"/>
                <a:ea typeface="+mn-ea"/>
                <a:cs typeface="+mn-cs"/>
              </a:rPr>
              <a:t>RCR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Arial" panose="020B0604020202020204"/>
                <a:ea typeface="+mn-ea"/>
                <a:cs typeface="+mn-cs"/>
              </a:rPr>
              <a:t>Ethics &amp; Law</a:t>
            </a:r>
          </a:p>
        </p:txBody>
      </p:sp>
      <p:sp>
        <p:nvSpPr>
          <p:cNvPr id="9" name="TextBox 2">
            <a:extLst>
              <a:ext uri="{FF2B5EF4-FFF2-40B4-BE49-F238E27FC236}">
                <a16:creationId xmlns:a16="http://schemas.microsoft.com/office/drawing/2014/main" id="{B6454DE7-298D-3F7B-CBC4-7DC3B9144758}"/>
              </a:ext>
              <a:ext uri="{C183D7F6-B498-43B3-948B-1728B52AA6E4}">
                <adec:decorative xmlns:adec="http://schemas.microsoft.com/office/drawing/2017/decorative" val="0"/>
              </a:ext>
            </a:extLst>
          </p:cNvPr>
          <p:cNvSpPr txBox="1"/>
          <p:nvPr/>
        </p:nvSpPr>
        <p:spPr>
          <a:xfrm>
            <a:off x="7536160" y="1268760"/>
            <a:ext cx="3816424" cy="954107"/>
          </a:xfrm>
          <a:prstGeom prst="rect">
            <a:avLst/>
          </a:prstGeom>
          <a:noFill/>
          <a:ln>
            <a:solidFill>
              <a:srgbClr val="F67028"/>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Grant writing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Research planning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Study design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Browsing and summarizing the literature</a:t>
            </a:r>
          </a:p>
        </p:txBody>
      </p:sp>
      <p:sp>
        <p:nvSpPr>
          <p:cNvPr id="10" name="TextBox 6">
            <a:extLst>
              <a:ext uri="{FF2B5EF4-FFF2-40B4-BE49-F238E27FC236}">
                <a16:creationId xmlns:a16="http://schemas.microsoft.com/office/drawing/2014/main" id="{594C9FB2-E1FE-CF23-438C-B54BD34C1065}"/>
              </a:ext>
              <a:ext uri="{C183D7F6-B498-43B3-948B-1728B52AA6E4}">
                <adec:decorative xmlns:adec="http://schemas.microsoft.com/office/drawing/2017/decorative" val="0"/>
              </a:ext>
            </a:extLst>
          </p:cNvPr>
          <p:cNvSpPr txBox="1"/>
          <p:nvPr/>
        </p:nvSpPr>
        <p:spPr>
          <a:xfrm>
            <a:off x="8315204" y="3373832"/>
            <a:ext cx="3037380" cy="523220"/>
          </a:xfrm>
          <a:prstGeom prst="rect">
            <a:avLst/>
          </a:prstGeom>
          <a:noFill/>
          <a:ln>
            <a:solidFill>
              <a:srgbClr val="FAC54B"/>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Interfaces for data collection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Code and automation help</a:t>
            </a:r>
          </a:p>
        </p:txBody>
      </p:sp>
      <p:sp>
        <p:nvSpPr>
          <p:cNvPr id="11" name="TextBox 7">
            <a:extLst>
              <a:ext uri="{FF2B5EF4-FFF2-40B4-BE49-F238E27FC236}">
                <a16:creationId xmlns:a16="http://schemas.microsoft.com/office/drawing/2014/main" id="{EB26BE0E-E034-B4E7-8E06-A6728A757613}"/>
              </a:ext>
              <a:ext uri="{C183D7F6-B498-43B3-948B-1728B52AA6E4}">
                <adec:decorative xmlns:adec="http://schemas.microsoft.com/office/drawing/2017/decorative" val="0"/>
              </a:ext>
            </a:extLst>
          </p:cNvPr>
          <p:cNvSpPr txBox="1"/>
          <p:nvPr/>
        </p:nvSpPr>
        <p:spPr>
          <a:xfrm>
            <a:off x="8083908" y="4464808"/>
            <a:ext cx="3268676" cy="1600438"/>
          </a:xfrm>
          <a:prstGeom prst="rect">
            <a:avLst/>
          </a:prstGeom>
          <a:noFill/>
          <a:ln>
            <a:solidFill>
              <a:srgbClr val="8ABA56"/>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Brainstorming on approaches for data preprocessing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Code and automation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Data minimization (pseudo- and anonymization)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Data annotation (e.g. deductive coding)</a:t>
            </a:r>
          </a:p>
        </p:txBody>
      </p:sp>
      <p:sp>
        <p:nvSpPr>
          <p:cNvPr id="12" name="TextBox 8">
            <a:extLst>
              <a:ext uri="{FF2B5EF4-FFF2-40B4-BE49-F238E27FC236}">
                <a16:creationId xmlns:a16="http://schemas.microsoft.com/office/drawing/2014/main" id="{7D1C6FEB-E477-E336-B61E-DD0700F7F99A}"/>
              </a:ext>
              <a:ext uri="{C183D7F6-B498-43B3-948B-1728B52AA6E4}">
                <adec:decorative xmlns:adec="http://schemas.microsoft.com/office/drawing/2017/decorative" val="0"/>
              </a:ext>
            </a:extLst>
          </p:cNvPr>
          <p:cNvSpPr txBox="1"/>
          <p:nvPr/>
        </p:nvSpPr>
        <p:spPr>
          <a:xfrm>
            <a:off x="2063552" y="5832266"/>
            <a:ext cx="3641576" cy="738664"/>
          </a:xfrm>
          <a:prstGeom prst="rect">
            <a:avLst/>
          </a:prstGeom>
          <a:noFill/>
          <a:ln>
            <a:solidFill>
              <a:srgbClr val="32B890"/>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Annotations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Methodological considerations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Data analysis (Code and automation)</a:t>
            </a:r>
            <a:endParaRPr kumimoji="0" lang="en-US" sz="1400" b="0" i="0" u="none" strike="noStrike" kern="1200" cap="none" spc="0" normalizeH="0" baseline="0" noProof="0">
              <a:ln>
                <a:noFill/>
              </a:ln>
              <a:solidFill>
                <a:prstClr val="black"/>
              </a:solidFill>
              <a:effectLst/>
              <a:uLnTx/>
              <a:uFillTx/>
              <a:latin typeface="Arial" panose="020B0604020202020204"/>
              <a:ea typeface="+mn-ea"/>
              <a:cs typeface="Arial"/>
            </a:endParaRPr>
          </a:p>
        </p:txBody>
      </p:sp>
      <p:sp>
        <p:nvSpPr>
          <p:cNvPr id="13" name="TextBox 9">
            <a:extLst>
              <a:ext uri="{FF2B5EF4-FFF2-40B4-BE49-F238E27FC236}">
                <a16:creationId xmlns:a16="http://schemas.microsoft.com/office/drawing/2014/main" id="{EBED939A-B03C-71AE-B19F-46C83B6D8BB6}"/>
              </a:ext>
              <a:ext uri="{C183D7F6-B498-43B3-948B-1728B52AA6E4}">
                <adec:decorative xmlns:adec="http://schemas.microsoft.com/office/drawing/2017/decorative" val="0"/>
              </a:ext>
            </a:extLst>
          </p:cNvPr>
          <p:cNvSpPr txBox="1"/>
          <p:nvPr/>
        </p:nvSpPr>
        <p:spPr>
          <a:xfrm>
            <a:off x="1199456" y="4326072"/>
            <a:ext cx="2908638" cy="738664"/>
          </a:xfrm>
          <a:prstGeom prst="rect">
            <a:avLst/>
          </a:prstGeom>
          <a:noFill/>
          <a:ln>
            <a:solidFill>
              <a:srgbClr val="4176A5"/>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Metadata preparation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Summarising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Organise and store (meta)data</a:t>
            </a:r>
          </a:p>
        </p:txBody>
      </p:sp>
      <p:sp>
        <p:nvSpPr>
          <p:cNvPr id="14" name="TextBox 10">
            <a:extLst>
              <a:ext uri="{FF2B5EF4-FFF2-40B4-BE49-F238E27FC236}">
                <a16:creationId xmlns:a16="http://schemas.microsoft.com/office/drawing/2014/main" id="{CD9F088F-AAA6-3E08-317A-28DBED02ED2A}"/>
              </a:ext>
              <a:ext uri="{C183D7F6-B498-43B3-948B-1728B52AA6E4}">
                <adec:decorative xmlns:adec="http://schemas.microsoft.com/office/drawing/2017/decorative" val="0"/>
              </a:ext>
            </a:extLst>
          </p:cNvPr>
          <p:cNvSpPr txBox="1"/>
          <p:nvPr/>
        </p:nvSpPr>
        <p:spPr>
          <a:xfrm>
            <a:off x="1199456" y="2560136"/>
            <a:ext cx="2880320" cy="1384995"/>
          </a:xfrm>
          <a:prstGeom prst="rect">
            <a:avLst/>
          </a:prstGeom>
          <a:noFill/>
          <a:ln>
            <a:solidFill>
              <a:srgbClr val="9E51AD"/>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Write and editing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Improve research outputs (tables, figures)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Peer review suggestions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Summarizing for public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Media reach out </a:t>
            </a:r>
          </a:p>
        </p:txBody>
      </p:sp>
      <p:sp>
        <p:nvSpPr>
          <p:cNvPr id="15" name="TextBox 11">
            <a:extLst>
              <a:ext uri="{FF2B5EF4-FFF2-40B4-BE49-F238E27FC236}">
                <a16:creationId xmlns:a16="http://schemas.microsoft.com/office/drawing/2014/main" id="{80122BD6-1D5E-0A20-DC7C-1114C298F32E}"/>
              </a:ext>
              <a:ext uri="{C183D7F6-B498-43B3-948B-1728B52AA6E4}">
                <adec:decorative xmlns:adec="http://schemas.microsoft.com/office/drawing/2017/decorative" val="0"/>
              </a:ext>
            </a:extLst>
          </p:cNvPr>
          <p:cNvSpPr txBox="1"/>
          <p:nvPr/>
        </p:nvSpPr>
        <p:spPr>
          <a:xfrm>
            <a:off x="1198222" y="1496393"/>
            <a:ext cx="4752527" cy="738664"/>
          </a:xfrm>
          <a:prstGeom prst="rect">
            <a:avLst/>
          </a:prstGeom>
          <a:noFill/>
          <a:ln>
            <a:solidFill>
              <a:srgbClr val="FA484B"/>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Facilitate discovery and FAIR-ness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Explore open datasets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Identify research gaps</a:t>
            </a:r>
          </a:p>
        </p:txBody>
      </p:sp>
      <p:sp>
        <p:nvSpPr>
          <p:cNvPr id="16" name="TextBox 5">
            <a:extLst>
              <a:ext uri="{FF2B5EF4-FFF2-40B4-BE49-F238E27FC236}">
                <a16:creationId xmlns:a16="http://schemas.microsoft.com/office/drawing/2014/main" id="{BC6C16CA-D00B-CD33-7EEA-898E339057CA}"/>
              </a:ext>
              <a:ext uri="{C183D7F6-B498-43B3-948B-1728B52AA6E4}">
                <adec:decorative xmlns:adec="http://schemas.microsoft.com/office/drawing/2017/decorative" val="0"/>
              </a:ext>
            </a:extLst>
          </p:cNvPr>
          <p:cNvSpPr txBox="1"/>
          <p:nvPr/>
        </p:nvSpPr>
        <p:spPr>
          <a:xfrm>
            <a:off x="1724121" y="6582944"/>
            <a:ext cx="799412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lt"/>
                <a:cs typeface="Arial" panose="020B0604020202020204"/>
              </a:rPr>
              <a:t>Original image from https://rdmkit.elixir-europe.org/ “The data lifecycle”</a:t>
            </a:r>
          </a:p>
        </p:txBody>
      </p:sp>
      <p:sp>
        <p:nvSpPr>
          <p:cNvPr id="6" name="Slide Number Placeholder 5">
            <a:extLst>
              <a:ext uri="{FF2B5EF4-FFF2-40B4-BE49-F238E27FC236}">
                <a16:creationId xmlns:a16="http://schemas.microsoft.com/office/drawing/2014/main" id="{1EB806D6-F283-ECB8-4F2A-ECB1865547A8}"/>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 name="Footer Placeholder 3">
            <a:extLst>
              <a:ext uri="{FF2B5EF4-FFF2-40B4-BE49-F238E27FC236}">
                <a16:creationId xmlns:a16="http://schemas.microsoft.com/office/drawing/2014/main" id="{5217EB1F-19E4-035D-4838-1D36963668E8}"/>
              </a:ext>
            </a:extLst>
          </p:cNvPr>
          <p:cNvSpPr>
            <a:spLocks noGrp="1"/>
          </p:cNvSpPr>
          <p:nvPr>
            <p:ph type="ftr" sz="quarter" idx="15"/>
          </p:nvPr>
        </p:nvSpPr>
        <p:spPr>
          <a:xfrm>
            <a:off x="1271464" y="6309320"/>
            <a:ext cx="8928992"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 name="Date Placeholder 2">
            <a:extLst>
              <a:ext uri="{FF2B5EF4-FFF2-40B4-BE49-F238E27FC236}">
                <a16:creationId xmlns:a16="http://schemas.microsoft.com/office/drawing/2014/main" id="{751A0AF4-EA1C-12F1-6039-3CC9E885A594}"/>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Tree>
    <p:extLst>
      <p:ext uri="{BB962C8B-B14F-4D97-AF65-F5344CB8AC3E}">
        <p14:creationId xmlns:p14="http://schemas.microsoft.com/office/powerpoint/2010/main" val="248055901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BB4CF-E0B4-7C65-1993-5BE4ADF27B4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BB920EC-3F94-7EE9-ED82-27D1343FE095}"/>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28.04.2026</a:t>
            </a:r>
          </a:p>
        </p:txBody>
      </p:sp>
      <p:sp>
        <p:nvSpPr>
          <p:cNvPr id="3" name="Slide Number Placeholder 2">
            <a:extLst>
              <a:ext uri="{FF2B5EF4-FFF2-40B4-BE49-F238E27FC236}">
                <a16:creationId xmlns:a16="http://schemas.microsoft.com/office/drawing/2014/main" id="{14C0B071-584B-E7B6-A695-00C15B1EF0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125</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EC4665F2-DEE1-545E-C2F9-C6A722BA6B1E}"/>
              </a:ext>
            </a:extLst>
          </p:cNvPr>
          <p:cNvSpPr>
            <a:spLocks noGrp="1"/>
          </p:cNvSpPr>
          <p:nvPr>
            <p:ph type="ctrTitle"/>
          </p:nvPr>
        </p:nvSpPr>
        <p:spPr>
          <a:xfrm>
            <a:off x="412647" y="3182779"/>
            <a:ext cx="11371365" cy="492443"/>
          </a:xfrm>
        </p:spPr>
        <p:txBody>
          <a:bodyPr/>
          <a:lstStyle/>
          <a:p>
            <a:r>
              <a:rPr lang="en-US"/>
              <a:t>Framework for AI ethics and responsible AI</a:t>
            </a:r>
            <a:endParaRPr lang="en-FI"/>
          </a:p>
        </p:txBody>
      </p:sp>
      <p:sp>
        <p:nvSpPr>
          <p:cNvPr id="7" name="Footer Placeholder 6">
            <a:extLst>
              <a:ext uri="{FF2B5EF4-FFF2-40B4-BE49-F238E27FC236}">
                <a16:creationId xmlns:a16="http://schemas.microsoft.com/office/drawing/2014/main" id="{C250A12F-A68D-0577-6B5A-FA012C4598C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9170007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3926-F0BD-BEF7-026E-E1DAC8DC625F}"/>
              </a:ext>
            </a:extLst>
          </p:cNvPr>
          <p:cNvSpPr>
            <a:spLocks noGrp="1"/>
          </p:cNvSpPr>
          <p:nvPr>
            <p:ph type="title"/>
          </p:nvPr>
        </p:nvSpPr>
        <p:spPr/>
        <p:txBody>
          <a:bodyPr/>
          <a:lstStyle/>
          <a:p>
            <a:r>
              <a:rPr lang="en-FI"/>
              <a:t>AI ethics, Responsible AI, AI governance and AI regulations</a:t>
            </a:r>
          </a:p>
        </p:txBody>
      </p:sp>
      <p:sp>
        <p:nvSpPr>
          <p:cNvPr id="3" name="Date Placeholder 2">
            <a:extLst>
              <a:ext uri="{FF2B5EF4-FFF2-40B4-BE49-F238E27FC236}">
                <a16:creationId xmlns:a16="http://schemas.microsoft.com/office/drawing/2014/main" id="{CB0D5694-342D-BAF5-174F-E1490426010B}"/>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B64D2744-E203-7107-8BD8-C3F522688D7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riangle 5">
            <a:extLst>
              <a:ext uri="{FF2B5EF4-FFF2-40B4-BE49-F238E27FC236}">
                <a16:creationId xmlns:a16="http://schemas.microsoft.com/office/drawing/2014/main" id="{B4257C7F-351C-BFB6-5631-ED57EF9EB432}"/>
              </a:ext>
              <a:ext uri="{C183D7F6-B498-43B3-948B-1728B52AA6E4}">
                <adec:decorative xmlns:adec="http://schemas.microsoft.com/office/drawing/2017/decorative" val="1"/>
              </a:ext>
            </a:extLst>
          </p:cNvPr>
          <p:cNvSpPr/>
          <p:nvPr/>
        </p:nvSpPr>
        <p:spPr>
          <a:xfrm>
            <a:off x="911424" y="980728"/>
            <a:ext cx="6480000" cy="5040000"/>
          </a:xfrm>
          <a:prstGeom prst="triangle">
            <a:avLst/>
          </a:prstGeom>
          <a:solidFill>
            <a:srgbClr val="F37C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8" name="Triangle 7">
            <a:extLst>
              <a:ext uri="{FF2B5EF4-FFF2-40B4-BE49-F238E27FC236}">
                <a16:creationId xmlns:a16="http://schemas.microsoft.com/office/drawing/2014/main" id="{B5213159-563F-708B-25AF-B537BB4D9B54}"/>
              </a:ext>
              <a:ext uri="{C183D7F6-B498-43B3-948B-1728B52AA6E4}">
                <adec:decorative xmlns:adec="http://schemas.microsoft.com/office/drawing/2017/decorative" val="1"/>
              </a:ext>
            </a:extLst>
          </p:cNvPr>
          <p:cNvSpPr/>
          <p:nvPr/>
        </p:nvSpPr>
        <p:spPr>
          <a:xfrm>
            <a:off x="1721424" y="980728"/>
            <a:ext cx="4860000" cy="3780000"/>
          </a:xfrm>
          <a:prstGeom prst="triangle">
            <a:avLst/>
          </a:prstGeom>
          <a:solidFill>
            <a:srgbClr val="FAC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0" name="Triangle 9">
            <a:extLst>
              <a:ext uri="{FF2B5EF4-FFF2-40B4-BE49-F238E27FC236}">
                <a16:creationId xmlns:a16="http://schemas.microsoft.com/office/drawing/2014/main" id="{AD23EDAC-1306-E1FA-883F-7297562E71DD}"/>
              </a:ext>
              <a:ext uri="{C183D7F6-B498-43B3-948B-1728B52AA6E4}">
                <adec:decorative xmlns:adec="http://schemas.microsoft.com/office/drawing/2017/decorative" val="1"/>
              </a:ext>
            </a:extLst>
          </p:cNvPr>
          <p:cNvSpPr/>
          <p:nvPr/>
        </p:nvSpPr>
        <p:spPr>
          <a:xfrm>
            <a:off x="2585520" y="836712"/>
            <a:ext cx="3150440" cy="2557141"/>
          </a:xfrm>
          <a:prstGeom prst="triangle">
            <a:avLst/>
          </a:prstGeom>
          <a:solidFill>
            <a:srgbClr val="9ACB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C8A4473F-49C2-1661-A9B6-063474F26F75}"/>
              </a:ext>
            </a:extLst>
          </p:cNvPr>
          <p:cNvSpPr txBox="1"/>
          <p:nvPr/>
        </p:nvSpPr>
        <p:spPr>
          <a:xfrm>
            <a:off x="2909376" y="5101834"/>
            <a:ext cx="252028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0" normalizeH="0" baseline="0" noProof="0">
                <a:ln>
                  <a:noFill/>
                </a:ln>
                <a:solidFill>
                  <a:prstClr val="black"/>
                </a:solidFill>
                <a:effectLst/>
                <a:uLnTx/>
                <a:uFillTx/>
                <a:latin typeface="Arial" panose="020B0604020202020204"/>
                <a:ea typeface="+mn-ea"/>
                <a:cs typeface="+mn-cs"/>
              </a:rPr>
              <a:t>AI Ethics</a:t>
            </a:r>
          </a:p>
        </p:txBody>
      </p:sp>
      <p:sp>
        <p:nvSpPr>
          <p:cNvPr id="13" name="TextBox 12">
            <a:extLst>
              <a:ext uri="{FF2B5EF4-FFF2-40B4-BE49-F238E27FC236}">
                <a16:creationId xmlns:a16="http://schemas.microsoft.com/office/drawing/2014/main" id="{F01B25E5-42D1-ADE0-7D98-0666EC21A805}"/>
              </a:ext>
            </a:extLst>
          </p:cNvPr>
          <p:cNvSpPr txBox="1"/>
          <p:nvPr/>
        </p:nvSpPr>
        <p:spPr>
          <a:xfrm>
            <a:off x="2513332" y="3820907"/>
            <a:ext cx="331236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0" normalizeH="0" baseline="0" noProof="0">
                <a:ln>
                  <a:noFill/>
                </a:ln>
                <a:solidFill>
                  <a:prstClr val="black"/>
                </a:solidFill>
                <a:effectLst/>
                <a:uLnTx/>
                <a:uFillTx/>
                <a:latin typeface="Arial" panose="020B0604020202020204"/>
                <a:ea typeface="+mn-ea"/>
                <a:cs typeface="+mn-cs"/>
              </a:rPr>
              <a:t>Responsible AI</a:t>
            </a:r>
          </a:p>
        </p:txBody>
      </p:sp>
      <p:sp>
        <p:nvSpPr>
          <p:cNvPr id="14" name="TextBox 13">
            <a:extLst>
              <a:ext uri="{FF2B5EF4-FFF2-40B4-BE49-F238E27FC236}">
                <a16:creationId xmlns:a16="http://schemas.microsoft.com/office/drawing/2014/main" id="{30766FDC-B16F-C630-9C92-587F4D7BEBE7}"/>
              </a:ext>
            </a:extLst>
          </p:cNvPr>
          <p:cNvSpPr txBox="1"/>
          <p:nvPr/>
        </p:nvSpPr>
        <p:spPr>
          <a:xfrm>
            <a:off x="2585520" y="1859340"/>
            <a:ext cx="3150440"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AI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governance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and regulations</a:t>
            </a:r>
          </a:p>
        </p:txBody>
      </p:sp>
      <p:sp>
        <p:nvSpPr>
          <p:cNvPr id="15" name="TextBox 14">
            <a:extLst>
              <a:ext uri="{FF2B5EF4-FFF2-40B4-BE49-F238E27FC236}">
                <a16:creationId xmlns:a16="http://schemas.microsoft.com/office/drawing/2014/main" id="{AB8E1482-D620-A77E-40B2-C63DB8D4A6BF}"/>
              </a:ext>
            </a:extLst>
          </p:cNvPr>
          <p:cNvSpPr txBox="1"/>
          <p:nvPr/>
        </p:nvSpPr>
        <p:spPr>
          <a:xfrm>
            <a:off x="7752184" y="4760728"/>
            <a:ext cx="3888432"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0" u="none" strike="noStrike" kern="1200" cap="none" spc="0" normalizeH="0" baseline="0" noProof="0">
                <a:ln>
                  <a:noFill/>
                </a:ln>
                <a:solidFill>
                  <a:prstClr val="black"/>
                </a:solidFill>
                <a:effectLst/>
                <a:uLnTx/>
                <a:uFillTx/>
                <a:latin typeface="Arial" panose="020B0604020202020204"/>
                <a:ea typeface="+mn-ea"/>
                <a:cs typeface="+mn-cs"/>
              </a:rPr>
              <a:t>Beneficience, Nonmaleficience, Autonomy, Justice, Explicability </a:t>
            </a:r>
            <a:br>
              <a:rPr kumimoji="0" lang="en-FI" sz="2000" b="0" i="0" u="none" strike="noStrike" kern="1200" cap="none" spc="0" normalizeH="0" baseline="0" noProof="0">
                <a:ln>
                  <a:noFill/>
                </a:ln>
                <a:solidFill>
                  <a:prstClr val="black"/>
                </a:solidFill>
                <a:effectLst/>
                <a:uLnTx/>
                <a:uFillTx/>
                <a:latin typeface="Arial" panose="020B0604020202020204"/>
                <a:ea typeface="+mn-ea"/>
                <a:cs typeface="+mn-cs"/>
              </a:rPr>
            </a:b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hlinkClick r:id="rId2"/>
              </a:rPr>
              <a:t>Floridi 2023</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p>
        </p:txBody>
      </p:sp>
      <p:cxnSp>
        <p:nvCxnSpPr>
          <p:cNvPr id="17" name="Straight Connector 16">
            <a:extLst>
              <a:ext uri="{FF2B5EF4-FFF2-40B4-BE49-F238E27FC236}">
                <a16:creationId xmlns:a16="http://schemas.microsoft.com/office/drawing/2014/main" id="{AF17BC8C-840F-22F3-415B-E9F7A5D934D9}"/>
              </a:ext>
              <a:ext uri="{C183D7F6-B498-43B3-948B-1728B52AA6E4}">
                <adec:decorative xmlns:adec="http://schemas.microsoft.com/office/drawing/2017/decorative" val="1"/>
              </a:ext>
            </a:extLst>
          </p:cNvPr>
          <p:cNvCxnSpPr>
            <a:cxnSpLocks/>
          </p:cNvCxnSpPr>
          <p:nvPr/>
        </p:nvCxnSpPr>
        <p:spPr>
          <a:xfrm>
            <a:off x="1721424" y="4760728"/>
            <a:ext cx="991919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D775F860-A072-5A61-F784-9AC08D686E15}"/>
              </a:ext>
              <a:ext uri="{C183D7F6-B498-43B3-948B-1728B52AA6E4}">
                <adec:decorative xmlns:adec="http://schemas.microsoft.com/office/drawing/2017/decorative" val="1"/>
              </a:ext>
            </a:extLst>
          </p:cNvPr>
          <p:cNvCxnSpPr>
            <a:cxnSpLocks/>
          </p:cNvCxnSpPr>
          <p:nvPr/>
        </p:nvCxnSpPr>
        <p:spPr>
          <a:xfrm>
            <a:off x="2585520" y="3393853"/>
            <a:ext cx="9055096" cy="0"/>
          </a:xfrm>
          <a:prstGeom prst="line">
            <a:avLst/>
          </a:prstGeom>
          <a:ln w="28575"/>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67D1C2B-9DFB-51CC-776B-9FACB3442145}"/>
              </a:ext>
            </a:extLst>
          </p:cNvPr>
          <p:cNvSpPr txBox="1"/>
          <p:nvPr/>
        </p:nvSpPr>
        <p:spPr>
          <a:xfrm>
            <a:off x="7679866" y="3403960"/>
            <a:ext cx="38884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0" u="none" strike="noStrike" kern="1200" cap="none" spc="0" normalizeH="0" baseline="0" noProof="0">
                <a:ln>
                  <a:noFill/>
                </a:ln>
                <a:solidFill>
                  <a:prstClr val="black"/>
                </a:solidFill>
                <a:effectLst/>
                <a:uLnTx/>
                <a:uFillTx/>
                <a:latin typeface="Arial" panose="020B0604020202020204"/>
                <a:ea typeface="+mn-ea"/>
                <a:cs typeface="+mn-cs"/>
              </a:rPr>
              <a:t>SSAFE-D: Sustainability, Safety, Accountability, Fairness, Explainability, Data Stewardship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hlinkClick r:id="rId3"/>
              </a:rPr>
              <a:t>The Alan Turing Institute</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p>
        </p:txBody>
      </p:sp>
      <p:sp>
        <p:nvSpPr>
          <p:cNvPr id="22" name="TextBox 21">
            <a:extLst>
              <a:ext uri="{FF2B5EF4-FFF2-40B4-BE49-F238E27FC236}">
                <a16:creationId xmlns:a16="http://schemas.microsoft.com/office/drawing/2014/main" id="{91F1460C-5EF4-5464-CF70-8980A3D79645}"/>
              </a:ext>
            </a:extLst>
          </p:cNvPr>
          <p:cNvSpPr txBox="1"/>
          <p:nvPr/>
        </p:nvSpPr>
        <p:spPr>
          <a:xfrm>
            <a:off x="7680176" y="1700808"/>
            <a:ext cx="38884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0" u="none" strike="noStrike" kern="1200" cap="none" spc="0" normalizeH="0" baseline="0" noProof="0">
                <a:ln>
                  <a:noFill/>
                </a:ln>
                <a:solidFill>
                  <a:prstClr val="black"/>
                </a:solidFill>
                <a:effectLst/>
                <a:uLnTx/>
                <a:uFillTx/>
                <a:latin typeface="Arial" panose="020B0604020202020204"/>
                <a:ea typeface="+mn-ea"/>
                <a:cs typeface="+mn-cs"/>
              </a:rPr>
              <a:t>AI Governance in Practice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hlinkClick r:id="rId3"/>
              </a:rPr>
              <a:t>The Alan Turing Institute</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FI" sz="2000" b="0" i="1"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0" u="none" strike="noStrike" kern="1200" cap="none" spc="0" normalizeH="0" baseline="0" noProof="0">
                <a:ln>
                  <a:noFill/>
                </a:ln>
                <a:solidFill>
                  <a:prstClr val="black"/>
                </a:solidFill>
                <a:effectLst/>
                <a:uLnTx/>
                <a:uFillTx/>
                <a:latin typeface="Arial" panose="020B0604020202020204"/>
                <a:ea typeface="+mn-ea"/>
                <a:cs typeface="+mn-cs"/>
                <a:hlinkClick r:id="rId4"/>
              </a:rPr>
              <a:t>Artificial Intelligence Act</a:t>
            </a:r>
            <a:endParaRPr kumimoji="0" lang="en-FI" sz="20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0498482B-9AE4-4DEE-7ED8-E3182F295D9C}"/>
              </a:ext>
            </a:extLst>
          </p:cNvPr>
          <p:cNvSpPr txBox="1"/>
          <p:nvPr/>
        </p:nvSpPr>
        <p:spPr>
          <a:xfrm>
            <a:off x="911424" y="6093296"/>
            <a:ext cx="90010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600" b="0" i="0" u="none" strike="noStrike" kern="1200" cap="none" spc="0" normalizeH="0" baseline="0" noProof="0">
                <a:ln>
                  <a:noFill/>
                </a:ln>
                <a:solidFill>
                  <a:prstClr val="black"/>
                </a:solidFill>
                <a:effectLst/>
                <a:uLnTx/>
                <a:uFillTx/>
                <a:latin typeface="Arial" panose="020B0604020202020204"/>
                <a:ea typeface="+mn-ea"/>
                <a:cs typeface="+mn-cs"/>
              </a:rPr>
              <a:t>Other frameworks mention Fairness, Accountability, Transparency, Explicability, there are many terms but all closely related (e.g. Trustworthy AI)</a:t>
            </a:r>
          </a:p>
        </p:txBody>
      </p:sp>
      <p:sp>
        <p:nvSpPr>
          <p:cNvPr id="7" name="Footer Placeholder 6">
            <a:extLst>
              <a:ext uri="{FF2B5EF4-FFF2-40B4-BE49-F238E27FC236}">
                <a16:creationId xmlns:a16="http://schemas.microsoft.com/office/drawing/2014/main" id="{6675071C-4A6A-BCED-07F8-A8E2E6010CD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4962837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92878-4E5E-AE8F-5ECE-B42CBBB9B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21BAD-6F22-05DF-C7B9-3B73A07F91E4}"/>
              </a:ext>
            </a:extLst>
          </p:cNvPr>
          <p:cNvSpPr>
            <a:spLocks noGrp="1"/>
          </p:cNvSpPr>
          <p:nvPr>
            <p:ph type="title"/>
          </p:nvPr>
        </p:nvSpPr>
        <p:spPr/>
        <p:txBody>
          <a:bodyPr/>
          <a:lstStyle/>
          <a:p>
            <a:r>
              <a:rPr lang="en-FI">
                <a:highlight>
                  <a:srgbClr val="FFFF00"/>
                </a:highlight>
              </a:rPr>
              <a:t>AI ethics</a:t>
            </a:r>
            <a:r>
              <a:rPr lang="en-FI"/>
              <a:t>, Responsible AI, AI governance and AI regulations</a:t>
            </a:r>
          </a:p>
        </p:txBody>
      </p:sp>
      <p:sp>
        <p:nvSpPr>
          <p:cNvPr id="3" name="Date Placeholder 2">
            <a:extLst>
              <a:ext uri="{FF2B5EF4-FFF2-40B4-BE49-F238E27FC236}">
                <a16:creationId xmlns:a16="http://schemas.microsoft.com/office/drawing/2014/main" id="{3B199E53-CA81-BEE7-64DB-3A6C151F57CC}"/>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F2877C85-732A-02A9-0C44-3AF56FBD23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127</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riangle 5">
            <a:extLst>
              <a:ext uri="{FF2B5EF4-FFF2-40B4-BE49-F238E27FC236}">
                <a16:creationId xmlns:a16="http://schemas.microsoft.com/office/drawing/2014/main" id="{9F01DAA6-807E-B62E-A83C-5B329D0A9A89}"/>
              </a:ext>
              <a:ext uri="{C183D7F6-B498-43B3-948B-1728B52AA6E4}">
                <adec:decorative xmlns:adec="http://schemas.microsoft.com/office/drawing/2017/decorative" val="1"/>
              </a:ext>
            </a:extLst>
          </p:cNvPr>
          <p:cNvSpPr/>
          <p:nvPr/>
        </p:nvSpPr>
        <p:spPr>
          <a:xfrm>
            <a:off x="911424" y="980728"/>
            <a:ext cx="6480000" cy="5040000"/>
          </a:xfrm>
          <a:prstGeom prst="triangle">
            <a:avLst/>
          </a:prstGeom>
          <a:solidFill>
            <a:srgbClr val="F37C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8" name="Triangle 7">
            <a:extLst>
              <a:ext uri="{FF2B5EF4-FFF2-40B4-BE49-F238E27FC236}">
                <a16:creationId xmlns:a16="http://schemas.microsoft.com/office/drawing/2014/main" id="{69CE49E8-0EA5-55DD-67F6-4C526285FF4A}"/>
              </a:ext>
              <a:ext uri="{C183D7F6-B498-43B3-948B-1728B52AA6E4}">
                <adec:decorative xmlns:adec="http://schemas.microsoft.com/office/drawing/2017/decorative" val="1"/>
              </a:ext>
            </a:extLst>
          </p:cNvPr>
          <p:cNvSpPr/>
          <p:nvPr/>
        </p:nvSpPr>
        <p:spPr>
          <a:xfrm>
            <a:off x="1721424" y="980728"/>
            <a:ext cx="4860000" cy="3780000"/>
          </a:xfrm>
          <a:prstGeom prst="triangle">
            <a:avLst/>
          </a:prstGeom>
          <a:solidFill>
            <a:srgbClr val="FAC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0" name="Triangle 9">
            <a:extLst>
              <a:ext uri="{FF2B5EF4-FFF2-40B4-BE49-F238E27FC236}">
                <a16:creationId xmlns:a16="http://schemas.microsoft.com/office/drawing/2014/main" id="{1E710505-90EA-3030-B0F9-CA19BB5971CE}"/>
              </a:ext>
              <a:ext uri="{C183D7F6-B498-43B3-948B-1728B52AA6E4}">
                <adec:decorative xmlns:adec="http://schemas.microsoft.com/office/drawing/2017/decorative" val="1"/>
              </a:ext>
            </a:extLst>
          </p:cNvPr>
          <p:cNvSpPr/>
          <p:nvPr/>
        </p:nvSpPr>
        <p:spPr>
          <a:xfrm>
            <a:off x="2585520" y="836712"/>
            <a:ext cx="3150440" cy="2557141"/>
          </a:xfrm>
          <a:prstGeom prst="triangle">
            <a:avLst/>
          </a:prstGeom>
          <a:solidFill>
            <a:srgbClr val="9ACB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C656B22C-3410-BB49-C35D-DAA5AC684509}"/>
              </a:ext>
            </a:extLst>
          </p:cNvPr>
          <p:cNvSpPr txBox="1"/>
          <p:nvPr/>
        </p:nvSpPr>
        <p:spPr>
          <a:xfrm>
            <a:off x="2909376" y="5101834"/>
            <a:ext cx="252028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0" normalizeH="0" baseline="0" noProof="0">
                <a:ln>
                  <a:noFill/>
                </a:ln>
                <a:solidFill>
                  <a:prstClr val="black"/>
                </a:solidFill>
                <a:effectLst/>
                <a:uLnTx/>
                <a:uFillTx/>
                <a:latin typeface="Arial" panose="020B0604020202020204"/>
                <a:ea typeface="+mn-ea"/>
                <a:cs typeface="+mn-cs"/>
              </a:rPr>
              <a:t>AI Ethics</a:t>
            </a:r>
          </a:p>
        </p:txBody>
      </p:sp>
      <p:sp>
        <p:nvSpPr>
          <p:cNvPr id="13" name="TextBox 12">
            <a:extLst>
              <a:ext uri="{FF2B5EF4-FFF2-40B4-BE49-F238E27FC236}">
                <a16:creationId xmlns:a16="http://schemas.microsoft.com/office/drawing/2014/main" id="{AD5C3521-1035-0F72-F3C2-D5B609C6FC7C}"/>
              </a:ext>
            </a:extLst>
          </p:cNvPr>
          <p:cNvSpPr txBox="1"/>
          <p:nvPr/>
        </p:nvSpPr>
        <p:spPr>
          <a:xfrm>
            <a:off x="2513332" y="3820907"/>
            <a:ext cx="331236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0" normalizeH="0" baseline="0" noProof="0">
                <a:ln>
                  <a:noFill/>
                </a:ln>
                <a:solidFill>
                  <a:prstClr val="black"/>
                </a:solidFill>
                <a:effectLst/>
                <a:uLnTx/>
                <a:uFillTx/>
                <a:latin typeface="Arial" panose="020B0604020202020204"/>
                <a:ea typeface="+mn-ea"/>
                <a:cs typeface="+mn-cs"/>
              </a:rPr>
              <a:t>Responsible AI</a:t>
            </a:r>
          </a:p>
        </p:txBody>
      </p:sp>
      <p:sp>
        <p:nvSpPr>
          <p:cNvPr id="14" name="TextBox 13">
            <a:extLst>
              <a:ext uri="{FF2B5EF4-FFF2-40B4-BE49-F238E27FC236}">
                <a16:creationId xmlns:a16="http://schemas.microsoft.com/office/drawing/2014/main" id="{CA106119-F8A1-A0DB-DE5C-5DB8A3B75637}"/>
              </a:ext>
            </a:extLst>
          </p:cNvPr>
          <p:cNvSpPr txBox="1"/>
          <p:nvPr/>
        </p:nvSpPr>
        <p:spPr>
          <a:xfrm>
            <a:off x="2585520" y="1859340"/>
            <a:ext cx="3150440"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AI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governance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and regulations</a:t>
            </a:r>
          </a:p>
        </p:txBody>
      </p:sp>
      <p:sp>
        <p:nvSpPr>
          <p:cNvPr id="5" name="TextBox 4">
            <a:extLst>
              <a:ext uri="{FF2B5EF4-FFF2-40B4-BE49-F238E27FC236}">
                <a16:creationId xmlns:a16="http://schemas.microsoft.com/office/drawing/2014/main" id="{AF369FB2-088D-123B-D76E-594C7DA79A2E}"/>
              </a:ext>
            </a:extLst>
          </p:cNvPr>
          <p:cNvSpPr txBox="1"/>
          <p:nvPr/>
        </p:nvSpPr>
        <p:spPr>
          <a:xfrm>
            <a:off x="911424" y="6093296"/>
            <a:ext cx="90010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600" b="0" i="0" u="none" strike="noStrike" kern="1200" cap="none" spc="0" normalizeH="0" baseline="0" noProof="0">
                <a:ln>
                  <a:noFill/>
                </a:ln>
                <a:solidFill>
                  <a:prstClr val="black"/>
                </a:solidFill>
                <a:effectLst/>
                <a:uLnTx/>
                <a:uFillTx/>
                <a:latin typeface="Arial" panose="020B0604020202020204"/>
                <a:ea typeface="+mn-ea"/>
                <a:cs typeface="+mn-cs"/>
              </a:rPr>
              <a:t>Other frameworks mention Fairness, Accountability, Transparency, Explicability, there are many terms but all closely related (e.g. Trustworthy AI)</a:t>
            </a:r>
          </a:p>
        </p:txBody>
      </p:sp>
      <p:sp>
        <p:nvSpPr>
          <p:cNvPr id="7" name="Footer Placeholder 6">
            <a:extLst>
              <a:ext uri="{FF2B5EF4-FFF2-40B4-BE49-F238E27FC236}">
                <a16:creationId xmlns:a16="http://schemas.microsoft.com/office/drawing/2014/main" id="{35C488A9-4DE4-CA21-EEE3-99DD448CCFB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181445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428E7-AEB9-DD5E-FDCB-DDCFF046E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A95608-B38E-34AE-4766-32E2EC468871}"/>
              </a:ext>
            </a:extLst>
          </p:cNvPr>
          <p:cNvSpPr>
            <a:spLocks noGrp="1"/>
          </p:cNvSpPr>
          <p:nvPr>
            <p:ph type="title"/>
          </p:nvPr>
        </p:nvSpPr>
        <p:spPr/>
        <p:txBody>
          <a:bodyPr/>
          <a:lstStyle/>
          <a:p>
            <a:r>
              <a:rPr lang="en-US"/>
              <a:t>Unified framework of five principles for ethical AI</a:t>
            </a:r>
          </a:p>
        </p:txBody>
      </p:sp>
      <p:sp>
        <p:nvSpPr>
          <p:cNvPr id="8" name="Slide Number Placeholder 7">
            <a:extLst>
              <a:ext uri="{FF2B5EF4-FFF2-40B4-BE49-F238E27FC236}">
                <a16:creationId xmlns:a16="http://schemas.microsoft.com/office/drawing/2014/main" id="{CB26724A-0465-77C0-191F-8AC9409094B9}"/>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 name="Date Placeholder 3">
            <a:extLst>
              <a:ext uri="{FF2B5EF4-FFF2-40B4-BE49-F238E27FC236}">
                <a16:creationId xmlns:a16="http://schemas.microsoft.com/office/drawing/2014/main" id="{6188DBBF-CF0F-5221-5762-4E82E7BB4D2D}"/>
              </a:ext>
              <a:ext uri="{C183D7F6-B498-43B3-948B-1728B52AA6E4}">
                <adec:decorative xmlns:adec="http://schemas.microsoft.com/office/drawing/2017/decorative" val="0"/>
              </a:ext>
            </a:extLst>
          </p:cNvPr>
          <p:cNvSpPr>
            <a:spLocks noGrp="1"/>
          </p:cNvSpPr>
          <p:nvPr>
            <p:ph type="dt" sz="half" idx="10"/>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pic>
        <p:nvPicPr>
          <p:cNvPr id="10" name="Picture 9" descr="A group of white rectangular boxes with text&#10;&#10;Description automatically generated">
            <a:extLst>
              <a:ext uri="{FF2B5EF4-FFF2-40B4-BE49-F238E27FC236}">
                <a16:creationId xmlns:a16="http://schemas.microsoft.com/office/drawing/2014/main" id="{92161043-183C-2D4C-30B8-62B28242ED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987" y="1883884"/>
            <a:ext cx="9593245" cy="2257234"/>
          </a:xfrm>
          <a:prstGeom prst="rect">
            <a:avLst/>
          </a:prstGeom>
        </p:spPr>
      </p:pic>
      <p:sp>
        <p:nvSpPr>
          <p:cNvPr id="6" name="TextBox 5">
            <a:extLst>
              <a:ext uri="{FF2B5EF4-FFF2-40B4-BE49-F238E27FC236}">
                <a16:creationId xmlns:a16="http://schemas.microsoft.com/office/drawing/2014/main" id="{9F5EBB73-1FC3-64B1-94DF-8ABB1BFBBFBD}"/>
              </a:ext>
            </a:extLst>
          </p:cNvPr>
          <p:cNvSpPr txBox="1"/>
          <p:nvPr/>
        </p:nvSpPr>
        <p:spPr>
          <a:xfrm>
            <a:off x="407987" y="5034647"/>
            <a:ext cx="9593244" cy="923330"/>
          </a:xfrm>
          <a:prstGeom prst="rect">
            <a:avLst/>
          </a:prstGeom>
          <a:noFill/>
        </p:spPr>
        <p:txBody>
          <a:bodyPr wrap="square">
            <a:spAutoFit/>
          </a:bodyPr>
          <a:lstStyle/>
          <a:p>
            <a:pPr marL="342900" indent="-342900">
              <a:buFont typeface="Arial" panose="020B0604020202020204" pitchFamily="34" charset="0"/>
              <a:buChar char="•"/>
            </a:pPr>
            <a:r>
              <a:rPr lang="en-US">
                <a:cs typeface="Arial" panose="020B0604020202020204"/>
              </a:rPr>
              <a:t>Reference: Traditional bioethics principles by </a:t>
            </a:r>
            <a:r>
              <a:rPr lang="en-GB" i="1">
                <a:hlinkClick r:id="rId3"/>
              </a:rPr>
              <a:t>Beauchamp &amp; Childress</a:t>
            </a:r>
            <a:r>
              <a:rPr lang="en-GB" i="1"/>
              <a:t> (1979-2026), </a:t>
            </a:r>
            <a:r>
              <a:rPr lang="en-GB"/>
              <a:t>extended by </a:t>
            </a:r>
            <a:r>
              <a:rPr lang="en-GB" err="1">
                <a:solidFill>
                  <a:srgbClr val="222222"/>
                </a:solidFill>
                <a:latin typeface="Arial" panose="020B0604020202020204" pitchFamily="34" charset="0"/>
              </a:rPr>
              <a:t>Floridi</a:t>
            </a:r>
            <a:r>
              <a:rPr lang="en-GB">
                <a:solidFill>
                  <a:srgbClr val="222222"/>
                </a:solidFill>
                <a:latin typeface="Arial" panose="020B0604020202020204" pitchFamily="34" charset="0"/>
              </a:rPr>
              <a:t>, L. (2023) in “</a:t>
            </a:r>
            <a:r>
              <a:rPr lang="en-GB" i="1">
                <a:solidFill>
                  <a:srgbClr val="222222"/>
                </a:solidFill>
                <a:latin typeface="Arial" panose="020B0604020202020204" pitchFamily="34" charset="0"/>
                <a:hlinkClick r:id="rId4"/>
              </a:rPr>
              <a:t>The ethics of artificial intelligence: Principles, challenges, and opportunities.</a:t>
            </a:r>
            <a:r>
              <a:rPr lang="en-GB" i="1">
                <a:solidFill>
                  <a:srgbClr val="222222"/>
                </a:solidFill>
                <a:latin typeface="Arial" panose="020B0604020202020204" pitchFamily="34" charset="0"/>
              </a:rPr>
              <a:t>”</a:t>
            </a:r>
            <a:endParaRPr lang="en-US" i="1">
              <a:cs typeface="Arial" panose="020B0604020202020204"/>
            </a:endParaRPr>
          </a:p>
        </p:txBody>
      </p:sp>
      <p:sp>
        <p:nvSpPr>
          <p:cNvPr id="3" name="Footer Placeholder 2">
            <a:extLst>
              <a:ext uri="{FF2B5EF4-FFF2-40B4-BE49-F238E27FC236}">
                <a16:creationId xmlns:a16="http://schemas.microsoft.com/office/drawing/2014/main" id="{26CCDD48-41A4-CEA1-81E4-E266D2B43093}"/>
              </a:ext>
            </a:extLst>
          </p:cNvPr>
          <p:cNvSpPr>
            <a:spLocks noGrp="1"/>
          </p:cNvSpPr>
          <p:nvPr>
            <p:ph type="ftr"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49467811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9C448-3F2F-6B57-FE9F-148AFA26C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CA0F1-9CB8-63D6-DB89-223640F64CD7}"/>
              </a:ext>
            </a:extLst>
          </p:cNvPr>
          <p:cNvSpPr>
            <a:spLocks noGrp="1"/>
          </p:cNvSpPr>
          <p:nvPr>
            <p:ph type="title"/>
          </p:nvPr>
        </p:nvSpPr>
        <p:spPr/>
        <p:txBody>
          <a:bodyPr/>
          <a:lstStyle/>
          <a:p>
            <a:r>
              <a:rPr lang="en-FI"/>
              <a:t>AI ethics, </a:t>
            </a:r>
            <a:r>
              <a:rPr lang="en-FI">
                <a:highlight>
                  <a:srgbClr val="FFFF00"/>
                </a:highlight>
              </a:rPr>
              <a:t>Responsible AI</a:t>
            </a:r>
            <a:r>
              <a:rPr lang="en-FI"/>
              <a:t>, AI governance and AI regulations</a:t>
            </a:r>
          </a:p>
        </p:txBody>
      </p:sp>
      <p:sp>
        <p:nvSpPr>
          <p:cNvPr id="3" name="Date Placeholder 2">
            <a:extLst>
              <a:ext uri="{FF2B5EF4-FFF2-40B4-BE49-F238E27FC236}">
                <a16:creationId xmlns:a16="http://schemas.microsoft.com/office/drawing/2014/main" id="{B42D84FB-21A3-6349-2049-9AB4E0C82F12}"/>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6A42D2FA-1BAC-4DB2-8433-C843AF231E5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129</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riangle 5">
            <a:extLst>
              <a:ext uri="{FF2B5EF4-FFF2-40B4-BE49-F238E27FC236}">
                <a16:creationId xmlns:a16="http://schemas.microsoft.com/office/drawing/2014/main" id="{68038B62-DC5F-D3B8-0D23-EDD563B4EE3A}"/>
              </a:ext>
              <a:ext uri="{C183D7F6-B498-43B3-948B-1728B52AA6E4}">
                <adec:decorative xmlns:adec="http://schemas.microsoft.com/office/drawing/2017/decorative" val="1"/>
              </a:ext>
            </a:extLst>
          </p:cNvPr>
          <p:cNvSpPr/>
          <p:nvPr/>
        </p:nvSpPr>
        <p:spPr>
          <a:xfrm>
            <a:off x="911424" y="980728"/>
            <a:ext cx="6480000" cy="5040000"/>
          </a:xfrm>
          <a:prstGeom prst="triangle">
            <a:avLst/>
          </a:prstGeom>
          <a:solidFill>
            <a:srgbClr val="F37C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8" name="Triangle 7">
            <a:extLst>
              <a:ext uri="{FF2B5EF4-FFF2-40B4-BE49-F238E27FC236}">
                <a16:creationId xmlns:a16="http://schemas.microsoft.com/office/drawing/2014/main" id="{2B2EE476-9D4C-9453-22D0-CEFD952037E7}"/>
              </a:ext>
              <a:ext uri="{C183D7F6-B498-43B3-948B-1728B52AA6E4}">
                <adec:decorative xmlns:adec="http://schemas.microsoft.com/office/drawing/2017/decorative" val="1"/>
              </a:ext>
            </a:extLst>
          </p:cNvPr>
          <p:cNvSpPr/>
          <p:nvPr/>
        </p:nvSpPr>
        <p:spPr>
          <a:xfrm>
            <a:off x="1721424" y="980728"/>
            <a:ext cx="4860000" cy="3780000"/>
          </a:xfrm>
          <a:prstGeom prst="triangle">
            <a:avLst/>
          </a:prstGeom>
          <a:solidFill>
            <a:srgbClr val="FAC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0" name="Triangle 9">
            <a:extLst>
              <a:ext uri="{FF2B5EF4-FFF2-40B4-BE49-F238E27FC236}">
                <a16:creationId xmlns:a16="http://schemas.microsoft.com/office/drawing/2014/main" id="{B7044061-6DDD-803B-9E60-A161FB2ECEB9}"/>
              </a:ext>
              <a:ext uri="{C183D7F6-B498-43B3-948B-1728B52AA6E4}">
                <adec:decorative xmlns:adec="http://schemas.microsoft.com/office/drawing/2017/decorative" val="1"/>
              </a:ext>
            </a:extLst>
          </p:cNvPr>
          <p:cNvSpPr/>
          <p:nvPr/>
        </p:nvSpPr>
        <p:spPr>
          <a:xfrm>
            <a:off x="2585520" y="836712"/>
            <a:ext cx="3150440" cy="2557141"/>
          </a:xfrm>
          <a:prstGeom prst="triangle">
            <a:avLst/>
          </a:prstGeom>
          <a:solidFill>
            <a:srgbClr val="9ACB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98167B5F-7891-11B1-FBBD-1A8BA2B0DD63}"/>
              </a:ext>
            </a:extLst>
          </p:cNvPr>
          <p:cNvSpPr txBox="1"/>
          <p:nvPr/>
        </p:nvSpPr>
        <p:spPr>
          <a:xfrm>
            <a:off x="2909376" y="5101834"/>
            <a:ext cx="252028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0" normalizeH="0" baseline="0" noProof="0">
                <a:ln>
                  <a:noFill/>
                </a:ln>
                <a:solidFill>
                  <a:prstClr val="black"/>
                </a:solidFill>
                <a:effectLst/>
                <a:uLnTx/>
                <a:uFillTx/>
                <a:latin typeface="Arial" panose="020B0604020202020204"/>
                <a:ea typeface="+mn-ea"/>
                <a:cs typeface="+mn-cs"/>
              </a:rPr>
              <a:t>AI Ethics</a:t>
            </a:r>
          </a:p>
        </p:txBody>
      </p:sp>
      <p:sp>
        <p:nvSpPr>
          <p:cNvPr id="13" name="TextBox 12">
            <a:extLst>
              <a:ext uri="{FF2B5EF4-FFF2-40B4-BE49-F238E27FC236}">
                <a16:creationId xmlns:a16="http://schemas.microsoft.com/office/drawing/2014/main" id="{9C70DD44-CD86-6168-9C04-2CD8B821CC81}"/>
              </a:ext>
            </a:extLst>
          </p:cNvPr>
          <p:cNvSpPr txBox="1"/>
          <p:nvPr/>
        </p:nvSpPr>
        <p:spPr>
          <a:xfrm>
            <a:off x="2513332" y="3820907"/>
            <a:ext cx="331236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0" normalizeH="0" baseline="0" noProof="0">
                <a:ln>
                  <a:noFill/>
                </a:ln>
                <a:solidFill>
                  <a:prstClr val="black"/>
                </a:solidFill>
                <a:effectLst/>
                <a:uLnTx/>
                <a:uFillTx/>
                <a:latin typeface="Arial" panose="020B0604020202020204"/>
                <a:ea typeface="+mn-ea"/>
                <a:cs typeface="+mn-cs"/>
              </a:rPr>
              <a:t>Responsible AI</a:t>
            </a:r>
          </a:p>
        </p:txBody>
      </p:sp>
      <p:sp>
        <p:nvSpPr>
          <p:cNvPr id="14" name="TextBox 13">
            <a:extLst>
              <a:ext uri="{FF2B5EF4-FFF2-40B4-BE49-F238E27FC236}">
                <a16:creationId xmlns:a16="http://schemas.microsoft.com/office/drawing/2014/main" id="{7380F8E1-4C71-EB03-E95F-2E26D2544967}"/>
              </a:ext>
            </a:extLst>
          </p:cNvPr>
          <p:cNvSpPr txBox="1"/>
          <p:nvPr/>
        </p:nvSpPr>
        <p:spPr>
          <a:xfrm>
            <a:off x="2585520" y="1859340"/>
            <a:ext cx="3150440"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AI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governance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and regulations</a:t>
            </a:r>
          </a:p>
        </p:txBody>
      </p:sp>
      <p:sp>
        <p:nvSpPr>
          <p:cNvPr id="15" name="TextBox 14">
            <a:extLst>
              <a:ext uri="{FF2B5EF4-FFF2-40B4-BE49-F238E27FC236}">
                <a16:creationId xmlns:a16="http://schemas.microsoft.com/office/drawing/2014/main" id="{2C3D8B41-3AE8-B2E7-C963-DC4D32F56298}"/>
              </a:ext>
            </a:extLst>
          </p:cNvPr>
          <p:cNvSpPr txBox="1"/>
          <p:nvPr/>
        </p:nvSpPr>
        <p:spPr>
          <a:xfrm>
            <a:off x="7752184" y="4760728"/>
            <a:ext cx="3888432" cy="1015663"/>
          </a:xfrm>
          <a:prstGeom prst="rect">
            <a:avLst/>
          </a:prstGeom>
          <a:noFill/>
        </p:spPr>
        <p:txBody>
          <a:bodyPr wrap="square" rtlCol="0">
            <a:spAutoFit/>
          </a:bodyPr>
          <a:lstStyle/>
          <a:p>
            <a:r>
              <a:rPr lang="en-FI" sz="2000"/>
              <a:t>Beneficence, Non-maleficence, Autonomy, Justice, Explicability </a:t>
            </a:r>
            <a:br>
              <a:rPr lang="en-FI" sz="2000"/>
            </a:br>
            <a:r>
              <a:rPr lang="en-FI" sz="2000" i="1"/>
              <a:t>(</a:t>
            </a:r>
            <a:r>
              <a:rPr lang="en-FI" sz="2000" i="1">
                <a:hlinkClick r:id="rId2"/>
              </a:rPr>
              <a:t>Floridi 2023</a:t>
            </a:r>
            <a:r>
              <a:rPr lang="en-FI" sz="2000" i="1"/>
              <a:t>)</a:t>
            </a:r>
          </a:p>
        </p:txBody>
      </p:sp>
      <p:cxnSp>
        <p:nvCxnSpPr>
          <p:cNvPr id="17" name="Straight Connector 16">
            <a:extLst>
              <a:ext uri="{FF2B5EF4-FFF2-40B4-BE49-F238E27FC236}">
                <a16:creationId xmlns:a16="http://schemas.microsoft.com/office/drawing/2014/main" id="{04A98886-69A8-5CC0-101A-12FE74B64433}"/>
              </a:ext>
              <a:ext uri="{C183D7F6-B498-43B3-948B-1728B52AA6E4}">
                <adec:decorative xmlns:adec="http://schemas.microsoft.com/office/drawing/2017/decorative" val="1"/>
              </a:ext>
            </a:extLst>
          </p:cNvPr>
          <p:cNvCxnSpPr>
            <a:cxnSpLocks/>
          </p:cNvCxnSpPr>
          <p:nvPr/>
        </p:nvCxnSpPr>
        <p:spPr>
          <a:xfrm>
            <a:off x="1721424" y="4760728"/>
            <a:ext cx="9919192" cy="0"/>
          </a:xfrm>
          <a:prstGeom prst="line">
            <a:avLst/>
          </a:prstGeom>
          <a:ln w="28575"/>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4415B8A9-6235-7B1C-5C8B-E8C3F67A7570}"/>
              </a:ext>
            </a:extLst>
          </p:cNvPr>
          <p:cNvSpPr txBox="1"/>
          <p:nvPr/>
        </p:nvSpPr>
        <p:spPr>
          <a:xfrm>
            <a:off x="911424" y="6093296"/>
            <a:ext cx="90010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600" b="0" i="0" u="none" strike="noStrike" kern="1200" cap="none" spc="0" normalizeH="0" baseline="0" noProof="0">
                <a:ln>
                  <a:noFill/>
                </a:ln>
                <a:solidFill>
                  <a:prstClr val="black"/>
                </a:solidFill>
                <a:effectLst/>
                <a:uLnTx/>
                <a:uFillTx/>
                <a:latin typeface="Arial" panose="020B0604020202020204"/>
                <a:ea typeface="+mn-ea"/>
                <a:cs typeface="+mn-cs"/>
              </a:rPr>
              <a:t>Other frameworks mention Fairness, Accountability, Transparency, Explicability, there are many terms but all closely related (e.g. Trustworthy AI)</a:t>
            </a:r>
          </a:p>
        </p:txBody>
      </p:sp>
      <p:sp>
        <p:nvSpPr>
          <p:cNvPr id="7" name="Footer Placeholder 6">
            <a:extLst>
              <a:ext uri="{FF2B5EF4-FFF2-40B4-BE49-F238E27FC236}">
                <a16:creationId xmlns:a16="http://schemas.microsoft.com/office/drawing/2014/main" id="{27F368DB-4E1C-AA9A-D57F-D915D76653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13316778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EB7B9-0AD0-31CC-204E-AF3A37270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DC5431-E182-C062-FEC7-700077642D29}"/>
              </a:ext>
            </a:extLst>
          </p:cNvPr>
          <p:cNvSpPr>
            <a:spLocks noGrp="1"/>
          </p:cNvSpPr>
          <p:nvPr>
            <p:ph type="title"/>
          </p:nvPr>
        </p:nvSpPr>
        <p:spPr/>
        <p:txBody>
          <a:bodyPr/>
          <a:lstStyle/>
          <a:p>
            <a:r>
              <a:rPr lang="en-US"/>
              <a:t>Responsible AI, the SSAFE-D principles</a:t>
            </a:r>
            <a:endParaRPr lang="en-FI" b="0"/>
          </a:p>
        </p:txBody>
      </p:sp>
      <p:sp>
        <p:nvSpPr>
          <p:cNvPr id="4" name="Slide Number Placeholder 3">
            <a:extLst>
              <a:ext uri="{FF2B5EF4-FFF2-40B4-BE49-F238E27FC236}">
                <a16:creationId xmlns:a16="http://schemas.microsoft.com/office/drawing/2014/main" id="{A91582E8-994B-F8DA-DEF6-2F6A1E2D828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8" name="Picture 7" descr="A group of text on a white background&#10;&#10;AI-generated content may be incorrect.">
            <a:extLst>
              <a:ext uri="{FF2B5EF4-FFF2-40B4-BE49-F238E27FC236}">
                <a16:creationId xmlns:a16="http://schemas.microsoft.com/office/drawing/2014/main" id="{9C2829A5-40BB-41C3-80F7-423DFFECB5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416" y="975946"/>
            <a:ext cx="9145016" cy="5371341"/>
          </a:xfrm>
          <a:prstGeom prst="rect">
            <a:avLst/>
          </a:prstGeom>
        </p:spPr>
      </p:pic>
      <p:sp>
        <p:nvSpPr>
          <p:cNvPr id="9" name="TextBox 8">
            <a:extLst>
              <a:ext uri="{FF2B5EF4-FFF2-40B4-BE49-F238E27FC236}">
                <a16:creationId xmlns:a16="http://schemas.microsoft.com/office/drawing/2014/main" id="{4E212202-FBDF-6C21-E8E1-E71872CA0485}"/>
              </a:ext>
            </a:extLst>
          </p:cNvPr>
          <p:cNvSpPr txBox="1"/>
          <p:nvPr/>
        </p:nvSpPr>
        <p:spPr>
          <a:xfrm>
            <a:off x="9984432" y="908720"/>
            <a:ext cx="2305494"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1" i="0" u="none" strike="noStrike" kern="1200" cap="none" spc="0" normalizeH="0" baseline="0" noProof="0">
                <a:ln>
                  <a:noFill/>
                </a:ln>
                <a:solidFill>
                  <a:prstClr val="black"/>
                </a:solidFill>
                <a:effectLst/>
                <a:uLnTx/>
                <a:uFillTx/>
                <a:latin typeface="Arial" panose="020B0604020202020204"/>
                <a:ea typeface="+mn-ea"/>
                <a:cs typeface="+mn-cs"/>
              </a:rPr>
              <a:t>SSAFE-D</a:t>
            </a:r>
            <a:r>
              <a:rPr kumimoji="0" lang="en-FI" sz="2000" b="0" i="0" u="none" strike="noStrike" kern="1200" cap="none" spc="0" normalizeH="0" baseline="0" noProof="0">
                <a:ln>
                  <a:noFill/>
                </a:ln>
                <a:solidFill>
                  <a:prstClr val="black"/>
                </a:solidFill>
                <a:effectLst/>
                <a:uLnTx/>
                <a:uFillTx/>
                <a:latin typeface="Arial" panose="020B0604020202020204"/>
                <a:ea typeface="+mn-ea"/>
                <a:cs typeface="+mn-cs"/>
              </a:rPr>
              <a:t>: Sustainability, Safety, Accountability, Fairness, Explainability, Data Stewardship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hlinkClick r:id="rId3"/>
              </a:rPr>
              <a:t>The Alan Turing Institute</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p>
        </p:txBody>
      </p:sp>
      <p:sp>
        <p:nvSpPr>
          <p:cNvPr id="3" name="Date Placeholder 2">
            <a:extLst>
              <a:ext uri="{FF2B5EF4-FFF2-40B4-BE49-F238E27FC236}">
                <a16:creationId xmlns:a16="http://schemas.microsoft.com/office/drawing/2014/main" id="{456C7950-FA26-EBE1-1A6F-3319655B2E6E}"/>
              </a:ext>
            </a:extLst>
          </p:cNvPr>
          <p:cNvSpPr>
            <a:spLocks noGrp="1"/>
          </p:cNvSpPr>
          <p:nvPr>
            <p:ph type="dt" sz="half"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5" name="Footer Placeholder 4">
            <a:extLst>
              <a:ext uri="{FF2B5EF4-FFF2-40B4-BE49-F238E27FC236}">
                <a16:creationId xmlns:a16="http://schemas.microsoft.com/office/drawing/2014/main" id="{83B40D14-F06E-5892-BDEA-D2354ECD3A5A}"/>
              </a:ext>
            </a:extLst>
          </p:cNvPr>
          <p:cNvSpPr>
            <a:spLocks noGrp="1"/>
          </p:cNvSpPr>
          <p:nvPr>
            <p:ph type="ftr"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63308640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ED32F-84B1-D7D1-2CB5-3AB4CA8E4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F33F6-8151-238F-B170-9DD6236ADC4F}"/>
              </a:ext>
            </a:extLst>
          </p:cNvPr>
          <p:cNvSpPr>
            <a:spLocks noGrp="1"/>
          </p:cNvSpPr>
          <p:nvPr>
            <p:ph type="title"/>
          </p:nvPr>
        </p:nvSpPr>
        <p:spPr/>
        <p:txBody>
          <a:bodyPr/>
          <a:lstStyle/>
          <a:p>
            <a:r>
              <a:rPr lang="en-US"/>
              <a:t>Apply SSAFE-D principles to evaluate the ethicality of an AI tool</a:t>
            </a:r>
            <a:br>
              <a:rPr lang="en-FI"/>
            </a:br>
            <a:r>
              <a:rPr lang="en-GB" b="0"/>
              <a:t>Commit a morally wrong act to achieve a greater good?</a:t>
            </a:r>
            <a:endParaRPr lang="en-FI" b="0"/>
          </a:p>
        </p:txBody>
      </p:sp>
      <p:sp>
        <p:nvSpPr>
          <p:cNvPr id="4" name="Slide Number Placeholder 3">
            <a:extLst>
              <a:ext uri="{FF2B5EF4-FFF2-40B4-BE49-F238E27FC236}">
                <a16:creationId xmlns:a16="http://schemas.microsoft.com/office/drawing/2014/main" id="{4BC77E2A-B8B0-ACD6-9D44-5E852312E2A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Content Placeholder 4">
            <a:extLst>
              <a:ext uri="{FF2B5EF4-FFF2-40B4-BE49-F238E27FC236}">
                <a16:creationId xmlns:a16="http://schemas.microsoft.com/office/drawing/2014/main" id="{FA0DCEB9-89ED-6055-CB0F-B696D2912651}"/>
              </a:ext>
            </a:extLst>
          </p:cNvPr>
          <p:cNvSpPr>
            <a:spLocks noGrp="1"/>
          </p:cNvSpPr>
          <p:nvPr>
            <p:ph sz="half" idx="1"/>
          </p:nvPr>
        </p:nvSpPr>
        <p:spPr>
          <a:xfrm>
            <a:off x="1055688" y="1806767"/>
            <a:ext cx="10296896" cy="4070158"/>
          </a:xfrm>
        </p:spPr>
        <p:txBody>
          <a:bodyPr/>
          <a:lstStyle/>
          <a:p>
            <a:r>
              <a:rPr lang="en-FI" b="1"/>
              <a:t>Responsible AI principles are currently not followed by developers of proprietary generative AI systems/models (OpenAI, Meta, Google…)</a:t>
            </a:r>
          </a:p>
          <a:p>
            <a:pPr marL="342900" indent="-342900">
              <a:buFont typeface="Arial" panose="020B0604020202020204" pitchFamily="34" charset="0"/>
              <a:buChar char="•"/>
            </a:pPr>
            <a:r>
              <a:rPr lang="en-FI"/>
              <a:t>❌ Sustainability (huge impact on the planet, currently </a:t>
            </a:r>
            <a:r>
              <a:rPr lang="en-FI">
                <a:hlinkClick r:id="rId2"/>
              </a:rPr>
              <a:t>1-2% of global electricity</a:t>
            </a:r>
            <a:r>
              <a:rPr lang="en-FI"/>
              <a:t>)</a:t>
            </a:r>
          </a:p>
          <a:p>
            <a:pPr marL="342900" indent="-342900">
              <a:buFont typeface="Arial" panose="020B0604020202020204" pitchFamily="34" charset="0"/>
              <a:buChar char="•"/>
            </a:pPr>
            <a:r>
              <a:rPr lang="en-FI"/>
              <a:t>❌ Safety (Induced </a:t>
            </a:r>
            <a:r>
              <a:rPr lang="en-FI">
                <a:hlinkClick r:id="rId3"/>
              </a:rPr>
              <a:t>psychosis</a:t>
            </a:r>
            <a:r>
              <a:rPr lang="en-FI"/>
              <a:t>, </a:t>
            </a:r>
            <a:r>
              <a:rPr lang="en-FI">
                <a:hlinkClick r:id="rId4"/>
              </a:rPr>
              <a:t>suicide</a:t>
            </a:r>
            <a:r>
              <a:rPr lang="en-FI"/>
              <a:t>, </a:t>
            </a:r>
            <a:r>
              <a:rPr lang="en-FI">
                <a:hlinkClick r:id="rId5"/>
              </a:rPr>
              <a:t>exploitation</a:t>
            </a:r>
            <a:r>
              <a:rPr lang="en-FI"/>
              <a:t> of global-south annotators)</a:t>
            </a:r>
          </a:p>
          <a:p>
            <a:pPr marL="342900" indent="-342900">
              <a:buFont typeface="Arial" panose="020B0604020202020204" pitchFamily="34" charset="0"/>
              <a:buChar char="•"/>
            </a:pPr>
            <a:r>
              <a:rPr lang="en-FI"/>
              <a:t>❌ Accountability</a:t>
            </a:r>
            <a:r>
              <a:rPr lang="en-FI">
                <a:sym typeface="Wingdings" pitchFamily="2" charset="2"/>
              </a:rPr>
              <a:t> (</a:t>
            </a:r>
            <a:r>
              <a:rPr lang="en-US">
                <a:sym typeface="Wingdings" pitchFamily="2" charset="2"/>
              </a:rPr>
              <a:t>no consequences for the developers for harming individuals</a:t>
            </a:r>
            <a:r>
              <a:rPr lang="en-FI">
                <a:sym typeface="Wingdings" pitchFamily="2" charset="2"/>
              </a:rPr>
              <a:t>)</a:t>
            </a:r>
            <a:endParaRPr lang="en-FI"/>
          </a:p>
          <a:p>
            <a:pPr marL="342900" indent="-342900">
              <a:buFont typeface="Arial" panose="020B0604020202020204" pitchFamily="34" charset="0"/>
              <a:buChar char="•"/>
            </a:pPr>
            <a:r>
              <a:rPr lang="en-FI"/>
              <a:t>❌ Fairness (biases against </a:t>
            </a:r>
            <a:r>
              <a:rPr lang="en-FI">
                <a:hlinkClick r:id="rId6"/>
              </a:rPr>
              <a:t>black people</a:t>
            </a:r>
            <a:r>
              <a:rPr lang="en-FI"/>
              <a:t>, women, minorities)</a:t>
            </a:r>
          </a:p>
          <a:p>
            <a:pPr marL="342900" indent="-342900">
              <a:buFont typeface="Arial" panose="020B0604020202020204" pitchFamily="34" charset="0"/>
              <a:buChar char="•"/>
            </a:pPr>
            <a:r>
              <a:rPr lang="en-FI"/>
              <a:t>❌ Explainability (no clear explanation on how the actual models work, proprietary tools)</a:t>
            </a:r>
          </a:p>
          <a:p>
            <a:pPr marL="342900" indent="-342900">
              <a:buFont typeface="Arial" panose="020B0604020202020204" pitchFamily="34" charset="0"/>
              <a:buChar char="•"/>
            </a:pPr>
            <a:r>
              <a:rPr lang="en-FI"/>
              <a:t>❌ Data Stewardship </a:t>
            </a:r>
            <a:r>
              <a:rPr lang="en-FI">
                <a:sym typeface="Wingdings" pitchFamily="2" charset="2"/>
              </a:rPr>
              <a:t>(train data kept secret, illegal use of copyright materials, illegal processing of personal data)</a:t>
            </a:r>
          </a:p>
          <a:p>
            <a:r>
              <a:rPr lang="en-FI">
                <a:sym typeface="Wingdings" pitchFamily="2" charset="2"/>
              </a:rPr>
              <a:t>Check the references for more:</a:t>
            </a:r>
            <a:endParaRPr lang="en-FI"/>
          </a:p>
        </p:txBody>
      </p:sp>
      <p:sp>
        <p:nvSpPr>
          <p:cNvPr id="16" name="TextBox 15">
            <a:extLst>
              <a:ext uri="{FF2B5EF4-FFF2-40B4-BE49-F238E27FC236}">
                <a16:creationId xmlns:a16="http://schemas.microsoft.com/office/drawing/2014/main" id="{A56F13DE-4289-F8FE-E215-952C5E073F6B}"/>
              </a:ext>
            </a:extLst>
          </p:cNvPr>
          <p:cNvSpPr txBox="1"/>
          <p:nvPr/>
        </p:nvSpPr>
        <p:spPr>
          <a:xfrm>
            <a:off x="983407" y="5601500"/>
            <a:ext cx="690124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600" b="0" i="0" u="none" strike="noStrike" kern="1200" cap="none" spc="0" normalizeH="0" baseline="0" noProof="0">
                <a:ln>
                  <a:noFill/>
                </a:ln>
                <a:solidFill>
                  <a:prstClr val="black"/>
                </a:solidFill>
                <a:effectLst/>
                <a:uLnTx/>
                <a:uFillTx/>
                <a:latin typeface="Arial" panose="020B0604020202020204"/>
                <a:ea typeface="+mn-ea"/>
                <a:cs typeface="+mn-cs"/>
                <a:hlinkClick r:id="rId7"/>
              </a:rPr>
              <a:t>Stahl &amp; Eke (2024) “The Ethics of ChatGPT”</a:t>
            </a:r>
            <a:br>
              <a:rPr kumimoji="0" lang="en-FI" sz="1600" b="0" i="0" u="none" strike="noStrike" kern="1200" cap="none" spc="0" normalizeH="0" baseline="0" noProof="0">
                <a:ln>
                  <a:noFill/>
                </a:ln>
                <a:solidFill>
                  <a:prstClr val="black"/>
                </a:solidFill>
                <a:effectLst/>
                <a:uLnTx/>
                <a:uFillTx/>
                <a:latin typeface="Arial" panose="020B0604020202020204"/>
                <a:ea typeface="+mn-ea"/>
                <a:cs typeface="+mn-cs"/>
              </a:rPr>
            </a:br>
            <a:r>
              <a:rPr kumimoji="0" lang="en-FI" sz="1600" b="0" i="0" u="none" strike="noStrike" kern="1200" cap="none" spc="0" normalizeH="0" baseline="0" noProof="0">
                <a:ln>
                  <a:noFill/>
                </a:ln>
                <a:solidFill>
                  <a:prstClr val="black"/>
                </a:solidFill>
                <a:effectLst/>
                <a:uLnTx/>
                <a:uFillTx/>
                <a:latin typeface="Arial" panose="020B0604020202020204"/>
                <a:ea typeface="+mn-ea"/>
                <a:cs typeface="+mn-cs"/>
                <a:hlinkClick r:id="rId8"/>
              </a:rPr>
              <a:t>Bender &amp; Hanna (2024) “The AI Con”</a:t>
            </a:r>
            <a:endParaRPr kumimoji="0" lang="en-FI" sz="16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3074" name="Picture 2" descr="Book cover of The AI Con by Emily M. Bender, Alex Hanna">
            <a:extLst>
              <a:ext uri="{FF2B5EF4-FFF2-40B4-BE49-F238E27FC236}">
                <a16:creationId xmlns:a16="http://schemas.microsoft.com/office/drawing/2014/main" id="{F8171C6E-41A1-D10B-6158-BCAA623F1D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99411" y="5183813"/>
            <a:ext cx="803610" cy="1236323"/>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sp>
        <p:nvSpPr>
          <p:cNvPr id="6" name="Date Placeholder 5">
            <a:extLst>
              <a:ext uri="{FF2B5EF4-FFF2-40B4-BE49-F238E27FC236}">
                <a16:creationId xmlns:a16="http://schemas.microsoft.com/office/drawing/2014/main" id="{5860130F-4FC7-456E-0DA2-E4BB42C19E3D}"/>
              </a:ext>
            </a:extLst>
          </p:cNvPr>
          <p:cNvSpPr>
            <a:spLocks noGrp="1"/>
          </p:cNvSpPr>
          <p:nvPr>
            <p:ph type="dt" sz="half"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7" name="Footer Placeholder 6">
            <a:extLst>
              <a:ext uri="{FF2B5EF4-FFF2-40B4-BE49-F238E27FC236}">
                <a16:creationId xmlns:a16="http://schemas.microsoft.com/office/drawing/2014/main" id="{213DEBCA-ABCC-671B-975A-89ECA08B3E6A}"/>
              </a:ext>
            </a:extLst>
          </p:cNvPr>
          <p:cNvSpPr>
            <a:spLocks noGrp="1"/>
          </p:cNvSpPr>
          <p:nvPr>
            <p:ph type="ftr"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54096432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4A00F-E5C2-875E-5BBC-37174982C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0C404-F77F-1E7F-3CA2-74EB5B1105A8}"/>
              </a:ext>
            </a:extLst>
          </p:cNvPr>
          <p:cNvSpPr>
            <a:spLocks noGrp="1"/>
          </p:cNvSpPr>
          <p:nvPr>
            <p:ph type="title"/>
          </p:nvPr>
        </p:nvSpPr>
        <p:spPr/>
        <p:txBody>
          <a:bodyPr/>
          <a:lstStyle/>
          <a:p>
            <a:r>
              <a:rPr lang="en-FI"/>
              <a:t>AI ethics, Responsible AI, </a:t>
            </a:r>
            <a:r>
              <a:rPr lang="en-FI">
                <a:highlight>
                  <a:srgbClr val="FFFF00"/>
                </a:highlight>
              </a:rPr>
              <a:t>AI governance and AI regulations</a:t>
            </a:r>
          </a:p>
        </p:txBody>
      </p:sp>
      <p:sp>
        <p:nvSpPr>
          <p:cNvPr id="3" name="Date Placeholder 2">
            <a:extLst>
              <a:ext uri="{FF2B5EF4-FFF2-40B4-BE49-F238E27FC236}">
                <a16:creationId xmlns:a16="http://schemas.microsoft.com/office/drawing/2014/main" id="{E8E8CE95-06AD-6445-02F6-1426BAC983C1}"/>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92F118F3-F2CA-BE42-6111-86DD85C181D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132</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riangle 5">
            <a:extLst>
              <a:ext uri="{FF2B5EF4-FFF2-40B4-BE49-F238E27FC236}">
                <a16:creationId xmlns:a16="http://schemas.microsoft.com/office/drawing/2014/main" id="{C583AF32-70ED-62F7-755E-0CB4682E140D}"/>
              </a:ext>
              <a:ext uri="{C183D7F6-B498-43B3-948B-1728B52AA6E4}">
                <adec:decorative xmlns:adec="http://schemas.microsoft.com/office/drawing/2017/decorative" val="1"/>
              </a:ext>
            </a:extLst>
          </p:cNvPr>
          <p:cNvSpPr/>
          <p:nvPr/>
        </p:nvSpPr>
        <p:spPr>
          <a:xfrm>
            <a:off x="911424" y="980728"/>
            <a:ext cx="6480000" cy="5040000"/>
          </a:xfrm>
          <a:prstGeom prst="triangle">
            <a:avLst/>
          </a:prstGeom>
          <a:solidFill>
            <a:srgbClr val="F37C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8" name="Triangle 7">
            <a:extLst>
              <a:ext uri="{FF2B5EF4-FFF2-40B4-BE49-F238E27FC236}">
                <a16:creationId xmlns:a16="http://schemas.microsoft.com/office/drawing/2014/main" id="{58CB871C-272C-7A53-A65F-BBED82EDEC23}"/>
              </a:ext>
              <a:ext uri="{C183D7F6-B498-43B3-948B-1728B52AA6E4}">
                <adec:decorative xmlns:adec="http://schemas.microsoft.com/office/drawing/2017/decorative" val="1"/>
              </a:ext>
            </a:extLst>
          </p:cNvPr>
          <p:cNvSpPr/>
          <p:nvPr/>
        </p:nvSpPr>
        <p:spPr>
          <a:xfrm>
            <a:off x="1721424" y="980728"/>
            <a:ext cx="4860000" cy="3780000"/>
          </a:xfrm>
          <a:prstGeom prst="triangle">
            <a:avLst/>
          </a:prstGeom>
          <a:solidFill>
            <a:srgbClr val="FAC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0" name="Triangle 9">
            <a:extLst>
              <a:ext uri="{FF2B5EF4-FFF2-40B4-BE49-F238E27FC236}">
                <a16:creationId xmlns:a16="http://schemas.microsoft.com/office/drawing/2014/main" id="{ED5C8275-89EC-6C37-DC0C-6E3AB3450E2B}"/>
              </a:ext>
              <a:ext uri="{C183D7F6-B498-43B3-948B-1728B52AA6E4}">
                <adec:decorative xmlns:adec="http://schemas.microsoft.com/office/drawing/2017/decorative" val="1"/>
              </a:ext>
            </a:extLst>
          </p:cNvPr>
          <p:cNvSpPr/>
          <p:nvPr/>
        </p:nvSpPr>
        <p:spPr>
          <a:xfrm>
            <a:off x="2585520" y="836712"/>
            <a:ext cx="3150440" cy="2557141"/>
          </a:xfrm>
          <a:prstGeom prst="triangle">
            <a:avLst/>
          </a:prstGeom>
          <a:solidFill>
            <a:srgbClr val="9ACB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0FE9F56A-B913-CCE7-536E-5125AF79CA65}"/>
              </a:ext>
            </a:extLst>
          </p:cNvPr>
          <p:cNvSpPr txBox="1"/>
          <p:nvPr/>
        </p:nvSpPr>
        <p:spPr>
          <a:xfrm>
            <a:off x="2909376" y="5101834"/>
            <a:ext cx="252028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0" normalizeH="0" baseline="0" noProof="0">
                <a:ln>
                  <a:noFill/>
                </a:ln>
                <a:solidFill>
                  <a:prstClr val="black"/>
                </a:solidFill>
                <a:effectLst/>
                <a:uLnTx/>
                <a:uFillTx/>
                <a:latin typeface="Arial" panose="020B0604020202020204"/>
                <a:ea typeface="+mn-ea"/>
                <a:cs typeface="+mn-cs"/>
              </a:rPr>
              <a:t>AI Ethics</a:t>
            </a:r>
          </a:p>
        </p:txBody>
      </p:sp>
      <p:sp>
        <p:nvSpPr>
          <p:cNvPr id="13" name="TextBox 12">
            <a:extLst>
              <a:ext uri="{FF2B5EF4-FFF2-40B4-BE49-F238E27FC236}">
                <a16:creationId xmlns:a16="http://schemas.microsoft.com/office/drawing/2014/main" id="{F3855E22-2A1E-BF30-488A-31C68474CD25}"/>
              </a:ext>
            </a:extLst>
          </p:cNvPr>
          <p:cNvSpPr txBox="1"/>
          <p:nvPr/>
        </p:nvSpPr>
        <p:spPr>
          <a:xfrm>
            <a:off x="2513332" y="3820907"/>
            <a:ext cx="331236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0" normalizeH="0" baseline="0" noProof="0">
                <a:ln>
                  <a:noFill/>
                </a:ln>
                <a:solidFill>
                  <a:prstClr val="black"/>
                </a:solidFill>
                <a:effectLst/>
                <a:uLnTx/>
                <a:uFillTx/>
                <a:latin typeface="Arial" panose="020B0604020202020204"/>
                <a:ea typeface="+mn-ea"/>
                <a:cs typeface="+mn-cs"/>
              </a:rPr>
              <a:t>Responsible AI</a:t>
            </a:r>
          </a:p>
        </p:txBody>
      </p:sp>
      <p:sp>
        <p:nvSpPr>
          <p:cNvPr id="14" name="TextBox 13">
            <a:extLst>
              <a:ext uri="{FF2B5EF4-FFF2-40B4-BE49-F238E27FC236}">
                <a16:creationId xmlns:a16="http://schemas.microsoft.com/office/drawing/2014/main" id="{C11A3CDB-F8AB-85ED-11BB-C50119AF5BBD}"/>
              </a:ext>
            </a:extLst>
          </p:cNvPr>
          <p:cNvSpPr txBox="1"/>
          <p:nvPr/>
        </p:nvSpPr>
        <p:spPr>
          <a:xfrm>
            <a:off x="2585520" y="1859340"/>
            <a:ext cx="3150440"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AI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governance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I" sz="3200" b="1" i="0" u="none" strike="noStrike" kern="1200" cap="none" spc="-150" normalizeH="0" baseline="0" noProof="0">
                <a:ln>
                  <a:noFill/>
                </a:ln>
                <a:solidFill>
                  <a:prstClr val="black"/>
                </a:solidFill>
                <a:effectLst/>
                <a:uLnTx/>
                <a:uFillTx/>
                <a:latin typeface="Arial" panose="020B0604020202020204"/>
                <a:ea typeface="+mn-ea"/>
                <a:cs typeface="+mn-cs"/>
              </a:rPr>
              <a:t>and regulations</a:t>
            </a:r>
          </a:p>
        </p:txBody>
      </p:sp>
      <p:sp>
        <p:nvSpPr>
          <p:cNvPr id="15" name="TextBox 14">
            <a:extLst>
              <a:ext uri="{FF2B5EF4-FFF2-40B4-BE49-F238E27FC236}">
                <a16:creationId xmlns:a16="http://schemas.microsoft.com/office/drawing/2014/main" id="{912233D3-688B-44FF-4288-9526A6FB3304}"/>
              </a:ext>
            </a:extLst>
          </p:cNvPr>
          <p:cNvSpPr txBox="1"/>
          <p:nvPr/>
        </p:nvSpPr>
        <p:spPr>
          <a:xfrm>
            <a:off x="7752184" y="4760728"/>
            <a:ext cx="3888432"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0" u="none" strike="noStrike" kern="1200" cap="none" spc="0" normalizeH="0" baseline="0" noProof="0">
                <a:ln>
                  <a:noFill/>
                </a:ln>
                <a:solidFill>
                  <a:prstClr val="black"/>
                </a:solidFill>
                <a:effectLst/>
                <a:uLnTx/>
                <a:uFillTx/>
                <a:latin typeface="Arial" panose="020B0604020202020204"/>
                <a:ea typeface="+mn-ea"/>
                <a:cs typeface="+mn-cs"/>
              </a:rPr>
              <a:t>Beneficience, Nonmaleficience, Autonomy, Justice, Explicability </a:t>
            </a:r>
            <a:br>
              <a:rPr kumimoji="0" lang="en-FI" sz="2000" b="0" i="0" u="none" strike="noStrike" kern="1200" cap="none" spc="0" normalizeH="0" baseline="0" noProof="0">
                <a:ln>
                  <a:noFill/>
                </a:ln>
                <a:solidFill>
                  <a:prstClr val="black"/>
                </a:solidFill>
                <a:effectLst/>
                <a:uLnTx/>
                <a:uFillTx/>
                <a:latin typeface="Arial" panose="020B0604020202020204"/>
                <a:ea typeface="+mn-ea"/>
                <a:cs typeface="+mn-cs"/>
              </a:rPr>
            </a:b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hlinkClick r:id="rId2"/>
              </a:rPr>
              <a:t>Floridi 2023</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p>
        </p:txBody>
      </p:sp>
      <p:cxnSp>
        <p:nvCxnSpPr>
          <p:cNvPr id="17" name="Straight Connector 16">
            <a:extLst>
              <a:ext uri="{FF2B5EF4-FFF2-40B4-BE49-F238E27FC236}">
                <a16:creationId xmlns:a16="http://schemas.microsoft.com/office/drawing/2014/main" id="{7ABD9063-B3D2-9C18-879F-5B6FB82F8307}"/>
              </a:ext>
              <a:ext uri="{C183D7F6-B498-43B3-948B-1728B52AA6E4}">
                <adec:decorative xmlns:adec="http://schemas.microsoft.com/office/drawing/2017/decorative" val="1"/>
              </a:ext>
            </a:extLst>
          </p:cNvPr>
          <p:cNvCxnSpPr>
            <a:cxnSpLocks/>
          </p:cNvCxnSpPr>
          <p:nvPr/>
        </p:nvCxnSpPr>
        <p:spPr>
          <a:xfrm>
            <a:off x="1721424" y="4760728"/>
            <a:ext cx="991919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C72D8AA7-2823-C160-80CE-F1CC87DF8517}"/>
              </a:ext>
              <a:ext uri="{C183D7F6-B498-43B3-948B-1728B52AA6E4}">
                <adec:decorative xmlns:adec="http://schemas.microsoft.com/office/drawing/2017/decorative" val="1"/>
              </a:ext>
            </a:extLst>
          </p:cNvPr>
          <p:cNvCxnSpPr>
            <a:cxnSpLocks/>
          </p:cNvCxnSpPr>
          <p:nvPr/>
        </p:nvCxnSpPr>
        <p:spPr>
          <a:xfrm>
            <a:off x="2585520" y="3393853"/>
            <a:ext cx="9055096" cy="0"/>
          </a:xfrm>
          <a:prstGeom prst="line">
            <a:avLst/>
          </a:prstGeom>
          <a:ln w="28575"/>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134D8769-C386-D4AA-A671-DBABEDC541E3}"/>
              </a:ext>
            </a:extLst>
          </p:cNvPr>
          <p:cNvSpPr txBox="1"/>
          <p:nvPr/>
        </p:nvSpPr>
        <p:spPr>
          <a:xfrm>
            <a:off x="7679866" y="3403960"/>
            <a:ext cx="38884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0" u="none" strike="noStrike" kern="1200" cap="none" spc="0" normalizeH="0" baseline="0" noProof="0">
                <a:ln>
                  <a:noFill/>
                </a:ln>
                <a:solidFill>
                  <a:prstClr val="black"/>
                </a:solidFill>
                <a:effectLst/>
                <a:uLnTx/>
                <a:uFillTx/>
                <a:latin typeface="Arial" panose="020B0604020202020204"/>
                <a:ea typeface="+mn-ea"/>
                <a:cs typeface="+mn-cs"/>
              </a:rPr>
              <a:t>SSAFE-D: Sustainability, Safety, Accountability, Fairness, Explainability, Data Stewardship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hlinkClick r:id="rId3"/>
              </a:rPr>
              <a:t>The Alan Turing Institute</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p>
        </p:txBody>
      </p:sp>
      <p:sp>
        <p:nvSpPr>
          <p:cNvPr id="5" name="TextBox 4">
            <a:extLst>
              <a:ext uri="{FF2B5EF4-FFF2-40B4-BE49-F238E27FC236}">
                <a16:creationId xmlns:a16="http://schemas.microsoft.com/office/drawing/2014/main" id="{C388A440-35A9-DA84-4B6D-884B19CDDB9D}"/>
              </a:ext>
            </a:extLst>
          </p:cNvPr>
          <p:cNvSpPr txBox="1"/>
          <p:nvPr/>
        </p:nvSpPr>
        <p:spPr>
          <a:xfrm>
            <a:off x="911424" y="6093296"/>
            <a:ext cx="90010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600" b="0" i="0" u="none" strike="noStrike" kern="1200" cap="none" spc="0" normalizeH="0" baseline="0" noProof="0">
                <a:ln>
                  <a:noFill/>
                </a:ln>
                <a:solidFill>
                  <a:prstClr val="black"/>
                </a:solidFill>
                <a:effectLst/>
                <a:uLnTx/>
                <a:uFillTx/>
                <a:latin typeface="Arial" panose="020B0604020202020204"/>
                <a:ea typeface="+mn-ea"/>
                <a:cs typeface="+mn-cs"/>
              </a:rPr>
              <a:t>Other frameworks mention Fairness, Accountability, Transparency, Explicability, there are many terms but all closely related (e.g. Trustworthy AI)</a:t>
            </a:r>
          </a:p>
        </p:txBody>
      </p:sp>
      <p:sp>
        <p:nvSpPr>
          <p:cNvPr id="7" name="TextBox 6">
            <a:extLst>
              <a:ext uri="{FF2B5EF4-FFF2-40B4-BE49-F238E27FC236}">
                <a16:creationId xmlns:a16="http://schemas.microsoft.com/office/drawing/2014/main" id="{331D61E4-5915-8984-E9D7-05642E73F386}"/>
              </a:ext>
            </a:extLst>
          </p:cNvPr>
          <p:cNvSpPr txBox="1"/>
          <p:nvPr/>
        </p:nvSpPr>
        <p:spPr>
          <a:xfrm>
            <a:off x="7680176" y="1700808"/>
            <a:ext cx="38884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0" u="none" strike="noStrike" kern="1200" cap="none" spc="0" normalizeH="0" baseline="0" noProof="0">
                <a:ln>
                  <a:noFill/>
                </a:ln>
                <a:solidFill>
                  <a:prstClr val="black"/>
                </a:solidFill>
                <a:effectLst/>
                <a:uLnTx/>
                <a:uFillTx/>
                <a:latin typeface="Arial" panose="020B0604020202020204"/>
                <a:ea typeface="+mn-ea"/>
                <a:cs typeface="+mn-cs"/>
              </a:rPr>
              <a:t>AI Governance in Practice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hlinkClick r:id="rId3"/>
              </a:rPr>
              <a:t>The Alan Turing Institute</a:t>
            </a:r>
            <a:r>
              <a:rPr kumimoji="0" lang="en-FI" sz="2000" b="0" i="1" u="none" strike="noStrike" kern="1200" cap="none" spc="0" normalizeH="0" baseline="0" noProof="0">
                <a:ln>
                  <a:noFill/>
                </a:ln>
                <a:solidFill>
                  <a:prstClr val="black"/>
                </a:solidFill>
                <a:effectLst/>
                <a:uLnTx/>
                <a:uFillTx/>
                <a:latin typeface="Arial" panose="020B06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FI" sz="2000" b="0" i="1"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2000" b="0" i="0" u="none" strike="noStrike" kern="1200" cap="none" spc="0" normalizeH="0" baseline="0" noProof="0">
                <a:ln>
                  <a:noFill/>
                </a:ln>
                <a:solidFill>
                  <a:prstClr val="black"/>
                </a:solidFill>
                <a:effectLst/>
                <a:uLnTx/>
                <a:uFillTx/>
                <a:latin typeface="Arial" panose="020B0604020202020204"/>
                <a:ea typeface="+mn-ea"/>
                <a:cs typeface="+mn-cs"/>
                <a:hlinkClick r:id="rId4"/>
              </a:rPr>
              <a:t>Artificial Intelligence Act</a:t>
            </a:r>
            <a:endParaRPr kumimoji="0" lang="en-FI" sz="20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9" name="Footer Placeholder 8">
            <a:extLst>
              <a:ext uri="{FF2B5EF4-FFF2-40B4-BE49-F238E27FC236}">
                <a16:creationId xmlns:a16="http://schemas.microsoft.com/office/drawing/2014/main" id="{B78CEBF2-2808-3869-4334-311F4D18B77B}"/>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51482712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FA0DF-D4E9-EDD5-9AC3-812B8DEA0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4BFEE-E3F7-C646-26E7-B2C438650D1F}"/>
              </a:ext>
            </a:extLst>
          </p:cNvPr>
          <p:cNvSpPr>
            <a:spLocks noGrp="1"/>
          </p:cNvSpPr>
          <p:nvPr>
            <p:ph type="title"/>
          </p:nvPr>
        </p:nvSpPr>
        <p:spPr/>
        <p:txBody>
          <a:bodyPr/>
          <a:lstStyle/>
          <a:p>
            <a:r>
              <a:rPr lang="en-US"/>
              <a:t>From ethical principles to legislations: the AI Act</a:t>
            </a:r>
          </a:p>
        </p:txBody>
      </p:sp>
      <p:sp>
        <p:nvSpPr>
          <p:cNvPr id="8" name="Slide Number Placeholder 7">
            <a:extLst>
              <a:ext uri="{FF2B5EF4-FFF2-40B4-BE49-F238E27FC236}">
                <a16:creationId xmlns:a16="http://schemas.microsoft.com/office/drawing/2014/main" id="{29F801D8-694E-A577-E6E0-6EF343D320E9}"/>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133</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9" name="Content Placeholder 6">
            <a:extLst>
              <a:ext uri="{FF2B5EF4-FFF2-40B4-BE49-F238E27FC236}">
                <a16:creationId xmlns:a16="http://schemas.microsoft.com/office/drawing/2014/main" id="{EBCEE493-2CDC-8256-5D0B-FD3C89781EC2}"/>
              </a:ext>
            </a:extLst>
          </p:cNvPr>
          <p:cNvSpPr txBox="1">
            <a:spLocks/>
          </p:cNvSpPr>
          <p:nvPr/>
        </p:nvSpPr>
        <p:spPr>
          <a:xfrm>
            <a:off x="407987" y="1138519"/>
            <a:ext cx="10728325" cy="473840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a:t>
            </a: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AI Act</a:t>
            </a: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in place since 1st August 2024, and being enforced over the next two years</a:t>
            </a:r>
            <a:endPar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GB"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Defines prohibited and high-risks AI systems, based on how they impact </a:t>
            </a:r>
            <a:r>
              <a:rPr kumimoji="0" lang="en-GB"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fundamental human rights</a:t>
            </a: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GB"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is basically a </a:t>
            </a:r>
            <a:r>
              <a:rPr kumimoji="0" lang="en-GB"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safety regulation with elements of ethics</a:t>
            </a:r>
            <a:endParaRPr kumimoji="0" lang="en-GB"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GB"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Defines legal obligations for providers and deployers of AI systems</a:t>
            </a: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GB"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does not apply to research</a:t>
            </a:r>
            <a:r>
              <a:rPr kumimoji="0" lang="en-GB"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as long as the developed systems are not put on the market</a:t>
            </a: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GB"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However, as cognitive workers, we must familiarise with AI and its risks (Article 4)</a:t>
            </a:r>
            <a:br>
              <a:rPr kumimoji="0" lang="en-GB"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br>
              <a:rPr kumimoji="0" lang="en-GB"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GB" sz="2000" b="0" i="1" u="none" strike="noStrike" kern="1200" cap="none" spc="0" normalizeH="0" baseline="0" noProof="0">
                <a:ln>
                  <a:noFill/>
                </a:ln>
                <a:solidFill>
                  <a:prstClr val="black"/>
                </a:solidFill>
                <a:effectLst/>
                <a:uLnTx/>
                <a:uFillTx/>
                <a:latin typeface="Source Serif Pro" panose="02040603050405020204" pitchFamily="18" charset="0"/>
                <a:ea typeface="+mn-ea"/>
                <a:cs typeface="+mn-cs"/>
              </a:rPr>
              <a:t>Providers and deployers of AI systems shall take measures to ensure, to their best extent, a sufficient level of AI literacy of their staff and other persons dealing with the operation and use of AI systems on their behalf, taking into account their technical knowledge, experience, education and training and the context the AI systems are to be used in, and considering the persons or groups of persons on whom the AI systems are to be used.</a:t>
            </a:r>
            <a:endParaRPr kumimoji="0" lang="en-GB" sz="20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GB"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2932E989-1E9C-9AA1-31B8-9AC971070FCC}"/>
              </a:ext>
            </a:extLst>
          </p:cNvPr>
          <p:cNvSpPr txBox="1"/>
          <p:nvPr/>
        </p:nvSpPr>
        <p:spPr>
          <a:xfrm>
            <a:off x="1073798" y="5933097"/>
            <a:ext cx="692961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600" b="0" i="0" u="none" strike="noStrike" kern="1200" cap="none" spc="0" normalizeH="0" baseline="0" noProof="0">
                <a:ln>
                  <a:noFill/>
                </a:ln>
                <a:solidFill>
                  <a:prstClr val="black"/>
                </a:solidFill>
                <a:effectLst/>
                <a:uLnTx/>
                <a:uFillTx/>
                <a:latin typeface="Arial" panose="020B0604020202020204"/>
                <a:ea typeface="+mn-ea"/>
                <a:cs typeface="+mn-cs"/>
              </a:rPr>
              <a:t>More details </a:t>
            </a:r>
            <a:r>
              <a:rPr kumimoji="0" lang="en-GB" sz="1600" b="0" i="0" u="none" strike="noStrike" kern="1200" cap="none" spc="0" normalizeH="0" baseline="0" noProof="0">
                <a:ln>
                  <a:noFill/>
                </a:ln>
                <a:solidFill>
                  <a:prstClr val="black"/>
                </a:solidFill>
                <a:effectLst/>
                <a:uLnTx/>
                <a:uFillTx/>
                <a:latin typeface="Arial" panose="020B0604020202020204"/>
                <a:ea typeface="+mn-ea"/>
                <a:cs typeface="+mn-cs"/>
                <a:hlinkClick r:id="rId2"/>
              </a:rPr>
              <a:t>https://www.aalto.fi/en/services/artificial-intelligence-ai-the-ai-act-and-ai-literacy-at-aalto-university</a:t>
            </a:r>
            <a:endParaRPr kumimoji="0" lang="en-GB" sz="16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
        <p:nvSpPr>
          <p:cNvPr id="4" name="Date Placeholder 3">
            <a:extLst>
              <a:ext uri="{FF2B5EF4-FFF2-40B4-BE49-F238E27FC236}">
                <a16:creationId xmlns:a16="http://schemas.microsoft.com/office/drawing/2014/main" id="{9597BAD4-32A9-7AF3-03A2-F78FF06404F6}"/>
              </a:ext>
            </a:extLst>
          </p:cNvPr>
          <p:cNvSpPr>
            <a:spLocks noGrp="1"/>
          </p:cNvSpPr>
          <p:nvPr>
            <p:ph type="dt" sz="half" idx="13"/>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5" name="Footer Placeholder 4">
            <a:extLst>
              <a:ext uri="{FF2B5EF4-FFF2-40B4-BE49-F238E27FC236}">
                <a16:creationId xmlns:a16="http://schemas.microsoft.com/office/drawing/2014/main" id="{EE2C5548-76C0-07EC-9668-88A8BAB5B0F1}"/>
              </a:ext>
            </a:extLst>
          </p:cNvPr>
          <p:cNvSpPr>
            <a:spLocks noGrp="1"/>
          </p:cNvSpPr>
          <p:nvPr>
            <p:ph type="ftr" sz="quarter" idx="14"/>
          </p:nvPr>
        </p:nvSpPr>
        <p:spPr>
          <a:xfrm>
            <a:off x="1271464" y="6309320"/>
            <a:ext cx="8928992"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40513487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97428-4161-725C-5901-009ABF2FF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53C89-2210-9BB3-15D1-E3F104009DB3}"/>
              </a:ext>
            </a:extLst>
          </p:cNvPr>
          <p:cNvSpPr>
            <a:spLocks noGrp="1"/>
          </p:cNvSpPr>
          <p:nvPr>
            <p:ph type="title"/>
          </p:nvPr>
        </p:nvSpPr>
        <p:spPr/>
        <p:txBody>
          <a:bodyPr/>
          <a:lstStyle/>
          <a:p>
            <a:r>
              <a:rPr lang="en-US"/>
              <a:t>From ethical principles to legislations: the AI Act</a:t>
            </a:r>
          </a:p>
        </p:txBody>
      </p:sp>
      <p:sp>
        <p:nvSpPr>
          <p:cNvPr id="8" name="Slide Number Placeholder 7">
            <a:extLst>
              <a:ext uri="{FF2B5EF4-FFF2-40B4-BE49-F238E27FC236}">
                <a16:creationId xmlns:a16="http://schemas.microsoft.com/office/drawing/2014/main" id="{447BA05F-3A3A-3C33-5413-12671B2F1C58}"/>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F0CC8784-102E-021A-6B3B-4EE5E2FA9754}"/>
              </a:ext>
            </a:extLst>
          </p:cNvPr>
          <p:cNvSpPr txBox="1"/>
          <p:nvPr/>
        </p:nvSpPr>
        <p:spPr>
          <a:xfrm>
            <a:off x="1031244" y="5616085"/>
            <a:ext cx="1058480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600" b="0" i="0" u="none" strike="noStrike" kern="1200" cap="none" spc="0" normalizeH="0" baseline="0" noProof="0">
                <a:ln>
                  <a:noFill/>
                </a:ln>
                <a:solidFill>
                  <a:prstClr val="black"/>
                </a:solidFill>
                <a:effectLst/>
                <a:uLnTx/>
                <a:uFillTx/>
                <a:latin typeface="Arial" panose="020B0604020202020204"/>
                <a:ea typeface="+mn-ea"/>
                <a:cs typeface="+mn-cs"/>
              </a:rPr>
              <a:t>Source: </a:t>
            </a:r>
            <a:r>
              <a:rPr kumimoji="0" lang="en-GB" sz="1600" b="0" i="0" u="none" strike="noStrike" kern="1200" cap="none" spc="0" normalizeH="0" baseline="0" noProof="0">
                <a:ln>
                  <a:noFill/>
                </a:ln>
                <a:solidFill>
                  <a:prstClr val="black"/>
                </a:solidFill>
                <a:effectLst/>
                <a:uLnTx/>
                <a:uFillTx/>
                <a:latin typeface="Arial" panose="020B0604020202020204"/>
                <a:ea typeface="+mn-ea"/>
                <a:cs typeface="+mn-cs"/>
                <a:hlinkClick r:id="rId2"/>
              </a:rPr>
              <a:t>https://www.aalto.fi/en/services/artificial-intelligence-ai-the-ai-act-and-ai-literacy-at-aalto-university</a:t>
            </a:r>
            <a:endParaRPr kumimoji="0" lang="en-GB" sz="16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pic>
        <p:nvPicPr>
          <p:cNvPr id="7" name="Picture 6" descr="A table with text on it&#10;&#10;Description automatically generated">
            <a:extLst>
              <a:ext uri="{FF2B5EF4-FFF2-40B4-BE49-F238E27FC236}">
                <a16:creationId xmlns:a16="http://schemas.microsoft.com/office/drawing/2014/main" id="{4922521E-954A-49BB-2FA0-054B1E8828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798" y="1188980"/>
            <a:ext cx="7772400" cy="4427105"/>
          </a:xfrm>
          <a:prstGeom prst="rect">
            <a:avLst/>
          </a:prstGeom>
        </p:spPr>
      </p:pic>
      <p:sp>
        <p:nvSpPr>
          <p:cNvPr id="4" name="Date Placeholder 3">
            <a:extLst>
              <a:ext uri="{FF2B5EF4-FFF2-40B4-BE49-F238E27FC236}">
                <a16:creationId xmlns:a16="http://schemas.microsoft.com/office/drawing/2014/main" id="{D9818222-6285-08FE-268D-56998DA04EE4}"/>
              </a:ext>
            </a:extLst>
          </p:cNvPr>
          <p:cNvSpPr>
            <a:spLocks noGrp="1"/>
          </p:cNvSpPr>
          <p:nvPr>
            <p:ph type="dt" sz="half" idx="13"/>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5" name="Footer Placeholder 4">
            <a:extLst>
              <a:ext uri="{FF2B5EF4-FFF2-40B4-BE49-F238E27FC236}">
                <a16:creationId xmlns:a16="http://schemas.microsoft.com/office/drawing/2014/main" id="{919E8309-96C5-96C2-923D-7C8859BBCC09}"/>
              </a:ext>
            </a:extLst>
          </p:cNvPr>
          <p:cNvSpPr>
            <a:spLocks noGrp="1"/>
          </p:cNvSpPr>
          <p:nvPr>
            <p:ph type="ftr" sz="quarter" idx="14"/>
          </p:nvPr>
        </p:nvSpPr>
        <p:spPr>
          <a:xfrm>
            <a:off x="1271464" y="6309320"/>
            <a:ext cx="8928992"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014CF1E5-E106-46D9-2BF5-842E12D65171}"/>
              </a:ext>
            </a:extLst>
          </p:cNvPr>
          <p:cNvSpPr txBox="1"/>
          <p:nvPr/>
        </p:nvSpPr>
        <p:spPr>
          <a:xfrm>
            <a:off x="9408368" y="1401738"/>
            <a:ext cx="2304256" cy="35394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Arial" panose="020B0604020202020204"/>
                <a:ea typeface="+mn-ea"/>
                <a:cs typeface="+mn-cs"/>
              </a:rPr>
              <a:t>Open question: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panose="020B0604020202020204"/>
                <a:ea typeface="+mn-ea"/>
                <a:cs typeface="+mn-cs"/>
              </a:rPr>
              <a:t>As a </a:t>
            </a:r>
            <a:r>
              <a:rPr kumimoji="0" lang="en-US" sz="1600" b="1" i="1" u="none" strike="noStrike" kern="1200" cap="none" spc="0" normalizeH="0" baseline="0" noProof="0">
                <a:ln>
                  <a:noFill/>
                </a:ln>
                <a:solidFill>
                  <a:prstClr val="black"/>
                </a:solidFill>
                <a:effectLst/>
                <a:uLnTx/>
                <a:uFillTx/>
                <a:latin typeface="Arial" panose="020B0604020202020204"/>
                <a:ea typeface="+mn-ea"/>
                <a:cs typeface="+mn-cs"/>
              </a:rPr>
              <a:t>researcher</a:t>
            </a:r>
            <a:r>
              <a:rPr kumimoji="0" lang="en-US" sz="1600" b="0" i="0" u="none" strike="noStrike" kern="1200" cap="none" spc="0" normalizeH="0" baseline="0" noProof="0">
                <a:ln>
                  <a:noFill/>
                </a:ln>
                <a:solidFill>
                  <a:prstClr val="black"/>
                </a:solidFill>
                <a:effectLst/>
                <a:uLnTx/>
                <a:uFillTx/>
                <a:latin typeface="Arial" panose="020B0604020202020204"/>
                <a:ea typeface="+mn-ea"/>
                <a:cs typeface="+mn-cs"/>
              </a:rPr>
              <a:t>, you may have the freedom to develop even restricted AI models or systems. However, as a </a:t>
            </a:r>
            <a:r>
              <a:rPr kumimoji="0" lang="en-US" sz="1600" b="1" i="1" u="none" strike="noStrike" kern="1200" cap="none" spc="0" normalizeH="0" baseline="0" noProof="0">
                <a:ln>
                  <a:noFill/>
                </a:ln>
                <a:solidFill>
                  <a:prstClr val="black"/>
                </a:solidFill>
                <a:effectLst/>
                <a:uLnTx/>
                <a:uFillTx/>
                <a:latin typeface="Arial" panose="020B0604020202020204"/>
                <a:ea typeface="+mn-ea"/>
                <a:cs typeface="+mn-cs"/>
              </a:rPr>
              <a:t>user</a:t>
            </a:r>
            <a:r>
              <a:rPr kumimoji="0" lang="en-US" sz="1600" b="0" i="0" u="none" strike="noStrike" kern="1200" cap="none" spc="0" normalizeH="0" baseline="0" noProof="0">
                <a:ln>
                  <a:noFill/>
                </a:ln>
                <a:solidFill>
                  <a:prstClr val="black"/>
                </a:solidFill>
                <a:effectLst/>
                <a:uLnTx/>
                <a:uFillTx/>
                <a:latin typeface="Arial" panose="020B0604020202020204"/>
                <a:ea typeface="+mn-ea"/>
                <a:cs typeface="+mn-cs"/>
              </a:rPr>
              <a:t> of AI tools, would </a:t>
            </a:r>
            <a:r>
              <a:rPr kumimoji="0" lang="en-US" sz="1600" b="1" i="0" u="none" strike="noStrike" kern="1200" cap="none" spc="0" normalizeH="0" baseline="0" noProof="0">
                <a:ln>
                  <a:noFill/>
                </a:ln>
                <a:solidFill>
                  <a:prstClr val="black"/>
                </a:solidFill>
                <a:effectLst/>
                <a:uLnTx/>
                <a:uFillTx/>
                <a:latin typeface="Arial" panose="020B0604020202020204"/>
                <a:ea typeface="+mn-ea"/>
                <a:cs typeface="+mn-cs"/>
              </a:rPr>
              <a:t>trust</a:t>
            </a:r>
            <a:r>
              <a:rPr kumimoji="0" lang="en-US" sz="1600" b="0" i="0" u="none" strike="noStrike" kern="1200" cap="none" spc="0" normalizeH="0" baseline="0" noProof="0">
                <a:ln>
                  <a:noFill/>
                </a:ln>
                <a:solidFill>
                  <a:prstClr val="black"/>
                </a:solidFill>
                <a:effectLst/>
                <a:uLnTx/>
                <a:uFillTx/>
                <a:latin typeface="Arial" panose="020B0604020202020204"/>
                <a:ea typeface="+mn-ea"/>
                <a:cs typeface="+mn-cs"/>
              </a:rPr>
              <a:t> and </a:t>
            </a:r>
            <a:r>
              <a:rPr kumimoji="0" lang="en-US" sz="1600" b="1" i="0" u="none" strike="noStrike" kern="1200" cap="none" spc="0" normalizeH="0" baseline="0" noProof="0">
                <a:ln>
                  <a:noFill/>
                </a:ln>
                <a:solidFill>
                  <a:prstClr val="black"/>
                </a:solidFill>
                <a:effectLst/>
                <a:uLnTx/>
                <a:uFillTx/>
                <a:latin typeface="Arial" panose="020B0604020202020204"/>
                <a:ea typeface="+mn-ea"/>
                <a:cs typeface="+mn-cs"/>
              </a:rPr>
              <a:t>compliance</a:t>
            </a:r>
            <a:r>
              <a:rPr kumimoji="0" lang="en-US" sz="1600" b="0" i="0" u="none" strike="noStrike" kern="1200" cap="none" spc="0" normalizeH="0" baseline="0" noProof="0">
                <a:ln>
                  <a:noFill/>
                </a:ln>
                <a:solidFill>
                  <a:prstClr val="black"/>
                </a:solidFill>
                <a:effectLst/>
                <a:uLnTx/>
                <a:uFillTx/>
                <a:latin typeface="Arial" panose="020B0604020202020204"/>
                <a:ea typeface="+mn-ea"/>
                <a:cs typeface="+mn-cs"/>
              </a:rPr>
              <a:t> be compromised if you used an AI system that does not adhere to the AI Act?</a:t>
            </a:r>
            <a:endParaRPr kumimoji="0" lang="en-FI" sz="1600" b="0" i="0" u="none" strike="noStrike" kern="1200" cap="none" spc="0" normalizeH="0" baseline="0" noProof="0" err="1">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782826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DF871-73F0-677C-654B-6042FDEE3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46FBC-00A8-6E35-A4BE-57AA0E0D926F}"/>
              </a:ext>
            </a:extLst>
          </p:cNvPr>
          <p:cNvSpPr>
            <a:spLocks noGrp="1"/>
          </p:cNvSpPr>
          <p:nvPr>
            <p:ph type="title"/>
          </p:nvPr>
        </p:nvSpPr>
        <p:spPr/>
        <p:txBody>
          <a:bodyPr/>
          <a:lstStyle/>
          <a:p>
            <a:r>
              <a:rPr lang="en-US"/>
              <a:t>AI governance and cybersecurity</a:t>
            </a:r>
          </a:p>
        </p:txBody>
      </p:sp>
      <p:sp>
        <p:nvSpPr>
          <p:cNvPr id="8" name="Slide Number Placeholder 7">
            <a:extLst>
              <a:ext uri="{FF2B5EF4-FFF2-40B4-BE49-F238E27FC236}">
                <a16:creationId xmlns:a16="http://schemas.microsoft.com/office/drawing/2014/main" id="{AC4970D4-1844-EA2A-0A32-AB959C137DA9}"/>
              </a:ext>
              <a:ext uri="{C183D7F6-B498-43B3-948B-1728B52AA6E4}">
                <adec:decorative xmlns:adec="http://schemas.microsoft.com/office/drawing/2017/decorative" val="1"/>
              </a:ext>
            </a:extLst>
          </p:cNvPr>
          <p:cNvSpPr>
            <a:spLocks noGrp="1"/>
          </p:cNvSpPr>
          <p:nvPr>
            <p:ph type="sldNum" sz="quarter" idx="12"/>
          </p:nvPr>
        </p:nvSpPr>
        <p:spPr>
          <a:xfrm>
            <a:off x="11352584" y="6309320"/>
            <a:ext cx="431428" cy="143869"/>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135</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9" name="Content Placeholder 6">
            <a:extLst>
              <a:ext uri="{FF2B5EF4-FFF2-40B4-BE49-F238E27FC236}">
                <a16:creationId xmlns:a16="http://schemas.microsoft.com/office/drawing/2014/main" id="{B5920C83-FD5E-9F73-A3B2-D59300C1639F}"/>
              </a:ext>
            </a:extLst>
          </p:cNvPr>
          <p:cNvSpPr txBox="1">
            <a:spLocks/>
          </p:cNvSpPr>
          <p:nvPr/>
        </p:nvSpPr>
        <p:spPr>
          <a:xfrm>
            <a:off x="407987" y="1138519"/>
            <a:ext cx="10728325" cy="473840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0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As any </a:t>
            </a: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SSAFE-D</a:t>
            </a: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dimensions can be compromised by malicious attackers, </a:t>
            </a: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cybersecurity</a:t>
            </a: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becomes a necessary element of AI governance.</a:t>
            </a:r>
          </a:p>
        </p:txBody>
      </p:sp>
      <p:sp>
        <p:nvSpPr>
          <p:cNvPr id="4" name="Date Placeholder 3">
            <a:extLst>
              <a:ext uri="{FF2B5EF4-FFF2-40B4-BE49-F238E27FC236}">
                <a16:creationId xmlns:a16="http://schemas.microsoft.com/office/drawing/2014/main" id="{DCBE387B-50E1-470B-A6B0-C584D7E818EF}"/>
              </a:ext>
            </a:extLst>
          </p:cNvPr>
          <p:cNvSpPr>
            <a:spLocks noGrp="1"/>
          </p:cNvSpPr>
          <p:nvPr>
            <p:ph type="dt" sz="half" idx="13"/>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5" name="Footer Placeholder 4">
            <a:extLst>
              <a:ext uri="{FF2B5EF4-FFF2-40B4-BE49-F238E27FC236}">
                <a16:creationId xmlns:a16="http://schemas.microsoft.com/office/drawing/2014/main" id="{E37C98D6-3271-FEE1-D9D2-2B90D156964A}"/>
              </a:ext>
            </a:extLst>
          </p:cNvPr>
          <p:cNvSpPr>
            <a:spLocks noGrp="1"/>
          </p:cNvSpPr>
          <p:nvPr>
            <p:ph type="ftr" sz="quarter" idx="14"/>
          </p:nvPr>
        </p:nvSpPr>
        <p:spPr>
          <a:xfrm>
            <a:off x="1271464" y="6309320"/>
            <a:ext cx="8928992" cy="143869"/>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3" name="Picture 2" descr="A diagram of a security system&#10;&#10;AI-generated content may be incorrect.">
            <a:extLst>
              <a:ext uri="{FF2B5EF4-FFF2-40B4-BE49-F238E27FC236}">
                <a16:creationId xmlns:a16="http://schemas.microsoft.com/office/drawing/2014/main" id="{29A66B1B-FE41-645D-605E-0B9D61B289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9675" y="1772816"/>
            <a:ext cx="9612989" cy="4999159"/>
          </a:xfrm>
          <a:prstGeom prst="rect">
            <a:avLst/>
          </a:prstGeom>
        </p:spPr>
      </p:pic>
      <p:sp>
        <p:nvSpPr>
          <p:cNvPr id="6" name="TextBox 5">
            <a:extLst>
              <a:ext uri="{FF2B5EF4-FFF2-40B4-BE49-F238E27FC236}">
                <a16:creationId xmlns:a16="http://schemas.microsoft.com/office/drawing/2014/main" id="{E2C002C8-D4A1-AFCB-8FE9-B563B9257AEC}"/>
              </a:ext>
            </a:extLst>
          </p:cNvPr>
          <p:cNvSpPr txBox="1"/>
          <p:nvPr/>
        </p:nvSpPr>
        <p:spPr>
          <a:xfrm>
            <a:off x="335112" y="5184427"/>
            <a:ext cx="2051688" cy="1384995"/>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400" b="0" i="1" u="none" strike="noStrike" kern="1200" cap="none" spc="0" normalizeH="0" baseline="0" noProof="0">
                <a:ln>
                  <a:noFill/>
                </a:ln>
                <a:solidFill>
                  <a:prstClr val="black"/>
                </a:solidFill>
                <a:effectLst/>
                <a:uLnTx/>
                <a:uFillTx/>
                <a:latin typeface="Arial" panose="020B0604020202020204"/>
                <a:ea typeface="+mn-ea"/>
                <a:cs typeface="+mn-cs"/>
              </a:rPr>
              <a:t>Figure from </a:t>
            </a:r>
            <a:r>
              <a:rPr kumimoji="0" lang="en-FI" sz="1400" b="0" i="1" u="none" strike="noStrike" kern="1200" cap="none" spc="0" normalizeH="0" baseline="0" noProof="0">
                <a:ln>
                  <a:noFill/>
                </a:ln>
                <a:solidFill>
                  <a:prstClr val="black"/>
                </a:solidFill>
                <a:effectLst/>
                <a:uLnTx/>
                <a:uFillTx/>
                <a:latin typeface="Arial" panose="020B0604020202020204"/>
                <a:ea typeface="+mn-ea"/>
                <a:cs typeface="+mn-cs"/>
                <a:hlinkClick r:id="rId3"/>
              </a:rPr>
              <a:t>Glerean (2025) “Fundamentals of secure AI systems with personal data” European Data Protection Board</a:t>
            </a:r>
            <a:endParaRPr kumimoji="0" lang="en-FI" sz="1400" b="0" i="1"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3890628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2B3C-B137-1BC8-C0BB-13E36C7B7A7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2805801-D6C6-D9BB-6B4F-CA054D2FA021}"/>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28.04.2026</a:t>
            </a:r>
          </a:p>
        </p:txBody>
      </p:sp>
      <p:sp>
        <p:nvSpPr>
          <p:cNvPr id="3" name="Slide Number Placeholder 2">
            <a:extLst>
              <a:ext uri="{FF2B5EF4-FFF2-40B4-BE49-F238E27FC236}">
                <a16:creationId xmlns:a16="http://schemas.microsoft.com/office/drawing/2014/main" id="{ADFF4C5D-7D72-6E84-313B-86EE5C6F0E0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136</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5869A8DB-BCD4-B0DE-2225-B75A0A1D34E0}"/>
              </a:ext>
            </a:extLst>
          </p:cNvPr>
          <p:cNvSpPr>
            <a:spLocks noGrp="1"/>
          </p:cNvSpPr>
          <p:nvPr>
            <p:ph type="ctrTitle"/>
          </p:nvPr>
        </p:nvSpPr>
        <p:spPr>
          <a:xfrm>
            <a:off x="412647" y="2444116"/>
            <a:ext cx="11371365" cy="1969770"/>
          </a:xfrm>
        </p:spPr>
        <p:txBody>
          <a:bodyPr/>
          <a:lstStyle/>
          <a:p>
            <a:r>
              <a:rPr lang="en-US" b="0" i="1"/>
              <a:t>Combining</a:t>
            </a:r>
            <a:r>
              <a:rPr lang="en-US"/>
              <a:t> </a:t>
            </a:r>
            <a:br>
              <a:rPr lang="en-US"/>
            </a:br>
            <a:r>
              <a:rPr lang="en-US"/>
              <a:t>Research [ethics | integrity | compliance] </a:t>
            </a:r>
            <a:br>
              <a:rPr lang="en-US"/>
            </a:br>
            <a:r>
              <a:rPr lang="en-US" b="0" i="1"/>
              <a:t>with</a:t>
            </a:r>
            <a:r>
              <a:rPr lang="en-US"/>
              <a:t> </a:t>
            </a:r>
            <a:br>
              <a:rPr lang="en-US"/>
            </a:br>
            <a:r>
              <a:rPr lang="en-US"/>
              <a:t>AI [ethics | trustworthiness | governance]</a:t>
            </a:r>
            <a:endParaRPr lang="en-FI"/>
          </a:p>
        </p:txBody>
      </p:sp>
      <p:sp>
        <p:nvSpPr>
          <p:cNvPr id="7" name="Footer Placeholder 6">
            <a:extLst>
              <a:ext uri="{FF2B5EF4-FFF2-40B4-BE49-F238E27FC236}">
                <a16:creationId xmlns:a16="http://schemas.microsoft.com/office/drawing/2014/main" id="{479F896F-C536-D436-C27D-EEB2FB8EC99A}"/>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7089752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8CB86-55CC-A2D3-EB2C-4D918420E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8AB6B-8C2D-20E4-7C0F-FE227C9E85A8}"/>
              </a:ext>
            </a:extLst>
          </p:cNvPr>
          <p:cNvSpPr>
            <a:spLocks noGrp="1"/>
          </p:cNvSpPr>
          <p:nvPr>
            <p:ph type="title"/>
          </p:nvPr>
        </p:nvSpPr>
        <p:spPr/>
        <p:txBody>
          <a:bodyPr/>
          <a:lstStyle/>
          <a:p>
            <a:r>
              <a:rPr lang="en-FI"/>
              <a:t>Different roles, require different perspectives on ethical and responsible AI </a:t>
            </a:r>
            <a:r>
              <a:rPr lang="en-FI" sz="2000" b="0"/>
              <a:t>(</a:t>
            </a:r>
            <a:r>
              <a:rPr lang="en-US" sz="2000" b="0">
                <a:latin typeface="Arial" panose="020B0604020202020204" pitchFamily="34" charset="0"/>
                <a:cs typeface="Arial" panose="020B0604020202020204" pitchFamily="34" charset="0"/>
              </a:rPr>
              <a:t>ALLEA: The European Code of Conduct for Research Integrity)</a:t>
            </a:r>
            <a:endParaRPr lang="en-FI" sz="2000" b="0"/>
          </a:p>
        </p:txBody>
      </p:sp>
      <p:sp>
        <p:nvSpPr>
          <p:cNvPr id="3" name="Date Placeholder 2">
            <a:extLst>
              <a:ext uri="{FF2B5EF4-FFF2-40B4-BE49-F238E27FC236}">
                <a16:creationId xmlns:a16="http://schemas.microsoft.com/office/drawing/2014/main" id="{8EEE5B1B-608A-9B37-39BC-3DE8F92853D0}"/>
              </a:ext>
            </a:extLst>
          </p:cNvPr>
          <p:cNvSpPr>
            <a:spLocks noGrp="1"/>
          </p:cNvSpPr>
          <p:nvPr>
            <p:ph type="dt" sz="half" idx="10"/>
          </p:nvPr>
        </p:nvSpPr>
        <p:spPr>
          <a:xfrm>
            <a:off x="10200456" y="6309320"/>
            <a:ext cx="1152128" cy="143868"/>
          </a:xfrm>
          <a:prstGeom prst="rect">
            <a:avLst/>
          </a:prstGeom>
        </p:spPr>
        <p:txBody>
          <a:bodyPr vert="horz" lIns="0" tIns="0" rIns="0" bIns="0" rtlCol="0" anchor="ctr" anchorCtr="0">
            <a:noAutofit/>
          </a:bodyPr>
          <a:lstStyle>
            <a:defPPr>
              <a:defRPr lang="fi-FI"/>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7EF47ADD-BF56-3A99-C62D-5B18F095308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137</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Content Placeholder 4">
            <a:extLst>
              <a:ext uri="{FF2B5EF4-FFF2-40B4-BE49-F238E27FC236}">
                <a16:creationId xmlns:a16="http://schemas.microsoft.com/office/drawing/2014/main" id="{EB6B6081-D033-7D07-DA55-6CE251FFFC5F}"/>
              </a:ext>
            </a:extLst>
          </p:cNvPr>
          <p:cNvSpPr>
            <a:spLocks noGrp="1"/>
          </p:cNvSpPr>
          <p:nvPr>
            <p:ph sz="half" idx="1"/>
          </p:nvPr>
        </p:nvSpPr>
        <p:spPr>
          <a:xfrm>
            <a:off x="1055688" y="2205037"/>
            <a:ext cx="4896296" cy="4104283"/>
          </a:xfrm>
        </p:spPr>
        <p:txBody>
          <a:bodyPr/>
          <a:lstStyle/>
          <a:p>
            <a:r>
              <a:rPr lang="en-FI" b="1"/>
              <a:t>Developer of AI systems/models</a:t>
            </a:r>
          </a:p>
          <a:p>
            <a:r>
              <a:rPr lang="en-FI" b="1">
                <a:solidFill>
                  <a:schemeClr val="bg1"/>
                </a:solidFill>
                <a:highlight>
                  <a:srgbClr val="FF0000"/>
                </a:highlight>
              </a:rPr>
              <a:t>Ethics</a:t>
            </a:r>
            <a:r>
              <a:rPr lang="en-FI"/>
              <a:t> Consider </a:t>
            </a:r>
            <a:r>
              <a:rPr lang="en-FI" b="1"/>
              <a:t>AI ethics</a:t>
            </a:r>
            <a:r>
              <a:rPr lang="en-FI"/>
              <a:t> and </a:t>
            </a:r>
            <a:r>
              <a:rPr lang="en-FI" b="1"/>
              <a:t>responsible AI</a:t>
            </a:r>
            <a:r>
              <a:rPr lang="en-FI"/>
              <a:t> principles throughout the AI system lifecycle </a:t>
            </a:r>
            <a:r>
              <a:rPr lang="en-FI" sz="1400"/>
              <a:t>(Sustainability, Safety, Accountability, Fairness, Explainability, Data Stewardship)</a:t>
            </a:r>
            <a:endParaRPr lang="en-FI"/>
          </a:p>
          <a:p>
            <a:r>
              <a:rPr lang="en-FI" b="1">
                <a:solidFill>
                  <a:schemeClr val="bg1"/>
                </a:solidFill>
                <a:highlight>
                  <a:srgbClr val="0000FF"/>
                </a:highlight>
              </a:rPr>
              <a:t>Law</a:t>
            </a:r>
            <a:r>
              <a:rPr lang="en-FI"/>
              <a:t> Compliance: </a:t>
            </a:r>
            <a:r>
              <a:rPr lang="en-FI" b="1"/>
              <a:t>AI Act</a:t>
            </a:r>
            <a:r>
              <a:rPr lang="en-FI"/>
              <a:t> applies if the AI system i) </a:t>
            </a:r>
            <a:r>
              <a:rPr lang="en-FI" b="1"/>
              <a:t>has risks</a:t>
            </a:r>
            <a:r>
              <a:rPr lang="en-FI"/>
              <a:t> and ii) is </a:t>
            </a:r>
            <a:r>
              <a:rPr lang="en-FI" b="1"/>
              <a:t>not developed for research purposes </a:t>
            </a:r>
            <a:r>
              <a:rPr lang="en-FI"/>
              <a:t>or personal use </a:t>
            </a:r>
            <a:r>
              <a:rPr lang="en-FI" sz="1400"/>
              <a:t>(and many other regulations and directives that apply to data e.g. GDPR)</a:t>
            </a:r>
            <a:r>
              <a:rPr lang="en-FI"/>
              <a:t> </a:t>
            </a:r>
          </a:p>
          <a:p>
            <a:r>
              <a:rPr lang="en-FI" b="1">
                <a:solidFill>
                  <a:schemeClr val="bg1"/>
                </a:solidFill>
                <a:highlight>
                  <a:srgbClr val="008000"/>
                </a:highlight>
              </a:rPr>
              <a:t>Tech</a:t>
            </a:r>
            <a:r>
              <a:rPr lang="en-FI"/>
              <a:t> Technical robustness: Ensure the correct functioning of the AI system </a:t>
            </a:r>
            <a:r>
              <a:rPr lang="en-FI" sz="1400"/>
              <a:t>(AI systems are usually too computationally demanding to be run locally, so they are in the </a:t>
            </a:r>
            <a:r>
              <a:rPr lang="en-FI" sz="1400" b="1"/>
              <a:t>cloud = someone else’s computer</a:t>
            </a:r>
            <a:r>
              <a:rPr lang="en-FI" sz="1400"/>
              <a:t>) </a:t>
            </a:r>
          </a:p>
        </p:txBody>
      </p:sp>
      <p:sp>
        <p:nvSpPr>
          <p:cNvPr id="6" name="Content Placeholder 5">
            <a:extLst>
              <a:ext uri="{FF2B5EF4-FFF2-40B4-BE49-F238E27FC236}">
                <a16:creationId xmlns:a16="http://schemas.microsoft.com/office/drawing/2014/main" id="{6F1F23BE-D993-428E-5810-91622C9A92E8}"/>
              </a:ext>
            </a:extLst>
          </p:cNvPr>
          <p:cNvSpPr>
            <a:spLocks noGrp="1"/>
          </p:cNvSpPr>
          <p:nvPr>
            <p:ph sz="half" idx="2"/>
          </p:nvPr>
        </p:nvSpPr>
        <p:spPr/>
        <p:txBody>
          <a:bodyPr/>
          <a:lstStyle/>
          <a:p>
            <a:r>
              <a:rPr lang="en-FI" b="1"/>
              <a:t>Students, teachers, researchers</a:t>
            </a:r>
          </a:p>
          <a:p>
            <a:r>
              <a:rPr lang="en-FI" b="1"/>
              <a:t>Reliability</a:t>
            </a:r>
            <a:r>
              <a:rPr lang="en-FI"/>
              <a:t>: </a:t>
            </a:r>
            <a:r>
              <a:rPr lang="en-GB"/>
              <a:t>quality of research/education, reflected in the design, methodology, analysis, and use of resources.</a:t>
            </a:r>
          </a:p>
          <a:p>
            <a:r>
              <a:rPr lang="en-GB" b="1"/>
              <a:t>Honesty: </a:t>
            </a:r>
            <a:r>
              <a:rPr lang="en-GB"/>
              <a:t>doing your work in a transparent, fair, full, and unbiased way</a:t>
            </a:r>
          </a:p>
          <a:p>
            <a:r>
              <a:rPr lang="en-GB" b="1"/>
              <a:t>Respect: </a:t>
            </a:r>
            <a:r>
              <a:rPr lang="en-GB"/>
              <a:t>towards colleagues, research participants, research subjects, society, cultural heritage, and the environment.</a:t>
            </a:r>
          </a:p>
          <a:p>
            <a:r>
              <a:rPr lang="en-GB" b="1"/>
              <a:t>Accountability: </a:t>
            </a:r>
            <a:r>
              <a:rPr lang="en-GB"/>
              <a:t>from idea to publication, and all the steps of the study / teaching / research process.</a:t>
            </a:r>
            <a:endParaRPr lang="en-FI"/>
          </a:p>
        </p:txBody>
      </p:sp>
      <p:cxnSp>
        <p:nvCxnSpPr>
          <p:cNvPr id="8" name="Straight Connector 7">
            <a:extLst>
              <a:ext uri="{FF2B5EF4-FFF2-40B4-BE49-F238E27FC236}">
                <a16:creationId xmlns:a16="http://schemas.microsoft.com/office/drawing/2014/main" id="{127B1860-F2FA-9FC0-A0A9-89D685BA6EB9}"/>
              </a:ext>
              <a:ext uri="{C183D7F6-B498-43B3-948B-1728B52AA6E4}">
                <adec:decorative xmlns:adec="http://schemas.microsoft.com/office/drawing/2017/decorative" val="1"/>
              </a:ext>
            </a:extLst>
          </p:cNvPr>
          <p:cNvCxnSpPr>
            <a:cxnSpLocks/>
            <a:stCxn id="2" idx="2"/>
          </p:cNvCxnSpPr>
          <p:nvPr/>
        </p:nvCxnSpPr>
        <p:spPr>
          <a:xfrm>
            <a:off x="6096000" y="1484784"/>
            <a:ext cx="0" cy="5256584"/>
          </a:xfrm>
          <a:prstGeom prst="line">
            <a:avLst/>
          </a:prstGeom>
          <a:ln w="25400"/>
        </p:spPr>
        <p:style>
          <a:lnRef idx="1">
            <a:schemeClr val="dk1"/>
          </a:lnRef>
          <a:fillRef idx="0">
            <a:schemeClr val="dk1"/>
          </a:fillRef>
          <a:effectRef idx="0">
            <a:schemeClr val="dk1"/>
          </a:effectRef>
          <a:fontRef idx="minor">
            <a:schemeClr val="tx1"/>
          </a:fontRef>
        </p:style>
      </p:cxnSp>
      <p:pic>
        <p:nvPicPr>
          <p:cNvPr id="14" name="Graphic 13" descr="Programmer female with solid fill">
            <a:extLst>
              <a:ext uri="{FF2B5EF4-FFF2-40B4-BE49-F238E27FC236}">
                <a16:creationId xmlns:a16="http://schemas.microsoft.com/office/drawing/2014/main" id="{007F412B-170C-1414-766D-6279043D80A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7648" y="1196752"/>
            <a:ext cx="914400" cy="914400"/>
          </a:xfrm>
          <a:prstGeom prst="rect">
            <a:avLst/>
          </a:prstGeom>
        </p:spPr>
      </p:pic>
      <p:grpSp>
        <p:nvGrpSpPr>
          <p:cNvPr id="10" name="Group 9">
            <a:extLst>
              <a:ext uri="{FF2B5EF4-FFF2-40B4-BE49-F238E27FC236}">
                <a16:creationId xmlns:a16="http://schemas.microsoft.com/office/drawing/2014/main" id="{C1C06138-CDD3-068E-6067-B31D33159C73}"/>
              </a:ext>
              <a:ext uri="{C183D7F6-B498-43B3-948B-1728B52AA6E4}">
                <adec:decorative xmlns:adec="http://schemas.microsoft.com/office/drawing/2017/decorative" val="1"/>
              </a:ext>
            </a:extLst>
          </p:cNvPr>
          <p:cNvGrpSpPr/>
          <p:nvPr/>
        </p:nvGrpSpPr>
        <p:grpSpPr>
          <a:xfrm>
            <a:off x="7485856" y="1232756"/>
            <a:ext cx="2764904" cy="914400"/>
            <a:chOff x="7485856" y="1232756"/>
            <a:chExt cx="2764904" cy="914400"/>
          </a:xfrm>
        </p:grpSpPr>
        <p:pic>
          <p:nvPicPr>
            <p:cNvPr id="9" name="Graphic 8" descr="Scientist female with solid fill">
              <a:extLst>
                <a:ext uri="{FF2B5EF4-FFF2-40B4-BE49-F238E27FC236}">
                  <a16:creationId xmlns:a16="http://schemas.microsoft.com/office/drawing/2014/main" id="{68A5514C-8BBF-23D0-7E60-5D83632153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36360" y="1232756"/>
              <a:ext cx="914400" cy="914400"/>
            </a:xfrm>
            <a:prstGeom prst="rect">
              <a:avLst/>
            </a:prstGeom>
          </p:spPr>
        </p:pic>
        <p:pic>
          <p:nvPicPr>
            <p:cNvPr id="11" name="Graphic 10" descr="School boy with solid fill">
              <a:extLst>
                <a:ext uri="{FF2B5EF4-FFF2-40B4-BE49-F238E27FC236}">
                  <a16:creationId xmlns:a16="http://schemas.microsoft.com/office/drawing/2014/main" id="{2B2C8D74-37E6-77EE-92D9-72C09661A3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5856" y="1232756"/>
              <a:ext cx="914400" cy="914400"/>
            </a:xfrm>
            <a:prstGeom prst="rect">
              <a:avLst/>
            </a:prstGeom>
          </p:spPr>
        </p:pic>
        <p:pic>
          <p:nvPicPr>
            <p:cNvPr id="13" name="Graphic 12" descr="Classroom with solid fill">
              <a:extLst>
                <a:ext uri="{FF2B5EF4-FFF2-40B4-BE49-F238E27FC236}">
                  <a16:creationId xmlns:a16="http://schemas.microsoft.com/office/drawing/2014/main" id="{FF9CFEA4-0D10-C836-FCD1-7E0ED9E9609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49952" y="1232756"/>
              <a:ext cx="914400" cy="914400"/>
            </a:xfrm>
            <a:prstGeom prst="rect">
              <a:avLst/>
            </a:prstGeom>
          </p:spPr>
        </p:pic>
      </p:grpSp>
      <p:sp>
        <p:nvSpPr>
          <p:cNvPr id="7" name="Footer Placeholder 6">
            <a:extLst>
              <a:ext uri="{FF2B5EF4-FFF2-40B4-BE49-F238E27FC236}">
                <a16:creationId xmlns:a16="http://schemas.microsoft.com/office/drawing/2014/main" id="{28A0C24F-FC2B-C029-41B6-71240C8D272D}"/>
              </a:ext>
            </a:extLst>
          </p:cNvPr>
          <p:cNvSpPr>
            <a:spLocks noGrp="1"/>
          </p:cNvSpPr>
          <p:nvPr>
            <p:ph type="ftr"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9485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27605-9BEA-8398-1DC5-F667DD5F8C5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D46173D-5852-5162-74C8-5BF76F92A0BE}"/>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28.04.2026</a:t>
            </a:r>
          </a:p>
        </p:txBody>
      </p:sp>
      <p:sp>
        <p:nvSpPr>
          <p:cNvPr id="3" name="Slide Number Placeholder 2">
            <a:extLst>
              <a:ext uri="{FF2B5EF4-FFF2-40B4-BE49-F238E27FC236}">
                <a16:creationId xmlns:a16="http://schemas.microsoft.com/office/drawing/2014/main" id="{9D25D96F-A030-9055-E3C4-3E04E2C5600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138</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90907D89-5AF3-A16B-129A-D8399603B7BB}"/>
              </a:ext>
            </a:extLst>
          </p:cNvPr>
          <p:cNvSpPr>
            <a:spLocks noGrp="1"/>
          </p:cNvSpPr>
          <p:nvPr>
            <p:ph type="ctrTitle"/>
          </p:nvPr>
        </p:nvSpPr>
        <p:spPr>
          <a:xfrm>
            <a:off x="412647" y="2936558"/>
            <a:ext cx="11371365" cy="984885"/>
          </a:xfrm>
        </p:spPr>
        <p:txBody>
          <a:bodyPr/>
          <a:lstStyle/>
          <a:p>
            <a:r>
              <a:rPr lang="en-US"/>
              <a:t> </a:t>
            </a:r>
            <a:br>
              <a:rPr lang="en-US"/>
            </a:br>
            <a:r>
              <a:rPr lang="en-US"/>
              <a:t>Generative AI is the ideal misconduct machine</a:t>
            </a:r>
            <a:endParaRPr lang="en-FI"/>
          </a:p>
        </p:txBody>
      </p:sp>
      <p:sp>
        <p:nvSpPr>
          <p:cNvPr id="7" name="Footer Placeholder 6">
            <a:extLst>
              <a:ext uri="{FF2B5EF4-FFF2-40B4-BE49-F238E27FC236}">
                <a16:creationId xmlns:a16="http://schemas.microsoft.com/office/drawing/2014/main" id="{F511A880-8B77-B350-2C46-E693C1B9963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0957579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A00AE-F18C-23D1-04B2-CF2F2A1FDF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F459E6-76E0-638B-0E06-55D99930188A}"/>
              </a:ext>
            </a:extLst>
          </p:cNvPr>
          <p:cNvSpPr>
            <a:spLocks noGrp="1"/>
          </p:cNvSpPr>
          <p:nvPr>
            <p:ph type="title"/>
          </p:nvPr>
        </p:nvSpPr>
        <p:spPr/>
        <p:txBody>
          <a:bodyPr/>
          <a:lst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a:lstStyle>
          <a:p>
            <a:r>
              <a:rPr lang="en-US" sz="3000"/>
              <a:t>Generative AI: the ideal misconduct machine?</a:t>
            </a:r>
            <a:br>
              <a:rPr lang="en-US" sz="3000"/>
            </a:br>
            <a:endParaRPr lang="fi-FI" sz="1600" b="0" i="1"/>
          </a:p>
        </p:txBody>
      </p:sp>
      <p:sp>
        <p:nvSpPr>
          <p:cNvPr id="3" name="Content Placeholder 2">
            <a:extLst>
              <a:ext uri="{FF2B5EF4-FFF2-40B4-BE49-F238E27FC236}">
                <a16:creationId xmlns:a16="http://schemas.microsoft.com/office/drawing/2014/main" id="{36D182BE-CD7C-8E20-EEF2-6ED1792518BD}"/>
              </a:ext>
            </a:extLst>
          </p:cNvPr>
          <p:cNvSpPr>
            <a:spLocks noGrp="1"/>
          </p:cNvSpPr>
          <p:nvPr>
            <p:ph type="body" sz="quarter" idx="13"/>
          </p:nvPr>
        </p:nvSpPr>
        <p:spPr>
          <a:xfrm>
            <a:off x="1055687" y="2006416"/>
            <a:ext cx="10080625" cy="4267061"/>
          </a:xfrm>
        </p:spPr>
        <p:txBody>
          <a:bodyPr/>
          <a:lst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a:lstStyle>
          <a:p>
            <a:pPr marL="342900" indent="-342900">
              <a:buFont typeface="Arial" panose="020B0604020202020204" pitchFamily="34" charset="0"/>
              <a:buChar char="•"/>
            </a:pPr>
            <a:r>
              <a:rPr lang="en-GB" sz="1900" b="1"/>
              <a:t>Generative AI systems</a:t>
            </a:r>
            <a:r>
              <a:rPr lang="en-GB" sz="1900"/>
              <a:t> (like ChatGPT) are ideal fabrication, falsification, plagiarism machines: they are trained to always produce text and leave the quality control on the validity and reliability of the output to the final users.</a:t>
            </a:r>
            <a:endParaRPr lang="en-GB" sz="1900">
              <a:cs typeface="Arial"/>
            </a:endParaRPr>
          </a:p>
          <a:p>
            <a:pPr marL="342900" indent="-342900">
              <a:buFont typeface="Arial" panose="020B0604020202020204" pitchFamily="34" charset="0"/>
              <a:buChar char="•"/>
            </a:pPr>
            <a:r>
              <a:rPr lang="en-GB" sz="1900" b="1"/>
              <a:t>Plagiarism: GenAI LLMs systems can </a:t>
            </a:r>
            <a:r>
              <a:rPr lang="en-GB" sz="1900" b="1" i="1"/>
              <a:t>verbatim</a:t>
            </a:r>
            <a:r>
              <a:rPr lang="en-GB" sz="1900" b="1"/>
              <a:t> reproduce text data in the training dataset </a:t>
            </a:r>
            <a:r>
              <a:rPr lang="en-GB" sz="1900"/>
              <a:t>without citing the original source</a:t>
            </a:r>
            <a:endParaRPr lang="en-GB" sz="1900">
              <a:cs typeface="Arial"/>
            </a:endParaRPr>
          </a:p>
          <a:p>
            <a:pPr marL="342900" indent="-342900">
              <a:buFont typeface="Arial" panose="020B0604020202020204" pitchFamily="34" charset="0"/>
              <a:buChar char="•"/>
            </a:pPr>
            <a:r>
              <a:rPr lang="en-GB" sz="1900" b="1"/>
              <a:t>Fabrication/Falsification:</a:t>
            </a:r>
            <a:r>
              <a:rPr lang="en-GB" sz="1900"/>
              <a:t> GenAI tools can also perform data synthesis or data analysis, i.e. they can be used (</a:t>
            </a:r>
            <a:r>
              <a:rPr lang="en-GB" sz="1900" b="1"/>
              <a:t>willingly or not</a:t>
            </a:r>
            <a:r>
              <a:rPr lang="en-GB" sz="1900"/>
              <a:t>) to </a:t>
            </a:r>
            <a:r>
              <a:rPr lang="en-GB" sz="1900" b="1"/>
              <a:t>fabricate data or falsify results </a:t>
            </a:r>
            <a:r>
              <a:rPr lang="en-GB" sz="1900"/>
              <a:t>(</a:t>
            </a:r>
            <a:r>
              <a:rPr lang="en-GB" sz="1900" i="1"/>
              <a:t>how many r’s in strawberry?</a:t>
            </a:r>
            <a:r>
              <a:rPr lang="en-GB" sz="1900"/>
              <a:t>) without the ability to verify and reproduce the analysis process.</a:t>
            </a:r>
          </a:p>
          <a:p>
            <a:pPr marL="342900" indent="-342900">
              <a:buFont typeface="Arial" panose="020B0604020202020204" pitchFamily="34" charset="0"/>
              <a:buChar char="•"/>
            </a:pPr>
            <a:r>
              <a:rPr lang="en-GB" sz="1900" b="1">
                <a:cs typeface="Arial"/>
              </a:rPr>
              <a:t>Security and data protection risks:</a:t>
            </a:r>
            <a:r>
              <a:rPr lang="en-GB" sz="1900">
                <a:cs typeface="Arial"/>
              </a:rPr>
              <a:t> commonly used generative AI system process your data remotely. You should protect the confidentiality and integrity of your data, your work, and the data of subjects, or other parties you work with. Use approved Aalto AI tools.</a:t>
            </a:r>
            <a:endParaRPr lang="en-GB" sz="1900" b="1">
              <a:cs typeface="Arial"/>
            </a:endParaRPr>
          </a:p>
          <a:p>
            <a:endParaRPr lang="en-GB" sz="1900"/>
          </a:p>
          <a:p>
            <a:r>
              <a:rPr lang="en-GB" sz="1900"/>
              <a:t>See Aalto University guidelines: </a:t>
            </a:r>
            <a:br>
              <a:rPr lang="en-GB" sz="1900"/>
            </a:br>
            <a:r>
              <a:rPr lang="en-GB" sz="1900" b="1">
                <a:hlinkClick r:id="rId3"/>
              </a:rPr>
              <a:t>Responsible use of Artificial Intelligence in the research process</a:t>
            </a:r>
            <a:endParaRPr lang="en-GB" sz="1900" b="1"/>
          </a:p>
          <a:p>
            <a:endParaRPr lang="en-GB" sz="1900"/>
          </a:p>
        </p:txBody>
      </p:sp>
      <p:sp>
        <p:nvSpPr>
          <p:cNvPr id="4" name="Date Placeholder 3">
            <a:extLst>
              <a:ext uri="{FF2B5EF4-FFF2-40B4-BE49-F238E27FC236}">
                <a16:creationId xmlns:a16="http://schemas.microsoft.com/office/drawing/2014/main" id="{1656381D-BA85-D716-E694-43EE5B4649F2}"/>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5" name="Footer Placeholder 4">
            <a:extLst>
              <a:ext uri="{FF2B5EF4-FFF2-40B4-BE49-F238E27FC236}">
                <a16:creationId xmlns:a16="http://schemas.microsoft.com/office/drawing/2014/main" id="{37E15B10-FDF6-70DF-F608-21183A30FA39}"/>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Slide Number Placeholder 5">
            <a:extLst>
              <a:ext uri="{FF2B5EF4-FFF2-40B4-BE49-F238E27FC236}">
                <a16:creationId xmlns:a16="http://schemas.microsoft.com/office/drawing/2014/main" id="{2988D645-1C22-C566-B78D-85D26F1A6C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139</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670659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BDCDB-C87A-0A38-1DBB-47C72FB05FE0}"/>
              </a:ext>
            </a:extLst>
          </p:cNvPr>
          <p:cNvSpPr>
            <a:spLocks noGrp="1"/>
          </p:cNvSpPr>
          <p:nvPr>
            <p:ph type="title"/>
          </p:nvPr>
        </p:nvSpPr>
        <p:spPr/>
        <p:txBody>
          <a:bodyPr/>
          <a:lstStyle/>
          <a:p>
            <a:r>
              <a:rPr lang="en-FI"/>
              <a:t>Misconduct is a core element of these systems </a:t>
            </a:r>
          </a:p>
        </p:txBody>
      </p:sp>
      <p:sp>
        <p:nvSpPr>
          <p:cNvPr id="3" name="Date Placeholder 2">
            <a:extLst>
              <a:ext uri="{FF2B5EF4-FFF2-40B4-BE49-F238E27FC236}">
                <a16:creationId xmlns:a16="http://schemas.microsoft.com/office/drawing/2014/main" id="{C0F865F7-98F0-6D27-19B7-39AA5AC9A538}"/>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Footer Placeholder 3">
            <a:extLst>
              <a:ext uri="{FF2B5EF4-FFF2-40B4-BE49-F238E27FC236}">
                <a16:creationId xmlns:a16="http://schemas.microsoft.com/office/drawing/2014/main" id="{DB118043-81C6-5E6F-B553-6C28B8DF74D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5009E4A5-88C1-E486-D0E7-454BE969A2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140</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ext Placeholder 5">
            <a:extLst>
              <a:ext uri="{FF2B5EF4-FFF2-40B4-BE49-F238E27FC236}">
                <a16:creationId xmlns:a16="http://schemas.microsoft.com/office/drawing/2014/main" id="{49FA89FE-B9D5-3EB2-32E9-6D33125DF272}"/>
              </a:ext>
            </a:extLst>
          </p:cNvPr>
          <p:cNvSpPr>
            <a:spLocks noGrp="1"/>
          </p:cNvSpPr>
          <p:nvPr>
            <p:ph type="body" sz="quarter" idx="13"/>
          </p:nvPr>
        </p:nvSpPr>
        <p:spPr>
          <a:xfrm>
            <a:off x="1055688" y="1211616"/>
            <a:ext cx="10080625" cy="3671886"/>
          </a:xfrm>
        </p:spPr>
        <p:txBody>
          <a:bodyPr/>
          <a:lstStyle/>
          <a:p>
            <a:pPr marL="457200" indent="-457200">
              <a:buFont typeface="Arial" panose="020B0604020202020204" pitchFamily="34" charset="0"/>
              <a:buChar char="•"/>
            </a:pPr>
            <a:r>
              <a:rPr lang="en-FI"/>
              <a:t>“</a:t>
            </a:r>
            <a:r>
              <a:rPr lang="en-FI" i="1"/>
              <a:t>(LLMs) </a:t>
            </a:r>
            <a:r>
              <a:rPr lang="en-GB" i="1"/>
              <a:t>may encode the correct answer, yet consistently generate an incorrect one</a:t>
            </a:r>
            <a:r>
              <a:rPr lang="en-GB"/>
              <a:t>” (</a:t>
            </a:r>
            <a:r>
              <a:rPr lang="en-GB">
                <a:hlinkClick r:id="rId2"/>
              </a:rPr>
              <a:t>2025, Apple research paper</a:t>
            </a:r>
            <a:r>
              <a:rPr lang="en-GB"/>
              <a:t>)</a:t>
            </a:r>
          </a:p>
          <a:p>
            <a:pPr marL="457200" indent="-457200">
              <a:buFont typeface="Arial" panose="020B0604020202020204" pitchFamily="34" charset="0"/>
              <a:buChar char="•"/>
            </a:pPr>
            <a:r>
              <a:rPr lang="en-GB"/>
              <a:t>“</a:t>
            </a:r>
            <a:r>
              <a:rPr lang="en-GB" i="1"/>
              <a:t>…current models degrade documents during delegation: even frontier models (Gemini 3.1 Pro, Claude 4.6 Opus, GPT 5.4) corrupt an average of 25% of document content by the end of long workflows</a:t>
            </a:r>
            <a:r>
              <a:rPr lang="en-GB"/>
              <a:t>” (</a:t>
            </a:r>
            <a:r>
              <a:rPr lang="en-GB">
                <a:hlinkClick r:id="rId3"/>
              </a:rPr>
              <a:t>2026, Microsoft</a:t>
            </a:r>
            <a:r>
              <a:rPr lang="en-GB"/>
              <a:t>)</a:t>
            </a:r>
          </a:p>
          <a:p>
            <a:pPr marL="457200" indent="-457200">
              <a:buFont typeface="Arial" panose="020B0604020202020204" pitchFamily="34" charset="0"/>
              <a:buChar char="•"/>
            </a:pPr>
            <a:r>
              <a:rPr lang="en-GB"/>
              <a:t>“…</a:t>
            </a:r>
            <a:r>
              <a:rPr lang="en-GB" i="1"/>
              <a:t> Harry Potter is so memorized that, using a seed prompt consisting of just the first line of chapter 1, we can deterministically generate the entire book near-verbatim.</a:t>
            </a:r>
            <a:r>
              <a:rPr lang="en-GB"/>
              <a:t>” (</a:t>
            </a:r>
            <a:r>
              <a:rPr lang="en-GB">
                <a:hlinkClick r:id="rId4"/>
              </a:rPr>
              <a:t>2025, Stanford University</a:t>
            </a:r>
            <a:r>
              <a:rPr lang="en-GB"/>
              <a:t>)</a:t>
            </a:r>
          </a:p>
          <a:p>
            <a:pPr marL="457200" indent="-457200">
              <a:buFont typeface="Arial" panose="020B0604020202020204" pitchFamily="34" charset="0"/>
              <a:buChar char="•"/>
            </a:pPr>
            <a:endParaRPr lang="en-FI"/>
          </a:p>
        </p:txBody>
      </p:sp>
    </p:spTree>
    <p:extLst>
      <p:ext uri="{BB962C8B-B14F-4D97-AF65-F5344CB8AC3E}">
        <p14:creationId xmlns:p14="http://schemas.microsoft.com/office/powerpoint/2010/main" val="419318148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6BD8F-83EE-BB29-13B0-42FFC84CE3E2}"/>
              </a:ext>
            </a:extLst>
          </p:cNvPr>
          <p:cNvSpPr>
            <a:spLocks noGrp="1"/>
          </p:cNvSpPr>
          <p:nvPr>
            <p:ph type="title"/>
          </p:nvPr>
        </p:nvSpPr>
        <p:spPr/>
        <p:txBody>
          <a:bodyPr/>
          <a:lstStyle/>
          <a:p>
            <a:r>
              <a:rPr lang="en-FI"/>
              <a:t>“No, we didn’t scrape your content to train our model” 🤡</a:t>
            </a:r>
          </a:p>
        </p:txBody>
      </p:sp>
      <p:sp>
        <p:nvSpPr>
          <p:cNvPr id="4" name="Date Placeholder 3">
            <a:extLst>
              <a:ext uri="{FF2B5EF4-FFF2-40B4-BE49-F238E27FC236}">
                <a16:creationId xmlns:a16="http://schemas.microsoft.com/office/drawing/2014/main" id="{99334799-AC94-72BC-7DC4-A60DA166B6EE}"/>
              </a:ext>
            </a:extLst>
          </p:cNvPr>
          <p:cNvSpPr>
            <a:spLocks noGrp="1"/>
          </p:cNvSpPr>
          <p:nvPr>
            <p:ph type="dt" sz="half" idx="14"/>
          </p:nvPr>
        </p:nvSpPr>
        <p:spPr/>
        <p:txBody>
          <a:bodyPr/>
          <a:lstStyle/>
          <a:p>
            <a:r>
              <a:rPr lang="fi-FI"/>
              <a:t>28.04.2026</a:t>
            </a:r>
          </a:p>
        </p:txBody>
      </p:sp>
      <p:sp>
        <p:nvSpPr>
          <p:cNvPr id="5" name="Footer Placeholder 4">
            <a:extLst>
              <a:ext uri="{FF2B5EF4-FFF2-40B4-BE49-F238E27FC236}">
                <a16:creationId xmlns:a16="http://schemas.microsoft.com/office/drawing/2014/main" id="{3A95E230-FC24-B032-A035-01E54A203C9C}"/>
              </a:ext>
            </a:extLst>
          </p:cNvPr>
          <p:cNvSpPr>
            <a:spLocks noGrp="1"/>
          </p:cNvSpPr>
          <p:nvPr>
            <p:ph type="ftr" sz="quarter" idx="15"/>
          </p:nvPr>
        </p:nvSpPr>
        <p:spPr/>
        <p:txBody>
          <a:bodyPr/>
          <a:lstStyle/>
          <a:p>
            <a:r>
              <a:rPr lang="pt-BR"/>
              <a:t>Enrico Glerean &amp; Pedro Silva (2026) Please cite DOI: 10.5281/zenodo.14032261 (CC-BY)</a:t>
            </a:r>
            <a:endParaRPr lang="fi-FI"/>
          </a:p>
        </p:txBody>
      </p:sp>
      <p:sp>
        <p:nvSpPr>
          <p:cNvPr id="6" name="Slide Number Placeholder 5">
            <a:extLst>
              <a:ext uri="{FF2B5EF4-FFF2-40B4-BE49-F238E27FC236}">
                <a16:creationId xmlns:a16="http://schemas.microsoft.com/office/drawing/2014/main" id="{8F985524-DC3D-3D85-28B8-D327D0A51504}"/>
              </a:ext>
            </a:extLst>
          </p:cNvPr>
          <p:cNvSpPr>
            <a:spLocks noGrp="1"/>
          </p:cNvSpPr>
          <p:nvPr>
            <p:ph type="sldNum" sz="quarter" idx="16"/>
          </p:nvPr>
        </p:nvSpPr>
        <p:spPr/>
        <p:txBody>
          <a:bodyPr/>
          <a:lstStyle/>
          <a:p>
            <a:fld id="{D701140D-C14F-41CA-99FC-0EF83E8DA40A}" type="slidenum">
              <a:rPr lang="fi-FI" smtClean="0"/>
              <a:pPr/>
              <a:t>141</a:t>
            </a:fld>
            <a:endParaRPr lang="fi-FI"/>
          </a:p>
        </p:txBody>
      </p:sp>
      <p:pic>
        <p:nvPicPr>
          <p:cNvPr id="1030" name="Picture 6" descr="Two side by side images show soccer players fighting for a ball. The left is a real photograph but the right is an AI-generated version, with distortion of the players’ bodies and faces.">
            <a:extLst>
              <a:ext uri="{FF2B5EF4-FFF2-40B4-BE49-F238E27FC236}">
                <a16:creationId xmlns:a16="http://schemas.microsoft.com/office/drawing/2014/main" id="{0C99C09A-9ABC-DA9B-F96B-38999F85C1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253" y="963889"/>
            <a:ext cx="8049718" cy="53714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1DE769C-98CA-7414-4030-137D4F171F6F}"/>
              </a:ext>
            </a:extLst>
          </p:cNvPr>
          <p:cNvSpPr txBox="1"/>
          <p:nvPr/>
        </p:nvSpPr>
        <p:spPr>
          <a:xfrm>
            <a:off x="9638675" y="1484784"/>
            <a:ext cx="2383436" cy="2431435"/>
          </a:xfrm>
          <a:prstGeom prst="rect">
            <a:avLst/>
          </a:prstGeom>
          <a:noFill/>
        </p:spPr>
        <p:txBody>
          <a:bodyPr wrap="square" rtlCol="0">
            <a:spAutoFit/>
          </a:bodyPr>
          <a:lstStyle/>
          <a:p>
            <a:r>
              <a:rPr lang="en-FI" sz="1600">
                <a:latin typeface="+mj-lt"/>
              </a:rPr>
              <a:t>From the lawsuit of Getty images against the AI company “Stable Diffusion”.</a:t>
            </a:r>
            <a:br>
              <a:rPr lang="en-FI" sz="1600">
                <a:latin typeface="+mj-lt"/>
              </a:rPr>
            </a:br>
            <a:br>
              <a:rPr lang="en-FI" sz="1600">
                <a:latin typeface="+mj-lt"/>
              </a:rPr>
            </a:br>
            <a:r>
              <a:rPr lang="en-GB" i="1"/>
              <a:t>"Stable Diffusion... does not store or reproduce any copyright works</a:t>
            </a:r>
            <a:r>
              <a:rPr lang="en-GB"/>
              <a:t>”</a:t>
            </a:r>
            <a:endParaRPr lang="en-FI" sz="1600" err="1">
              <a:latin typeface="+mj-lt"/>
            </a:endParaRPr>
          </a:p>
        </p:txBody>
      </p:sp>
    </p:spTree>
    <p:extLst>
      <p:ext uri="{BB962C8B-B14F-4D97-AF65-F5344CB8AC3E}">
        <p14:creationId xmlns:p14="http://schemas.microsoft.com/office/powerpoint/2010/main" val="395442921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284D1-E803-C7FB-AE73-0BC93E5CB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C39195-725F-3F5B-69E5-EC2E943B6353}"/>
              </a:ext>
            </a:extLst>
          </p:cNvPr>
          <p:cNvSpPr>
            <a:spLocks noGrp="1"/>
          </p:cNvSpPr>
          <p:nvPr>
            <p:ph type="title"/>
          </p:nvPr>
        </p:nvSpPr>
        <p:spPr/>
        <p:txBody>
          <a:bodyPr/>
          <a:lst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a:lstStyle>
          <a:p>
            <a:r>
              <a:rPr lang="en-US" sz="3000"/>
              <a:t>Generative AI and Research Integrity: disclose your AI</a:t>
            </a:r>
            <a:br>
              <a:rPr lang="en-US" sz="3000"/>
            </a:br>
            <a:endParaRPr lang="fi-FI" sz="1600" b="0" i="1"/>
          </a:p>
        </p:txBody>
      </p:sp>
      <p:sp>
        <p:nvSpPr>
          <p:cNvPr id="6" name="Text Placeholder 5">
            <a:extLst>
              <a:ext uri="{FF2B5EF4-FFF2-40B4-BE49-F238E27FC236}">
                <a16:creationId xmlns:a16="http://schemas.microsoft.com/office/drawing/2014/main" id="{EB9B9693-8914-C4E4-136A-9CD25FF847B9}"/>
              </a:ext>
            </a:extLst>
          </p:cNvPr>
          <p:cNvSpPr>
            <a:spLocks noGrp="1"/>
          </p:cNvSpPr>
          <p:nvPr>
            <p:ph type="body" sz="quarter" idx="13"/>
          </p:nvPr>
        </p:nvSpPr>
        <p:spPr>
          <a:xfrm>
            <a:off x="1055688" y="2089285"/>
            <a:ext cx="10080625" cy="3671886"/>
          </a:xfrm>
        </p:spPr>
        <p:txBody>
          <a:bodyPr/>
          <a:lstStyle/>
          <a:p>
            <a:pPr marL="514350" indent="-514350">
              <a:buFont typeface="Arial" panose="020B0604020202020204" pitchFamily="34" charset="0"/>
              <a:buChar char="•"/>
            </a:pPr>
            <a:r>
              <a:rPr lang="en-GB" sz="2000" b="1"/>
              <a:t>AI cannot be given authorship</a:t>
            </a:r>
            <a:r>
              <a:rPr lang="en-GB" sz="2000"/>
              <a:t>, as it is considered as a tool, and authorship always involves responsibility that AI cannot cover. [</a:t>
            </a:r>
            <a:r>
              <a:rPr lang="en-GB" sz="2000">
                <a:hlinkClick r:id="rId3"/>
              </a:rPr>
              <a:t>Aalto.fi</a:t>
            </a:r>
            <a:r>
              <a:rPr lang="en-GB" sz="2000"/>
              <a:t>], [</a:t>
            </a:r>
            <a:r>
              <a:rPr lang="en-GB" sz="2000">
                <a:hlinkClick r:id="rId4"/>
              </a:rPr>
              <a:t>Nature</a:t>
            </a:r>
            <a:r>
              <a:rPr lang="en-GB" sz="2000"/>
              <a:t>], [</a:t>
            </a:r>
            <a:r>
              <a:rPr lang="en-GB" sz="2000">
                <a:hlinkClick r:id="rId5"/>
              </a:rPr>
              <a:t>Elsevier</a:t>
            </a:r>
            <a:r>
              <a:rPr lang="en-GB" sz="2000"/>
              <a:t>]</a:t>
            </a:r>
          </a:p>
          <a:p>
            <a:pPr marL="514350" indent="-514350">
              <a:buFont typeface="Arial" panose="020B0604020202020204" pitchFamily="34" charset="0"/>
              <a:buChar char="•"/>
            </a:pPr>
            <a:r>
              <a:rPr lang="en-GB" sz="2000" b="1"/>
              <a:t>The use of AI should be transparent by openly describing how AI is used in the research process</a:t>
            </a:r>
            <a:r>
              <a:rPr lang="en-GB" sz="2000"/>
              <a:t> so that others can reproduce your results (see guidelines for “</a:t>
            </a:r>
            <a:r>
              <a:rPr lang="en-GB" sz="2000">
                <a:hlinkClick r:id="rId6"/>
              </a:rPr>
              <a:t>Declaration of generative AI in scientific writing</a:t>
            </a:r>
            <a:r>
              <a:rPr lang="en-GB" sz="2000"/>
              <a:t>”)</a:t>
            </a:r>
          </a:p>
          <a:p>
            <a:pPr marL="514350" indent="-514350">
              <a:buFont typeface="Arial" panose="020B0604020202020204" pitchFamily="34" charset="0"/>
              <a:buChar char="•"/>
            </a:pPr>
            <a:r>
              <a:rPr lang="en-GB" sz="2000">
                <a:hlinkClick r:id="rId5"/>
              </a:rPr>
              <a:t>Example from Elsevier</a:t>
            </a:r>
            <a:endParaRPr lang="en-GB" sz="2000"/>
          </a:p>
          <a:p>
            <a:pPr marL="781050" lvl="1" indent="-514350"/>
            <a:r>
              <a:rPr lang="en-GB" b="1"/>
              <a:t>Protect</a:t>
            </a:r>
            <a:r>
              <a:rPr lang="en-GB"/>
              <a:t> your data, the data of your subjects, IPR/Copyright</a:t>
            </a:r>
          </a:p>
          <a:p>
            <a:pPr marL="781050" lvl="1" indent="-514350"/>
            <a:r>
              <a:rPr lang="en-GB"/>
              <a:t>Grammar, spelling, punctuation check -&gt; </a:t>
            </a:r>
            <a:r>
              <a:rPr lang="en-GB" b="1"/>
              <a:t>no need to declare</a:t>
            </a:r>
          </a:p>
          <a:p>
            <a:pPr marL="781050" lvl="1" indent="-514350"/>
            <a:r>
              <a:rPr lang="en-GB"/>
              <a:t>Anything other use -&gt; </a:t>
            </a:r>
            <a:r>
              <a:rPr lang="en-GB" b="1"/>
              <a:t>declare</a:t>
            </a:r>
          </a:p>
          <a:p>
            <a:pPr marL="781050" lvl="1" indent="-514350"/>
            <a:r>
              <a:rPr lang="en-GB" b="1"/>
              <a:t>No AI images</a:t>
            </a:r>
            <a:r>
              <a:rPr lang="en-GB"/>
              <a:t> unless it’s for the research design/methods visualisation</a:t>
            </a:r>
          </a:p>
          <a:p>
            <a:pPr marL="514350" indent="-514350">
              <a:buFont typeface="Arial" panose="020B0604020202020204" pitchFamily="34" charset="0"/>
              <a:buChar char="•"/>
            </a:pPr>
            <a:endParaRPr lang="en-GB"/>
          </a:p>
          <a:p>
            <a:pPr marL="514350" indent="-514350">
              <a:buFont typeface="Arial" panose="020B0604020202020204" pitchFamily="34" charset="0"/>
              <a:buChar char="•"/>
            </a:pPr>
            <a:endParaRPr lang="en-FI"/>
          </a:p>
        </p:txBody>
      </p:sp>
      <p:sp>
        <p:nvSpPr>
          <p:cNvPr id="5" name="Text Placeholder 5">
            <a:extLst>
              <a:ext uri="{FF2B5EF4-FFF2-40B4-BE49-F238E27FC236}">
                <a16:creationId xmlns:a16="http://schemas.microsoft.com/office/drawing/2014/main" id="{A9C417B3-2818-DC13-0183-7D49497DA33A}"/>
              </a:ext>
            </a:extLst>
          </p:cNvPr>
          <p:cNvSpPr txBox="1">
            <a:spLocks/>
          </p:cNvSpPr>
          <p:nvPr/>
        </p:nvSpPr>
        <p:spPr>
          <a:xfrm>
            <a:off x="1055688" y="908720"/>
            <a:ext cx="10080625" cy="367188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800"/>
              </a:spcBef>
              <a:buFontTx/>
              <a:buNone/>
              <a:defRPr sz="2800" kern="1200">
                <a:solidFill>
                  <a:schemeClr val="tx1"/>
                </a:solidFill>
                <a:latin typeface="+mn-lt"/>
                <a:ea typeface="+mn-ea"/>
                <a:cs typeface="+mn-cs"/>
              </a:defRPr>
            </a:lvl1pPr>
            <a:lvl2pPr marL="266700" indent="-266700" algn="l" defTabSz="914400" rtl="0" eaLnBrk="1" latinLnBrk="0" hangingPunct="1">
              <a:lnSpc>
                <a:spcPct val="100000"/>
              </a:lnSpc>
              <a:spcBef>
                <a:spcPts val="800"/>
              </a:spcBef>
              <a:buFont typeface="Arial" panose="020B0604020202020204" pitchFamily="34" charset="0"/>
              <a:buChar char="•"/>
              <a:defRPr sz="2000" kern="1200">
                <a:solidFill>
                  <a:schemeClr val="tx1"/>
                </a:solidFill>
                <a:latin typeface="+mn-lt"/>
                <a:ea typeface="+mn-ea"/>
                <a:cs typeface="+mn-cs"/>
              </a:defRPr>
            </a:lvl2pPr>
            <a:lvl3pPr marL="542925"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8096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10763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5pPr>
            <a:lvl6pPr marL="1343025"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6pPr>
            <a:lvl7pPr marL="1619250" indent="-276225"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7pPr>
            <a:lvl8pPr marL="18859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8pPr>
            <a:lvl9pPr marL="2152650" indent="-2667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9pPr>
          </a:lstStyle>
          <a:p>
            <a:r>
              <a:rPr lang="en-GB" sz="2400">
                <a:cs typeface="Arial"/>
              </a:rPr>
              <a:t>In the ALLEA list of "Violations of research integrity" AI is mentioned:</a:t>
            </a:r>
            <a:endParaRPr lang="en-US" sz="2400">
              <a:cs typeface="Arial"/>
            </a:endParaRPr>
          </a:p>
          <a:p>
            <a:r>
              <a:rPr lang="en-US" sz="2400" b="1" i="1">
                <a:cs typeface="Arial"/>
              </a:rPr>
              <a:t>	</a:t>
            </a:r>
            <a:r>
              <a:rPr lang="en-GB" b="1" i="1">
                <a:cs typeface="Arial"/>
              </a:rPr>
              <a:t>Hiding the use of AI</a:t>
            </a:r>
            <a:r>
              <a:rPr lang="en-GB" i="1">
                <a:cs typeface="Arial"/>
              </a:rPr>
              <a:t> in the research process</a:t>
            </a:r>
            <a:endParaRPr lang="en-GB" sz="1600" i="1">
              <a:cs typeface="Arial"/>
            </a:endParaRPr>
          </a:p>
        </p:txBody>
      </p:sp>
      <p:sp>
        <p:nvSpPr>
          <p:cNvPr id="7" name="Slide Number Placeholder 6">
            <a:extLst>
              <a:ext uri="{FF2B5EF4-FFF2-40B4-BE49-F238E27FC236}">
                <a16:creationId xmlns:a16="http://schemas.microsoft.com/office/drawing/2014/main" id="{1E4F5CD2-F867-D73C-0361-E0359090CDA6}"/>
              </a:ext>
            </a:extLst>
          </p:cNvPr>
          <p:cNvSpPr>
            <a:spLocks noGrp="1"/>
          </p:cNvSpPr>
          <p:nvPr>
            <p:ph type="sldNum" sz="quarter" idx="12"/>
          </p:nvPr>
        </p:nvSpPr>
        <p:spPr/>
        <p:txBody>
          <a:bodyPr/>
          <a:lstStyle/>
          <a:p>
            <a:fld id="{D701140D-C14F-41CA-99FC-0EF83E8DA40A}" type="slidenum">
              <a:rPr lang="fi-FI" smtClean="0"/>
              <a:t>142</a:t>
            </a:fld>
            <a:endParaRPr lang="fi-FI"/>
          </a:p>
        </p:txBody>
      </p:sp>
      <p:sp>
        <p:nvSpPr>
          <p:cNvPr id="3" name="Date Placeholder 2">
            <a:extLst>
              <a:ext uri="{FF2B5EF4-FFF2-40B4-BE49-F238E27FC236}">
                <a16:creationId xmlns:a16="http://schemas.microsoft.com/office/drawing/2014/main" id="{27DCC1B9-9862-7D62-353C-4BFF308107D2}"/>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Footer Placeholder 3">
            <a:extLst>
              <a:ext uri="{FF2B5EF4-FFF2-40B4-BE49-F238E27FC236}">
                <a16:creationId xmlns:a16="http://schemas.microsoft.com/office/drawing/2014/main" id="{0910DFC2-46A9-061F-FC6D-E2FB97F20F4D}"/>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50450360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CBF96-91BB-BCEC-0C0F-BEFFB98C3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6A7DD-9C5C-EAC1-F652-A8EBF6A7A36C}"/>
              </a:ext>
            </a:extLst>
          </p:cNvPr>
          <p:cNvSpPr>
            <a:spLocks noGrp="1"/>
          </p:cNvSpPr>
          <p:nvPr>
            <p:ph type="title"/>
          </p:nvPr>
        </p:nvSpPr>
        <p:spPr/>
        <p:txBody>
          <a:bodyPr/>
          <a:lst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a:lstStyle>
          <a:p>
            <a:r>
              <a:rPr lang="en-US" sz="3000"/>
              <a:t>Generative AI and Research Integrity: disclose your AI</a:t>
            </a:r>
            <a:br>
              <a:rPr lang="en-US" sz="3000"/>
            </a:br>
            <a:endParaRPr lang="fi-FI" sz="1600" b="0" i="1"/>
          </a:p>
        </p:txBody>
      </p:sp>
      <p:sp>
        <p:nvSpPr>
          <p:cNvPr id="6" name="Text Placeholder 5">
            <a:extLst>
              <a:ext uri="{FF2B5EF4-FFF2-40B4-BE49-F238E27FC236}">
                <a16:creationId xmlns:a16="http://schemas.microsoft.com/office/drawing/2014/main" id="{4A2168F1-432B-A522-2361-464B55A83997}"/>
              </a:ext>
            </a:extLst>
          </p:cNvPr>
          <p:cNvSpPr>
            <a:spLocks noGrp="1"/>
          </p:cNvSpPr>
          <p:nvPr>
            <p:ph type="body" sz="quarter" idx="13"/>
          </p:nvPr>
        </p:nvSpPr>
        <p:spPr>
          <a:xfrm>
            <a:off x="1055688" y="908720"/>
            <a:ext cx="10080625" cy="3671886"/>
          </a:xfrm>
        </p:spPr>
        <p:txBody>
          <a:bodyPr/>
          <a:lstStyle/>
          <a:p>
            <a:r>
              <a:rPr lang="en-GB" sz="2400">
                <a:cs typeface="Arial"/>
              </a:rPr>
              <a:t>In the ALLEA list of "Violations of research integrity" AI is mentioned:</a:t>
            </a:r>
            <a:endParaRPr lang="en-US" sz="2400">
              <a:cs typeface="Arial"/>
            </a:endParaRPr>
          </a:p>
          <a:p>
            <a:r>
              <a:rPr lang="en-US" sz="2400" b="1" i="1">
                <a:cs typeface="Arial"/>
              </a:rPr>
              <a:t>	</a:t>
            </a:r>
            <a:r>
              <a:rPr lang="en-GB" b="1" i="1">
                <a:cs typeface="Arial"/>
              </a:rPr>
              <a:t>Hiding the use of AI</a:t>
            </a:r>
            <a:r>
              <a:rPr lang="en-GB" i="1">
                <a:cs typeface="Arial"/>
              </a:rPr>
              <a:t> in the research process</a:t>
            </a:r>
            <a:endParaRPr lang="en-GB" sz="1600" i="1">
              <a:cs typeface="Arial"/>
            </a:endParaRPr>
          </a:p>
          <a:p>
            <a:endParaRPr lang="en-GB" sz="1600" i="1">
              <a:cs typeface="Arial"/>
            </a:endParaRPr>
          </a:p>
          <a:p>
            <a:r>
              <a:rPr lang="en-GB" sz="2000" b="1">
                <a:cs typeface="Arial"/>
              </a:rPr>
              <a:t>Open questions:</a:t>
            </a:r>
            <a:endParaRPr lang="en-GB" sz="2000">
              <a:cs typeface="Arial"/>
            </a:endParaRPr>
          </a:p>
          <a:p>
            <a:pPr marL="342900" indent="-342900">
              <a:buFont typeface="Arial" panose="020B0604020202020204" pitchFamily="34" charset="0"/>
              <a:buChar char="•"/>
            </a:pPr>
            <a:r>
              <a:rPr lang="en-GB" sz="2000">
                <a:cs typeface="Arial"/>
              </a:rPr>
              <a:t>Where is the fine line between a </a:t>
            </a:r>
            <a:r>
              <a:rPr lang="en-GB" sz="2000" b="1">
                <a:cs typeface="Arial"/>
              </a:rPr>
              <a:t>spellchecker</a:t>
            </a:r>
            <a:r>
              <a:rPr lang="en-GB" sz="2000">
                <a:cs typeface="Arial"/>
              </a:rPr>
              <a:t> and a </a:t>
            </a:r>
            <a:r>
              <a:rPr lang="en-GB" sz="2000" b="1">
                <a:cs typeface="Arial"/>
              </a:rPr>
              <a:t>full text rewrite</a:t>
            </a:r>
            <a:r>
              <a:rPr lang="en-GB" sz="2000">
                <a:cs typeface="Arial"/>
              </a:rPr>
              <a:t>? </a:t>
            </a:r>
          </a:p>
          <a:p>
            <a:pPr marL="609600" lvl="1" indent="-342900"/>
            <a:r>
              <a:rPr lang="en-GB" sz="1200">
                <a:cs typeface="Arial"/>
                <a:hlinkClick r:id="rId3"/>
              </a:rPr>
              <a:t>Elsevier’s example: spell check, grammar, punctuation, no need to declare </a:t>
            </a:r>
            <a:r>
              <a:rPr lang="en-GB" sz="1200">
                <a:cs typeface="Arial"/>
              </a:rPr>
              <a:t> </a:t>
            </a:r>
          </a:p>
          <a:p>
            <a:pPr marL="342900" indent="-342900">
              <a:buFont typeface="Arial" panose="020B0604020202020204" pitchFamily="34" charset="0"/>
              <a:buChar char="•"/>
            </a:pPr>
            <a:r>
              <a:rPr lang="en-GB" sz="2000">
                <a:cs typeface="Arial"/>
              </a:rPr>
              <a:t>Do you trust </a:t>
            </a:r>
            <a:r>
              <a:rPr lang="en-GB" sz="2000" b="1">
                <a:cs typeface="Arial"/>
              </a:rPr>
              <a:t>AI summaries </a:t>
            </a:r>
            <a:r>
              <a:rPr lang="en-GB" sz="2000">
                <a:cs typeface="Arial"/>
              </a:rPr>
              <a:t>and </a:t>
            </a:r>
            <a:r>
              <a:rPr lang="en-GB" sz="2000" b="1">
                <a:cs typeface="Arial"/>
              </a:rPr>
              <a:t>AI generated citations</a:t>
            </a:r>
            <a:r>
              <a:rPr lang="en-GB" sz="2000">
                <a:cs typeface="Arial"/>
              </a:rPr>
              <a:t>?</a:t>
            </a:r>
          </a:p>
          <a:p>
            <a:pPr marL="609600" lvl="1" indent="-342900"/>
            <a:r>
              <a:rPr lang="en-GB" sz="1200">
                <a:cs typeface="Arial"/>
                <a:hlinkClick r:id="rId4"/>
              </a:rPr>
              <a:t>LLMs are 5 times more likely overgeneralize and misinterpret scientific literature</a:t>
            </a:r>
            <a:r>
              <a:rPr lang="en-GB" sz="1200">
                <a:cs typeface="Arial"/>
              </a:rPr>
              <a:t> </a:t>
            </a:r>
          </a:p>
          <a:p>
            <a:pPr marL="342900" indent="-342900">
              <a:buFont typeface="Arial" panose="020B0604020202020204" pitchFamily="34" charset="0"/>
              <a:buChar char="•"/>
            </a:pPr>
            <a:r>
              <a:rPr lang="en-GB" sz="2000">
                <a:cs typeface="Arial"/>
              </a:rPr>
              <a:t>Do you trust </a:t>
            </a:r>
            <a:r>
              <a:rPr lang="en-GB" sz="2000" b="1">
                <a:cs typeface="Arial"/>
              </a:rPr>
              <a:t>AI generated code</a:t>
            </a:r>
            <a:r>
              <a:rPr lang="en-GB" sz="2000">
                <a:cs typeface="Arial"/>
              </a:rPr>
              <a:t>? </a:t>
            </a:r>
          </a:p>
          <a:p>
            <a:pPr marL="609600" lvl="1" indent="-342900"/>
            <a:r>
              <a:rPr lang="en-GB" sz="1200">
                <a:cs typeface="Arial"/>
                <a:hlinkClick r:id="rId5"/>
              </a:rPr>
              <a:t>Cybersecurity risks of AI generated code</a:t>
            </a:r>
            <a:endParaRPr lang="en-GB" sz="1200">
              <a:cs typeface="Arial"/>
            </a:endParaRPr>
          </a:p>
          <a:p>
            <a:pPr marL="342900" indent="-342900">
              <a:buFont typeface="Arial" panose="020B0604020202020204" pitchFamily="34" charset="0"/>
              <a:buChar char="•"/>
            </a:pPr>
            <a:r>
              <a:rPr lang="en-GB" sz="2000">
                <a:cs typeface="Arial"/>
              </a:rPr>
              <a:t>Should you use (or accept reviewers used) </a:t>
            </a:r>
            <a:r>
              <a:rPr lang="en-GB" sz="2000" b="1">
                <a:cs typeface="Arial"/>
              </a:rPr>
              <a:t>AI for peer reviews</a:t>
            </a:r>
            <a:r>
              <a:rPr lang="en-GB" sz="2000">
                <a:cs typeface="Arial"/>
              </a:rPr>
              <a:t>? </a:t>
            </a:r>
          </a:p>
          <a:p>
            <a:pPr marL="609600" lvl="1" indent="-342900"/>
            <a:r>
              <a:rPr lang="en-GB" sz="1200">
                <a:cs typeface="Arial"/>
                <a:hlinkClick r:id="rId6"/>
              </a:rPr>
              <a:t>In some fields up to 17% of peer reviewed were conducted with LLM</a:t>
            </a:r>
            <a:endParaRPr lang="en-GB" sz="1200">
              <a:cs typeface="Arial"/>
            </a:endParaRPr>
          </a:p>
          <a:p>
            <a:pPr marL="342900" indent="-342900">
              <a:buFont typeface="Arial" panose="020B0604020202020204" pitchFamily="34" charset="0"/>
              <a:buChar char="•"/>
            </a:pPr>
            <a:r>
              <a:rPr lang="en-GB" sz="2000">
                <a:cs typeface="Arial"/>
              </a:rPr>
              <a:t>Do you trust </a:t>
            </a:r>
            <a:r>
              <a:rPr lang="en-GB" sz="2000" b="1">
                <a:cs typeface="Arial"/>
              </a:rPr>
              <a:t>AI detectors </a:t>
            </a:r>
            <a:r>
              <a:rPr lang="en-GB" sz="2000">
                <a:cs typeface="Arial"/>
              </a:rPr>
              <a:t>with your colleagues/students?</a:t>
            </a:r>
            <a:endParaRPr lang="en-GB" sz="2000">
              <a:cs typeface="Arial"/>
              <a:hlinkClick r:id="rId7"/>
            </a:endParaRPr>
          </a:p>
          <a:p>
            <a:pPr marL="609600" lvl="1" indent="-342900"/>
            <a:r>
              <a:rPr lang="en-GB" sz="1200">
                <a:cs typeface="Arial"/>
                <a:hlinkClick r:id="rId7"/>
              </a:rPr>
              <a:t>9% declare AI use but 36% seems to be the actual use</a:t>
            </a:r>
            <a:endParaRPr lang="en-GB" sz="1200">
              <a:cs typeface="Arial"/>
            </a:endParaRPr>
          </a:p>
          <a:p>
            <a:pPr marL="342900" indent="-342900">
              <a:buFont typeface="Arial" panose="020B0604020202020204" pitchFamily="34" charset="0"/>
              <a:buChar char="•"/>
            </a:pPr>
            <a:r>
              <a:rPr lang="en-GB" sz="2000">
                <a:cs typeface="Arial"/>
              </a:rPr>
              <a:t>Do you </a:t>
            </a:r>
            <a:r>
              <a:rPr lang="en-GB" sz="2000" b="1">
                <a:cs typeface="Arial"/>
              </a:rPr>
              <a:t>trust researchers that disclose AI use</a:t>
            </a:r>
            <a:r>
              <a:rPr lang="en-GB" sz="2000">
                <a:cs typeface="Arial"/>
              </a:rPr>
              <a:t>?</a:t>
            </a:r>
          </a:p>
          <a:p>
            <a:pPr marL="609600" lvl="1" indent="-342900"/>
            <a:r>
              <a:rPr lang="en-US" sz="1200">
                <a:hlinkClick r:id="rId8"/>
              </a:rPr>
              <a:t>Being transparent about AI use reduces the trust towards the AI user</a:t>
            </a:r>
            <a:endParaRPr lang="en-GB" sz="1200">
              <a:cs typeface="Arial"/>
            </a:endParaRPr>
          </a:p>
          <a:p>
            <a:pPr marL="457200" indent="-457200">
              <a:buFont typeface="Arial" panose="020B0604020202020204" pitchFamily="34" charset="0"/>
              <a:buChar char="•"/>
            </a:pPr>
            <a:endParaRPr lang="en-GB">
              <a:cs typeface="Arial"/>
            </a:endParaRPr>
          </a:p>
          <a:p>
            <a:pPr marL="514350" lvl="1" indent="0">
              <a:buNone/>
            </a:pPr>
            <a:endParaRPr lang="en-GB" sz="1600">
              <a:cs typeface="Arial"/>
            </a:endParaRPr>
          </a:p>
        </p:txBody>
      </p:sp>
      <p:sp>
        <p:nvSpPr>
          <p:cNvPr id="3" name="Date Placeholder 2">
            <a:extLst>
              <a:ext uri="{FF2B5EF4-FFF2-40B4-BE49-F238E27FC236}">
                <a16:creationId xmlns:a16="http://schemas.microsoft.com/office/drawing/2014/main" id="{869F8D8E-BD50-0E5E-1F5B-4BEFE5E99D45}"/>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Footer Placeholder 3">
            <a:extLst>
              <a:ext uri="{FF2B5EF4-FFF2-40B4-BE49-F238E27FC236}">
                <a16:creationId xmlns:a16="http://schemas.microsoft.com/office/drawing/2014/main" id="{D8FE27F2-CF8E-C5EF-2FBF-EA69023B6E6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9FFADAE5-7513-0C90-3630-3486B3BF924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143</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68716952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54C3B-88C4-3939-2BE0-2DE32E554EC2}"/>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892C5EEE-9BA9-9978-B82B-0CB60FD36117}"/>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12F76C6D-C7D9-7879-841D-41DFDAAEBA3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144</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itle 5">
            <a:extLst>
              <a:ext uri="{FF2B5EF4-FFF2-40B4-BE49-F238E27FC236}">
                <a16:creationId xmlns:a16="http://schemas.microsoft.com/office/drawing/2014/main" id="{BC5BCC42-1A37-CF86-4509-976EF103165A}"/>
              </a:ext>
            </a:extLst>
          </p:cNvPr>
          <p:cNvSpPr>
            <a:spLocks noGrp="1"/>
          </p:cNvSpPr>
          <p:nvPr>
            <p:ph type="ctrTitle"/>
          </p:nvPr>
        </p:nvSpPr>
        <p:spPr>
          <a:xfrm>
            <a:off x="412647" y="1951674"/>
            <a:ext cx="11371366" cy="2954655"/>
          </a:xfrm>
        </p:spPr>
        <p:txBody>
          <a:bodyPr/>
          <a:lstStyle/>
          <a:p>
            <a:pPr algn="just"/>
            <a:r>
              <a:rPr lang="en-GB">
                <a:solidFill>
                  <a:schemeClr val="bg1"/>
                </a:solidFill>
              </a:rPr>
              <a:t>If you do not have the ability or the resources to verify the output of GenAI systems</a:t>
            </a:r>
            <a:r>
              <a:rPr lang="en-GB"/>
              <a:t> </a:t>
            </a:r>
            <a:r>
              <a:rPr lang="en-GB" b="0"/>
              <a:t>(e.g. by finding the relevant citations for the synthesised text, by verifying that others’ works are summarised correctly, by detecting plagiarised text or code, by verifying the analysis code) </a:t>
            </a:r>
            <a:r>
              <a:rPr lang="en-GB">
                <a:solidFill>
                  <a:schemeClr val="bg1"/>
                </a:solidFill>
              </a:rPr>
              <a:t>then you should not use the output of GenAI systems </a:t>
            </a:r>
            <a:r>
              <a:rPr lang="en-GB" b="0"/>
              <a:t>beyond self-learning or brainstorming.</a:t>
            </a:r>
            <a:endParaRPr lang="en-GB" b="0">
              <a:cs typeface="Arial"/>
            </a:endParaRPr>
          </a:p>
        </p:txBody>
      </p:sp>
      <p:sp>
        <p:nvSpPr>
          <p:cNvPr id="2" name="Footer Placeholder 1">
            <a:extLst>
              <a:ext uri="{FF2B5EF4-FFF2-40B4-BE49-F238E27FC236}">
                <a16:creationId xmlns:a16="http://schemas.microsoft.com/office/drawing/2014/main" id="{2CA78A38-E340-B76A-8B33-CD1E0B326CF7}"/>
              </a:ext>
            </a:extLst>
          </p:cNvPr>
          <p:cNvSpPr>
            <a:spLocks noGrp="1"/>
          </p:cNvSpPr>
          <p:nvPr>
            <p:ph type="ftr" sz="quarter" idx="11"/>
          </p:nvPr>
        </p:nvSpPr>
        <p:spPr/>
        <p:txBody>
          <a:bodyPr/>
          <a:lstStyle/>
          <a:p>
            <a:r>
              <a:rPr lang="pt-BR"/>
              <a:t>Enrico Glerean &amp; Pedro Silva (2026) Please cite DOI: 10.5281/zenodo.14032261 (CC-BY)</a:t>
            </a:r>
            <a:endParaRPr lang="fi-FI"/>
          </a:p>
        </p:txBody>
      </p:sp>
    </p:spTree>
    <p:extLst>
      <p:ext uri="{BB962C8B-B14F-4D97-AF65-F5344CB8AC3E}">
        <p14:creationId xmlns:p14="http://schemas.microsoft.com/office/powerpoint/2010/main" val="419475832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8C574-3C37-5BCF-56FF-D5EC1CD74F8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8520F55-2BE6-3334-65E6-61D929FC14A1}"/>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white"/>
                </a:solidFill>
                <a:effectLst/>
                <a:uLnTx/>
                <a:uFillTx/>
                <a:latin typeface="Arial" panose="020B0604020202020204"/>
                <a:ea typeface="+mn-ea"/>
                <a:cs typeface="+mn-cs"/>
              </a:rPr>
              <a:t>28.04.2026</a:t>
            </a:r>
          </a:p>
        </p:txBody>
      </p:sp>
      <p:sp>
        <p:nvSpPr>
          <p:cNvPr id="3" name="Slide Number Placeholder 2">
            <a:extLst>
              <a:ext uri="{FF2B5EF4-FFF2-40B4-BE49-F238E27FC236}">
                <a16:creationId xmlns:a16="http://schemas.microsoft.com/office/drawing/2014/main" id="{ABE013D6-71AE-0E87-F3DA-24E3505EC9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145</a:t>
            </a:fld>
            <a:endParaRPr kumimoji="0" lang="fi-FI" sz="8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AFBF5107-C9CF-3E8E-13F5-C6299F81FCAC}"/>
              </a:ext>
            </a:extLst>
          </p:cNvPr>
          <p:cNvSpPr>
            <a:spLocks noGrp="1"/>
          </p:cNvSpPr>
          <p:nvPr>
            <p:ph type="ctrTitle"/>
          </p:nvPr>
        </p:nvSpPr>
        <p:spPr>
          <a:xfrm>
            <a:off x="412647" y="2936558"/>
            <a:ext cx="11371365" cy="984885"/>
          </a:xfrm>
        </p:spPr>
        <p:txBody>
          <a:bodyPr/>
          <a:lstStyle/>
          <a:p>
            <a:r>
              <a:rPr lang="en-FI"/>
              <a:t>It is impossible to ethically use these tools, because they are not ethical under any aspect. </a:t>
            </a:r>
          </a:p>
        </p:txBody>
      </p:sp>
      <p:sp>
        <p:nvSpPr>
          <p:cNvPr id="5" name="Footer Placeholder 4">
            <a:extLst>
              <a:ext uri="{FF2B5EF4-FFF2-40B4-BE49-F238E27FC236}">
                <a16:creationId xmlns:a16="http://schemas.microsoft.com/office/drawing/2014/main" id="{D6588C48-74F5-0C46-6C3A-83C9C15A7AF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85451398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2343-D0E1-5F4E-C6EA-F0265EB20173}"/>
              </a:ext>
            </a:extLst>
          </p:cNvPr>
          <p:cNvSpPr>
            <a:spLocks noGrp="1"/>
          </p:cNvSpPr>
          <p:nvPr>
            <p:ph type="title"/>
          </p:nvPr>
        </p:nvSpPr>
        <p:spPr/>
        <p:txBody>
          <a:bodyPr/>
          <a:lstStyle/>
          <a:p>
            <a:r>
              <a:rPr lang="en-FI"/>
              <a:t>If we cannot be ethical, let’s at least be responsible:</a:t>
            </a:r>
            <a:br>
              <a:rPr lang="en-FI"/>
            </a:br>
            <a:r>
              <a:rPr lang="en-FI"/>
              <a:t>Responsible use of (generative) AI</a:t>
            </a:r>
          </a:p>
        </p:txBody>
      </p:sp>
      <p:sp>
        <p:nvSpPr>
          <p:cNvPr id="3" name="Date Placeholder 2">
            <a:extLst>
              <a:ext uri="{FF2B5EF4-FFF2-40B4-BE49-F238E27FC236}">
                <a16:creationId xmlns:a16="http://schemas.microsoft.com/office/drawing/2014/main" id="{647BC62D-41EF-0718-7F44-9F5ED08E8F02}"/>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Slide Number Placeholder 3">
            <a:extLst>
              <a:ext uri="{FF2B5EF4-FFF2-40B4-BE49-F238E27FC236}">
                <a16:creationId xmlns:a16="http://schemas.microsoft.com/office/drawing/2014/main" id="{2EF57689-C81B-1CC8-0764-1F472127F4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C8D34506-BA05-65E5-1F3D-3E495F3439FE}"/>
              </a:ext>
            </a:extLst>
          </p:cNvPr>
          <p:cNvSpPr>
            <a:spLocks noGrp="1"/>
          </p:cNvSpPr>
          <p:nvPr>
            <p:ph type="body" sz="quarter" idx="13"/>
          </p:nvPr>
        </p:nvSpPr>
        <p:spPr>
          <a:xfrm>
            <a:off x="1055688" y="1988840"/>
            <a:ext cx="10080625" cy="3671886"/>
          </a:xfrm>
        </p:spPr>
        <p:txBody>
          <a:bodyPr/>
          <a:lstStyle/>
          <a:p>
            <a:pPr marL="514350" indent="-514350">
              <a:buFont typeface="Arial" panose="020B0604020202020204" pitchFamily="34" charset="0"/>
              <a:buChar char="•"/>
            </a:pPr>
            <a:r>
              <a:rPr lang="en-FI"/>
              <a:t>If we have strict ethics, then we should not use or promote these tools</a:t>
            </a:r>
          </a:p>
          <a:p>
            <a:pPr marL="514350" indent="-514350">
              <a:buFont typeface="Arial" panose="020B0604020202020204" pitchFamily="34" charset="0"/>
              <a:buChar char="•"/>
            </a:pPr>
            <a:r>
              <a:rPr lang="en-FI"/>
              <a:t>However real world poses a series of ethical compromises: we drive petrol cars, we enable the killing of animals, fast fashion, smartphones that do not last, and our taxes pay for military weapons that one day will kill people</a:t>
            </a:r>
          </a:p>
          <a:p>
            <a:pPr marL="514350" indent="-514350">
              <a:buFont typeface="Arial" panose="020B0604020202020204" pitchFamily="34" charset="0"/>
              <a:buChar char="•"/>
            </a:pPr>
            <a:r>
              <a:rPr lang="en-GB" b="1"/>
              <a:t>B</a:t>
            </a:r>
            <a:r>
              <a:rPr lang="en-FI" b="1"/>
              <a:t>y using these AI tools and understanding their limitations, we can identify responsible use-cases</a:t>
            </a:r>
            <a:r>
              <a:rPr lang="en-FI"/>
              <a:t> where they are useful for our life, the people we interact with, and society at large.</a:t>
            </a:r>
          </a:p>
        </p:txBody>
      </p:sp>
      <p:sp>
        <p:nvSpPr>
          <p:cNvPr id="6" name="Footer Placeholder 5">
            <a:extLst>
              <a:ext uri="{FF2B5EF4-FFF2-40B4-BE49-F238E27FC236}">
                <a16:creationId xmlns:a16="http://schemas.microsoft.com/office/drawing/2014/main" id="{FC6DF635-C2A6-B118-C1EE-F28F01CA950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04616788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44371E2-98CC-07DC-1733-8CB49A5FEB8E}"/>
              </a:ext>
            </a:extLst>
          </p:cNvPr>
          <p:cNvSpPr>
            <a:spLocks noGrp="1"/>
          </p:cNvSpPr>
          <p:nvPr>
            <p:ph type="body" idx="1"/>
          </p:nvPr>
        </p:nvSpPr>
        <p:spPr>
          <a:xfrm>
            <a:off x="340822" y="404813"/>
            <a:ext cx="6043353" cy="5472112"/>
          </a:xfrm>
        </p:spPr>
        <p:txBody>
          <a:bodyPr/>
          <a:lstStyle/>
          <a:p>
            <a:pPr marL="228600" indent="0"/>
            <a:r>
              <a:rPr lang="en-US" b="1"/>
              <a:t>Resist the hype, use AI tools responsibly (if you want to)</a:t>
            </a:r>
            <a:endParaRPr lang="en-US"/>
          </a:p>
          <a:p>
            <a:pPr marL="1143000" lvl="1" indent="-457200"/>
            <a:r>
              <a:rPr lang="en-US" b="1"/>
              <a:t>Safe implementation of AI tools: </a:t>
            </a:r>
            <a:r>
              <a:rPr lang="en-US"/>
              <a:t>e.g.</a:t>
            </a:r>
            <a:r>
              <a:rPr lang="en-US" b="1"/>
              <a:t> </a:t>
            </a:r>
            <a:r>
              <a:rPr lang="en-US">
                <a:hlinkClick r:id="rId3"/>
              </a:rPr>
              <a:t>Aalto AI Assistant</a:t>
            </a:r>
            <a:r>
              <a:rPr lang="en-US"/>
              <a:t>, </a:t>
            </a:r>
            <a:r>
              <a:rPr lang="en-US">
                <a:hlinkClick r:id="rId4"/>
              </a:rPr>
              <a:t>Aalto Scientific Computing Speech2Text</a:t>
            </a:r>
            <a:r>
              <a:rPr lang="en-US"/>
              <a:t>, </a:t>
            </a:r>
            <a:r>
              <a:rPr lang="en-US">
                <a:hlinkClick r:id="rId5"/>
              </a:rPr>
              <a:t>local open source LLMs at Aalto</a:t>
            </a:r>
            <a:endParaRPr lang="en-US"/>
          </a:p>
          <a:p>
            <a:pPr marL="1143000" lvl="1" indent="-457200"/>
            <a:r>
              <a:rPr lang="en-US"/>
              <a:t>AI literacy </a:t>
            </a:r>
            <a:r>
              <a:rPr lang="en-US" b="1"/>
              <a:t>trainings</a:t>
            </a:r>
          </a:p>
          <a:p>
            <a:pPr marL="1143000" lvl="1" indent="-457200"/>
            <a:r>
              <a:rPr lang="en-US" b="1"/>
              <a:t>Opportunities to openly discuss </a:t>
            </a:r>
            <a:r>
              <a:rPr lang="en-US"/>
              <a:t>with everyone about how they use AI (or avoid using AI) </a:t>
            </a:r>
            <a:r>
              <a:rPr lang="en-US" b="1"/>
              <a:t>(see Aalto AI Talks)</a:t>
            </a:r>
          </a:p>
          <a:p>
            <a:pPr marL="1143000" lvl="1" indent="-457200"/>
            <a:r>
              <a:rPr lang="en-US" b="1"/>
              <a:t>Academic freedom </a:t>
            </a:r>
            <a:r>
              <a:rPr lang="en-US"/>
              <a:t>to let researchers explore (or ignore) such tools</a:t>
            </a:r>
          </a:p>
          <a:p>
            <a:pPr marL="1143000" lvl="1" indent="-457200"/>
            <a:r>
              <a:rPr lang="en-US" b="1"/>
              <a:t>In doubt? </a:t>
            </a:r>
            <a:r>
              <a:rPr lang="en-US"/>
              <a:t>Contact</a:t>
            </a:r>
            <a:r>
              <a:rPr lang="en-US" b="1"/>
              <a:t> Aalto Research Software Engineers and/or Data Agents </a:t>
            </a:r>
            <a:r>
              <a:rPr lang="en-US" b="1">
                <a:hlinkClick r:id="rId6"/>
              </a:rPr>
              <a:t>researchdata@aalto.fi</a:t>
            </a:r>
            <a:r>
              <a:rPr lang="en-US" b="1"/>
              <a:t> </a:t>
            </a:r>
            <a:endParaRPr lang="en-FI" b="1"/>
          </a:p>
        </p:txBody>
      </p:sp>
      <p:sp>
        <p:nvSpPr>
          <p:cNvPr id="3" name="Slide Number Placeholder 2">
            <a:extLst>
              <a:ext uri="{FF2B5EF4-FFF2-40B4-BE49-F238E27FC236}">
                <a16:creationId xmlns:a16="http://schemas.microsoft.com/office/drawing/2014/main" id="{AA7C00DD-38EF-D150-F2B3-208BC2E2ADAC}"/>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147</a:t>
            </a:fld>
            <a:endParaRPr kumimoji="0" lang="en-GB"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193B69A9-A951-7ACB-0729-57818347BF24}"/>
              </a:ext>
              <a:ext uri="{C183D7F6-B498-43B3-948B-1728B52AA6E4}">
                <adec:decorative xmlns:adec="http://schemas.microsoft.com/office/drawing/2017/decorative" val="1"/>
              </a:ext>
            </a:extLst>
          </p:cNvPr>
          <p:cNvSpPr txBox="1"/>
          <p:nvPr/>
        </p:nvSpPr>
        <p:spPr>
          <a:xfrm>
            <a:off x="6492240" y="0"/>
            <a:ext cx="5699760" cy="6858000"/>
          </a:xfrm>
          <a:prstGeom prst="rect">
            <a:avLst/>
          </a:prstGeom>
          <a:solidFill>
            <a:schemeClr val="accent2"/>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FI"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 name="Text Placeholder 3">
            <a:extLst>
              <a:ext uri="{FF2B5EF4-FFF2-40B4-BE49-F238E27FC236}">
                <a16:creationId xmlns:a16="http://schemas.microsoft.com/office/drawing/2014/main" id="{46531530-041C-631E-997B-CB2BB1B43D28}"/>
              </a:ext>
            </a:extLst>
          </p:cNvPr>
          <p:cNvSpPr txBox="1">
            <a:spLocks noGrp="1"/>
          </p:cNvSpPr>
          <p:nvPr>
            <p:ph type="title" idx="4294967295"/>
          </p:nvPr>
        </p:nvSpPr>
        <p:spPr>
          <a:xfrm>
            <a:off x="7306888" y="429527"/>
            <a:ext cx="4054009" cy="5472112"/>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L="457200" marR="0" lvl="0" indent="-228600" algn="l" rtl="0">
              <a:lnSpc>
                <a:spcPct val="100000"/>
              </a:lnSpc>
              <a:spcBef>
                <a:spcPts val="8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355600" algn="l" rtl="0">
              <a:lnSpc>
                <a:spcPct val="100000"/>
              </a:lnSpc>
              <a:spcBef>
                <a:spcPts val="8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228600" marR="0" lvl="0" indent="0" algn="ctr" defTabSz="914400" rtl="0" eaLnBrk="1" fontAlgn="auto" latinLnBrk="0" hangingPunct="1">
              <a:lnSpc>
                <a:spcPct val="100000"/>
              </a:lnSpc>
              <a:spcBef>
                <a:spcPts val="800"/>
              </a:spcBef>
              <a:spcAft>
                <a:spcPts val="0"/>
              </a:spcAft>
              <a:buClr>
                <a:schemeClr val="dk1"/>
              </a:buClr>
              <a:buSzPts val="2800"/>
              <a:buFont typeface="Arial"/>
              <a:buNone/>
              <a:tabLst/>
              <a:defRPr/>
            </a:pPr>
            <a:endParaRPr kumimoji="0" lang="en-US" sz="6000" b="1" i="0" u="none" strike="noStrike" kern="1200" cap="none" spc="0" normalizeH="0" baseline="0" noProof="0">
              <a:ln>
                <a:noFill/>
              </a:ln>
              <a:solidFill>
                <a:schemeClr val="bg1"/>
              </a:solidFill>
              <a:effectLst/>
              <a:uLnTx/>
              <a:uFillTx/>
              <a:latin typeface="Arial Bold" panose="020B0704020202020204" pitchFamily="34" charset="0"/>
              <a:ea typeface="Arial"/>
              <a:cs typeface="Arial Bold" panose="020B0704020202020204" pitchFamily="34" charset="0"/>
              <a:sym typeface="Arial"/>
            </a:endParaRPr>
          </a:p>
          <a:p>
            <a:pPr marL="228600" marR="0" lvl="0" indent="0" algn="ctr" defTabSz="914400" rtl="0" eaLnBrk="1" fontAlgn="auto" latinLnBrk="0" hangingPunct="1">
              <a:lnSpc>
                <a:spcPct val="100000"/>
              </a:lnSpc>
              <a:spcBef>
                <a:spcPts val="800"/>
              </a:spcBef>
              <a:spcAft>
                <a:spcPts val="0"/>
              </a:spcAft>
              <a:buClr>
                <a:schemeClr val="dk1"/>
              </a:buClr>
              <a:buSzPts val="2800"/>
              <a:buFont typeface="Arial"/>
              <a:buNone/>
              <a:tabLst/>
              <a:defRPr/>
            </a:pP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KEEP</a:t>
            </a:r>
            <a:b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b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CALM</a:t>
            </a:r>
            <a:b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br>
            <a:r>
              <a:rPr kumimoji="0" lang="en-US" sz="3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AND</a:t>
            </a:r>
          </a:p>
          <a:p>
            <a:pPr marL="228600" marR="0" lvl="0" indent="0" algn="ctr" defTabSz="914400" rtl="0" eaLnBrk="1" fontAlgn="auto" latinLnBrk="0" hangingPunct="1">
              <a:lnSpc>
                <a:spcPct val="100000"/>
              </a:lnSpc>
              <a:spcBef>
                <a:spcPts val="800"/>
              </a:spcBef>
              <a:spcAft>
                <a:spcPts val="0"/>
              </a:spcAft>
              <a:buClr>
                <a:schemeClr val="dk1"/>
              </a:buClr>
              <a:buSzPts val="2800"/>
              <a:buFont typeface="Arial"/>
              <a:buNone/>
              <a:tabLst/>
              <a:defRPr/>
            </a:pP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CARRY</a:t>
            </a:r>
          </a:p>
          <a:p>
            <a:pPr marL="228600" marR="0" lvl="0" indent="0" algn="ctr" defTabSz="914400" rtl="0" eaLnBrk="1" fontAlgn="auto" latinLnBrk="0" hangingPunct="1">
              <a:lnSpc>
                <a:spcPct val="100000"/>
              </a:lnSpc>
              <a:spcBef>
                <a:spcPts val="800"/>
              </a:spcBef>
              <a:spcAft>
                <a:spcPts val="0"/>
              </a:spcAft>
              <a:buClr>
                <a:schemeClr val="dk1"/>
              </a:buClr>
              <a:buSzPts val="2800"/>
              <a:buFont typeface="Arial"/>
              <a:buNone/>
              <a:tabLst/>
              <a:defRPr/>
            </a:pP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ON</a:t>
            </a:r>
            <a:endParaRPr kumimoji="0" lang="en-FI" sz="6000" b="0"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endParaRPr>
          </a:p>
        </p:txBody>
      </p:sp>
      <p:pic>
        <p:nvPicPr>
          <p:cNvPr id="1026" name="Picture 2">
            <a:extLst>
              <a:ext uri="{FF2B5EF4-FFF2-40B4-BE49-F238E27FC236}">
                <a16:creationId xmlns:a16="http://schemas.microsoft.com/office/drawing/2014/main" id="{DD2D9947-95B7-C701-66D6-F4F44356BBAB}"/>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54776" y="-407757"/>
            <a:ext cx="2857500" cy="2619375"/>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23D72211-8387-7E6F-B469-C0FF98735445}"/>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endParaRPr kumimoji="0" lang="en-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Footer Placeholder 4">
            <a:extLst>
              <a:ext uri="{FF2B5EF4-FFF2-40B4-BE49-F238E27FC236}">
                <a16:creationId xmlns:a16="http://schemas.microsoft.com/office/drawing/2014/main" id="{E1984AE3-A450-7359-21F1-8F3EC50141D0}"/>
              </a:ext>
            </a:extLst>
          </p:cNvPr>
          <p:cNvSpPr>
            <a:spLocks noGrp="1"/>
          </p:cNvSpPr>
          <p:nvPr>
            <p:ph type="ftr" idx="11"/>
          </p:nvPr>
        </p:nvSpPr>
        <p:spPr/>
        <p:txBody>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p>
        </p:txBody>
      </p:sp>
    </p:spTree>
    <p:extLst>
      <p:ext uri="{BB962C8B-B14F-4D97-AF65-F5344CB8AC3E}">
        <p14:creationId xmlns:p14="http://schemas.microsoft.com/office/powerpoint/2010/main" val="269922622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8A66BE-565F-9425-8303-177B51E33F7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1921699-492F-FA32-4312-9F604629823B}"/>
              </a:ext>
            </a:extLst>
          </p:cNvPr>
          <p:cNvSpPr>
            <a:spLocks noGrp="1"/>
          </p:cNvSpPr>
          <p:nvPr>
            <p:ph type="body" idx="1"/>
          </p:nvPr>
        </p:nvSpPr>
        <p:spPr>
          <a:xfrm>
            <a:off x="340822" y="404813"/>
            <a:ext cx="6043353" cy="5472112"/>
          </a:xfrm>
        </p:spPr>
        <p:txBody>
          <a:bodyPr/>
          <a:lstStyle/>
          <a:p>
            <a:pPr marL="228600" indent="0"/>
            <a:r>
              <a:rPr lang="en-US" b="1"/>
              <a:t>Resist the hype, use AI tools responsibly (if you want to)</a:t>
            </a:r>
            <a:endParaRPr lang="en-US"/>
          </a:p>
          <a:p>
            <a:pPr marL="1143000" lvl="1" indent="-457200"/>
            <a:endParaRPr lang="en-US"/>
          </a:p>
          <a:p>
            <a:pPr marL="1143000" lvl="1" indent="-457200"/>
            <a:r>
              <a:rPr lang="en-US"/>
              <a:t>AI literacy </a:t>
            </a:r>
            <a:r>
              <a:rPr lang="en-US" b="1"/>
              <a:t>trainings</a:t>
            </a:r>
          </a:p>
          <a:p>
            <a:pPr marL="1143000" lvl="1" indent="-457200"/>
            <a:r>
              <a:rPr lang="en-US" b="1"/>
              <a:t>Safer versions of the tools you use</a:t>
            </a:r>
            <a:r>
              <a:rPr lang="en-US"/>
              <a:t> (e.g. local)</a:t>
            </a:r>
          </a:p>
          <a:p>
            <a:pPr marL="1143000" lvl="1" indent="-457200"/>
            <a:r>
              <a:rPr lang="en-US" b="1"/>
              <a:t>Opportunities to openly discuss </a:t>
            </a:r>
            <a:r>
              <a:rPr lang="en-US"/>
              <a:t>with everyone about how they use AI (or avoid using AI)</a:t>
            </a:r>
            <a:endParaRPr lang="en-US" b="1"/>
          </a:p>
          <a:p>
            <a:pPr marL="1143000" lvl="1" indent="-457200"/>
            <a:r>
              <a:rPr lang="en-US" b="1"/>
              <a:t>Academic freedom </a:t>
            </a:r>
            <a:r>
              <a:rPr lang="en-US"/>
              <a:t>to let researchers explore (or ignore) such tools</a:t>
            </a:r>
          </a:p>
        </p:txBody>
      </p:sp>
      <p:sp>
        <p:nvSpPr>
          <p:cNvPr id="3" name="Slide Number Placeholder 2">
            <a:extLst>
              <a:ext uri="{FF2B5EF4-FFF2-40B4-BE49-F238E27FC236}">
                <a16:creationId xmlns:a16="http://schemas.microsoft.com/office/drawing/2014/main" id="{87E33F71-B22A-8A1E-19A8-13667FEDCC19}"/>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148</a:t>
            </a:fld>
            <a:endParaRPr kumimoji="0" lang="en-GB"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BED7B980-A3A8-203C-7577-1FF93A0A530A}"/>
              </a:ext>
              <a:ext uri="{C183D7F6-B498-43B3-948B-1728B52AA6E4}">
                <adec:decorative xmlns:adec="http://schemas.microsoft.com/office/drawing/2017/decorative" val="1"/>
              </a:ext>
            </a:extLst>
          </p:cNvPr>
          <p:cNvSpPr txBox="1"/>
          <p:nvPr/>
        </p:nvSpPr>
        <p:spPr>
          <a:xfrm>
            <a:off x="6492240" y="0"/>
            <a:ext cx="5699760" cy="6858000"/>
          </a:xfrm>
          <a:prstGeom prst="rect">
            <a:avLst/>
          </a:prstGeom>
          <a:solidFill>
            <a:schemeClr val="accent2"/>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FI"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 name="Text Placeholder 3">
            <a:extLst>
              <a:ext uri="{FF2B5EF4-FFF2-40B4-BE49-F238E27FC236}">
                <a16:creationId xmlns:a16="http://schemas.microsoft.com/office/drawing/2014/main" id="{7C78A9C2-89FE-0796-FB6E-D8431D0289D3}"/>
              </a:ext>
            </a:extLst>
          </p:cNvPr>
          <p:cNvSpPr txBox="1">
            <a:spLocks noGrp="1"/>
          </p:cNvSpPr>
          <p:nvPr>
            <p:ph type="title" idx="4294967295"/>
          </p:nvPr>
        </p:nvSpPr>
        <p:spPr>
          <a:xfrm>
            <a:off x="7306888" y="429527"/>
            <a:ext cx="4054009" cy="5472112"/>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L="457200" marR="0" lvl="0" indent="-228600" algn="l" rtl="0">
              <a:lnSpc>
                <a:spcPct val="100000"/>
              </a:lnSpc>
              <a:spcBef>
                <a:spcPts val="8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355600" algn="l" rtl="0">
              <a:lnSpc>
                <a:spcPct val="100000"/>
              </a:lnSpc>
              <a:spcBef>
                <a:spcPts val="8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228600" marR="0" lvl="0" indent="0" algn="ctr" defTabSz="914400" rtl="0" eaLnBrk="1" fontAlgn="auto" latinLnBrk="0" hangingPunct="1">
              <a:lnSpc>
                <a:spcPct val="100000"/>
              </a:lnSpc>
              <a:spcBef>
                <a:spcPts val="800"/>
              </a:spcBef>
              <a:spcAft>
                <a:spcPts val="0"/>
              </a:spcAft>
              <a:buClr>
                <a:schemeClr val="dk1"/>
              </a:buClr>
              <a:buSzPts val="2800"/>
              <a:buFont typeface="Arial"/>
              <a:buNone/>
              <a:tabLst/>
              <a:defRPr/>
            </a:pPr>
            <a:b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b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KEEP</a:t>
            </a:r>
            <a:b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b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CALM</a:t>
            </a:r>
            <a:b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br>
            <a:r>
              <a:rPr kumimoji="0" lang="en-US" sz="3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AND</a:t>
            </a:r>
          </a:p>
          <a:p>
            <a:pPr marL="228600" marR="0" lvl="0" indent="0" algn="ctr" defTabSz="914400" rtl="0" eaLnBrk="1" fontAlgn="auto" latinLnBrk="0" hangingPunct="1">
              <a:lnSpc>
                <a:spcPct val="100000"/>
              </a:lnSpc>
              <a:spcBef>
                <a:spcPts val="800"/>
              </a:spcBef>
              <a:spcAft>
                <a:spcPts val="0"/>
              </a:spcAft>
              <a:buClr>
                <a:schemeClr val="dk1"/>
              </a:buClr>
              <a:buSzPts val="2800"/>
              <a:buFont typeface="Arial"/>
              <a:buNone/>
              <a:tabLst/>
              <a:defRPr/>
            </a:pP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CARRY</a:t>
            </a:r>
          </a:p>
          <a:p>
            <a:pPr marL="228600" marR="0" lvl="0" indent="0" algn="ctr" defTabSz="914400" rtl="0" eaLnBrk="1" fontAlgn="auto" latinLnBrk="0" hangingPunct="1">
              <a:lnSpc>
                <a:spcPct val="100000"/>
              </a:lnSpc>
              <a:spcBef>
                <a:spcPts val="800"/>
              </a:spcBef>
              <a:spcAft>
                <a:spcPts val="0"/>
              </a:spcAft>
              <a:buClr>
                <a:schemeClr val="dk1"/>
              </a:buClr>
              <a:buSzPts val="2800"/>
              <a:buFont typeface="Arial"/>
              <a:buNone/>
              <a:tabLst/>
              <a:defRPr/>
            </a:pPr>
            <a:r>
              <a:rPr kumimoji="0" lang="en-US" sz="6000" b="1"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rPr>
              <a:t>ON</a:t>
            </a:r>
            <a:endParaRPr kumimoji="0" lang="en-FI" sz="6000" b="0" i="0" u="none" strike="noStrike" kern="1200" cap="none" spc="0" normalizeH="0" baseline="0" noProof="0">
              <a:ln>
                <a:noFill/>
              </a:ln>
              <a:solidFill>
                <a:schemeClr val="bg1"/>
              </a:solidFill>
              <a:effectLst/>
              <a:uLnTx/>
              <a:uFillTx/>
              <a:latin typeface="Gill Sans MT" panose="020B0502020104020203" pitchFamily="34" charset="0"/>
              <a:ea typeface="Arial"/>
              <a:cs typeface="Arial"/>
              <a:sym typeface="Arial"/>
            </a:endParaRPr>
          </a:p>
        </p:txBody>
      </p:sp>
      <p:pic>
        <p:nvPicPr>
          <p:cNvPr id="5" name="Graphic 4" descr="Brain with solid fill">
            <a:extLst>
              <a:ext uri="{FF2B5EF4-FFF2-40B4-BE49-F238E27FC236}">
                <a16:creationId xmlns:a16="http://schemas.microsoft.com/office/drawing/2014/main" id="{26D08B65-181A-3F7A-1515-76A222F2B2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69072" y="404813"/>
            <a:ext cx="1174088" cy="1174088"/>
          </a:xfrm>
          <a:prstGeom prst="rect">
            <a:avLst/>
          </a:prstGeom>
        </p:spPr>
      </p:pic>
      <p:sp>
        <p:nvSpPr>
          <p:cNvPr id="2" name="Date Placeholder 1">
            <a:extLst>
              <a:ext uri="{FF2B5EF4-FFF2-40B4-BE49-F238E27FC236}">
                <a16:creationId xmlns:a16="http://schemas.microsoft.com/office/drawing/2014/main" id="{B46EA98D-D26E-9A05-61BA-8ED75AA14C8C}"/>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endParaRPr kumimoji="0" lang="en-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Footer Placeholder 5">
            <a:extLst>
              <a:ext uri="{FF2B5EF4-FFF2-40B4-BE49-F238E27FC236}">
                <a16:creationId xmlns:a16="http://schemas.microsoft.com/office/drawing/2014/main" id="{57776220-AD9A-3B65-3DFD-4D2A758B6170}"/>
              </a:ext>
            </a:extLst>
          </p:cNvPr>
          <p:cNvSpPr>
            <a:spLocks noGrp="1"/>
          </p:cNvSpPr>
          <p:nvPr>
            <p:ph type="ftr" idx="11"/>
          </p:nvPr>
        </p:nvSpPr>
        <p:spPr/>
        <p:txBody>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p>
        </p:txBody>
      </p:sp>
    </p:spTree>
    <p:extLst>
      <p:ext uri="{BB962C8B-B14F-4D97-AF65-F5344CB8AC3E}">
        <p14:creationId xmlns:p14="http://schemas.microsoft.com/office/powerpoint/2010/main" val="247072270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2171A-C7DF-6881-C453-83C3E48F9BD6}"/>
              </a:ext>
            </a:extLst>
          </p:cNvPr>
          <p:cNvSpPr>
            <a:spLocks noGrp="1"/>
          </p:cNvSpPr>
          <p:nvPr>
            <p:ph type="title"/>
          </p:nvPr>
        </p:nvSpPr>
        <p:spPr/>
        <p:txBody>
          <a:bodyPr/>
          <a:lstStyle/>
          <a:p>
            <a:r>
              <a:rPr lang="en-US"/>
              <a:t>References</a:t>
            </a:r>
            <a:endParaRPr lang="en-FI"/>
          </a:p>
        </p:txBody>
      </p:sp>
      <p:sp>
        <p:nvSpPr>
          <p:cNvPr id="3" name="Date Placeholder 2">
            <a:extLst>
              <a:ext uri="{FF2B5EF4-FFF2-40B4-BE49-F238E27FC236}">
                <a16:creationId xmlns:a16="http://schemas.microsoft.com/office/drawing/2014/main" id="{BC36700B-FE56-1085-A218-A2DAF6D8461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i-FI" sz="800" b="0" i="0" u="none" strike="noStrike" kern="1200" cap="none" spc="0" normalizeH="0" baseline="0" noProof="0">
                <a:ln>
                  <a:noFill/>
                </a:ln>
                <a:solidFill>
                  <a:prstClr val="black"/>
                </a:solidFill>
                <a:effectLst/>
                <a:uLnTx/>
                <a:uFillTx/>
                <a:latin typeface="Arial" panose="020B0604020202020204"/>
                <a:ea typeface="+mn-ea"/>
                <a:cs typeface="+mn-cs"/>
              </a:rPr>
              <a:t>28.04.2026</a:t>
            </a:r>
          </a:p>
        </p:txBody>
      </p:sp>
      <p:sp>
        <p:nvSpPr>
          <p:cNvPr id="4" name="Footer Placeholder 3">
            <a:extLst>
              <a:ext uri="{FF2B5EF4-FFF2-40B4-BE49-F238E27FC236}">
                <a16:creationId xmlns:a16="http://schemas.microsoft.com/office/drawing/2014/main" id="{1FC2C710-DDD3-D450-997F-036E4606C50D}"/>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prstClr val="black"/>
                </a:solidFill>
                <a:effectLst/>
                <a:uLnTx/>
                <a:uFillTx/>
                <a:latin typeface="Arial" panose="020B0604020202020204"/>
                <a:ea typeface="+mn-ea"/>
                <a:cs typeface="+mn-cs"/>
              </a:rPr>
              <a:t>Enrico Glerean &amp; Pedro Silva (2026) Please cite DOI: 10.5281/zenodo.14032261 (CC-BY)</a:t>
            </a:r>
            <a:endParaRPr kumimoji="0" lang="fi-FI"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2C31EA2C-72AD-0F93-8934-74CCBF7A33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01140D-C14F-41CA-99FC-0EF83E8DA40A}" type="slidenum">
              <a:rPr kumimoji="0" lang="fi-FI" sz="800" b="1"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149</a:t>
            </a:fld>
            <a:endParaRPr kumimoji="0" lang="fi-FI" sz="800" b="1"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Text Placeholder 5">
            <a:extLst>
              <a:ext uri="{FF2B5EF4-FFF2-40B4-BE49-F238E27FC236}">
                <a16:creationId xmlns:a16="http://schemas.microsoft.com/office/drawing/2014/main" id="{063D333E-508E-E680-14C1-9B84815184CA}"/>
              </a:ext>
            </a:extLst>
          </p:cNvPr>
          <p:cNvSpPr>
            <a:spLocks noGrp="1"/>
          </p:cNvSpPr>
          <p:nvPr>
            <p:ph type="body" sz="quarter" idx="13"/>
          </p:nvPr>
        </p:nvSpPr>
        <p:spPr/>
        <p:txBody>
          <a:bodyPr/>
          <a:lstStyle/>
          <a:p>
            <a:pPr marL="457200" indent="-457200">
              <a:buFont typeface="Arial" panose="020B0604020202020204" pitchFamily="34" charset="0"/>
              <a:buChar char="•"/>
            </a:pPr>
            <a:r>
              <a:rPr lang="en-US" sz="2000">
                <a:hlinkClick r:id="rId2"/>
              </a:rPr>
              <a:t>ALLEA code of conduct</a:t>
            </a:r>
            <a:endParaRPr lang="en-US" sz="2000"/>
          </a:p>
          <a:p>
            <a:pPr marL="457200" indent="-457200">
              <a:buFont typeface="Arial" panose="020B0604020202020204" pitchFamily="34" charset="0"/>
              <a:buChar char="•"/>
            </a:pPr>
            <a:r>
              <a:rPr lang="en-US" sz="2000">
                <a:hlinkClick r:id="rId3"/>
              </a:rPr>
              <a:t>TENK guidelines for Research Integrity</a:t>
            </a:r>
            <a:endParaRPr lang="en-US" sz="2000"/>
          </a:p>
          <a:p>
            <a:pPr marL="457200" indent="-457200">
              <a:buFont typeface="Arial" panose="020B0604020202020204" pitchFamily="34" charset="0"/>
              <a:buChar char="•"/>
            </a:pPr>
            <a:r>
              <a:rPr lang="en-US" sz="2000">
                <a:hlinkClick r:id="rId4"/>
              </a:rPr>
              <a:t>AI and Research Work</a:t>
            </a:r>
            <a:endParaRPr lang="en-US" sz="2000"/>
          </a:p>
          <a:p>
            <a:pPr marL="457200" indent="-457200">
              <a:buFont typeface="Arial" panose="020B0604020202020204" pitchFamily="34" charset="0"/>
              <a:buChar char="•"/>
            </a:pPr>
            <a:r>
              <a:rPr lang="en-US" sz="2000">
                <a:hlinkClick r:id="rId5"/>
              </a:rPr>
              <a:t>Muthanna, A., Chaaban, Y., &amp; Qadhi, S. (2024). A model of the interrelationship between research ethics and research integrity. </a:t>
            </a:r>
            <a:r>
              <a:rPr lang="en-US" sz="2000" i="1">
                <a:hlinkClick r:id="rId5"/>
              </a:rPr>
              <a:t>International journal of qualitative studies on health and well-being</a:t>
            </a:r>
            <a:r>
              <a:rPr lang="en-US" sz="2000">
                <a:hlinkClick r:id="rId5"/>
              </a:rPr>
              <a:t>, </a:t>
            </a:r>
            <a:r>
              <a:rPr lang="en-US" sz="2000" i="1">
                <a:hlinkClick r:id="rId5"/>
              </a:rPr>
              <a:t>19</a:t>
            </a:r>
            <a:r>
              <a:rPr lang="en-US" sz="2000">
                <a:hlinkClick r:id="rId5"/>
              </a:rPr>
              <a:t>(1), 2295151.</a:t>
            </a:r>
            <a:endParaRPr lang="en-US" sz="2000"/>
          </a:p>
          <a:p>
            <a:pPr marL="457200" indent="-457200">
              <a:buFont typeface="Arial" panose="020B0604020202020204" pitchFamily="34" charset="0"/>
              <a:buChar char="•"/>
            </a:pPr>
            <a:endParaRPr lang="en-FI" sz="2000"/>
          </a:p>
        </p:txBody>
      </p:sp>
    </p:spTree>
    <p:extLst>
      <p:ext uri="{BB962C8B-B14F-4D97-AF65-F5344CB8AC3E}">
        <p14:creationId xmlns:p14="http://schemas.microsoft.com/office/powerpoint/2010/main" val="4243499352"/>
      </p:ext>
    </p:extLst>
  </p:cSld>
  <p:clrMapOvr>
    <a:masterClrMapping/>
  </p:clrMapOvr>
</p:sld>
</file>

<file path=ppt/theme/theme1.xml><?xml version="1.0" encoding="utf-8"?>
<a:theme xmlns:a="http://schemas.openxmlformats.org/drawingml/2006/main" name="2_Aalto -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41A42B11-F317-4DB3-A748-34F4E4EBD069}"/>
    </a:ext>
  </a:extLst>
</a:theme>
</file>

<file path=ppt/theme/theme2.xml><?xml version="1.0" encoding="utf-8"?>
<a:theme xmlns:a="http://schemas.openxmlformats.org/drawingml/2006/main" name="1_Aalto - Title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_15v (004).potx" id="{01925C0B-82A9-43AC-9AAC-091506EA8D00}" vid="{9D54D394-C1CD-43B8-B114-93C157E68C48}"/>
    </a:ext>
  </a:extLst>
</a:theme>
</file>

<file path=ppt/theme/theme3.xml><?xml version="1.0" encoding="utf-8"?>
<a:theme xmlns:a="http://schemas.openxmlformats.org/drawingml/2006/main" name="1_Aalto -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_15v (004).potx" id="{01925C0B-82A9-43AC-9AAC-091506EA8D00}" vid="{8F0AC881-1956-4DB4-9B33-269602797468}"/>
    </a:ext>
  </a:extLst>
</a:theme>
</file>

<file path=ppt/theme/theme4.xml><?xml version="1.0" encoding="utf-8"?>
<a:theme xmlns:a="http://schemas.openxmlformats.org/drawingml/2006/main" name="1_Aalto - Divider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_15v (004).potx" id="{01925C0B-82A9-43AC-9AAC-091506EA8D00}" vid="{43322704-E284-42F9-9CCD-6D102FC9B6D4}"/>
    </a:ext>
  </a:extLst>
</a:theme>
</file>

<file path=ppt/theme/theme5.xml><?xml version="1.0" encoding="utf-8"?>
<a:theme xmlns:a="http://schemas.openxmlformats.org/drawingml/2006/main" name="Aalto - Title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A1127AD8-481F-4829-92FB-299BD72D15FC}"/>
    </a:ext>
  </a:extLst>
</a:theme>
</file>

<file path=ppt/theme/theme6.xml><?xml version="1.0" encoding="utf-8"?>
<a:theme xmlns:a="http://schemas.openxmlformats.org/drawingml/2006/main" name="Aalto -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41A42B11-F317-4DB3-A748-34F4E4EBD069}"/>
    </a:ext>
  </a:extLst>
</a:theme>
</file>

<file path=ppt/theme/theme7.xml><?xml version="1.0" encoding="utf-8"?>
<a:theme xmlns:a="http://schemas.openxmlformats.org/drawingml/2006/main" name="Aalto - Divider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603CC98E-A006-40FD-9023-401377221454}"/>
    </a:ext>
  </a:extLst>
</a:theme>
</file>

<file path=ppt/theme/theme8.xml><?xml version="1.0" encoding="utf-8"?>
<a:theme xmlns:a="http://schemas.openxmlformats.org/drawingml/2006/main" name="Aalto - Picture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88C48B4E-76E9-441C-9D62-9A63445836BA}"/>
    </a:ext>
  </a:extLst>
</a:theme>
</file>

<file path=ppt/theme/theme9.xml><?xml version="1.0" encoding="utf-8"?>
<a:theme xmlns:a="http://schemas.openxmlformats.org/drawingml/2006/main" name="Aalto - Custom Content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71ED1A03-C957-43CA-A5FF-F53DFBCEB222}"/>
    </a:ext>
  </a:extLst>
</a:theme>
</file>

<file path=ppt/theme/theme10.xml><?xml version="1.0" encoding="utf-8"?>
<a:theme xmlns:a="http://schemas.openxmlformats.org/drawingml/2006/main" name="Aalto - Kiitos Slides">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sz="1600" dirty="0" err="1" smtClean="0">
            <a:solidFill>
              <a:schemeClr val="tx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err="1" smtClean="0">
            <a:latin typeface="+mj-lt"/>
          </a:defRPr>
        </a:defPPr>
      </a:lstStyle>
    </a:txDef>
  </a:objectDefaults>
  <a:extraClrSchemeLst/>
  <a:extLst>
    <a:ext uri="{05A4C25C-085E-4340-85A3-A5531E510DB2}">
      <thm15:themeFamily xmlns:thm15="http://schemas.microsoft.com/office/thememl/2012/main" name="aalto.potx" id="{F9E86875-D364-48FA-9E1B-F7B913266944}" vid="{C5583837-6B41-40E5-813E-3697F9ADF9FC}"/>
    </a:ext>
  </a:extLst>
</a:theme>
</file>

<file path=ppt/theme/theme11.xml><?xml version="1.0" encoding="utf-8"?>
<a:theme xmlns:a="http://schemas.openxmlformats.org/drawingml/2006/main" name="Office Theme">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Office Theme">
  <a:themeElements>
    <a:clrScheme name="AALTO university">
      <a:dk1>
        <a:sysClr val="windowText" lastClr="000000"/>
      </a:dk1>
      <a:lt1>
        <a:sysClr val="window" lastClr="FFFFFF"/>
      </a:lt1>
      <a:dk2>
        <a:srgbClr val="B4B4B4"/>
      </a:dk2>
      <a:lt2>
        <a:srgbClr val="E8E8E8"/>
      </a:lt2>
      <a:accent1>
        <a:srgbClr val="F7E159"/>
      </a:accent1>
      <a:accent2>
        <a:srgbClr val="FD6360"/>
      </a:accent2>
      <a:accent3>
        <a:srgbClr val="46A5FF"/>
      </a:accent3>
      <a:accent4>
        <a:srgbClr val="5A5A5A"/>
      </a:accent4>
      <a:accent5>
        <a:srgbClr val="A0A0A0"/>
      </a:accent5>
      <a:accent6>
        <a:srgbClr val="DCDCDC"/>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94e59b8c-7867-48e3-9e2d-a9052f76644d">
      <UserInfo>
        <DisplayName>Rehbinder Maria</DisplayName>
        <AccountId>68</AccountId>
        <AccountType/>
      </UserInfo>
    </SharedWithUsers>
    <lcf76f155ced4ddcb4097134ff3c332f xmlns="b4691fbf-879b-49d9-8d87-351ae3d41312">
      <Terms xmlns="http://schemas.microsoft.com/office/infopath/2007/PartnerControls"/>
    </lcf76f155ced4ddcb4097134ff3c332f>
    <TaxCatchAll xmlns="94e59b8c-7867-48e3-9e2d-a9052f76644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F16554AEB826A45A74DB8B4207A9B57" ma:contentTypeVersion="19" ma:contentTypeDescription="Create a new document." ma:contentTypeScope="" ma:versionID="36ea342b798ef625e7c77bac5f372bfc">
  <xsd:schema xmlns:xsd="http://www.w3.org/2001/XMLSchema" xmlns:xs="http://www.w3.org/2001/XMLSchema" xmlns:p="http://schemas.microsoft.com/office/2006/metadata/properties" xmlns:ns2="b4691fbf-879b-49d9-8d87-351ae3d41312" xmlns:ns3="94e59b8c-7867-48e3-9e2d-a9052f76644d" targetNamespace="http://schemas.microsoft.com/office/2006/metadata/properties" ma:root="true" ma:fieldsID="9852c45acfc3e2362293e8937cde5165" ns2:_="" ns3:_="">
    <xsd:import namespace="b4691fbf-879b-49d9-8d87-351ae3d41312"/>
    <xsd:import namespace="94e59b8c-7867-48e3-9e2d-a9052f76644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691fbf-879b-49d9-8d87-351ae3d413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d61bb93-c830-477f-800c-34a01ab1e79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e59b8c-7867-48e3-9e2d-a9052f76644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c86a1ef-9975-442e-b252-9e425cbb5084}" ma:internalName="TaxCatchAll" ma:showField="CatchAllData" ma:web="94e59b8c-7867-48e3-9e2d-a9052f7664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1767BF-FDB3-4E04-9375-3B1ACEA48CE0}">
  <ds:schemaRefs>
    <ds:schemaRef ds:uri="http://schemas.microsoft.com/sharepoint/v3/contenttype/forms"/>
  </ds:schemaRefs>
</ds:datastoreItem>
</file>

<file path=customXml/itemProps2.xml><?xml version="1.0" encoding="utf-8"?>
<ds:datastoreItem xmlns:ds="http://schemas.openxmlformats.org/officeDocument/2006/customXml" ds:itemID="{B845D7F5-D396-45A4-9C62-BD31CD243132}">
  <ds:schemaRefs>
    <ds:schemaRef ds:uri="http://www.w3.org/XML/1998/namespace"/>
    <ds:schemaRef ds:uri="b4691fbf-879b-49d9-8d87-351ae3d41312"/>
    <ds:schemaRef ds:uri="94e59b8c-7867-48e3-9e2d-a9052f76644d"/>
    <ds:schemaRef ds:uri="http://schemas.openxmlformats.org/package/2006/metadata/core-properties"/>
    <ds:schemaRef ds:uri="http://schemas.microsoft.com/office/2006/metadata/properties"/>
    <ds:schemaRef ds:uri="http://purl.org/dc/dcmitype/"/>
    <ds:schemaRef ds:uri="http://schemas.microsoft.com/office/2006/documentManagement/types"/>
    <ds:schemaRef ds:uri="http://purl.org/dc/elements/1.1/"/>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C937B8C8-D538-415C-ACC8-36AAF6D49695}">
  <ds:schemaRefs>
    <ds:schemaRef ds:uri="94e59b8c-7867-48e3-9e2d-a9052f76644d"/>
    <ds:schemaRef ds:uri="b4691fbf-879b-49d9-8d87-351ae3d4131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aalto</Template>
  <TotalTime>5</TotalTime>
  <Words>16702</Words>
  <Application>Microsoft Office PowerPoint</Application>
  <PresentationFormat>Widescreen</PresentationFormat>
  <Paragraphs>1686</Paragraphs>
  <Slides>149</Slides>
  <Notes>20</Notes>
  <HiddenSlides>19</HiddenSlides>
  <MMClips>0</MMClips>
  <ScaleCrop>false</ScaleCrop>
  <HeadingPairs>
    <vt:vector size="6" baseType="variant">
      <vt:variant>
        <vt:lpstr>Fonts Used</vt:lpstr>
      </vt:variant>
      <vt:variant>
        <vt:i4>11</vt:i4>
      </vt:variant>
      <vt:variant>
        <vt:lpstr>Theme</vt:lpstr>
      </vt:variant>
      <vt:variant>
        <vt:i4>10</vt:i4>
      </vt:variant>
      <vt:variant>
        <vt:lpstr>Slide Titles</vt:lpstr>
      </vt:variant>
      <vt:variant>
        <vt:i4>149</vt:i4>
      </vt:variant>
    </vt:vector>
  </HeadingPairs>
  <TitlesOfParts>
    <vt:vector size="170" baseType="lpstr">
      <vt:lpstr>Aptos Narrow</vt:lpstr>
      <vt:lpstr>Arial</vt:lpstr>
      <vt:lpstr>Arial Black</vt:lpstr>
      <vt:lpstr>Arial Bold</vt:lpstr>
      <vt:lpstr>Calibri</vt:lpstr>
      <vt:lpstr>Consolas</vt:lpstr>
      <vt:lpstr>Gill Sans MT</vt:lpstr>
      <vt:lpstr>Helvetica</vt:lpstr>
      <vt:lpstr>Lucida Console</vt:lpstr>
      <vt:lpstr>Source Serif Pro</vt:lpstr>
      <vt:lpstr>Wingdings</vt:lpstr>
      <vt:lpstr>2_Aalto - Content Slides</vt:lpstr>
      <vt:lpstr>1_Aalto - Title Slides</vt:lpstr>
      <vt:lpstr>1_Aalto - Content Slides</vt:lpstr>
      <vt:lpstr>1_Aalto - Divider Slides</vt:lpstr>
      <vt:lpstr>Aalto - Title Slides</vt:lpstr>
      <vt:lpstr>Aalto - Content Slides</vt:lpstr>
      <vt:lpstr>Aalto - Divider Slides</vt:lpstr>
      <vt:lpstr>Aalto - Picture Content Slides</vt:lpstr>
      <vt:lpstr>Aalto - Custom Content Slides</vt:lpstr>
      <vt:lpstr>Aalto - Kiitos Slides</vt:lpstr>
      <vt:lpstr>AI in Research Work Prompt engineering and advanced uses of generative AI for researchers   </vt:lpstr>
      <vt:lpstr>Outline: AI in research work I – prompt engineering and other tools</vt:lpstr>
      <vt:lpstr>Briefly about the speakers</vt:lpstr>
      <vt:lpstr>DISCLAIMER</vt:lpstr>
      <vt:lpstr>The Research Process aided by AI  with Responsible Conduct of Research at its core and some examples</vt:lpstr>
      <vt:lpstr>What is (generative) AI?</vt:lpstr>
      <vt:lpstr>What is Artificial Intelligence (AI)?</vt:lpstr>
      <vt:lpstr>AI systems vs AI models</vt:lpstr>
      <vt:lpstr>Learning cats and dogs: how does machine learning work?</vt:lpstr>
      <vt:lpstr>How does generative AI work? An intuitive explanation</vt:lpstr>
      <vt:lpstr>Focus on text generation:  large language models (LLMs)</vt:lpstr>
      <vt:lpstr>Guess the letter It is an English word starting with the letter 'q': which letter comes after that?</vt:lpstr>
      <vt:lpstr>Guess the next letter</vt:lpstr>
      <vt:lpstr>Guess the next word, sentence, paragraph, chapter, book…</vt:lpstr>
      <vt:lpstr>Guess the next word, sentence, paragraph, chapter, book… (II)</vt:lpstr>
      <vt:lpstr>Actually… it’s a little bit more complicated than that</vt:lpstr>
      <vt:lpstr>How to use them? Platforms currently available (April 2026)</vt:lpstr>
      <vt:lpstr>2. Prompt engineering</vt:lpstr>
      <vt:lpstr>2. Prompt Engineering</vt:lpstr>
      <vt:lpstr>The art of asking</vt:lpstr>
      <vt:lpstr>General principles of good prompts (I)</vt:lpstr>
      <vt:lpstr>General principles of good prompts (II)</vt:lpstr>
      <vt:lpstr>3. Use of LLMs in the academic workflow</vt:lpstr>
      <vt:lpstr>3. Use of gen AI in the academic workflow</vt:lpstr>
      <vt:lpstr>The Research Process aided by AI with Responsible Conduct of Research at its core</vt:lpstr>
      <vt:lpstr>Example 1: Prompt a prompt</vt:lpstr>
      <vt:lpstr>Example 2: Create readme files for experiments</vt:lpstr>
      <vt:lpstr>Example 3: Software assistance</vt:lpstr>
      <vt:lpstr>Example 4: Creating a stock dataset in R</vt:lpstr>
      <vt:lpstr>Example 5: Searching for alternatives</vt:lpstr>
      <vt:lpstr>Example 6: Data analysis (Python)</vt:lpstr>
      <vt:lpstr>Example 7: Data analysis (Excel)</vt:lpstr>
      <vt:lpstr>Example 8: Create thumbnails from videos</vt:lpstr>
      <vt:lpstr>Example 9: Polishing text in the “right way”</vt:lpstr>
      <vt:lpstr>Example 10: Improve writing</vt:lpstr>
      <vt:lpstr>AI typical window (duck.ai example)</vt:lpstr>
      <vt:lpstr>AI typical window (duck.ai example) II</vt:lpstr>
      <vt:lpstr>Examples of system prompts to try</vt:lpstr>
      <vt:lpstr>BREAK (10 minutes)</vt:lpstr>
      <vt:lpstr>AI typical window (Aalto AI Assistance example)</vt:lpstr>
      <vt:lpstr>Suggest your prompts</vt:lpstr>
      <vt:lpstr>4. Beyond text generation</vt:lpstr>
      <vt:lpstr>4. Beyond prompt generation</vt:lpstr>
      <vt:lpstr>4. Beyond text generation</vt:lpstr>
      <vt:lpstr>4.3. Beyond text – AI can be used for generate images</vt:lpstr>
      <vt:lpstr>4.1 Image generation</vt:lpstr>
      <vt:lpstr>4.1. A human workflow for drawing images</vt:lpstr>
      <vt:lpstr>4.1. How does AI generate images? (diffusion model)</vt:lpstr>
      <vt:lpstr>4.1. Going deeper on how AI images and video generation work</vt:lpstr>
      <vt:lpstr>4.1. Current landscape of image generation tools</vt:lpstr>
      <vt:lpstr>4.1. “Best” text-to-image tools (April 2026)</vt:lpstr>
      <vt:lpstr>4.1. Basics of AI image tools available at Aalto</vt:lpstr>
      <vt:lpstr>4.1. Building good prompts</vt:lpstr>
      <vt:lpstr>4.1. Useful keywords for scientific image generation</vt:lpstr>
      <vt:lpstr>4.1. Side-by-side Dall-E 3 and Firefly</vt:lpstr>
      <vt:lpstr>4.1. GPT image (4o image generation)</vt:lpstr>
      <vt:lpstr>4.1. GPT image: high fidelity mode (remove content)</vt:lpstr>
      <vt:lpstr>4.1. Nano Banana: reimagine the scene</vt:lpstr>
      <vt:lpstr>4.1. GPT image: add a background to your research images</vt:lpstr>
      <vt:lpstr>4.1. Nano Banana: Image generation for science</vt:lpstr>
      <vt:lpstr>4.1. GPT image: limitations</vt:lpstr>
      <vt:lpstr>4.1. Workflow (I) creating concepts via images (Dall-E 3)</vt:lpstr>
      <vt:lpstr>4.1. Workflow (II) From AI concept to my own scientific illustration (GPT Image &amp; Inkscape)</vt:lpstr>
      <vt:lpstr>4.1. Workflow (III) Generating code for a 3D illustration (Gemini &amp; Blender)</vt:lpstr>
      <vt:lpstr>4.2 Other AI tools</vt:lpstr>
      <vt:lpstr>4.2. Other AI tools - General Purpose Tools </vt:lpstr>
      <vt:lpstr>4.2. Other AI tools - General Purpose Tools  ChatGPT features</vt:lpstr>
      <vt:lpstr>4.2. Other AI tools - Discovery Tools </vt:lpstr>
      <vt:lpstr>4.2. Other AI tools - Discovery Tools</vt:lpstr>
      <vt:lpstr>4.2. Other AI tools - Discovery Tools</vt:lpstr>
      <vt:lpstr>4.2. Other AI tools - Discovery Tools</vt:lpstr>
      <vt:lpstr>4.2. Aalto-Primo AI - Discovery Tools</vt:lpstr>
      <vt:lpstr>4.2. Other AI tools - Workflow Tools </vt:lpstr>
      <vt:lpstr>4.2. Other AI tools - Workflow Tools NotebookLM by Google </vt:lpstr>
      <vt:lpstr>4.3. Language models beyond chats</vt:lpstr>
      <vt:lpstr>4.4. Local open source LLMs</vt:lpstr>
      <vt:lpstr>4.4. External AI applications – General Purpose Tools OLMo is basically the only truly open-source LLM</vt:lpstr>
      <vt:lpstr>4.5. Build your AI app, tune your models</vt:lpstr>
      <vt:lpstr>4.6. Coding with Large Language Models Should you stop learning how to code? </vt:lpstr>
      <vt:lpstr>4.6. Coding with Large Language Models Practical tips</vt:lpstr>
      <vt:lpstr>5. Advanced prompting</vt:lpstr>
      <vt:lpstr>Advanced prompting techniques  </vt:lpstr>
      <vt:lpstr>5.1. Advanced prompting techniques Zero-shot, few-shots, and in-context learning</vt:lpstr>
      <vt:lpstr>5.2. Advanced prompting techniques Retrieval Augmented Generation (RAG)</vt:lpstr>
      <vt:lpstr>5.3. Advanced prompting techniques RAG vs fine-tuning</vt:lpstr>
      <vt:lpstr>5.4. Advanced prompting techniques Chain Of Thoughts prompting I</vt:lpstr>
      <vt:lpstr>5.4. Advanced prompting techniques Chain Of Thoughts prompting II</vt:lpstr>
      <vt:lpstr>5.5. Advanced prompting techniques From CoT to Reasoning Models</vt:lpstr>
      <vt:lpstr>5.6. Advanced prompting techniques Structured prompting (model/system dependent)</vt:lpstr>
      <vt:lpstr>5.7. Advanced prompting techniques Meta-prompting (is prompt engineering dead?)</vt:lpstr>
      <vt:lpstr>BREAK (10 minutes)</vt:lpstr>
      <vt:lpstr>6. Understanding the componets of an AI system based on generative AI</vt:lpstr>
      <vt:lpstr>Cybersecurity, data protection, and the geography of AI LLMs  </vt:lpstr>
      <vt:lpstr>Tool calls, harnesses, claws, model context protocol…</vt:lpstr>
      <vt:lpstr>7. Conclusions and references</vt:lpstr>
      <vt:lpstr>Take home message</vt:lpstr>
      <vt:lpstr>Where to go from here?</vt:lpstr>
      <vt:lpstr>References</vt:lpstr>
      <vt:lpstr>LUNCH BREAK or demos if there is time…</vt:lpstr>
      <vt:lpstr>Artificial Intelligence and Responsible Conduct of Research</vt:lpstr>
      <vt:lpstr>Outline: AI and responsible conduct of research</vt:lpstr>
      <vt:lpstr>DISCLAIMER</vt:lpstr>
      <vt:lpstr>Ethics is not Law</vt:lpstr>
      <vt:lpstr>Ethics and law</vt:lpstr>
      <vt:lpstr>Ethics is not law</vt:lpstr>
      <vt:lpstr>PowerPoint Presentation</vt:lpstr>
      <vt:lpstr>PowerPoint Presentation</vt:lpstr>
      <vt:lpstr>PowerPoint Presentation</vt:lpstr>
      <vt:lpstr>Example of tensions between the three dimensions</vt:lpstr>
      <vt:lpstr>Research Ethics in the European Union</vt:lpstr>
      <vt:lpstr>The four principles for ethics in research</vt:lpstr>
      <vt:lpstr>Ethical self evaluation: the dimensions to consider when assessing the ethicality of your research (Horizon Europe)</vt:lpstr>
      <vt:lpstr>Finnish guidelines for non-medical studies with human participants (TENK)</vt:lpstr>
      <vt:lpstr>Research Integrity in the European Union</vt:lpstr>
      <vt:lpstr>Allea principles (2023) and Finnish Code of Conduct for RI (2023)</vt:lpstr>
      <vt:lpstr>Violation of research integrity</vt:lpstr>
      <vt:lpstr>Violations of research integrity, questionable research practices</vt:lpstr>
      <vt:lpstr>We covered research ethics and research integrity, what is their relationship?</vt:lpstr>
      <vt:lpstr> Interrelationship between research ethics and research integrity Truth, Trust, Competence</vt:lpstr>
      <vt:lpstr>PowerPoint Presentation</vt:lpstr>
      <vt:lpstr>Which core principles might be compromised by adopting a new technology? A framework for evaluating new technologies in research   </vt:lpstr>
      <vt:lpstr>(Generative) Artificial Intelligence  and Research Integrity</vt:lpstr>
      <vt:lpstr>Generative AI and Research Integrity </vt:lpstr>
      <vt:lpstr>The Research Process aided by AI tools: Examples with Responsible Conduct of Research at its core</vt:lpstr>
      <vt:lpstr>Framework for AI ethics and responsible AI</vt:lpstr>
      <vt:lpstr>AI ethics, Responsible AI, AI governance and AI regulations</vt:lpstr>
      <vt:lpstr>AI ethics, Responsible AI, AI governance and AI regulations</vt:lpstr>
      <vt:lpstr>Unified framework of five principles for ethical AI</vt:lpstr>
      <vt:lpstr>AI ethics, Responsible AI, AI governance and AI regulations</vt:lpstr>
      <vt:lpstr>Responsible AI, the SSAFE-D principles</vt:lpstr>
      <vt:lpstr>Apply SSAFE-D principles to evaluate the ethicality of an AI tool Commit a morally wrong act to achieve a greater good?</vt:lpstr>
      <vt:lpstr>AI ethics, Responsible AI, AI governance and AI regulations</vt:lpstr>
      <vt:lpstr>From ethical principles to legislations: the AI Act</vt:lpstr>
      <vt:lpstr>From ethical principles to legislations: the AI Act</vt:lpstr>
      <vt:lpstr>AI governance and cybersecurity</vt:lpstr>
      <vt:lpstr>Combining  Research [ethics | integrity | compliance]  with  AI [ethics | trustworthiness | governance]</vt:lpstr>
      <vt:lpstr>Different roles, require different perspectives on ethical and responsible AI (ALLEA: The European Code of Conduct for Research Integrity)</vt:lpstr>
      <vt:lpstr>  Generative AI is the ideal misconduct machine</vt:lpstr>
      <vt:lpstr>Generative AI: the ideal misconduct machine? </vt:lpstr>
      <vt:lpstr>Misconduct is a core element of these systems </vt:lpstr>
      <vt:lpstr>“No, we didn’t scrape your content to train our model” 🤡</vt:lpstr>
      <vt:lpstr>Generative AI and Research Integrity: disclose your AI </vt:lpstr>
      <vt:lpstr>Generative AI and Research Integrity: disclose your AI </vt:lpstr>
      <vt:lpstr>If you do not have the ability or the resources to verify the output of GenAI systems (e.g. by finding the relevant citations for the synthesised text, by verifying that others’ works are summarised correctly, by detecting plagiarised text or code, by verifying the analysis code) then you should not use the output of GenAI systems beyond self-learning or brainstorming.</vt:lpstr>
      <vt:lpstr>It is impossible to ethically use these tools, because they are not ethical under any aspect. </vt:lpstr>
      <vt:lpstr>If we cannot be ethical, let’s at least be responsible: Responsible use of (generative) AI</vt:lpstr>
      <vt:lpstr> KEEP CALM AND CARRY ON</vt:lpstr>
      <vt:lpstr> KEEP CALM AND CARRY 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Silva Pedro</dc:creator>
  <cp:lastModifiedBy>Silva Pedro</cp:lastModifiedBy>
  <cp:revision>2</cp:revision>
  <dcterms:created xsi:type="dcterms:W3CDTF">2024-03-08T13:09:30Z</dcterms:created>
  <dcterms:modified xsi:type="dcterms:W3CDTF">2026-10-19T13:55:55Z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0x0101004F16554AEB826A45A74DB8B4207A9B57</vt:lpwstr>
  </property>
  <property fmtid="{D5CDD505-2E9C-101B-9397-08002B2CF9AE}" pid="3" name="MediaServiceImageTags">
    <vt:lpwstr/>
  </property>
</Properties>
</file>